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955279" y="-457200"/>
            <a:ext cx="4754880" cy="77724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54864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DBEAFE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6675120" cy="1508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BUỔI 6
CONTENT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971800"/>
            <a:ext cx="630936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E2E8F0"/>
                </a:solidFill>
                <a:latin typeface="Aptos"/>
              </a:rPr>
              <a:t>Từ brief đến nội dung, ảnh và quyết định duyệt có log.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77639"/>
            <a:ext cx="123444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977639"/>
            <a:ext cx="1234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ANGLE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8255" y="3977639"/>
            <a:ext cx="3200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04872" y="3977639"/>
            <a:ext cx="1234440" cy="566928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04872" y="3977639"/>
            <a:ext cx="1234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DRAFT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7" y="3977639"/>
            <a:ext cx="3200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32504" y="3977639"/>
            <a:ext cx="1234440" cy="566928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32504" y="3977639"/>
            <a:ext cx="1234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ASSET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977639"/>
            <a:ext cx="3200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0136" y="3977639"/>
            <a:ext cx="1234440" cy="5669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0136" y="3977639"/>
            <a:ext cx="1234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APPROVED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914400"/>
            <a:ext cx="283464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KẾT QUẢ CUỐI</a:t>
            </a:r>
          </a:p>
        </p:txBody>
      </p:sp>
      <p:sp>
        <p:nvSpPr>
          <p:cNvPr id="19" name="Oval 18"/>
          <p:cNvSpPr/>
          <p:nvPr/>
        </p:nvSpPr>
        <p:spPr>
          <a:xfrm>
            <a:off x="8503920" y="160020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16002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1554480"/>
            <a:ext cx="2377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3 JSON chuẩn</a:t>
            </a:r>
          </a:p>
        </p:txBody>
      </p:sp>
      <p:sp>
        <p:nvSpPr>
          <p:cNvPr id="22" name="Oval 21"/>
          <p:cNvSpPr/>
          <p:nvPr/>
        </p:nvSpPr>
        <p:spPr>
          <a:xfrm>
            <a:off x="8503920" y="2624328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26243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2578608"/>
            <a:ext cx="2377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Workflow n8n</a:t>
            </a:r>
          </a:p>
        </p:txBody>
      </p:sp>
      <p:sp>
        <p:nvSpPr>
          <p:cNvPr id="25" name="Oval 24"/>
          <p:cNvSpPr/>
          <p:nvPr/>
        </p:nvSpPr>
        <p:spPr>
          <a:xfrm>
            <a:off x="8503920" y="3648456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0" y="3648456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3602736"/>
            <a:ext cx="2377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Ảnh nội dung</a:t>
            </a:r>
          </a:p>
        </p:txBody>
      </p:sp>
      <p:sp>
        <p:nvSpPr>
          <p:cNvPr id="28" name="Oval 27"/>
          <p:cNvSpPr/>
          <p:nvPr/>
        </p:nvSpPr>
        <p:spPr>
          <a:xfrm>
            <a:off x="8503920" y="4672584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4672584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4626864"/>
            <a:ext cx="23774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App duyệt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446520"/>
            <a:ext cx="5486400" cy="182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Aptos"/>
              </a:rPr>
              <a:t>132 phút · 70% thực hành · GV: Giang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Vì sao “viết cho tôi một bài” luôn chung chung?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VẤN ĐỀ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07492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417320"/>
            <a:ext cx="73152" cy="347472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46634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PROMPT NGẮN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57400"/>
            <a:ext cx="4663440" cy="2651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“Viết bài bán hàng cho trung tâm tiếng Anh.”
Không có người đọc, format, tiêu chí hay dữ kiện cấm.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45152" y="1563624"/>
            <a:ext cx="9144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8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DC2626"/>
                </a:solidFill>
                <a:latin typeface="Aptos"/>
              </a:rPr>
              <a:t>INPUT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28232" y="1417320"/>
            <a:ext cx="507492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28232" y="1417320"/>
            <a:ext cx="73152" cy="3474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56832" y="1600200"/>
            <a:ext cx="46634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OUTPUT TRUNG BÌNH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2057400"/>
            <a:ext cx="4663440" cy="2651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“Môi trường năng động, giáo viên tận tâm, ưu đãi hấp dẫn…”
Xóa tên trung tâm đi vẫn dùng cho mọi nơi.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87584" y="1563624"/>
            <a:ext cx="9144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59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Aptos"/>
              </a:rPr>
              <a:t>RÁC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54680" y="5394960"/>
            <a:ext cx="585216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91256" y="5394960"/>
            <a:ext cx="577900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Nội dung không thiếu — thiếu hệ thống sản xuất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Công thức thay thế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TƯ DUY LÕI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246888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99032" y="1810512"/>
            <a:ext cx="640080" cy="64008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99032" y="1810512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06040"/>
            <a:ext cx="21031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SẢN PHẨM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08960"/>
            <a:ext cx="210312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Bán cái gì?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1554480"/>
            <a:ext cx="246888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06824" y="1810512"/>
            <a:ext cx="640080" cy="6400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06824" y="1810512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2606040"/>
            <a:ext cx="21031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CHÂN DUNG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3108960"/>
            <a:ext cx="210312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Bán cho ai?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18504" y="1554480"/>
            <a:ext cx="246888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14616" y="1810512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14616" y="1810512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2606040"/>
            <a:ext cx="21031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FORMAT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1384" y="3108960"/>
            <a:ext cx="210312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Đăng ở đâu?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26296" y="1554480"/>
            <a:ext cx="246888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122408" y="1810512"/>
            <a:ext cx="640080" cy="6400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22408" y="1810512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09176" y="2606040"/>
            <a:ext cx="21031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TIÊU CHÍ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09176" y="3108960"/>
            <a:ext cx="210312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Duyệt thế nào?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920240" y="4754880"/>
            <a:ext cx="8366760" cy="74980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48840" y="4892040"/>
            <a:ext cx="79095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AI tạo nháp · người thật chịu trách nhiệm duyệt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Năm sản phẩm mang về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ĐÍCH ĐẾN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04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325880"/>
            <a:ext cx="566928" cy="5669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307592"/>
            <a:ext cx="27432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content-angles.json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1307592"/>
            <a:ext cx="6400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5 ý tưởng đúng chân dung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267712"/>
            <a:ext cx="566928" cy="56692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67712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249424"/>
            <a:ext cx="27432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content-draft.json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249424"/>
            <a:ext cx="6400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Fanpage + TikTok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09544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09544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191256"/>
            <a:ext cx="27432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content-assets.json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3191256"/>
            <a:ext cx="6400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Seeding + prompt ảnh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15137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151376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133088"/>
            <a:ext cx="27432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Workflow n8n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0" y="4133088"/>
            <a:ext cx="6400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4 lớp + Google Sheets</a:t>
            </a:r>
          </a:p>
        </p:txBody>
      </p:sp>
      <p:sp>
        <p:nvSpPr>
          <p:cNvPr id="23" name="Oval 22"/>
          <p:cNvSpPr/>
          <p:nvPr/>
        </p:nvSpPr>
        <p:spPr>
          <a:xfrm>
            <a:off x="731520" y="5093208"/>
            <a:ext cx="566928" cy="566928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093208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074920"/>
            <a:ext cx="27432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App duyệt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5074920"/>
            <a:ext cx="6400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Approved + Publish_Log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Chuỗi artifact: output trước là input sau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KIẾN TRÚC 4 LỚP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242316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731520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783080"/>
            <a:ext cx="6583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TH1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19659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ANGLES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08960"/>
            <a:ext cx="196596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Brief × persona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1508760"/>
            <a:ext cx="242316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39312" y="1783080"/>
            <a:ext cx="731520" cy="347472"/>
          </a:xfrm>
          <a:prstGeom prst="round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5888" y="1783080"/>
            <a:ext cx="6583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TH2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2423160"/>
            <a:ext cx="19659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DRAFT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9312" y="3108960"/>
            <a:ext cx="196596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Bài + script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18504" y="1508760"/>
            <a:ext cx="242316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1783080"/>
            <a:ext cx="731520" cy="34747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6583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TH3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423160"/>
            <a:ext cx="19659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ASSETS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108960"/>
            <a:ext cx="196596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Seeding + ảnh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26296" y="1508760"/>
            <a:ext cx="242316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454896" y="1783080"/>
            <a:ext cx="73152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91472" y="1783080"/>
            <a:ext cx="6583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TH4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54896" y="2423160"/>
            <a:ext cx="19659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ENGINE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3108960"/>
            <a:ext cx="196596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n8n + app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2423160"/>
            <a:ext cx="347472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3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42432" y="2423160"/>
            <a:ext cx="347472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3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50224" y="2423160"/>
            <a:ext cx="347472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3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71800" y="4892040"/>
            <a:ext cx="6217920" cy="347472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08376" y="4892040"/>
            <a:ext cx="61447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DC2626"/>
                </a:solidFill>
                <a:latin typeface="Aptos"/>
              </a:rPr>
              <a:t>brief_id + source_angle_id phải khớp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Ba JSON làm bốn việc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ARTIFACT TRƯỚC, AUTOMATION SAU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71600"/>
            <a:ext cx="507492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371600"/>
            <a:ext cx="73152" cy="169164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54480"/>
            <a:ext cx="46634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CHỨNG MINH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46634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Logic từng lớp chạy đúng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371600"/>
            <a:ext cx="507492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1371600"/>
            <a:ext cx="73152" cy="169164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554480"/>
            <a:ext cx="46634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HỢP ĐỒNG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011680"/>
            <a:ext cx="46634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Node và app biết cấu trúc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520440"/>
            <a:ext cx="507492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3520440"/>
            <a:ext cx="73152" cy="169164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703320"/>
            <a:ext cx="46634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EXPECTED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160520"/>
            <a:ext cx="46634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Có mẫu để test workflow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3520440"/>
            <a:ext cx="507492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5352" y="3520440"/>
            <a:ext cx="73152" cy="169164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703320"/>
            <a:ext cx="46634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KHOANH LỖI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160520"/>
            <a:ext cx="46634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Biết hỏng ở lớp nào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34640" y="5715000"/>
            <a:ext cx="6492240" cy="347472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71216" y="5715000"/>
            <a:ext cx="641908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Aptos"/>
              </a:rPr>
              <a:t>Không import workflow hoàn chỉnh ở đầu buổi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Demo end-to-end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NHÌN ĐÍCH ĐẾN TRƯỚC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6344" y="1709928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Brief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79192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25496" y="1709928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25496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6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Angles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6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5 ý tưởng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38344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184648" y="1709928"/>
            <a:ext cx="502920" cy="50292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84648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24728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Draft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4728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2 kênh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97496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43800" y="1709928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Assets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Ảnh + seed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56648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902952" y="1709928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02952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43032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3032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Approved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1691640"/>
            <a:ext cx="34747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90872" y="1691640"/>
            <a:ext cx="34747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50024" y="1691640"/>
            <a:ext cx="34747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09176" y="1691640"/>
            <a:ext cx="34747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3154680"/>
            <a:ext cx="52578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15468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333756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APP DUYỆT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3794760"/>
            <a:ext cx="484632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Xem bài · script · ảnh · seeding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45352" y="3154680"/>
            <a:ext cx="52578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45352" y="3154680"/>
            <a:ext cx="73152" cy="160020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3952" y="333756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GOOGLE SHEETS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73952" y="3794760"/>
            <a:ext cx="484632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Content_Queue + Publish_Log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TH1 — Brief × chân dung → 5 angle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15 PHÚT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67208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371600"/>
            <a:ext cx="73152" cy="43891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554480"/>
            <a:ext cx="6309359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PROMPT TH1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11680"/>
            <a:ext cx="6309359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Đọc product brief + chân dung.
Tạo đúng 5 angle, mỗi angle nhắm một mã persona có thật.
Phủ tối thiểu 2 persona; không bịa học phí/ưu đãi.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17904"/>
            <a:ext cx="91440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151790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COPY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1371600"/>
            <a:ext cx="3703320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19872" y="1673352"/>
            <a:ext cx="310896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DBEAFE"/>
                </a:solidFill>
                <a:latin typeface="Aptos"/>
              </a:rPr>
              <a:t>content-angles.json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9872" y="2286000"/>
            <a:ext cx="283464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onsolas"/>
              </a:rPr>
              <a:t>brief_id
personas_covered[]
angles[5]
  angle_id
  chan_dung
  muc_tieu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TH1 đạt khi nào?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CHECKPOINT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2487168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81912" y="1682496"/>
            <a:ext cx="594360" cy="59436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81912" y="1682496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87168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5 angle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26080"/>
            <a:ext cx="212140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A-01…A-05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8728" y="1417320"/>
            <a:ext cx="2487168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34840" y="1682496"/>
            <a:ext cx="594360" cy="59436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682496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1608" y="2487168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≥2 persona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21608" y="2926080"/>
            <a:ext cx="212140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Mã có trong file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91656" y="1417320"/>
            <a:ext cx="2487168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87768" y="1682496"/>
            <a:ext cx="594360" cy="59436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87768" y="1682496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4536" y="2487168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mục tiêu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4536" y="2926080"/>
            <a:ext cx="212140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Enum viết hoa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44584" y="1417320"/>
            <a:ext cx="2487168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140696" y="1682496"/>
            <a:ext cx="594360" cy="59436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40696" y="1682496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27463" y="2487168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không bịa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27463" y="2926080"/>
            <a:ext cx="2121408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Không thêm số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069080"/>
            <a:ext cx="52578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5800" y="4069080"/>
            <a:ext cx="73152" cy="141732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25196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SAI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709160"/>
            <a:ext cx="484632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Agent tự tạo nhóm khách hàng mới.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5352" y="4069080"/>
            <a:ext cx="52578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45352" y="4069080"/>
            <a:ext cx="73152" cy="14173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3952" y="425196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FALLBACK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4709160"/>
            <a:ext cx="484632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Dùng sample sau khi đã thử và được GV xác nhận.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TH2 — Một angle → hai định dạng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15 PHÚT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52578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371600"/>
            <a:ext cx="73152" cy="35661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55448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FANPAGE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11680"/>
            <a:ext cx="48463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120–200 từ
Hai dòng hook đứng riêng
Đúng 1 CTA
Tối đa 2 emoji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0" y="1517904"/>
            <a:ext cx="91440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37176" y="151790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ĐỌC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71600"/>
            <a:ext cx="52578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371600"/>
            <a:ext cx="73152" cy="35661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55448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011680"/>
            <a:ext cx="48463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30–45 giây
HOOK / PROBLEM / SOLUTION / CTA
Hình ảnh + lời thoại
Input Buổi 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05872" y="1517904"/>
            <a:ext cx="9144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42447" y="151790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16A34A"/>
                </a:solidFill>
                <a:latin typeface="Aptos"/>
              </a:rPr>
              <a:t>QUAY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5440680"/>
            <a:ext cx="649224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71216" y="5440680"/>
            <a:ext cx="641908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Cùng một angle · hai kênh · hai format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Lỗi cài cố ý: brief thiếu thông tin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KHÔNG BỊA ĐỂ LÀM BÀI ĐẸP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34290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371600"/>
            <a:ext cx="73152" cy="3566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BRIEF THIẾU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11680"/>
            <a:ext cx="30175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Học phí
Ưu đãi
Ngày khai giảng
Số học viên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371600"/>
            <a:ext cx="34290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371600"/>
            <a:ext cx="73152" cy="356616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AI SAI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011680"/>
            <a:ext cx="30175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Tự thêm số
“Ưu đãi hấp dẫn”
Cam kết kết quả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371600"/>
            <a:ext cx="34290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3296" y="1371600"/>
            <a:ext cx="73152" cy="35661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OUTPUT ĐÚNG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2011680"/>
            <a:ext cx="30175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[cần bổ sung]
thieu_thong_tin[]
Người duyệt điền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5440680"/>
            <a:ext cx="6675120" cy="347472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79776" y="5440680"/>
            <a:ext cx="66019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DC2626"/>
                </a:solidFill>
                <a:latin typeface="Aptos"/>
              </a:rPr>
              <a:t>thieu_thong_tin rỗng = dấu hiệu AI đã bịa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TH3 — Seeding + image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20 PHÚT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34290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371600"/>
            <a:ext cx="73152" cy="361188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5 SEEDING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11680"/>
            <a:ext cx="3017520" cy="2788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ASK · RELATE
EXPERIENCE
CONDITION
CTA_NUDGE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371600"/>
            <a:ext cx="34290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371600"/>
            <a:ext cx="73152" cy="361188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IMAGE BRIEF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011680"/>
            <a:ext cx="3017520" cy="2788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9 mục
Tỷ lệ · bố cục
Mục cấm bắt buộc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371600"/>
            <a:ext cx="34290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3296" y="1371600"/>
            <a:ext cx="73152" cy="361188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IMAGE PROMPT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2011680"/>
            <a:ext cx="3017520" cy="2788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Tiếng Anh
no text
no children/faces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71800" y="5440680"/>
            <a:ext cx="6217920" cy="347472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08376" y="5440680"/>
            <a:ext cx="61447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Aptos"/>
              </a:rPr>
              <a:t>Seeding không phải lời khen giả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TH3 đạt khi nào?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CHECKPOINT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2487168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81912" y="1664208"/>
            <a:ext cx="594360" cy="5943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81912" y="1664208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50592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ID khớp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07792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brief + angle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8728" y="1417320"/>
            <a:ext cx="2487168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34840" y="1664208"/>
            <a:ext cx="594360" cy="59436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664208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1608" y="2450592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5 seed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21608" y="2907792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≥2 câu hỏi thật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91656" y="1417320"/>
            <a:ext cx="2487168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87768" y="1664208"/>
            <a:ext cx="594360" cy="5943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87768" y="1664208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4536" y="2450592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Brief ảnh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4536" y="2907792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đủ 9 mục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44584" y="1417320"/>
            <a:ext cx="2487168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140696" y="1664208"/>
            <a:ext cx="594360" cy="5943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40696" y="1664208"/>
            <a:ext cx="5943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27463" y="2450592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Prompt ảnh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27463" y="2907792"/>
            <a:ext cx="2121408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ptos"/>
              </a:rPr>
              <a:t>no text + mục cấm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160520"/>
            <a:ext cx="525780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5800" y="4160520"/>
            <a:ext cx="73152" cy="137160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34340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SAI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80060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Seeding toàn lời khen; ảnh có chữ Việt do model sinh.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5352" y="4160520"/>
            <a:ext cx="525780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45352" y="4160520"/>
            <a:ext cx="73152" cy="137160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3952" y="434340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ĐÚNG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480060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Người đọc hỏi thật; chữ được chèn sau khi duyệt.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TH4 — Coding Agent đóng gói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30 PHÚT · 4A BACKEND + 4B APP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6344" y="1709928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Angles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Lớp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79192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25496" y="1709928"/>
            <a:ext cx="502920" cy="50292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25496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6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Draft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6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Lớp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38344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184648" y="1709928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84648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24728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Assets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4728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Lớp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97496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43800" y="1709928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Queue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Needs Review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56648" y="1508760"/>
            <a:ext cx="202996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902952" y="1709928"/>
            <a:ext cx="502920" cy="50292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02952" y="170992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43032" y="1627631"/>
            <a:ext cx="1133856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Aptos"/>
              </a:rPr>
              <a:t>Approve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3032" y="1965960"/>
            <a:ext cx="1133856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Log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1691640"/>
            <a:ext cx="34747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90872" y="1691640"/>
            <a:ext cx="34747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50024" y="1691640"/>
            <a:ext cx="34747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09176" y="1691640"/>
            <a:ext cx="347472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Aptos"/>
              </a:rP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3154680"/>
            <a:ext cx="52578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154680"/>
            <a:ext cx="73152" cy="169164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333756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TH4A — n8n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3794760"/>
            <a:ext cx="484632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4 lớp · sinh ảnh · 2 webhook · Google Sheets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45352" y="3154680"/>
            <a:ext cx="52578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45352" y="3154680"/>
            <a:ext cx="73152" cy="169164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3952" y="3337560"/>
            <a:ext cx="48463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TH4B — APP DUYỆT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73952" y="3794760"/>
            <a:ext cx="484632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Xem/sửa nội dung · Approved/Needs Review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Hai gotcha — một nguyên tắc bảo mật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TH4A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34290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371600"/>
            <a:ext cx="73152" cy="361188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CORS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11680"/>
            <a:ext cx="3017520" cy="2788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Webhook phải bật
Allowed Origins = *
App HTML gọi cross-origin.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371600"/>
            <a:ext cx="34290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371600"/>
            <a:ext cx="73152" cy="361188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$json.body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011680"/>
            <a:ext cx="3017520" cy="2788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Dữ liệu webhook nằm ở
$json.body.xxx
Không phải $json.xxx.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371600"/>
            <a:ext cx="34290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3296" y="1371600"/>
            <a:ext cx="73152" cy="361188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API KEY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2011680"/>
            <a:ext cx="3017520" cy="2788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Không ghi key vào
workflow JSON hoặc app.
Dùng credential.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71800" y="5440680"/>
            <a:ext cx="6217920" cy="347472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08376" y="5440680"/>
            <a:ext cx="61447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DC2626"/>
                </a:solidFill>
                <a:latin typeface="Aptos"/>
              </a:rPr>
              <a:t>Validate cấu trúc ≠ runtime success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App duyệt: nơi người thật ra quyết định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TH4B · SẢN PHẨM CUỐI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4983480" cy="41605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6112" y="1673352"/>
            <a:ext cx="4507992" cy="201168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450799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94A3B8"/>
                </a:solidFill>
                <a:latin typeface="Aptos"/>
              </a:rPr>
              <a:t>ẢNH + IMAGE BRIEF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3977639"/>
            <a:ext cx="1920240" cy="347472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977639"/>
            <a:ext cx="184708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Aptos"/>
              </a:rPr>
              <a:t>NEEDS REVIEW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3977639"/>
            <a:ext cx="178308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74136" y="3977639"/>
            <a:ext cx="170992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16A34A"/>
                </a:solidFill>
                <a:latin typeface="Aptos"/>
              </a:rPr>
              <a:t>APPROVED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1371600"/>
            <a:ext cx="5532120" cy="41605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673352"/>
            <a:ext cx="48920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Bài Fanpage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148840"/>
            <a:ext cx="48920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Kịch bản TikTok 4 khối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651760"/>
            <a:ext cx="48920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5 comment seeding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154680"/>
            <a:ext cx="48920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  <a:latin typeface="Aptos"/>
              </a:rPr>
              <a:t>Cảnh báo [cần bổ sung]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794760"/>
            <a:ext cx="489204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Không có nút đăng bài.
Status cao nhất: Approved.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Trước khi nghe: tự đoán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HOẠT ĐỘNG — KHÔNG DÙNG AI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80160"/>
            <a:ext cx="502920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31673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16736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W0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280160"/>
            <a:ext cx="41605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Aptos"/>
              </a:rPr>
              <a:t>Intake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828800"/>
            <a:ext cx="502920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" y="186537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865376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W1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1828800"/>
            <a:ext cx="41605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Aptos"/>
              </a:rPr>
              <a:t>Ma trận ưu tiên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377439"/>
            <a:ext cx="502920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" y="2414015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414015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W2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377439"/>
            <a:ext cx="41605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Aptos"/>
              </a:rPr>
              <a:t>As-is / to-be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926079"/>
            <a:ext cx="502920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296265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962656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W3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2926079"/>
            <a:ext cx="41605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Aptos"/>
              </a:rPr>
              <a:t>Hardening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474720"/>
            <a:ext cx="502920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7240" y="35112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511296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W4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3474720"/>
            <a:ext cx="41605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Aptos"/>
              </a:rPr>
              <a:t>Mermaid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023360"/>
            <a:ext cx="502920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7240" y="405993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059936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W5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4023360"/>
            <a:ext cx="41605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Aptos"/>
              </a:rPr>
              <a:t>Infographic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572000"/>
            <a:ext cx="502920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7240" y="460857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608576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W6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572000"/>
            <a:ext cx="41605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Aptos"/>
              </a:rPr>
              <a:t>Leadership deck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120640"/>
            <a:ext cx="502920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77240" y="515721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157216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W7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5120640"/>
            <a:ext cx="41605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Aptos"/>
              </a:rPr>
              <a:t>Design doc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92240" y="1554480"/>
            <a:ext cx="18288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28816" y="1554480"/>
            <a:ext cx="17556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16A34A"/>
                </a:solidFill>
                <a:latin typeface="Aptos"/>
              </a:rPr>
              <a:t>TH1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92240" y="2331720"/>
            <a:ext cx="18288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28816" y="2331720"/>
            <a:ext cx="17556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16A34A"/>
                </a:solidFill>
                <a:latin typeface="Aptos"/>
              </a:rPr>
              <a:t>TH2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92240" y="3108960"/>
            <a:ext cx="18288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28816" y="3108960"/>
            <a:ext cx="17556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16A34A"/>
                </a:solidFill>
                <a:latin typeface="Aptos"/>
              </a:rPr>
              <a:t>TH3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92240" y="3886200"/>
            <a:ext cx="18288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28816" y="3886200"/>
            <a:ext cx="17556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16A34A"/>
                </a:solidFill>
                <a:latin typeface="Aptos"/>
              </a:rPr>
              <a:t>TH4a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92240" y="4663440"/>
            <a:ext cx="18288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28816" y="4663440"/>
            <a:ext cx="17556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16A34A"/>
                </a:solidFill>
                <a:latin typeface="Aptos"/>
              </a:rPr>
              <a:t>TH4b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686800" y="1417320"/>
            <a:ext cx="288036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686800" y="1417320"/>
            <a:ext cx="73152" cy="411480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15400" y="1600200"/>
            <a:ext cx="2468879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CÁCH LÀM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15400" y="2057400"/>
            <a:ext cx="2468879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Theo cặp, bằng miệng hoặc giấy nháp.
Không dùng máy, không kéo prompt AI.
Ghép mỗi TH với đúng pha tương ứng.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451592" y="1563624"/>
            <a:ext cx="91440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488167" y="1563624"/>
            <a:ext cx="8412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Aptos"/>
              </a:rPr>
              <a:t>2-3'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834640" y="5806440"/>
            <a:ext cx="6492240" cy="347472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871216" y="5806440"/>
            <a:ext cx="641908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Aptos"/>
              </a:rPr>
              <a:t>GV chưa chốt đáp án ở slide này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Đáp án: bạn vừa đi qua khung Workflow Mindset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REVEAL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1088136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26187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61872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W0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234440"/>
            <a:ext cx="2560320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Aptos"/>
              </a:rPr>
              <a:t>Intake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280160"/>
            <a:ext cx="1417320" cy="347472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14215" y="1280160"/>
            <a:ext cx="13441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94A3B8"/>
                </a:solidFill>
                <a:latin typeface="Aptos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1234440"/>
            <a:ext cx="5806440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ptos"/>
              </a:rPr>
              <a:t>Brief + chân dung nạp đầu buổi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1737360"/>
            <a:ext cx="1088136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7240" y="176479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1764792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W1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1737360"/>
            <a:ext cx="2560320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Aptos"/>
              </a:rPr>
              <a:t>Ma trận ưu tiên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7639" y="1783080"/>
            <a:ext cx="141732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14215" y="1783080"/>
            <a:ext cx="13441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16A34A"/>
                </a:solidFill>
                <a:latin typeface="Aptos"/>
              </a:rPr>
              <a:t>TH1-TH3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1737360"/>
            <a:ext cx="5806440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ptos"/>
              </a:rPr>
              <a:t>Vì sao chọn "sản xuất+duyệt", không phải "đăng bài"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240280"/>
            <a:ext cx="1088136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226771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267712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W2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2240280"/>
            <a:ext cx="2560320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Aptos"/>
              </a:rPr>
              <a:t>As-is/to-be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77639" y="2286000"/>
            <a:ext cx="141732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14215" y="2286000"/>
            <a:ext cx="13441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16A34A"/>
                </a:solidFill>
                <a:latin typeface="Aptos"/>
              </a:rPr>
              <a:t>TH1-TH4b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77840" y="2240280"/>
            <a:ext cx="5806440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ptos"/>
              </a:rPr>
              <a:t>7 bước gốc → to-be chỉ phủ bước 2-4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2743200"/>
            <a:ext cx="1088136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7240" y="277063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2770632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W3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2743200"/>
            <a:ext cx="2560320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Aptos"/>
              </a:rPr>
              <a:t>Hardening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77639" y="2788920"/>
            <a:ext cx="1417320" cy="3474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14215" y="2788920"/>
            <a:ext cx="13441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16A34A"/>
                </a:solidFill>
                <a:latin typeface="Aptos"/>
              </a:rPr>
              <a:t>TH4a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0" y="2743200"/>
            <a:ext cx="5806440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ptos"/>
              </a:rPr>
              <a:t>3 gotcha CORS/$json.body/API key vừa tự vấp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3246120"/>
            <a:ext cx="1088136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77240" y="327355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3273552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W4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3246120"/>
            <a:ext cx="2560320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Aptos"/>
              </a:rPr>
              <a:t>Mermaid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77639" y="3291840"/>
            <a:ext cx="1417320" cy="347472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14215" y="3291840"/>
            <a:ext cx="13441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94A3B8"/>
                </a:solidFill>
                <a:latin typeface="Aptos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3246120"/>
            <a:ext cx="5806440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ptos"/>
              </a:rPr>
              <a:t>Sơ đồ tổng đã có sẵn trong tài liệu buổi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3749039"/>
            <a:ext cx="1088136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77240" y="377647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3776472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W5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1600" y="3749039"/>
            <a:ext cx="2560320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Aptos"/>
              </a:rPr>
              <a:t>Infographic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77639" y="3794759"/>
            <a:ext cx="1417320" cy="347472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14215" y="3794759"/>
            <a:ext cx="13441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94A3B8"/>
                </a:solidFill>
                <a:latin typeface="Aptos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77840" y="3749039"/>
            <a:ext cx="5806440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ptos"/>
              </a:rPr>
              <a:t>Ảnh minh hoạ workflow đã có sẵn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4251960"/>
            <a:ext cx="1088136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77240" y="427939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4279392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W6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71600" y="4251960"/>
            <a:ext cx="2560320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Aptos"/>
              </a:rPr>
              <a:t>Leadership deck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77639" y="4297680"/>
            <a:ext cx="1417320" cy="347472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014215" y="4297680"/>
            <a:ext cx="13441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94A3B8"/>
                </a:solidFill>
                <a:latin typeface="Aptos"/>
              </a:rP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77840" y="4251960"/>
            <a:ext cx="5806440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ptos"/>
              </a:rPr>
              <a:t>Cách trình bày cho lãnh đạo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40080" y="4754880"/>
            <a:ext cx="1088136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77240" y="478231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7240" y="4782312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W7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71600" y="4754880"/>
            <a:ext cx="2560320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Aptos"/>
              </a:rPr>
              <a:t>Design doc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77639" y="4800600"/>
            <a:ext cx="1417320" cy="347472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14215" y="4800600"/>
            <a:ext cx="13441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94A3B8"/>
                </a:solidFill>
                <a:latin typeface="Aptos"/>
              </a:rP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577840" y="4754880"/>
            <a:ext cx="5806440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ptos"/>
              </a:rPr>
              <a:t>Tài liệu ráp lại nội dung các pha còn lại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651760" y="5806440"/>
            <a:ext cx="685800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688336" y="5806440"/>
            <a:ext cx="678484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4 TH vừa làm = 3/8 pha của một khung tổng quát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W1 — Vì sao dừng đúng ở đây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MA TRẬN IMPACT × DIFFICULTY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71600"/>
            <a:ext cx="50749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371600"/>
            <a:ext cx="73152" cy="1874519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54480"/>
            <a:ext cx="46634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ƯU TIÊN #1 — LÀM NGAY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466344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UC1+UC2+UC3+UC4: sinh angle, bài, kịch bản, seeding+ảnh = đúng TH1→TH2→TH3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371600"/>
            <a:ext cx="50749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1371600"/>
            <a:ext cx="73152" cy="1874519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554480"/>
            <a:ext cx="46634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ƯU TIÊN 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011680"/>
            <a:ext cx="466344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UC5+UC6: cổng duyệt chuẩn hoá + đóng gói n8n = đúng TH4a+TH4b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520440"/>
            <a:ext cx="50749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3520440"/>
            <a:ext cx="73152" cy="1874519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703320"/>
            <a:ext cx="46634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CHỦ ĐÍCH KHÔNG LÀM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160520"/>
            <a:ext cx="466344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UC8 — đăng bài tự động: Impact 5 nhưng cần cổng duyệt đủ tin cậy trước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3520440"/>
            <a:ext cx="50749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5352" y="3520440"/>
            <a:ext cx="73152" cy="1874519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703320"/>
            <a:ext cx="466344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NGOÀI PHẠM VI BUỔI HỌC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160520"/>
            <a:ext cx="466344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UC7 content calendar, UC10 đo lường hiệu quả — Lên kế hoạch, không phải quick win kỹ thuật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03120" y="5623560"/>
            <a:ext cx="7955279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39696" y="5623560"/>
            <a:ext cx="7882127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Aptos"/>
              </a:rPr>
              <a:t>Phạm vi lab không phải mặc định — là một lựa chọn có ma trận đứng sau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As-is thật + Hardening bạn vừa trải qua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W2 + W3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6126480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380744"/>
            <a:ext cx="384048" cy="384048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80744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325880"/>
            <a:ext cx="3429000" cy="49377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Aptos"/>
              </a:rPr>
              <a:t>Lập kế hoạch nội dung theo kỳ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325880"/>
            <a:ext cx="1828800" cy="49377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Aptos"/>
              </a:rPr>
              <a:t>cắt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892807"/>
            <a:ext cx="6126480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194767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1892807"/>
            <a:ext cx="3429000" cy="49377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Aptos"/>
              </a:rPr>
              <a:t>Lên brief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892807"/>
            <a:ext cx="1828800" cy="49377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→ TH1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2459736"/>
            <a:ext cx="6126480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5146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514600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459736"/>
            <a:ext cx="3429000" cy="49377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Aptos"/>
              </a:rPr>
              <a:t>Sản xuất nội dung theo kênh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2459736"/>
            <a:ext cx="1828800" cy="49377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→ TH2+TH3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026663"/>
            <a:ext cx="6126480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3081527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081527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3026663"/>
            <a:ext cx="3429000" cy="49377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Aptos"/>
              </a:rPr>
              <a:t>Duyệt nội bộ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3026663"/>
            <a:ext cx="1828800" cy="49377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→ TH4b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3593591"/>
            <a:ext cx="6126480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3648456"/>
            <a:ext cx="384048" cy="384048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648456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3593591"/>
            <a:ext cx="3429000" cy="49377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Aptos"/>
              </a:rPr>
              <a:t>Lên lịch &amp; đăng bài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3593591"/>
            <a:ext cx="1828800" cy="49377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Aptos"/>
              </a:rPr>
              <a:t>cắt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160520"/>
            <a:ext cx="6126480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215383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215383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4160520"/>
            <a:ext cx="3429000" cy="49377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Aptos"/>
              </a:rPr>
              <a:t>Hỗ trợ lan toả sau đăng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00600" y="4160520"/>
            <a:ext cx="1828800" cy="49377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ptos"/>
              </a:rPr>
              <a:t>seeding → TH3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4727448"/>
            <a:ext cx="6126480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4782312"/>
            <a:ext cx="384048" cy="384048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782312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25880" y="4727448"/>
            <a:ext cx="3429000" cy="49377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Aptos"/>
              </a:rPr>
              <a:t>Đo lường &amp; rút kinh nghiệm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0600" y="4727448"/>
            <a:ext cx="1828800" cy="49377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Aptos"/>
              </a:rPr>
              <a:t>cắt, "không ai làm"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95160" y="1325880"/>
            <a:ext cx="452628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95160" y="1325880"/>
            <a:ext cx="73152" cy="196596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23760" y="1508760"/>
            <a:ext cx="4114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DUYỆT NỘI BỘ (BƯỚC 4) — AS-IS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23760" y="1965960"/>
            <a:ext cx="4114800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Zalo/Slack lộn xộn, có thể 400+ tin nhắn lẫn nội dung/ảnh/chuyện khác.
Không audit trail — không rõ bản nào là bản cuối, ai duyệt.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995160" y="3474720"/>
            <a:ext cx="452628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995160" y="3474720"/>
            <a:ext cx="73152" cy="19659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23760" y="3657600"/>
            <a:ext cx="4114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3 GOTCHA = HARDENING CÓ TÊN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23760" y="4114800"/>
            <a:ext cx="4114800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CORS · $json.body · API key
Không phải "lỗi hay gặp" ngẫu nhiên — là một lớp thiết kế trong quy trình chuyên nghiệp.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011680" y="5623560"/>
            <a:ext cx="8138160" cy="347472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48256" y="5623560"/>
            <a:ext cx="806500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Aptos"/>
              </a:rPr>
              <a:t>Cái bạn gọi là "lỗi hay gặp" chính là một lớp thiết kế có tên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Trình bày quy trình này cho lãnh đạo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W6 — LEADERSHIP DECK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21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37160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530352" cy="5303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1-2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1353312"/>
            <a:ext cx="94183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Bối cảnh &amp; giải pháp to-be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029967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29967"/>
            <a:ext cx="530352" cy="5303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011679"/>
            <a:ext cx="94183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Sơ đồ vận hành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688336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88336"/>
            <a:ext cx="530352" cy="5303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4-5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0048"/>
            <a:ext cx="94183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Lợi ích kỳ vọng + rủi ro trung thực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34670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46704"/>
            <a:ext cx="530352" cy="5303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328416"/>
            <a:ext cx="94183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Lộ trình 30 ngày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005072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005072"/>
            <a:ext cx="530352" cy="5303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7-8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3986784"/>
            <a:ext cx="94183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Aptos"/>
              </a:rPr>
              <a:t>Nguồn lực + quyết định cần phê duyệt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937760"/>
            <a:ext cx="1083564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4937760"/>
            <a:ext cx="73152" cy="137160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20640"/>
            <a:ext cx="104241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LƯU Ý MINH BẠCH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577840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Slide "nguồn lực" trong mẫu có lồng sẵn đề xuất đào tạo K1 — là quy tắc có sẵn của công cụ sinh tài liệu (vibe-workflow-design-orchestrator), không phải phân tích ROI trung lập tuyệt đối. Dùng ở đây như một ví dụ mẫu về cách trình bày pitch cho lãnh đạo.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Chốt: khung này áp cho mọi bài toán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TỔNG KẾT NGƯỢC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463040"/>
            <a:ext cx="10332720" cy="182880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1600200"/>
            <a:ext cx="9692640" cy="1554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"Không chỉ học viết content bằng AI — vừa tự tay đi qua đúng các bước một kiến trúc sư tự động hoá dùng cho MỌI bài toán nghiệp vụ."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566160"/>
            <a:ext cx="1083564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566160"/>
            <a:ext cx="73152" cy="155448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49039"/>
            <a:ext cx="104241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BÀI TẬP MỞ RỘNG (OPTIONAL — KHÔNG CHẤM ĐIỂM B6)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10424160" cy="731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Tự áp khung đầy đủ (Ma trận → As-is/to-be → Hardening → Duyệt) cho sản phẩm/quy trình thật của bạn.
Nguồn tự học: workflow_design/README.md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5440680"/>
            <a:ext cx="6675120" cy="347472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79776" y="5440680"/>
            <a:ext cx="66019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Aptos"/>
              </a:rPr>
              <a:t>Homework B6: custom-input-prompt.md — làm song song được với bài tập này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Nghiệm thu: năm bằng chứng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DEFINITION OF DONE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23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325880"/>
            <a:ext cx="566928" cy="5669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307592"/>
            <a:ext cx="23774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Angles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86200" y="1307592"/>
            <a:ext cx="67665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5 ý tưởng đúng persona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267712"/>
            <a:ext cx="566928" cy="56692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67712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249424"/>
            <a:ext cx="23774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Draft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249424"/>
            <a:ext cx="67665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2 kênh + thiếu thông tin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09544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09544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191256"/>
            <a:ext cx="23774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Assets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3191256"/>
            <a:ext cx="67665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Seed + ảnh đúng contract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15137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151376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133088"/>
            <a:ext cx="23774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Runtime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4133088"/>
            <a:ext cx="67665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n8n sinh nội dung/ảnh</a:t>
            </a:r>
          </a:p>
        </p:txBody>
      </p:sp>
      <p:sp>
        <p:nvSpPr>
          <p:cNvPr id="23" name="Oval 22"/>
          <p:cNvSpPr/>
          <p:nvPr/>
        </p:nvSpPr>
        <p:spPr>
          <a:xfrm>
            <a:off x="731520" y="5093208"/>
            <a:ext cx="566928" cy="566928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093208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074920"/>
            <a:ext cx="237744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Approval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5074920"/>
            <a:ext cx="67665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ptos"/>
              </a:rPr>
              <a:t>Publish_Log có người duyệt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8813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Aptos"/>
              </a:rPr>
              <a:t>Bàn giao sang Buổi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024128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KỊCH BẢN APPROVED TRỞ THÀNH INPUT VIDEO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143000"/>
            <a:ext cx="109545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12648" y="6446520"/>
            <a:ext cx="457200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Aptos"/>
              </a:rPr>
              <a:t>AI AUTOMATION &amp; VIBE CODING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365760" cy="1645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800" b="1">
                <a:solidFill>
                  <a:srgbClr val="94A3B8"/>
                </a:solidFill>
                <a:latin typeface="Aptos"/>
              </a:rP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34290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371600"/>
            <a:ext cx="73152" cy="35661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B6 OUTPUT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11680"/>
            <a:ext cx="30175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content-draft.json
TikTok 4 khối
Hình ảnh + lời thoại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2560320"/>
            <a:ext cx="50292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8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1371600"/>
            <a:ext cx="34290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0" y="1371600"/>
            <a:ext cx="73152" cy="35661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1554480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APPROVED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2011680"/>
            <a:ext cx="30175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Người thật đã duyệt
Không còn claim bịa
Có review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2560320"/>
            <a:ext cx="50292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8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371600"/>
            <a:ext cx="269748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23960" y="1371600"/>
            <a:ext cx="73152" cy="3566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1554480"/>
            <a:ext cx="22860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Aptos"/>
              </a:rPr>
              <a:t>B7 INPUT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011680"/>
            <a:ext cx="228600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Aptos"/>
              </a:rPr>
              <a:t>6–9 scene
Storyboard
Video + audio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71800" y="5440680"/>
            <a:ext cx="6217920" cy="347472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08376" y="5440680"/>
            <a:ext cx="6144768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  <a:latin typeface="Aptos"/>
              </a:rPr>
              <a:t>Chưa Approved → chưa tốn credit video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