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-457200"/>
            <a:ext cx="4754880" cy="7772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DBEAFE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67512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BUỔI 6
CONTENT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63093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Từ brief đến nội dung, ảnh và quyết định duyệt có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5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3977639"/>
            <a:ext cx="1234440" cy="56692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3977639"/>
            <a:ext cx="123444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504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0136" y="3977639"/>
            <a:ext cx="1234440" cy="5669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91440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KẾT QUẢ CUỐI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16002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00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554480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JSON chuẩn</a:t>
            </a:r>
          </a:p>
        </p:txBody>
      </p:sp>
      <p:sp>
        <p:nvSpPr>
          <p:cNvPr id="22" name="Oval 21"/>
          <p:cNvSpPr/>
          <p:nvPr/>
        </p:nvSpPr>
        <p:spPr>
          <a:xfrm>
            <a:off x="8503920" y="26243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243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578608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Workflow n8n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0" y="364845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4845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602736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Ảnh nội dung</a:t>
            </a:r>
          </a:p>
        </p:txBody>
      </p:sp>
      <p:sp>
        <p:nvSpPr>
          <p:cNvPr id="28" name="Oval 27"/>
          <p:cNvSpPr/>
          <p:nvPr/>
        </p:nvSpPr>
        <p:spPr>
          <a:xfrm>
            <a:off x="8503920" y="467258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67258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626864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App duyệt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134 phút · 70% thực hành · GV: Giang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Buổi 5 sang buổi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TỪ KIỂM CHỨNG HỘI THOẠI SANG NỘI DUNG CÓ KIỂM SOÁT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BUỔI 5 — HỘI THOẠI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66344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Guardrail chặn trước, Cache trả lời nhanh, LLM-as-Judge chấm confidence.
Input là từng câu hỏi khách, xử lý real-time, một lượt một lượt.
Case nhạy cảm (khiếu nại, hoàn tiền) → tạo ticket chuyển người (HITL).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156362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ĐÃ HỌC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417320"/>
            <a:ext cx="73152" cy="3474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BUỔI 6 — NỘI 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057400"/>
            <a:ext cx="466344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Kiểm chứng cả một chuỗi: Angle → Draft → Asset → Approved.
Input là brief theo kỳ, xử lý theo lô — không phải từng câu hỏi.
Nội dung + ảnh → App duyệt, người thật bấm Approved (HITL) mới xong.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87584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9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HÔM NAY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394960"/>
            <a:ext cx="10058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5394960"/>
            <a:ext cx="9985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Cùng triết lý HITL — buổi 5 chặn real-time, buổi 6 chặn trước khi xuất bản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Bài toán nghiệp vụ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VẤN ĐỀ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BA BƯỚC ĐANG NGHẼN MỖI KỲ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66344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Brief viết lại từ đầu mỗi kỳ qua Zalo — không có bản lưu chân dung khách hàng.
Content và ảnh làm song song, không chung một nguồn nên lệch tông.
Duyệt nội bộ qua Zalo/Slack lộn xộn — có thể 400+ tin nhắn lẫn lộn, không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AS-IS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417320"/>
            <a:ext cx="73152" cy="3474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NGAY CẢ HỎI AI TRỰC TIẾP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057400"/>
            <a:ext cx="466344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”Viết bài bán hàng cho trung tâm tiếng Anh.” (không đặt tên cụ thể) → Kết quả luôn chung chung, không gắn brand hay chân dung cụ thể (demo sống, không kịch bản trước).
Dán cho trung tâm tiếng Anh nào cũng dùng được — không giải quyết gốc rễ.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87584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9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VẪN CHUNG CHUNG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5394960"/>
            <a:ext cx="5852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91256" y="5394960"/>
            <a:ext cx="57790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Nội dung không thiếu — thiếu hệ thống sản xuất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Công thức thay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TƯ DUY MÔ TẢ CHO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468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99032" y="1810512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1810512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21031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Bán cái gì?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554480"/>
            <a:ext cx="2468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06824" y="1810512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810512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606040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CHÂN 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108960"/>
            <a:ext cx="21031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Bán cho ai?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554480"/>
            <a:ext cx="2468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14616" y="1810512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1810512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606040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108960"/>
            <a:ext cx="21031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Đăng ở đâu?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554480"/>
            <a:ext cx="2468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22408" y="1810512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22408" y="1810512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606040"/>
            <a:ext cx="21031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TIÊU CHÍ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108960"/>
            <a:ext cx="21031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Duyệt thế nào?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754880"/>
            <a:ext cx="8366760" cy="74980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4892040"/>
            <a:ext cx="79095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AI tạo nháp · người thật chịu trách nhiệm duyệt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Năm sản phẩm mang về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ĐÍCH ĐẾN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content-angles.json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307592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5 ý tưởng đúng chân dung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67712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9424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content-draft.json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49424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Fanpage + TikTok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0954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91256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content-assets.json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191256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Seeding + prompt ảnh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513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3308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Workflow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133088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4 lớp + Google Sheets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93208"/>
            <a:ext cx="566928" cy="56692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20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App duyệt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0749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Approved + Publish_Log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Chuỗi artifact: output trước là input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KIẾN TRÚC 4 LỚP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4231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7315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83080"/>
            <a:ext cx="6583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965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96596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Brief × persona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24231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783080"/>
            <a:ext cx="73152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1783080"/>
            <a:ext cx="6583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23160"/>
            <a:ext cx="1965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108960"/>
            <a:ext cx="196596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Bài + 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508760"/>
            <a:ext cx="24231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1783080"/>
            <a:ext cx="731520" cy="34747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6583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423160"/>
            <a:ext cx="1965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108960"/>
            <a:ext cx="196596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Seeding + ảnh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508760"/>
            <a:ext cx="24231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54896" y="1783080"/>
            <a:ext cx="7315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91472" y="1783080"/>
            <a:ext cx="6583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23160"/>
            <a:ext cx="1965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108960"/>
            <a:ext cx="196596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n8n +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423160"/>
            <a:ext cx="34747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2423160"/>
            <a:ext cx="34747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2423160"/>
            <a:ext cx="34747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892040"/>
            <a:ext cx="621792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8376" y="4892040"/>
            <a:ext cx="6144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brief_id + source_angle_id phải khớp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Ba JSON làm bốn việc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ARTIFACT TRƯỚC, AUTOMATION SAU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691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CHỨNG MINH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6634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Logic từng lớp chạy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71600"/>
            <a:ext cx="73152" cy="16916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HỢP ĐỒNG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46634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Node và app biết cấu trúc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73152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6634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Có mẫu để test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52044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520440"/>
            <a:ext cx="73152" cy="16916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KHOANH LỖI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60520"/>
            <a:ext cx="46634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Biết hỏng ở lớp nào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5715000"/>
            <a:ext cx="649224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71216" y="5715000"/>
            <a:ext cx="641908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Không import workflow hoàn chỉnh ở đầu buổi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Demo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NHÌN ĐÍCH ĐẾN TRƯỚC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25496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5496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Angles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5 ý tưởng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84648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2 kênh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17099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Ảnh + seed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02952" y="170992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3032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3032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Approved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4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1546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15468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APP DUYỆT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94760"/>
            <a:ext cx="48463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Xem bài · script · ảnh · seeding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31546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3154680"/>
            <a:ext cx="73152" cy="16002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3375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GOOGLE SHEETS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794760"/>
            <a:ext cx="48463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Content_Queue + Publish_Log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— Brief × chân dung → 5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15 PHÚT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6720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6309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PROMPT 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6309359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Đọc product brief + chân dung.
Tạo đúng 5 angle, mỗi angle nhắm một mã persona có thật.
Phủ tối thiểu 2 persona; không bịa học phí/ưu đãi.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1790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71600"/>
            <a:ext cx="37033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673352"/>
            <a:ext cx="310896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DBEAFE"/>
                </a:solidFill>
                <a:latin typeface="Aptos"/>
              </a:rPr>
              <a:t>content-angles.json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286000"/>
            <a:ext cx="283464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brief_id
personas_covered[]
angles[5]
  angle_id
  chan_dung
  muc_tieu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5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A-01…A-05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≥2 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Mã có trong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87768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mục tiêu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Enum viết hoa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0696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0696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không bịa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3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Không thêm số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90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069080"/>
            <a:ext cx="73152" cy="14173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48463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Agent tự tạo nhóm khách hàng mới.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0690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4069080"/>
            <a:ext cx="73152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2519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709160"/>
            <a:ext cx="48463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Dùng sample sau khi đã thử và được GV xác nhận.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TH2 — Một angle → hai định dạng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15 PHÚT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FANPAGE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48463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120–200 từ
Hai dòng hook đứng riêng
Đúng 1 CTA
Tối đa 2 emoji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51790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ĐỌC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TIKTOK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8463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30–45 giây
HOOK / PROBLEM / SOLUTION / CTA
Hình ảnh + lời thoại
Input Buổi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05872" y="151790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7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QUAY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440680"/>
            <a:ext cx="649224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1216" y="5440680"/>
            <a:ext cx="641908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Cùng một angle · hai kênh · hai format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Lỗi cài cố ý: brief thiếu thông tin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KHÔNG BỊA ĐỂ LÀM BÀI ĐẸP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BRIEF THIẾU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Học phí
Ưu đãi
Ngày khai giảng
Số học viên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3566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AI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Tự thêm số
“Ưu đãi hấp dẫn”
Cam kết kết quả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OUTPUT ĐÚNG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01168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[cần bổ sung]
thieu_thong_tin[]
Người duyệt điền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440680"/>
            <a:ext cx="667512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5440680"/>
            <a:ext cx="66019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thieu_thong_tin rỗng = dấu hiệu AI đã bịa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TH3 — Seeding + image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20 PHÚT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611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5 SEEDING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01752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ASK · RELATE
EXPERIENCE
CONDITION
CTA_NUDGE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3611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IMAGE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01752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9 mục
Tỷ lệ · bố cục
Mục cấm bắt buộc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73152" cy="36118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IMAGE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011680"/>
            <a:ext cx="301752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Tiếng Anh
no text
no children/faces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5440680"/>
            <a:ext cx="621792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8376" y="5440680"/>
            <a:ext cx="6144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Seeding không phải lời khen giả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TH3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1664208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664208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ID khớp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brief + angle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417320"/>
            <a:ext cx="248716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664208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64208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4505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5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077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≥2 câu hỏi thật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417320"/>
            <a:ext cx="248716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87768" y="1664208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1664208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4505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Brief ảnh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9077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đủ 9 mục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417320"/>
            <a:ext cx="248716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0696" y="1664208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0696" y="1664208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24505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Prompt ảnh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3" y="2907792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no text + mục cấm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160520"/>
            <a:ext cx="73152" cy="13716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Seeding toàn lời khen; ảnh có chữ Việt do model sinh.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16052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4160520"/>
            <a:ext cx="73152" cy="13716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34340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ĐÚNG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8006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Người đọc hỏi thật; chữ được chèn sau khi duyệt.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TH4 — Coding Agent đóng gói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30 PHÚT · 4A BACKEND + 4B APP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Lớp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25496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5496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Lớp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84648" y="17099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Lớp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170992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Needs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02952" y="1709928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3032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3032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4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15468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TH4A —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9476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4 lớp · sinh ảnh · 3 webhook · Google Sheets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315468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3154680"/>
            <a:ext cx="73152" cy="16916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3375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TH4B — APP DUYỆT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794760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Xem/sửa nội dung · Approved/Needs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Bốn gotcha thật ở TH4a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TH4A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Webhook phải bật
Allowed Origins = *
App HTML gọi cross-origin.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71600"/>
            <a:ext cx="73152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$json.body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Dữ liệu webhook nằm ở
$json.body.xxx
Không phải $json.xxx.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73152" cy="1874519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API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Không ghi key vào
workflow JSON hoặc app.
Dùng credential.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52044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520440"/>
            <a:ext cx="73152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THIẾU ANGLE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6052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Thiếu angle → AI tự bịa ý tưởng.
Không dùng throw Error (vẫn trả HTTP 200 rỗng).
Dùng node IF thật → HTTP 400.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5623560"/>
            <a:ext cx="621792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8376" y="5623560"/>
            <a:ext cx="6144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Validate cấu trúc ≠ runtime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App duyệt: nơi người thật ra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TH4B · SẢN PHẨM CUỐI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49834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73352"/>
            <a:ext cx="4507992" cy="2011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450799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94A3B8"/>
                </a:solidFill>
                <a:latin typeface="Aptos"/>
              </a:rPr>
              <a:t>ẢNH + IMAGE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977639"/>
            <a:ext cx="192024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977639"/>
            <a:ext cx="184708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NEEDS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977639"/>
            <a:ext cx="178308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3977639"/>
            <a:ext cx="170992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371600"/>
            <a:ext cx="5532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73352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Bài Fanpage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Kịch bản TikTok 4 khối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5 comment seeding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Cảnh báo [cần bổ sung]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94760"/>
            <a:ext cx="4892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Không có nút đăng bài.
Status cao nhất: Approved.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Trước khi nghe: tự đoán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HOẠT ĐỘNG — KHÔNG DÙNG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31673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673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8016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65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6537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2880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Ma trận ưu tiên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77439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414015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14015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77439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As-is / to-be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79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2962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626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926079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Hardening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35112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1129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Mermaid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2336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405993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5993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02336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Infographic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7200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46085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0857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57200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Leadership deck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120640"/>
            <a:ext cx="5029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51572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15721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120640"/>
            <a:ext cx="4160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Design doc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554480"/>
            <a:ext cx="18288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155448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2331720"/>
            <a:ext cx="18288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233172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3108960"/>
            <a:ext cx="18288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310896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3886200"/>
            <a:ext cx="18288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28816" y="388620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TH4a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663440"/>
            <a:ext cx="18288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466344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TH4b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1417320"/>
            <a:ext cx="28803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6800" y="1417320"/>
            <a:ext cx="73152" cy="4114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1600200"/>
            <a:ext cx="246887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CÁCH LÀM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057400"/>
            <a:ext cx="2468879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Theo cặp, bằng miệng hoặc giấy nháp.
Không dùng máy, không kéo prompt AI.
Ghép mỗi TH với đúng pha tương ứng.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5159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88167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2-3'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34640" y="5806440"/>
            <a:ext cx="649224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5806440"/>
            <a:ext cx="641908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GV chưa chốt đáp án ở slide này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Đáp án: bạn vừa đi qua khung Workflow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REVEAL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6187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3444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280160"/>
            <a:ext cx="14173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4215" y="128016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23444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Brief + chân dung nạp đầu buổi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17647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73736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Ma trận ưu tiên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1783080"/>
            <a:ext cx="14173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4215" y="178308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TH1-TH3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73736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Vì sao chọn "sản xuất+duyệt", không phải "đăng bài"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24028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22677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24028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As-is/to-be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2286000"/>
            <a:ext cx="14173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14215" y="228600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TH1-TH4b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24028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7 bước gốc → to-be chỉ phủ bước 2-4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274320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27706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77063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74320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Hardening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2788920"/>
            <a:ext cx="14173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14215" y="278892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TH4a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74320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3 gotcha CORS/$json.body/API key vừa tự vấp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4612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32735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2735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324612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Mermaid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3291840"/>
            <a:ext cx="14173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4215" y="329184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24612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Sơ đồ tổng đã có sẵn trong tài liệu buổi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749039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77647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749039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Infographic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77639" y="3794759"/>
            <a:ext cx="14173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14215" y="3794759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3749039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Ảnh minh hoạ workflow đã có sẵn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25196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7240" y="42793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27939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25196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Leadership deck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77639" y="4297680"/>
            <a:ext cx="14173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14215" y="429768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25196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Cách trình bày cho lãnh đạo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475488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7240" y="47823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78231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4754880"/>
            <a:ext cx="256032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Design doc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77639" y="4800600"/>
            <a:ext cx="14173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14215" y="4800600"/>
            <a:ext cx="13441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4754880"/>
            <a:ext cx="5806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Tài liệu ráp lại nội dung các pha còn lại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51760" y="5806440"/>
            <a:ext cx="68580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88336" y="5806440"/>
            <a:ext cx="67848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4 TH vừa làm = 3/8 pha của một khung tổng quát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W1 — Vì sao dừng đúng ở đây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MA TRẬN IMPACT × DIFFICULTY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ƯU TIÊN #1 — LÀM NGAY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UC1+UC2+UC3+UC4: sinh angle, bài, kịch bản, seeding+ảnh = đúng TH1→TH2→TH3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71600"/>
            <a:ext cx="73152" cy="1874519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5448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ƯU TIÊN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UC5+UC6: cổng duyệt chuẩn hoá + đóng gói n8n = đúng TH4a+TH4b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73152" cy="1874519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CHỦ ĐÍCH KHÔNG LÀM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UC8 — đăng bài tự động: Impact 5 nhưng cần cổng duyệt đủ tin cậy trước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52044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520440"/>
            <a:ext cx="73152" cy="187451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0332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NGOÀI PHẠM VI BUỔI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60520"/>
            <a:ext cx="46634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UC7 content calendar, UC10 đo lường hiệu quả — Lên kế hoạch, không phải quick win kỹ thuật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5623560"/>
            <a:ext cx="7955279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9696" y="5623560"/>
            <a:ext cx="7882127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Phạm vi lab không phải mặc định — là một lựa chọn có ma trận đứng sau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As-is thật + Hardening bạn vừa trải qua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W2 + W3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38074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0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Lập kế hoạch nội dung theo kỳ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cắt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92807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194767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4767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92807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Lên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92807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→ TH1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59736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1460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459736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Sản xuất nội dung theo kênh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459736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→ TH2+TH3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026663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3081527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81527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026663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Duyệt nội bộ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026663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→ TH4b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593591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648456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484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593591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Lên lịch &amp; đăng bài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593591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cắt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160520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215383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15383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160520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Hỗ trợ lan toả sau đăng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160520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seeding → TH3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727448"/>
            <a:ext cx="612648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782312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8231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727448"/>
            <a:ext cx="34290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Đo lường &amp; rút kinh nghiệm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727448"/>
            <a:ext cx="1828800" cy="49377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cắt, "không ai làm"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95160" y="1325880"/>
            <a:ext cx="4526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95160" y="1325880"/>
            <a:ext cx="73152" cy="19659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DUYỆT NỘI BỘ (BƯỚC 4) — AS-IS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196596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Zalo/Slack lộn xộn, có thể 400+ tin nhắn lẫn nội dung/ảnh/chuyện khác.
Không audit trail — không rõ bản nào là bản cuối, ai duyệt.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3474720"/>
            <a:ext cx="4526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95160" y="3474720"/>
            <a:ext cx="73152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3657600"/>
            <a:ext cx="4114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3 GOTCHA = HARDENING CÓ TÊN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114800"/>
            <a:ext cx="41148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CORS · $json.body · API key
Không phải "lỗi hay gặp" ngẫu nhiên — là một lớp thiết kế trong quy trình chuyên nghiệp.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5623560"/>
            <a:ext cx="813816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48256" y="5623560"/>
            <a:ext cx="80650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Cái bạn gọi là "lỗi hay gặp" chính là một lớp thiết kế có tên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Trình bày quy trình này cho lãnh đạo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W6 — LEADERSHIP DECK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353312"/>
            <a:ext cx="9418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Bối cảnh &amp; giải pháp to-be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2996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11679"/>
            <a:ext cx="9418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Sơ đồ vận hành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88336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8833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0048"/>
            <a:ext cx="9418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Lợi ích kỳ vọng + rủi ro trung thực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3467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467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28416"/>
            <a:ext cx="9418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Lộ trình 30 ngày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00507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4183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Nguồn lực + quyết định cần phê duyệt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37760"/>
            <a:ext cx="10835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37760"/>
            <a:ext cx="73152" cy="13716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LƯU Ý MINH BẠCH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Slide "nguồn lực" trong mẫu có lồng sẵn đề xuất đào tạo K1 — là quy tắc có sẵn của công cụ sinh tài liệu (vibe-workflow-design-orchestrator), không phải phân tích ROI trung lập tuyệt đối. Dùng ở đây như một ví dụ mẫu về cách trình bày pitch cho lãnh đạo.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Chốt: khung này áp cho mọi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TỔNG KẾT NGƯỢC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327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96926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"Không chỉ học viết content bằng AI — vừa tự tay đi qua đúng các bước một kiến trúc sư tự động hoá dùng cho MỌI bài toán nghiệp vụ."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10835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6616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424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BÀI TẬP MỞ RỘNG (OPTIONAL — KHÔNG CHẤM ĐIỂM B6)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424160" cy="731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Tự áp khung đầy đủ (Ma trận → As-is/to-be → Hardening → Duyệt) cho sản phẩm/quy trình thật của bạn.
Nguồn tự học: workflow_design/README.md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440680"/>
            <a:ext cx="667512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5440680"/>
            <a:ext cx="66019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Homework B6: custom-input-prompt.md — làm song song được với bài tập này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Nghiệm thu: năm bằng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DEFINITION OF DONE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23774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Angles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307592"/>
            <a:ext cx="67665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5 ý tưởng đúng persona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67712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9424"/>
            <a:ext cx="23774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49424"/>
            <a:ext cx="67665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2 kênh + thiếu thông tin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0954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91256"/>
            <a:ext cx="23774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191256"/>
            <a:ext cx="67665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Seed + ảnh đúng contract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513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33088"/>
            <a:ext cx="23774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133088"/>
            <a:ext cx="67665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n8n sinh nội dung/ảnh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93208"/>
            <a:ext cx="566928" cy="56692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20"/>
            <a:ext cx="23774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074920"/>
            <a:ext cx="67665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Publish_Log có người duyệt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Bàn giao sang Buổi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KỊCH BẢN APPROVED TRỞ THÀNH INPUT VIDEO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B6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content-draft.json
TikTok 4 khối
Hình ảnh + lời thoại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560320"/>
            <a:ext cx="5029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01168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Người thật đã duyệt
Không còn claim bịa
Có review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60320"/>
            <a:ext cx="5029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371600"/>
            <a:ext cx="2697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37160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54480"/>
            <a:ext cx="22860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B7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11680"/>
            <a:ext cx="22860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6–9 scene
Storyboard
Video + audio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5440680"/>
            <a:ext cx="621792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5440680"/>
            <a:ext cx="6144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Chưa Approved → chưa tốn credit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