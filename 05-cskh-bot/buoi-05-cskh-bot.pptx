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1"/>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Lst>
  <p:sldSz cx="12192000" cy="6858000"/>
  <p:notesSz cx="6858000" cy="12192000"/>
  <p:embeddedFontLst>
    <p:embeddedFont>
      <p:font typeface="Consolas" panose="020B0609020204030204" pitchFamily="49" charset="0"/>
      <p:regular r:id="rId42"/>
      <p:bold r:id="rId43"/>
      <p:italic r:id="rId44"/>
      <p:boldItalic r:id="rId45"/>
    </p:embeddedFont>
    <p:embeddedFont>
      <p:font typeface="Montserrat" pitchFamily="2" charset="77"/>
      <p:regular r:id="rId46"/>
      <p:bold r:id="rId47"/>
      <p:italic r:id="rId48"/>
      <p:boldItalic r:id="rId49"/>
    </p:embeddedFont>
    <p:embeddedFont>
      <p:font typeface="Montserrat Bold" pitchFamily="2" charset="77"/>
      <p:regular r:id="rId50"/>
      <p:bold r:id="rId51"/>
      <p:italic r:id="rId52"/>
      <p:boldItalic r:id="rId53"/>
    </p:embeddedFont>
    <p:embeddedFont>
      <p:font typeface="Montserrat Light" pitchFamily="2" charset="77"/>
      <p:regular r:id="rId54"/>
      <p:italic r:id="rId5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52"/>
    <p:restoredTop sz="94610"/>
  </p:normalViewPr>
  <p:slideViewPr>
    <p:cSldViewPr snapToGrid="0" snapToObjects="1">
      <p:cViewPr varScale="1">
        <p:scale>
          <a:sx n="112" d="100"/>
          <a:sy n="112" d="100"/>
        </p:scale>
        <p:origin x="48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1.fntdata"/><Relationship Id="rId47" Type="http://schemas.openxmlformats.org/officeDocument/2006/relationships/font" Target="fonts/font6.fntdata"/><Relationship Id="rId50" Type="http://schemas.openxmlformats.org/officeDocument/2006/relationships/font" Target="fonts/font9.fntdata"/><Relationship Id="rId55" Type="http://schemas.openxmlformats.org/officeDocument/2006/relationships/font" Target="fonts/font14.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4.fntdata"/><Relationship Id="rId53" Type="http://schemas.openxmlformats.org/officeDocument/2006/relationships/font" Target="fonts/font12.fntdata"/><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2.fntdata"/><Relationship Id="rId48" Type="http://schemas.openxmlformats.org/officeDocument/2006/relationships/font" Target="fonts/font7.fntdata"/><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font" Target="fonts/font10.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5.fntdata"/><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 Id="rId54" Type="http://schemas.openxmlformats.org/officeDocument/2006/relationships/font" Target="fonts/font13.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8.fntdata"/><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3.fntdata"/><Relationship Id="rId52"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554907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6E6E6"/>
          </a:solidFill>
          <a:ln/>
        </p:spPr>
      </p:sp>
      <p:sp>
        <p:nvSpPr>
          <p:cNvPr id="3" name="Shape 1"/>
          <p:cNvSpPr/>
          <p:nvPr/>
        </p:nvSpPr>
        <p:spPr>
          <a:xfrm>
            <a:off x="0" y="0"/>
            <a:ext cx="12191695" cy="68580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16.svg"/></Relationships>
</file>

<file path=ppt/slides/_rels/slide2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34.svg"/><Relationship Id="rId4" Type="http://schemas.openxmlformats.org/officeDocument/2006/relationships/image" Target="../media/image33.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Text 0"/>
          <p:cNvSpPr/>
          <p:nvPr/>
        </p:nvSpPr>
        <p:spPr>
          <a:xfrm>
            <a:off x="5233360" y="2695575"/>
            <a:ext cx="6296860"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Chatbot CSKH có kiểm soát</a:t>
            </a:r>
            <a:endParaRPr lang="en-US" sz="3250" dirty="0"/>
          </a:p>
        </p:txBody>
      </p:sp>
      <p:sp>
        <p:nvSpPr>
          <p:cNvPr id="4" name="Text 1"/>
          <p:cNvSpPr/>
          <p:nvPr/>
        </p:nvSpPr>
        <p:spPr>
          <a:xfrm>
            <a:off x="5233360" y="3460353"/>
            <a:ext cx="6906444" cy="264616"/>
          </a:xfrm>
          <a:prstGeom prst="rect">
            <a:avLst/>
          </a:prstGeom>
          <a:noFill/>
          <a:ln/>
        </p:spPr>
        <p:txBody>
          <a:bodyPr wrap="none" lIns="0" tIns="0" rIns="0" bIns="0" rtlCol="0" anchor="t"/>
          <a:lstStyle/>
          <a:p>
            <a:pPr marL="0" indent="0" algn="l">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Buổi 5 · Semantic Search, LLM-as-Judge và HITL</a:t>
            </a:r>
            <a:endParaRPr lang="en-US" sz="1300" dirty="0"/>
          </a:p>
        </p:txBody>
      </p:sp>
      <p:sp>
        <p:nvSpPr>
          <p:cNvPr id="5" name="Shape 2"/>
          <p:cNvSpPr/>
          <p:nvPr/>
        </p:nvSpPr>
        <p:spPr>
          <a:xfrm>
            <a:off x="5233360" y="3911005"/>
            <a:ext cx="733605" cy="251420"/>
          </a:xfrm>
          <a:prstGeom prst="roundRect">
            <a:avLst>
              <a:gd name="adj" fmla="val 22103"/>
            </a:avLst>
          </a:prstGeom>
          <a:solidFill>
            <a:srgbClr val="CCE2FF"/>
          </a:solidFill>
          <a:ln/>
        </p:spPr>
      </p:sp>
      <p:sp>
        <p:nvSpPr>
          <p:cNvPr id="6" name="Text 3"/>
          <p:cNvSpPr/>
          <p:nvPr/>
        </p:nvSpPr>
        <p:spPr>
          <a:xfrm>
            <a:off x="5332577" y="3960614"/>
            <a:ext cx="1144757" cy="152202"/>
          </a:xfrm>
          <a:prstGeom prst="rect">
            <a:avLst/>
          </a:prstGeom>
          <a:noFill/>
          <a:ln/>
        </p:spPr>
        <p:txBody>
          <a:bodyPr wrap="none" lIns="0" tIns="0" rIns="0" bIns="0" rtlCol="0" anchor="t"/>
          <a:lstStyle/>
          <a:p>
            <a:pPr marL="0" indent="0" algn="l">
              <a:lnSpc>
                <a:spcPct val="96000"/>
              </a:lnSpc>
              <a:buNone/>
            </a:pPr>
            <a:r>
              <a:rPr lang="en-US" sz="1000" dirty="0">
                <a:solidFill>
                  <a:srgbClr val="000000"/>
                </a:solidFill>
                <a:latin typeface="Montserrat" pitchFamily="34" charset="0"/>
                <a:ea typeface="Montserrat" pitchFamily="34" charset="-122"/>
                <a:cs typeface="Montserrat" pitchFamily="34" charset="-120"/>
              </a:rPr>
              <a:t>GV: LỘC</a:t>
            </a:r>
            <a:endParaRPr lang="en-US" sz="1000" dirty="0"/>
          </a:p>
        </p:txBody>
      </p:sp>
      <p:sp>
        <p:nvSpPr>
          <p:cNvPr id="7" name="Shape 4"/>
          <p:cNvSpPr/>
          <p:nvPr/>
        </p:nvSpPr>
        <p:spPr>
          <a:xfrm>
            <a:off x="6049613" y="3911005"/>
            <a:ext cx="823297" cy="251420"/>
          </a:xfrm>
          <a:prstGeom prst="roundRect">
            <a:avLst>
              <a:gd name="adj" fmla="val 22103"/>
            </a:avLst>
          </a:prstGeom>
          <a:noFill/>
          <a:ln w="6350">
            <a:solidFill>
              <a:srgbClr val="004AAD"/>
            </a:solidFill>
            <a:prstDash val="solid"/>
          </a:ln>
        </p:spPr>
      </p:sp>
      <p:sp>
        <p:nvSpPr>
          <p:cNvPr id="8" name="Text 5"/>
          <p:cNvSpPr/>
          <p:nvPr/>
        </p:nvSpPr>
        <p:spPr>
          <a:xfrm>
            <a:off x="6148829" y="3960614"/>
            <a:ext cx="1234449" cy="152202"/>
          </a:xfrm>
          <a:prstGeom prst="rect">
            <a:avLst/>
          </a:prstGeom>
          <a:noFill/>
          <a:ln/>
        </p:spPr>
        <p:txBody>
          <a:bodyPr wrap="none" lIns="0" tIns="0" rIns="0" bIns="0" rtlCol="0" anchor="t"/>
          <a:lstStyle/>
          <a:p>
            <a:pPr marL="0" indent="0" algn="l">
              <a:lnSpc>
                <a:spcPct val="96000"/>
              </a:lnSpc>
              <a:buNone/>
            </a:pPr>
            <a:r>
              <a:rPr lang="en-US" sz="1000" dirty="0">
                <a:solidFill>
                  <a:srgbClr val="004AAD"/>
                </a:solidFill>
                <a:latin typeface="Montserrat" pitchFamily="34" charset="0"/>
                <a:ea typeface="Montserrat" pitchFamily="34" charset="-122"/>
                <a:cs typeface="Montserrat" pitchFamily="34" charset="-120"/>
              </a:rPr>
              <a:t>120 PHÚT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587177"/>
            <a:ext cx="10868745" cy="439241"/>
          </a:xfrm>
          <a:prstGeom prst="rect">
            <a:avLst/>
          </a:prstGeom>
          <a:noFill/>
          <a:ln/>
        </p:spPr>
        <p:txBody>
          <a:bodyPr wrap="none" lIns="0" tIns="0" rIns="0" bIns="0" rtlCol="0" anchor="t"/>
          <a:lstStyle/>
          <a:p>
            <a:pPr marL="0" indent="0" algn="l">
              <a:lnSpc>
                <a:spcPct val="104000"/>
              </a:lnSpc>
              <a:buNone/>
            </a:pPr>
            <a:r>
              <a:rPr lang="en-US" sz="2750" b="1" dirty="0">
                <a:solidFill>
                  <a:srgbClr val="004AAD"/>
                </a:solidFill>
                <a:latin typeface="Montserrat Bold" pitchFamily="34" charset="0"/>
                <a:ea typeface="Montserrat Bold" pitchFamily="34" charset="-122"/>
                <a:cs typeface="Montserrat Bold" pitchFamily="34" charset="-120"/>
              </a:rPr>
              <a:t>Buổi 5 · 120 phút</a:t>
            </a:r>
            <a:endParaRPr lang="en-US" sz="2750" dirty="0"/>
          </a:p>
        </p:txBody>
      </p:sp>
      <p:sp>
        <p:nvSpPr>
          <p:cNvPr id="3" name="Text 1"/>
          <p:cNvSpPr/>
          <p:nvPr/>
        </p:nvSpPr>
        <p:spPr>
          <a:xfrm>
            <a:off x="661475" y="1074142"/>
            <a:ext cx="10868745" cy="219571"/>
          </a:xfrm>
          <a:prstGeom prst="rect">
            <a:avLst/>
          </a:prstGeom>
          <a:noFill/>
          <a:ln/>
        </p:spPr>
        <p:txBody>
          <a:bodyPr wrap="none" lIns="0" tIns="0" rIns="0" bIns="0" rtlCol="0" anchor="t"/>
          <a:lstStyle/>
          <a:p>
            <a:pPr marL="0" indent="0" algn="l">
              <a:lnSpc>
                <a:spcPct val="104000"/>
              </a:lnSpc>
              <a:buNone/>
            </a:pPr>
            <a:r>
              <a:rPr lang="en-US" sz="1350" b="1" dirty="0">
                <a:solidFill>
                  <a:srgbClr val="004AAD"/>
                </a:solidFill>
                <a:latin typeface="Montserrat Bold" pitchFamily="34" charset="0"/>
                <a:ea typeface="Montserrat Bold" pitchFamily="34" charset="-122"/>
                <a:cs typeface="Montserrat Bold" pitchFamily="34" charset="-120"/>
              </a:rPr>
              <a:t>Chương trình chi tiết</a:t>
            </a:r>
            <a:endParaRPr lang="en-US" sz="1350" dirty="0"/>
          </a:p>
        </p:txBody>
      </p:sp>
      <p:sp>
        <p:nvSpPr>
          <p:cNvPr id="4" name="Shape 2"/>
          <p:cNvSpPr/>
          <p:nvPr/>
        </p:nvSpPr>
        <p:spPr>
          <a:xfrm>
            <a:off x="6086323" y="1472902"/>
            <a:ext cx="19050" cy="4797921"/>
          </a:xfrm>
          <a:prstGeom prst="roundRect">
            <a:avLst>
              <a:gd name="adj" fmla="val 49999"/>
            </a:avLst>
          </a:prstGeom>
          <a:solidFill>
            <a:srgbClr val="B2C8E5"/>
          </a:solidFill>
          <a:ln/>
        </p:spPr>
      </p:sp>
      <p:sp>
        <p:nvSpPr>
          <p:cNvPr id="5" name="Shape 3"/>
          <p:cNvSpPr/>
          <p:nvPr/>
        </p:nvSpPr>
        <p:spPr>
          <a:xfrm>
            <a:off x="5535077" y="1621532"/>
            <a:ext cx="421669" cy="19050"/>
          </a:xfrm>
          <a:prstGeom prst="roundRect">
            <a:avLst>
              <a:gd name="adj" fmla="val 49999"/>
            </a:avLst>
          </a:prstGeom>
          <a:solidFill>
            <a:srgbClr val="B2C8E5"/>
          </a:solidFill>
          <a:ln/>
        </p:spPr>
      </p:sp>
      <p:sp>
        <p:nvSpPr>
          <p:cNvPr id="6" name="Shape 4"/>
          <p:cNvSpPr/>
          <p:nvPr/>
        </p:nvSpPr>
        <p:spPr>
          <a:xfrm>
            <a:off x="5937697" y="1472902"/>
            <a:ext cx="316301" cy="316309"/>
          </a:xfrm>
          <a:prstGeom prst="roundRect">
            <a:avLst>
              <a:gd name="adj" fmla="val 18667"/>
            </a:avLst>
          </a:prstGeom>
          <a:solidFill>
            <a:srgbClr val="CCE2FF"/>
          </a:solidFill>
          <a:ln w="6350">
            <a:solidFill>
              <a:srgbClr val="B2C8E5"/>
            </a:solidFill>
            <a:prstDash val="solid"/>
          </a:ln>
        </p:spPr>
      </p:sp>
      <p:sp>
        <p:nvSpPr>
          <p:cNvPr id="7" name="Text 5"/>
          <p:cNvSpPr/>
          <p:nvPr/>
        </p:nvSpPr>
        <p:spPr>
          <a:xfrm>
            <a:off x="5990430" y="1499295"/>
            <a:ext cx="210835" cy="263525"/>
          </a:xfrm>
          <a:prstGeom prst="rect">
            <a:avLst/>
          </a:prstGeom>
          <a:noFill/>
          <a:ln/>
        </p:spPr>
        <p:txBody>
          <a:bodyPr wrap="none" lIns="0" tIns="0" rIns="0" bIns="0" rtlCol="0" anchor="ctr"/>
          <a:lstStyle/>
          <a:p>
            <a:pPr marL="0" indent="0" algn="ctr">
              <a:lnSpc>
                <a:spcPct val="100000"/>
              </a:lnSpc>
              <a:buNone/>
            </a:pPr>
            <a:r>
              <a:rPr lang="en-US" sz="1650" b="1" dirty="0">
                <a:solidFill>
                  <a:srgbClr val="000000"/>
                </a:solidFill>
                <a:latin typeface="Montserrat Bold" pitchFamily="34" charset="0"/>
                <a:ea typeface="Montserrat Bold" pitchFamily="34" charset="-122"/>
                <a:cs typeface="Montserrat Bold" pitchFamily="34" charset="-120"/>
              </a:rPr>
              <a:t>1</a:t>
            </a:r>
            <a:endParaRPr lang="en-US" sz="1650" dirty="0"/>
          </a:p>
        </p:txBody>
      </p:sp>
      <p:sp>
        <p:nvSpPr>
          <p:cNvPr id="8" name="Text 6"/>
          <p:cNvSpPr/>
          <p:nvPr/>
        </p:nvSpPr>
        <p:spPr>
          <a:xfrm>
            <a:off x="661475" y="1521222"/>
            <a:ext cx="4731525" cy="219571"/>
          </a:xfrm>
          <a:prstGeom prst="rect">
            <a:avLst/>
          </a:prstGeom>
          <a:noFill/>
          <a:ln/>
        </p:spPr>
        <p:txBody>
          <a:bodyPr wrap="none" lIns="0" tIns="0" rIns="0" bIns="0" rtlCol="0" anchor="t"/>
          <a:lstStyle/>
          <a:p>
            <a:pPr marL="0" indent="0" algn="r">
              <a:lnSpc>
                <a:spcPct val="104000"/>
              </a:lnSpc>
              <a:buNone/>
            </a:pPr>
            <a:r>
              <a:rPr lang="en-US" sz="1350" b="1" dirty="0">
                <a:solidFill>
                  <a:srgbClr val="000000"/>
                </a:solidFill>
                <a:latin typeface="Montserrat Bold" pitchFamily="34" charset="0"/>
                <a:ea typeface="Montserrat Bold" pitchFamily="34" charset="-122"/>
                <a:cs typeface="Montserrat Bold" pitchFamily="34" charset="-120"/>
              </a:rPr>
              <a:t>Mở đầu và 5 trụ tư duy</a:t>
            </a:r>
            <a:endParaRPr lang="en-US" sz="1350" dirty="0"/>
          </a:p>
        </p:txBody>
      </p:sp>
      <p:sp>
        <p:nvSpPr>
          <p:cNvPr id="9" name="Text 7"/>
          <p:cNvSpPr/>
          <p:nvPr/>
        </p:nvSpPr>
        <p:spPr>
          <a:xfrm>
            <a:off x="661475" y="1812429"/>
            <a:ext cx="4731525" cy="208062"/>
          </a:xfrm>
          <a:prstGeom prst="rect">
            <a:avLst/>
          </a:prstGeom>
          <a:noFill/>
          <a:ln/>
        </p:spPr>
        <p:txBody>
          <a:bodyPr wrap="none" lIns="0" tIns="0" rIns="0" bIns="0" rtlCol="0" anchor="t"/>
          <a:lstStyle/>
          <a:p>
            <a:pPr marL="0" indent="0" algn="r">
              <a:lnSpc>
                <a:spcPct val="123000"/>
              </a:lnSpc>
              <a:buNone/>
            </a:pPr>
            <a:r>
              <a:rPr lang="en-US" sz="1100" dirty="0">
                <a:solidFill>
                  <a:srgbClr val="000000"/>
                </a:solidFill>
                <a:latin typeface="Montserrat" pitchFamily="34" charset="0"/>
                <a:ea typeface="Montserrat" pitchFamily="34" charset="-122"/>
                <a:cs typeface="Montserrat" pitchFamily="34" charset="-120"/>
              </a:rPr>
              <a:t>15 phút · Khung tư duy cho toàn buổi</a:t>
            </a:r>
            <a:endParaRPr lang="en-US" sz="1100" dirty="0"/>
          </a:p>
        </p:txBody>
      </p:sp>
      <p:sp>
        <p:nvSpPr>
          <p:cNvPr id="10" name="Shape 8"/>
          <p:cNvSpPr/>
          <p:nvPr/>
        </p:nvSpPr>
        <p:spPr>
          <a:xfrm>
            <a:off x="6234949" y="2422723"/>
            <a:ext cx="421669" cy="19050"/>
          </a:xfrm>
          <a:prstGeom prst="roundRect">
            <a:avLst>
              <a:gd name="adj" fmla="val 49999"/>
            </a:avLst>
          </a:prstGeom>
          <a:solidFill>
            <a:srgbClr val="B2C8E5"/>
          </a:solidFill>
          <a:ln/>
        </p:spPr>
      </p:sp>
      <p:sp>
        <p:nvSpPr>
          <p:cNvPr id="11" name="Shape 9"/>
          <p:cNvSpPr/>
          <p:nvPr/>
        </p:nvSpPr>
        <p:spPr>
          <a:xfrm>
            <a:off x="5937697" y="2274094"/>
            <a:ext cx="316301" cy="316309"/>
          </a:xfrm>
          <a:prstGeom prst="roundRect">
            <a:avLst>
              <a:gd name="adj" fmla="val 18667"/>
            </a:avLst>
          </a:prstGeom>
          <a:solidFill>
            <a:srgbClr val="CCE2FF"/>
          </a:solidFill>
          <a:ln w="6350">
            <a:solidFill>
              <a:srgbClr val="B2C8E5"/>
            </a:solidFill>
            <a:prstDash val="solid"/>
          </a:ln>
        </p:spPr>
      </p:sp>
      <p:sp>
        <p:nvSpPr>
          <p:cNvPr id="12" name="Text 10"/>
          <p:cNvSpPr/>
          <p:nvPr/>
        </p:nvSpPr>
        <p:spPr>
          <a:xfrm>
            <a:off x="5990430" y="2300486"/>
            <a:ext cx="210835" cy="263525"/>
          </a:xfrm>
          <a:prstGeom prst="rect">
            <a:avLst/>
          </a:prstGeom>
          <a:noFill/>
          <a:ln/>
        </p:spPr>
        <p:txBody>
          <a:bodyPr wrap="none" lIns="0" tIns="0" rIns="0" bIns="0" rtlCol="0" anchor="ctr"/>
          <a:lstStyle/>
          <a:p>
            <a:pPr marL="0" indent="0" algn="ctr">
              <a:lnSpc>
                <a:spcPct val="100000"/>
              </a:lnSpc>
              <a:buNone/>
            </a:pPr>
            <a:r>
              <a:rPr lang="en-US" sz="1650" b="1" dirty="0">
                <a:solidFill>
                  <a:srgbClr val="000000"/>
                </a:solidFill>
                <a:latin typeface="Montserrat Bold" pitchFamily="34" charset="0"/>
                <a:ea typeface="Montserrat Bold" pitchFamily="34" charset="-122"/>
                <a:cs typeface="Montserrat Bold" pitchFamily="34" charset="-120"/>
              </a:rPr>
              <a:t>2</a:t>
            </a:r>
            <a:endParaRPr lang="en-US" sz="1650" dirty="0"/>
          </a:p>
        </p:txBody>
      </p:sp>
      <p:sp>
        <p:nvSpPr>
          <p:cNvPr id="13" name="Text 11"/>
          <p:cNvSpPr/>
          <p:nvPr/>
        </p:nvSpPr>
        <p:spPr>
          <a:xfrm>
            <a:off x="6798696" y="2322413"/>
            <a:ext cx="4731525" cy="219571"/>
          </a:xfrm>
          <a:prstGeom prst="rect">
            <a:avLst/>
          </a:prstGeom>
          <a:noFill/>
          <a:ln/>
        </p:spPr>
        <p:txBody>
          <a:bodyPr wrap="none" lIns="0" tIns="0" rIns="0" bIns="0" rtlCol="0" anchor="t"/>
          <a:lstStyle/>
          <a:p>
            <a:pPr marL="0" indent="0" algn="l">
              <a:lnSpc>
                <a:spcPct val="104000"/>
              </a:lnSpc>
              <a:buNone/>
            </a:pPr>
            <a:r>
              <a:rPr lang="en-US" sz="1350" b="1" dirty="0">
                <a:solidFill>
                  <a:srgbClr val="000000"/>
                </a:solidFill>
                <a:latin typeface="Montserrat Bold" pitchFamily="34" charset="0"/>
                <a:ea typeface="Montserrat Bold" pitchFamily="34" charset="-122"/>
                <a:cs typeface="Montserrat Bold" pitchFamily="34" charset="-120"/>
              </a:rPr>
              <a:t>Demo qua notebook</a:t>
            </a:r>
            <a:endParaRPr lang="en-US" sz="1350" dirty="0"/>
          </a:p>
        </p:txBody>
      </p:sp>
      <p:sp>
        <p:nvSpPr>
          <p:cNvPr id="14" name="Text 12"/>
          <p:cNvSpPr/>
          <p:nvPr/>
        </p:nvSpPr>
        <p:spPr>
          <a:xfrm>
            <a:off x="6798696" y="2613620"/>
            <a:ext cx="4731525" cy="208062"/>
          </a:xfrm>
          <a:prstGeom prst="rect">
            <a:avLst/>
          </a:prstGeom>
          <a:noFill/>
          <a:ln/>
        </p:spPr>
        <p:txBody>
          <a:bodyPr wrap="none" lIns="0" tIns="0" rIns="0" bIns="0" rtlCol="0" anchor="t"/>
          <a:lstStyle/>
          <a:p>
            <a:pPr marL="0" indent="0" algn="l">
              <a:lnSpc>
                <a:spcPct val="123000"/>
              </a:lnSpc>
              <a:buNone/>
            </a:pPr>
            <a:r>
              <a:rPr lang="en-US" sz="1100" dirty="0">
                <a:solidFill>
                  <a:srgbClr val="000000"/>
                </a:solidFill>
                <a:latin typeface="Montserrat" pitchFamily="34" charset="0"/>
                <a:ea typeface="Montserrat" pitchFamily="34" charset="-122"/>
                <a:cs typeface="Montserrat" pitchFamily="34" charset="-120"/>
              </a:rPr>
              <a:t>15 phút · Webhook /cskh chạy thật</a:t>
            </a:r>
            <a:endParaRPr lang="en-US" sz="1100" dirty="0"/>
          </a:p>
        </p:txBody>
      </p:sp>
      <p:sp>
        <p:nvSpPr>
          <p:cNvPr id="15" name="Shape 13"/>
          <p:cNvSpPr/>
          <p:nvPr/>
        </p:nvSpPr>
        <p:spPr>
          <a:xfrm>
            <a:off x="5535077" y="3128665"/>
            <a:ext cx="421669" cy="19050"/>
          </a:xfrm>
          <a:prstGeom prst="roundRect">
            <a:avLst>
              <a:gd name="adj" fmla="val 49999"/>
            </a:avLst>
          </a:prstGeom>
          <a:solidFill>
            <a:srgbClr val="B2C8E5"/>
          </a:solidFill>
          <a:ln/>
        </p:spPr>
      </p:sp>
      <p:sp>
        <p:nvSpPr>
          <p:cNvPr id="16" name="Shape 14"/>
          <p:cNvSpPr/>
          <p:nvPr/>
        </p:nvSpPr>
        <p:spPr>
          <a:xfrm>
            <a:off x="5937697" y="2980035"/>
            <a:ext cx="316301" cy="316309"/>
          </a:xfrm>
          <a:prstGeom prst="roundRect">
            <a:avLst>
              <a:gd name="adj" fmla="val 18667"/>
            </a:avLst>
          </a:prstGeom>
          <a:solidFill>
            <a:srgbClr val="CCE2FF"/>
          </a:solidFill>
          <a:ln w="6350">
            <a:solidFill>
              <a:srgbClr val="B2C8E5"/>
            </a:solidFill>
            <a:prstDash val="solid"/>
          </a:ln>
        </p:spPr>
      </p:sp>
      <p:sp>
        <p:nvSpPr>
          <p:cNvPr id="17" name="Text 15"/>
          <p:cNvSpPr/>
          <p:nvPr/>
        </p:nvSpPr>
        <p:spPr>
          <a:xfrm>
            <a:off x="5990430" y="3006427"/>
            <a:ext cx="210835" cy="263525"/>
          </a:xfrm>
          <a:prstGeom prst="rect">
            <a:avLst/>
          </a:prstGeom>
          <a:noFill/>
          <a:ln/>
        </p:spPr>
        <p:txBody>
          <a:bodyPr wrap="none" lIns="0" tIns="0" rIns="0" bIns="0" rtlCol="0" anchor="ctr"/>
          <a:lstStyle/>
          <a:p>
            <a:pPr marL="0" indent="0" algn="ctr">
              <a:lnSpc>
                <a:spcPct val="100000"/>
              </a:lnSpc>
              <a:buNone/>
            </a:pPr>
            <a:r>
              <a:rPr lang="en-US" sz="1650" b="1" dirty="0">
                <a:solidFill>
                  <a:srgbClr val="000000"/>
                </a:solidFill>
                <a:latin typeface="Montserrat Bold" pitchFamily="34" charset="0"/>
                <a:ea typeface="Montserrat Bold" pitchFamily="34" charset="-122"/>
                <a:cs typeface="Montserrat Bold" pitchFamily="34" charset="-120"/>
              </a:rPr>
              <a:t>3</a:t>
            </a:r>
            <a:endParaRPr lang="en-US" sz="1650" dirty="0"/>
          </a:p>
        </p:txBody>
      </p:sp>
      <p:sp>
        <p:nvSpPr>
          <p:cNvPr id="18" name="Text 16"/>
          <p:cNvSpPr/>
          <p:nvPr/>
        </p:nvSpPr>
        <p:spPr>
          <a:xfrm>
            <a:off x="661475" y="3028355"/>
            <a:ext cx="4731525" cy="219571"/>
          </a:xfrm>
          <a:prstGeom prst="rect">
            <a:avLst/>
          </a:prstGeom>
          <a:noFill/>
          <a:ln/>
        </p:spPr>
        <p:txBody>
          <a:bodyPr wrap="none" lIns="0" tIns="0" rIns="0" bIns="0" rtlCol="0" anchor="t"/>
          <a:lstStyle/>
          <a:p>
            <a:pPr marL="0" indent="0" algn="r">
              <a:lnSpc>
                <a:spcPct val="104000"/>
              </a:lnSpc>
              <a:buNone/>
            </a:pPr>
            <a:r>
              <a:rPr lang="en-US" sz="1350" b="1" dirty="0">
                <a:solidFill>
                  <a:srgbClr val="000000"/>
                </a:solidFill>
                <a:latin typeface="Montserrat Bold" pitchFamily="34" charset="0"/>
                <a:ea typeface="Montserrat Bold" pitchFamily="34" charset="-122"/>
                <a:cs typeface="Montserrat Bold" pitchFamily="34" charset="-120"/>
              </a:rPr>
              <a:t>Thực hành 1 &amp; 2</a:t>
            </a:r>
            <a:endParaRPr lang="en-US" sz="1350" dirty="0"/>
          </a:p>
        </p:txBody>
      </p:sp>
      <p:sp>
        <p:nvSpPr>
          <p:cNvPr id="19" name="Text 17"/>
          <p:cNvSpPr/>
          <p:nvPr/>
        </p:nvSpPr>
        <p:spPr>
          <a:xfrm>
            <a:off x="661475" y="3319562"/>
            <a:ext cx="4731525" cy="208062"/>
          </a:xfrm>
          <a:prstGeom prst="rect">
            <a:avLst/>
          </a:prstGeom>
          <a:noFill/>
          <a:ln/>
        </p:spPr>
        <p:txBody>
          <a:bodyPr wrap="none" lIns="0" tIns="0" rIns="0" bIns="0" rtlCol="0" anchor="t"/>
          <a:lstStyle/>
          <a:p>
            <a:pPr marL="0" indent="0" algn="r">
              <a:lnSpc>
                <a:spcPct val="123000"/>
              </a:lnSpc>
              <a:buNone/>
            </a:pPr>
            <a:r>
              <a:rPr lang="en-US" sz="1100" dirty="0">
                <a:solidFill>
                  <a:srgbClr val="000000"/>
                </a:solidFill>
                <a:latin typeface="Montserrat" pitchFamily="34" charset="0"/>
                <a:ea typeface="Montserrat" pitchFamily="34" charset="-122"/>
                <a:cs typeface="Montserrat" pitchFamily="34" charset="-120"/>
              </a:rPr>
              <a:t>45 phút · Vector KB, guardrail, router, cache</a:t>
            </a:r>
            <a:endParaRPr lang="en-US" sz="1100" dirty="0"/>
          </a:p>
        </p:txBody>
      </p:sp>
      <p:sp>
        <p:nvSpPr>
          <p:cNvPr id="20" name="Shape 18"/>
          <p:cNvSpPr/>
          <p:nvPr/>
        </p:nvSpPr>
        <p:spPr>
          <a:xfrm>
            <a:off x="6234949" y="3834606"/>
            <a:ext cx="421669" cy="19050"/>
          </a:xfrm>
          <a:prstGeom prst="roundRect">
            <a:avLst>
              <a:gd name="adj" fmla="val 49999"/>
            </a:avLst>
          </a:prstGeom>
          <a:solidFill>
            <a:srgbClr val="B2C8E5"/>
          </a:solidFill>
          <a:ln/>
        </p:spPr>
      </p:sp>
      <p:sp>
        <p:nvSpPr>
          <p:cNvPr id="21" name="Shape 19"/>
          <p:cNvSpPr/>
          <p:nvPr/>
        </p:nvSpPr>
        <p:spPr>
          <a:xfrm>
            <a:off x="5937697" y="3685977"/>
            <a:ext cx="316301" cy="316309"/>
          </a:xfrm>
          <a:prstGeom prst="roundRect">
            <a:avLst>
              <a:gd name="adj" fmla="val 18667"/>
            </a:avLst>
          </a:prstGeom>
          <a:solidFill>
            <a:srgbClr val="CCE2FF"/>
          </a:solidFill>
          <a:ln w="6350">
            <a:solidFill>
              <a:srgbClr val="B2C8E5"/>
            </a:solidFill>
            <a:prstDash val="solid"/>
          </a:ln>
        </p:spPr>
      </p:sp>
      <p:sp>
        <p:nvSpPr>
          <p:cNvPr id="22" name="Text 20"/>
          <p:cNvSpPr/>
          <p:nvPr/>
        </p:nvSpPr>
        <p:spPr>
          <a:xfrm>
            <a:off x="5990430" y="3712369"/>
            <a:ext cx="210835" cy="263525"/>
          </a:xfrm>
          <a:prstGeom prst="rect">
            <a:avLst/>
          </a:prstGeom>
          <a:noFill/>
          <a:ln/>
        </p:spPr>
        <p:txBody>
          <a:bodyPr wrap="none" lIns="0" tIns="0" rIns="0" bIns="0" rtlCol="0" anchor="ctr"/>
          <a:lstStyle/>
          <a:p>
            <a:pPr marL="0" indent="0" algn="ctr">
              <a:lnSpc>
                <a:spcPct val="100000"/>
              </a:lnSpc>
              <a:buNone/>
            </a:pPr>
            <a:r>
              <a:rPr lang="en-US" sz="1650" b="1" dirty="0">
                <a:solidFill>
                  <a:srgbClr val="000000"/>
                </a:solidFill>
                <a:latin typeface="Montserrat Bold" pitchFamily="34" charset="0"/>
                <a:ea typeface="Montserrat Bold" pitchFamily="34" charset="-122"/>
                <a:cs typeface="Montserrat Bold" pitchFamily="34" charset="-120"/>
              </a:rPr>
              <a:t>4</a:t>
            </a:r>
            <a:endParaRPr lang="en-US" sz="1650" dirty="0"/>
          </a:p>
        </p:txBody>
      </p:sp>
      <p:sp>
        <p:nvSpPr>
          <p:cNvPr id="23" name="Text 21"/>
          <p:cNvSpPr/>
          <p:nvPr/>
        </p:nvSpPr>
        <p:spPr>
          <a:xfrm>
            <a:off x="6798696" y="3734296"/>
            <a:ext cx="4731525" cy="219571"/>
          </a:xfrm>
          <a:prstGeom prst="rect">
            <a:avLst/>
          </a:prstGeom>
          <a:noFill/>
          <a:ln/>
        </p:spPr>
        <p:txBody>
          <a:bodyPr wrap="none" lIns="0" tIns="0" rIns="0" bIns="0" rtlCol="0" anchor="t"/>
          <a:lstStyle/>
          <a:p>
            <a:pPr marL="0" indent="0" algn="l">
              <a:lnSpc>
                <a:spcPct val="104000"/>
              </a:lnSpc>
              <a:buNone/>
            </a:pPr>
            <a:r>
              <a:rPr lang="en-US" sz="1350" b="1" dirty="0">
                <a:solidFill>
                  <a:srgbClr val="000000"/>
                </a:solidFill>
                <a:latin typeface="Montserrat Bold" pitchFamily="34" charset="0"/>
                <a:ea typeface="Montserrat Bold" pitchFamily="34" charset="-122"/>
                <a:cs typeface="Montserrat Bold" pitchFamily="34" charset="-120"/>
              </a:rPr>
              <a:t>Thực hành 3</a:t>
            </a:r>
            <a:endParaRPr lang="en-US" sz="1350" dirty="0"/>
          </a:p>
        </p:txBody>
      </p:sp>
      <p:sp>
        <p:nvSpPr>
          <p:cNvPr id="24" name="Text 22"/>
          <p:cNvSpPr/>
          <p:nvPr/>
        </p:nvSpPr>
        <p:spPr>
          <a:xfrm>
            <a:off x="6798696" y="4025503"/>
            <a:ext cx="4731525" cy="208062"/>
          </a:xfrm>
          <a:prstGeom prst="rect">
            <a:avLst/>
          </a:prstGeom>
          <a:noFill/>
          <a:ln/>
        </p:spPr>
        <p:txBody>
          <a:bodyPr wrap="none" lIns="0" tIns="0" rIns="0" bIns="0" rtlCol="0" anchor="t"/>
          <a:lstStyle/>
          <a:p>
            <a:pPr marL="0" indent="0" algn="l">
              <a:lnSpc>
                <a:spcPct val="123000"/>
              </a:lnSpc>
              <a:buNone/>
            </a:pPr>
            <a:r>
              <a:rPr lang="en-US" sz="1100" dirty="0">
                <a:solidFill>
                  <a:srgbClr val="000000"/>
                </a:solidFill>
                <a:latin typeface="Montserrat" pitchFamily="34" charset="0"/>
                <a:ea typeface="Montserrat" pitchFamily="34" charset="-122"/>
                <a:cs typeface="Montserrat" pitchFamily="34" charset="-120"/>
              </a:rPr>
              <a:t>20 phút · LLM Fallback, LLM-as-Judge, HITL ticket</a:t>
            </a:r>
            <a:endParaRPr lang="en-US" sz="1100" dirty="0"/>
          </a:p>
        </p:txBody>
      </p:sp>
      <p:sp>
        <p:nvSpPr>
          <p:cNvPr id="25" name="Shape 23"/>
          <p:cNvSpPr/>
          <p:nvPr/>
        </p:nvSpPr>
        <p:spPr>
          <a:xfrm>
            <a:off x="5535077" y="4540548"/>
            <a:ext cx="421669" cy="19050"/>
          </a:xfrm>
          <a:prstGeom prst="roundRect">
            <a:avLst>
              <a:gd name="adj" fmla="val 49999"/>
            </a:avLst>
          </a:prstGeom>
          <a:solidFill>
            <a:srgbClr val="B2C8E5"/>
          </a:solidFill>
          <a:ln/>
        </p:spPr>
      </p:sp>
      <p:sp>
        <p:nvSpPr>
          <p:cNvPr id="26" name="Shape 24"/>
          <p:cNvSpPr/>
          <p:nvPr/>
        </p:nvSpPr>
        <p:spPr>
          <a:xfrm>
            <a:off x="5937697" y="4391918"/>
            <a:ext cx="316301" cy="316309"/>
          </a:xfrm>
          <a:prstGeom prst="roundRect">
            <a:avLst>
              <a:gd name="adj" fmla="val 18667"/>
            </a:avLst>
          </a:prstGeom>
          <a:solidFill>
            <a:srgbClr val="CCE2FF"/>
          </a:solidFill>
          <a:ln w="6350">
            <a:solidFill>
              <a:srgbClr val="B2C8E5"/>
            </a:solidFill>
            <a:prstDash val="solid"/>
          </a:ln>
        </p:spPr>
      </p:sp>
      <p:sp>
        <p:nvSpPr>
          <p:cNvPr id="27" name="Text 25"/>
          <p:cNvSpPr/>
          <p:nvPr/>
        </p:nvSpPr>
        <p:spPr>
          <a:xfrm>
            <a:off x="5990430" y="4418310"/>
            <a:ext cx="210835" cy="263525"/>
          </a:xfrm>
          <a:prstGeom prst="rect">
            <a:avLst/>
          </a:prstGeom>
          <a:noFill/>
          <a:ln/>
        </p:spPr>
        <p:txBody>
          <a:bodyPr wrap="none" lIns="0" tIns="0" rIns="0" bIns="0" rtlCol="0" anchor="ctr"/>
          <a:lstStyle/>
          <a:p>
            <a:pPr marL="0" indent="0" algn="ctr">
              <a:lnSpc>
                <a:spcPct val="100000"/>
              </a:lnSpc>
              <a:buNone/>
            </a:pPr>
            <a:r>
              <a:rPr lang="en-US" sz="1650" b="1" dirty="0">
                <a:solidFill>
                  <a:srgbClr val="000000"/>
                </a:solidFill>
                <a:latin typeface="Montserrat Bold" pitchFamily="34" charset="0"/>
                <a:ea typeface="Montserrat Bold" pitchFamily="34" charset="-122"/>
                <a:cs typeface="Montserrat Bold" pitchFamily="34" charset="-120"/>
              </a:rPr>
              <a:t>5</a:t>
            </a:r>
            <a:endParaRPr lang="en-US" sz="1650" dirty="0"/>
          </a:p>
        </p:txBody>
      </p:sp>
      <p:sp>
        <p:nvSpPr>
          <p:cNvPr id="28" name="Text 26"/>
          <p:cNvSpPr/>
          <p:nvPr/>
        </p:nvSpPr>
        <p:spPr>
          <a:xfrm>
            <a:off x="661475" y="4440238"/>
            <a:ext cx="4731525" cy="219571"/>
          </a:xfrm>
          <a:prstGeom prst="rect">
            <a:avLst/>
          </a:prstGeom>
          <a:noFill/>
          <a:ln/>
        </p:spPr>
        <p:txBody>
          <a:bodyPr wrap="none" lIns="0" tIns="0" rIns="0" bIns="0" rtlCol="0" anchor="t"/>
          <a:lstStyle/>
          <a:p>
            <a:pPr marL="0" indent="0" algn="r">
              <a:lnSpc>
                <a:spcPct val="104000"/>
              </a:lnSpc>
              <a:buNone/>
            </a:pPr>
            <a:r>
              <a:rPr lang="en-US" sz="1350" b="1" dirty="0">
                <a:solidFill>
                  <a:srgbClr val="000000"/>
                </a:solidFill>
                <a:latin typeface="Montserrat Bold" pitchFamily="34" charset="0"/>
                <a:ea typeface="Montserrat Bold" pitchFamily="34" charset="-122"/>
                <a:cs typeface="Montserrat Bold" pitchFamily="34" charset="-120"/>
              </a:rPr>
              <a:t>Thực hành 4</a:t>
            </a:r>
            <a:endParaRPr lang="en-US" sz="1350" dirty="0"/>
          </a:p>
        </p:txBody>
      </p:sp>
      <p:sp>
        <p:nvSpPr>
          <p:cNvPr id="29" name="Text 27"/>
          <p:cNvSpPr/>
          <p:nvPr/>
        </p:nvSpPr>
        <p:spPr>
          <a:xfrm>
            <a:off x="661475" y="4731445"/>
            <a:ext cx="4731525" cy="208062"/>
          </a:xfrm>
          <a:prstGeom prst="rect">
            <a:avLst/>
          </a:prstGeom>
          <a:noFill/>
          <a:ln/>
        </p:spPr>
        <p:txBody>
          <a:bodyPr wrap="none" lIns="0" tIns="0" rIns="0" bIns="0" rtlCol="0" anchor="t"/>
          <a:lstStyle/>
          <a:p>
            <a:pPr marL="0" indent="0" algn="r">
              <a:lnSpc>
                <a:spcPct val="123000"/>
              </a:lnSpc>
              <a:buNone/>
            </a:pPr>
            <a:r>
              <a:rPr lang="en-US" sz="1100" dirty="0">
                <a:solidFill>
                  <a:srgbClr val="000000"/>
                </a:solidFill>
                <a:latin typeface="Montserrat" pitchFamily="34" charset="0"/>
                <a:ea typeface="Montserrat" pitchFamily="34" charset="-122"/>
                <a:cs typeface="Montserrat" pitchFamily="34" charset="-120"/>
              </a:rPr>
              <a:t>20 phút · Landing page có chatbot gọi webhook</a:t>
            </a:r>
            <a:endParaRPr lang="en-US" sz="1100" dirty="0"/>
          </a:p>
        </p:txBody>
      </p:sp>
      <p:sp>
        <p:nvSpPr>
          <p:cNvPr id="30" name="Shape 28"/>
          <p:cNvSpPr/>
          <p:nvPr/>
        </p:nvSpPr>
        <p:spPr>
          <a:xfrm>
            <a:off x="6234949" y="5246489"/>
            <a:ext cx="421669" cy="19050"/>
          </a:xfrm>
          <a:prstGeom prst="roundRect">
            <a:avLst>
              <a:gd name="adj" fmla="val 49999"/>
            </a:avLst>
          </a:prstGeom>
          <a:solidFill>
            <a:srgbClr val="B2C8E5"/>
          </a:solidFill>
          <a:ln/>
        </p:spPr>
      </p:sp>
      <p:sp>
        <p:nvSpPr>
          <p:cNvPr id="31" name="Shape 29"/>
          <p:cNvSpPr/>
          <p:nvPr/>
        </p:nvSpPr>
        <p:spPr>
          <a:xfrm>
            <a:off x="5937697" y="5097859"/>
            <a:ext cx="316301" cy="316309"/>
          </a:xfrm>
          <a:prstGeom prst="roundRect">
            <a:avLst>
              <a:gd name="adj" fmla="val 18667"/>
            </a:avLst>
          </a:prstGeom>
          <a:solidFill>
            <a:srgbClr val="CCE2FF"/>
          </a:solidFill>
          <a:ln w="6350">
            <a:solidFill>
              <a:srgbClr val="B2C8E5"/>
            </a:solidFill>
            <a:prstDash val="solid"/>
          </a:ln>
        </p:spPr>
      </p:sp>
      <p:sp>
        <p:nvSpPr>
          <p:cNvPr id="32" name="Text 30"/>
          <p:cNvSpPr/>
          <p:nvPr/>
        </p:nvSpPr>
        <p:spPr>
          <a:xfrm>
            <a:off x="5990430" y="5124252"/>
            <a:ext cx="210835" cy="263525"/>
          </a:xfrm>
          <a:prstGeom prst="rect">
            <a:avLst/>
          </a:prstGeom>
          <a:noFill/>
          <a:ln/>
        </p:spPr>
        <p:txBody>
          <a:bodyPr wrap="none" lIns="0" tIns="0" rIns="0" bIns="0" rtlCol="0" anchor="ctr"/>
          <a:lstStyle/>
          <a:p>
            <a:pPr marL="0" indent="0" algn="ctr">
              <a:lnSpc>
                <a:spcPct val="100000"/>
              </a:lnSpc>
              <a:buNone/>
            </a:pPr>
            <a:r>
              <a:rPr lang="en-US" sz="1650" b="1" dirty="0">
                <a:solidFill>
                  <a:srgbClr val="000000"/>
                </a:solidFill>
                <a:latin typeface="Montserrat Bold" pitchFamily="34" charset="0"/>
                <a:ea typeface="Montserrat Bold" pitchFamily="34" charset="-122"/>
                <a:cs typeface="Montserrat Bold" pitchFamily="34" charset="-120"/>
              </a:rPr>
              <a:t>6</a:t>
            </a:r>
            <a:endParaRPr lang="en-US" sz="1650" dirty="0"/>
          </a:p>
        </p:txBody>
      </p:sp>
      <p:sp>
        <p:nvSpPr>
          <p:cNvPr id="33" name="Text 31"/>
          <p:cNvSpPr/>
          <p:nvPr/>
        </p:nvSpPr>
        <p:spPr>
          <a:xfrm>
            <a:off x="6798696" y="5146179"/>
            <a:ext cx="4731525" cy="219571"/>
          </a:xfrm>
          <a:prstGeom prst="rect">
            <a:avLst/>
          </a:prstGeom>
          <a:noFill/>
          <a:ln/>
        </p:spPr>
        <p:txBody>
          <a:bodyPr wrap="none" lIns="0" tIns="0" rIns="0" bIns="0" rtlCol="0" anchor="t"/>
          <a:lstStyle/>
          <a:p>
            <a:pPr marL="0" indent="0" algn="l">
              <a:lnSpc>
                <a:spcPct val="104000"/>
              </a:lnSpc>
              <a:buNone/>
            </a:pPr>
            <a:r>
              <a:rPr lang="en-US" sz="1350" b="1" dirty="0">
                <a:solidFill>
                  <a:srgbClr val="000000"/>
                </a:solidFill>
                <a:latin typeface="Montserrat Bold" pitchFamily="34" charset="0"/>
                <a:ea typeface="Montserrat Bold" pitchFamily="34" charset="-122"/>
                <a:cs typeface="Montserrat Bold" pitchFamily="34" charset="-120"/>
              </a:rPr>
              <a:t>Tổng kết và hỏi đáp</a:t>
            </a:r>
            <a:endParaRPr lang="en-US" sz="1350" dirty="0"/>
          </a:p>
        </p:txBody>
      </p:sp>
      <p:sp>
        <p:nvSpPr>
          <p:cNvPr id="34" name="Text 32"/>
          <p:cNvSpPr/>
          <p:nvPr/>
        </p:nvSpPr>
        <p:spPr>
          <a:xfrm>
            <a:off x="6798696" y="5437386"/>
            <a:ext cx="4731525" cy="208062"/>
          </a:xfrm>
          <a:prstGeom prst="rect">
            <a:avLst/>
          </a:prstGeom>
          <a:noFill/>
          <a:ln/>
        </p:spPr>
        <p:txBody>
          <a:bodyPr wrap="none" lIns="0" tIns="0" rIns="0" bIns="0" rtlCol="0" anchor="t"/>
          <a:lstStyle/>
          <a:p>
            <a:pPr marL="0" indent="0" algn="l">
              <a:lnSpc>
                <a:spcPct val="123000"/>
              </a:lnSpc>
              <a:buNone/>
            </a:pPr>
            <a:r>
              <a:rPr lang="en-US" sz="1100" dirty="0">
                <a:solidFill>
                  <a:srgbClr val="000000"/>
                </a:solidFill>
                <a:latin typeface="Montserrat" pitchFamily="34" charset="0"/>
                <a:ea typeface="Montserrat" pitchFamily="34" charset="-122"/>
                <a:cs typeface="Montserrat" pitchFamily="34" charset="-120"/>
              </a:rPr>
              <a:t>5 phút · Kiểm tra sản phẩm mang về</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2715816"/>
            <a:ext cx="6296860" cy="1426369"/>
          </a:xfrm>
          <a:prstGeom prst="rect">
            <a:avLst/>
          </a:prstGeom>
          <a:noFill/>
          <a:ln/>
        </p:spPr>
        <p:txBody>
          <a:bodyPr wrap="square" lIns="0" tIns="0" rIns="0" bIns="0" rtlCol="0" anchor="t">
            <a:normAutofit/>
          </a:bodyPr>
          <a:lstStyle/>
          <a:p>
            <a:pPr marL="0" indent="0" algn="l">
              <a:lnSpc>
                <a:spcPct val="104000"/>
              </a:lnSpc>
              <a:buNone/>
            </a:pPr>
            <a:r>
              <a:rPr lang="en-US" sz="4450" b="1" dirty="0">
                <a:solidFill>
                  <a:srgbClr val="004AAD"/>
                </a:solidFill>
                <a:latin typeface="Montserrat Bold" pitchFamily="34" charset="0"/>
                <a:ea typeface="Montserrat Bold" pitchFamily="34" charset="-122"/>
                <a:cs typeface="Montserrat Bold" pitchFamily="34" charset="-120"/>
              </a:rPr>
              <a:t>Phần mở: bot trả lời, hay bot bịa?</a:t>
            </a:r>
            <a:endParaRPr lang="en-US" sz="4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1717477"/>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Câu hỏi mở xuyên suốt buổi 5</a:t>
            </a:r>
            <a:endParaRPr lang="en-US" sz="3250" dirty="0"/>
          </a:p>
        </p:txBody>
      </p:sp>
      <p:sp>
        <p:nvSpPr>
          <p:cNvPr id="3" name="Text 1"/>
          <p:cNvSpPr/>
          <p:nvPr/>
        </p:nvSpPr>
        <p:spPr>
          <a:xfrm>
            <a:off x="909516" y="2812951"/>
            <a:ext cx="10620705" cy="516930"/>
          </a:xfrm>
          <a:prstGeom prst="rect">
            <a:avLst/>
          </a:prstGeom>
          <a:noFill/>
          <a:ln/>
        </p:spPr>
        <p:txBody>
          <a:bodyPr wrap="square" lIns="0" tIns="0" rIns="0" bIns="0" rtlCol="0" anchor="t">
            <a:normAutofit/>
          </a:bodyPr>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Một con bot trả lời nhanh mọi câu hỏi nghe rất hấp dẫn. Nhưng nếu nó tự bịa ra ưu đãi, thời hạn đổi trả hay cam kết giao hàng không tồn tại, thì hậu quả lớn hơn nhiều so với việc không trả lời.</a:t>
            </a:r>
            <a:endParaRPr lang="en-US" sz="1600" dirty="0"/>
          </a:p>
        </p:txBody>
      </p:sp>
      <p:sp>
        <p:nvSpPr>
          <p:cNvPr id="4" name="Shape 2"/>
          <p:cNvSpPr/>
          <p:nvPr/>
        </p:nvSpPr>
        <p:spPr>
          <a:xfrm>
            <a:off x="661475" y="2564904"/>
            <a:ext cx="19050" cy="1013023"/>
          </a:xfrm>
          <a:prstGeom prst="roundRect">
            <a:avLst>
              <a:gd name="adj" fmla="val 49999"/>
            </a:avLst>
          </a:prstGeom>
          <a:solidFill>
            <a:srgbClr val="004AAD"/>
          </a:solidFill>
          <a:ln/>
        </p:spPr>
      </p:sp>
      <p:sp>
        <p:nvSpPr>
          <p:cNvPr id="5" name="Text 3"/>
          <p:cNvSpPr/>
          <p:nvPr/>
        </p:nvSpPr>
        <p:spPr>
          <a:xfrm>
            <a:off x="661475" y="3763963"/>
            <a:ext cx="10868745"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Đây là câu hỏi xuyên buổi 5. Vậy làm sao để bot trả lời nhanh mà </a:t>
            </a:r>
            <a:r>
              <a:rPr lang="en-US" sz="1300" b="1" dirty="0">
                <a:solidFill>
                  <a:srgbClr val="000000"/>
                </a:solidFill>
                <a:latin typeface="Montserrat Bold" pitchFamily="34" charset="0"/>
                <a:ea typeface="Montserrat Bold" pitchFamily="34" charset="-122"/>
                <a:cs typeface="Montserrat Bold" pitchFamily="34" charset="-120"/>
              </a:rPr>
              <a:t>vẫn an toàn</a:t>
            </a:r>
            <a:r>
              <a:rPr lang="en-US" sz="1300" dirty="0">
                <a:solidFill>
                  <a:srgbClr val="000000"/>
                </a:solidFill>
                <a:latin typeface="Montserrat" pitchFamily="34" charset="0"/>
                <a:ea typeface="Montserrat" pitchFamily="34" charset="-122"/>
                <a:cs typeface="Montserrat" pitchFamily="34" charset="-120"/>
              </a:rPr>
              <a:t>: bám nguồn, biết từ chối, và biết khi nào phải chuyển người?</a:t>
            </a:r>
            <a:endParaRPr lang="en-US" sz="1300" dirty="0"/>
          </a:p>
        </p:txBody>
      </p:sp>
      <p:sp>
        <p:nvSpPr>
          <p:cNvPr id="6" name="Shape 4"/>
          <p:cNvSpPr/>
          <p:nvPr/>
        </p:nvSpPr>
        <p:spPr>
          <a:xfrm>
            <a:off x="661475" y="4479230"/>
            <a:ext cx="10868745" cy="661293"/>
          </a:xfrm>
          <a:prstGeom prst="roundRect">
            <a:avLst>
              <a:gd name="adj" fmla="val 10504"/>
            </a:avLst>
          </a:prstGeom>
          <a:solidFill>
            <a:srgbClr val="CCE2FF"/>
          </a:solidFill>
          <a:ln/>
        </p:spPr>
      </p:sp>
      <p:pic>
        <p:nvPicPr>
          <p:cNvPr id="7" name="Image 0" descr="preencoded.png"/>
          <p:cNvPicPr>
            <a:picLocks noChangeAspect="1"/>
          </p:cNvPicPr>
          <p:nvPr/>
        </p:nvPicPr>
        <p:blipFill>
          <a:blip r:embed="rId3"/>
          <a:stretch>
            <a:fillRect/>
          </a:stretch>
        </p:blipFill>
        <p:spPr>
          <a:xfrm>
            <a:off x="826769" y="4718943"/>
            <a:ext cx="206667" cy="165298"/>
          </a:xfrm>
          <a:prstGeom prst="rect">
            <a:avLst/>
          </a:prstGeom>
        </p:spPr>
      </p:pic>
      <p:sp>
        <p:nvSpPr>
          <p:cNvPr id="8" name="Text 5"/>
          <p:cNvSpPr/>
          <p:nvPr/>
        </p:nvSpPr>
        <p:spPr>
          <a:xfrm>
            <a:off x="1198731" y="4685804"/>
            <a:ext cx="10775780"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Câu trả lời là </a:t>
            </a:r>
            <a:r>
              <a:rPr lang="en-US" sz="1300" b="1" dirty="0">
                <a:solidFill>
                  <a:srgbClr val="000000"/>
                </a:solidFill>
                <a:latin typeface="Montserrat Bold" pitchFamily="34" charset="0"/>
                <a:ea typeface="Montserrat Bold" pitchFamily="34" charset="-122"/>
                <a:cs typeface="Montserrat Bold" pitchFamily="34" charset="-120"/>
              </a:rPr>
              <a:t>năm lớp kiểm soát chồng lên nhau</a:t>
            </a:r>
            <a:r>
              <a:rPr lang="en-US" sz="1300" dirty="0">
                <a:solidFill>
                  <a:srgbClr val="000000"/>
                </a:solidFill>
                <a:latin typeface="Montserrat" pitchFamily="34" charset="0"/>
                <a:ea typeface="Montserrat" pitchFamily="34" charset="-122"/>
                <a:cs typeface="Montserrat" pitchFamily="34" charset="-120"/>
              </a:rPr>
              <a:t> — đây là hành trình của cả buổi học hôm nay.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1856383"/>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Vì sao chăm sóc khách hàng bán lẻ lại khó</a:t>
            </a:r>
            <a:endParaRPr lang="en-US" sz="3250" dirty="0"/>
          </a:p>
        </p:txBody>
      </p:sp>
      <p:sp>
        <p:nvSpPr>
          <p:cNvPr id="3" name="Text 1"/>
          <p:cNvSpPr/>
          <p:nvPr/>
        </p:nvSpPr>
        <p:spPr>
          <a:xfrm>
            <a:off x="661475" y="2439194"/>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Bối cảnh bán lẻ</a:t>
            </a:r>
            <a:endParaRPr lang="en-US" sz="1600" dirty="0"/>
          </a:p>
        </p:txBody>
      </p:sp>
      <p:pic>
        <p:nvPicPr>
          <p:cNvPr id="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2945705"/>
            <a:ext cx="3512653" cy="2055812"/>
          </a:xfrm>
          <a:prstGeom prst="rect">
            <a:avLst/>
          </a:prstGeom>
        </p:spPr>
      </p:pic>
      <p:sp>
        <p:nvSpPr>
          <p:cNvPr id="5" name="Text 2"/>
          <p:cNvSpPr/>
          <p:nvPr/>
        </p:nvSpPr>
        <p:spPr>
          <a:xfrm>
            <a:off x="922017" y="3130054"/>
            <a:ext cx="3067767" cy="26481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Twemoji Mozilla" pitchFamily="34" charset="0"/>
                <a:ea typeface="Twemoji Mozilla" pitchFamily="34" charset="-122"/>
                <a:cs typeface="Twemoji Mozilla" pitchFamily="34" charset="-120"/>
              </a:rPr>
              <a:t>🔄</a:t>
            </a:r>
            <a:r>
              <a:rPr lang="en-US" sz="1600" b="1" dirty="0">
                <a:solidFill>
                  <a:srgbClr val="000000"/>
                </a:solidFill>
                <a:latin typeface="Montserrat Bold" pitchFamily="34" charset="0"/>
                <a:ea typeface="Montserrat Bold" pitchFamily="34" charset="-122"/>
                <a:cs typeface="Montserrat Bold" pitchFamily="34" charset="-120"/>
              </a:rPr>
              <a:t> Nút thắt cổ chai</a:t>
            </a:r>
            <a:endParaRPr lang="en-US" sz="1600" dirty="0"/>
          </a:p>
        </p:txBody>
      </p:sp>
      <p:sp>
        <p:nvSpPr>
          <p:cNvPr id="6" name="Text 3"/>
          <p:cNvSpPr/>
          <p:nvPr/>
        </p:nvSpPr>
        <p:spPr>
          <a:xfrm>
            <a:off x="922017" y="3494088"/>
            <a:ext cx="3067767" cy="1323082"/>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Đội CSKH trả đi trả lại mỗi ngày những câu </a:t>
            </a:r>
            <a:r>
              <a:rPr lang="en-US" sz="1300" b="1" dirty="0">
                <a:solidFill>
                  <a:srgbClr val="000000"/>
                </a:solidFill>
                <a:latin typeface="Montserrat Bold" pitchFamily="34" charset="0"/>
                <a:ea typeface="Montserrat Bold" pitchFamily="34" charset="-122"/>
                <a:cs typeface="Montserrat Bold" pitchFamily="34" charset="-120"/>
              </a:rPr>
              <a:t>giống hệt nhau</a:t>
            </a:r>
            <a:r>
              <a:rPr lang="en-US" sz="1300" dirty="0">
                <a:solidFill>
                  <a:srgbClr val="000000"/>
                </a:solidFill>
                <a:latin typeface="Montserrat" pitchFamily="34" charset="0"/>
                <a:ea typeface="Montserrat" pitchFamily="34" charset="-122"/>
                <a:cs typeface="Montserrat" pitchFamily="34" charset="-120"/>
              </a:rPr>
              <a:t> về đơn hàng, phí giao hàng, đổi trả, bảo hành và hóa đơn. Lãng phí nguồn lực con người cho công việc lặp lặp.</a:t>
            </a:r>
            <a:endParaRPr lang="en-US" sz="1300" dirty="0"/>
          </a:p>
        </p:txBody>
      </p:sp>
      <p:pic>
        <p:nvPicPr>
          <p:cNvPr id="7"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39422" y="2945705"/>
            <a:ext cx="3512752" cy="2055812"/>
          </a:xfrm>
          <a:prstGeom prst="rect">
            <a:avLst/>
          </a:prstGeom>
        </p:spPr>
      </p:pic>
      <p:sp>
        <p:nvSpPr>
          <p:cNvPr id="8" name="Text 4"/>
          <p:cNvSpPr/>
          <p:nvPr/>
        </p:nvSpPr>
        <p:spPr>
          <a:xfrm>
            <a:off x="4599964" y="3130054"/>
            <a:ext cx="3067866" cy="26481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Twemoji Mozilla" pitchFamily="34" charset="0"/>
                <a:ea typeface="Twemoji Mozilla" pitchFamily="34" charset="-122"/>
                <a:cs typeface="Twemoji Mozilla" pitchFamily="34" charset="-120"/>
              </a:rPr>
              <a:t>⚠️</a:t>
            </a:r>
            <a:r>
              <a:rPr lang="en-US" sz="1600" b="1" dirty="0">
                <a:solidFill>
                  <a:srgbClr val="000000"/>
                </a:solidFill>
                <a:latin typeface="Montserrat Bold" pitchFamily="34" charset="0"/>
                <a:ea typeface="Montserrat Bold" pitchFamily="34" charset="-122"/>
                <a:cs typeface="Montserrat Bold" pitchFamily="34" charset="-120"/>
              </a:rPr>
              <a:t> Rủi ro bịa chính sách</a:t>
            </a:r>
            <a:endParaRPr lang="en-US" sz="1600" dirty="0"/>
          </a:p>
        </p:txBody>
      </p:sp>
      <p:sp>
        <p:nvSpPr>
          <p:cNvPr id="9" name="Text 5"/>
          <p:cNvSpPr/>
          <p:nvPr/>
        </p:nvSpPr>
        <p:spPr>
          <a:xfrm>
            <a:off x="4599964" y="3494088"/>
            <a:ext cx="3067866" cy="1058466"/>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Nếu bot không bám nguồn, nó dễ </a:t>
            </a:r>
            <a:r>
              <a:rPr lang="en-US" sz="1300" b="1" dirty="0">
                <a:solidFill>
                  <a:srgbClr val="000000"/>
                </a:solidFill>
                <a:latin typeface="Montserrat Bold" pitchFamily="34" charset="0"/>
                <a:ea typeface="Montserrat Bold" pitchFamily="34" charset="-122"/>
                <a:cs typeface="Montserrat Bold" pitchFamily="34" charset="-120"/>
              </a:rPr>
              <a:t>tự sáng tác ưu đãi</a:t>
            </a:r>
            <a:r>
              <a:rPr lang="en-US" sz="1300" dirty="0">
                <a:solidFill>
                  <a:srgbClr val="000000"/>
                </a:solidFill>
                <a:latin typeface="Montserrat" pitchFamily="34" charset="0"/>
                <a:ea typeface="Montserrat" pitchFamily="34" charset="-122"/>
                <a:cs typeface="Montserrat" pitchFamily="34" charset="-120"/>
              </a:rPr>
              <a:t> hay điều kiện bảo hành không có thật — gây thiệt hại pháp lý và mất lòng tin khách hàng.</a:t>
            </a:r>
            <a:endParaRPr lang="en-US" sz="130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17468" y="2945705"/>
            <a:ext cx="3512653" cy="2055812"/>
          </a:xfrm>
          <a:prstGeom prst="rect">
            <a:avLst/>
          </a:prstGeom>
        </p:spPr>
      </p:pic>
      <p:sp>
        <p:nvSpPr>
          <p:cNvPr id="11" name="Text 6"/>
          <p:cNvSpPr/>
          <p:nvPr/>
        </p:nvSpPr>
        <p:spPr>
          <a:xfrm>
            <a:off x="8278010" y="3130054"/>
            <a:ext cx="3067767" cy="26481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Twemoji Mozilla" pitchFamily="34" charset="0"/>
                <a:ea typeface="Twemoji Mozilla" pitchFamily="34" charset="-122"/>
                <a:cs typeface="Twemoji Mozilla" pitchFamily="34" charset="-120"/>
              </a:rPr>
              <a:t>🚨</a:t>
            </a:r>
            <a:r>
              <a:rPr lang="en-US" sz="1600" b="1" dirty="0">
                <a:solidFill>
                  <a:srgbClr val="000000"/>
                </a:solidFill>
                <a:latin typeface="Montserrat Bold" pitchFamily="34" charset="0"/>
                <a:ea typeface="Montserrat Bold" pitchFamily="34" charset="-122"/>
                <a:cs typeface="Montserrat Bold" pitchFamily="34" charset="-120"/>
              </a:rPr>
              <a:t> Rủi ro xử lý nhạy cảm</a:t>
            </a:r>
            <a:endParaRPr lang="en-US" sz="1600" dirty="0"/>
          </a:p>
        </p:txBody>
      </p:sp>
      <p:sp>
        <p:nvSpPr>
          <p:cNvPr id="12" name="Text 7"/>
          <p:cNvSpPr/>
          <p:nvPr/>
        </p:nvSpPr>
        <p:spPr>
          <a:xfrm>
            <a:off x="8278010" y="3494088"/>
            <a:ext cx="3067767" cy="1058466"/>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Khiếu nại, hoàn tiền, đổi trả phức tạp </a:t>
            </a:r>
            <a:r>
              <a:rPr lang="en-US" sz="1300" b="1" dirty="0">
                <a:solidFill>
                  <a:srgbClr val="000000"/>
                </a:solidFill>
                <a:latin typeface="Montserrat Bold" pitchFamily="34" charset="0"/>
                <a:ea typeface="Montserrat Bold" pitchFamily="34" charset="-122"/>
                <a:cs typeface="Montserrat Bold" pitchFamily="34" charset="-120"/>
              </a:rPr>
              <a:t>cần người phụ trách</a:t>
            </a:r>
            <a:r>
              <a:rPr lang="en-US" sz="1300" dirty="0">
                <a:solidFill>
                  <a:srgbClr val="000000"/>
                </a:solidFill>
                <a:latin typeface="Montserrat" pitchFamily="34" charset="0"/>
                <a:ea typeface="Montserrat" pitchFamily="34" charset="-122"/>
                <a:cs typeface="Montserrat" pitchFamily="34" charset="-120"/>
              </a:rPr>
              <a:t>, không nên để bot tự quyết định — dù bot có tự tin đến đâu.</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61475" y="1424087"/>
            <a:ext cx="10868745" cy="1033463"/>
          </a:xfrm>
          <a:prstGeom prst="rect">
            <a:avLst/>
          </a:prstGeom>
          <a:noFill/>
          <a:ln/>
        </p:spPr>
        <p:txBody>
          <a:bodyPr wrap="square" lIns="0" tIns="0" rIns="0" bIns="0" rtlCol="0" anchor="t">
            <a:normAutofit/>
          </a:bodyPr>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Từ kiểm chứng văn bản </a:t>
            </a:r>
          </a:p>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sang kiểm chứng hội thoại</a:t>
            </a:r>
            <a:endParaRPr lang="en-US" sz="3250" dirty="0"/>
          </a:p>
        </p:txBody>
      </p:sp>
      <p:sp>
        <p:nvSpPr>
          <p:cNvPr id="3" name="Text 1"/>
          <p:cNvSpPr/>
          <p:nvPr/>
        </p:nvSpPr>
        <p:spPr>
          <a:xfrm>
            <a:off x="661475" y="2523629"/>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Tư duy: Buổi 4 sang Buổi 5</a:t>
            </a:r>
            <a:endParaRPr lang="en-US" sz="1600" dirty="0"/>
          </a:p>
        </p:txBody>
      </p:sp>
      <p:sp>
        <p:nvSpPr>
          <p:cNvPr id="4" name="Shape 2"/>
          <p:cNvSpPr/>
          <p:nvPr/>
        </p:nvSpPr>
        <p:spPr>
          <a:xfrm>
            <a:off x="542415" y="3030141"/>
            <a:ext cx="5470785" cy="1556445"/>
          </a:xfrm>
          <a:prstGeom prst="roundRect">
            <a:avLst>
              <a:gd name="adj" fmla="val 7651"/>
            </a:avLst>
          </a:prstGeom>
          <a:solidFill>
            <a:srgbClr val="004AAD"/>
          </a:solidFill>
          <a:ln/>
        </p:spPr>
      </p:sp>
      <p:sp>
        <p:nvSpPr>
          <p:cNvPr id="5" name="Text 3"/>
          <p:cNvSpPr/>
          <p:nvPr/>
        </p:nvSpPr>
        <p:spPr>
          <a:xfrm>
            <a:off x="707710" y="3195439"/>
            <a:ext cx="5140196" cy="258465"/>
          </a:xfrm>
          <a:prstGeom prst="rect">
            <a:avLst/>
          </a:prstGeom>
          <a:noFill/>
          <a:ln/>
        </p:spPr>
        <p:txBody>
          <a:bodyPr wrap="none" lIns="0" tIns="0" rIns="0" bIns="0" rtlCol="0" anchor="t"/>
          <a:lstStyle/>
          <a:p>
            <a:pPr marL="0" indent="0" algn="l">
              <a:lnSpc>
                <a:spcPct val="104000"/>
              </a:lnSpc>
              <a:buNone/>
            </a:pPr>
            <a:r>
              <a:rPr lang="en-US" sz="1600" b="1" dirty="0">
                <a:solidFill>
                  <a:srgbClr val="FFFFFF"/>
                </a:solidFill>
                <a:latin typeface="Montserrat Bold" pitchFamily="34" charset="0"/>
                <a:ea typeface="Montserrat Bold" pitchFamily="34" charset="-122"/>
                <a:cs typeface="Montserrat Bold" pitchFamily="34" charset="-120"/>
              </a:rPr>
              <a:t>Buổi 4 · Kiểm chứng văn bản</a:t>
            </a:r>
            <a:endParaRPr lang="en-US" sz="1600" dirty="0"/>
          </a:p>
        </p:txBody>
      </p:sp>
      <p:sp>
        <p:nvSpPr>
          <p:cNvPr id="6" name="Text 4"/>
          <p:cNvSpPr/>
          <p:nvPr/>
        </p:nvSpPr>
        <p:spPr>
          <a:xfrm>
            <a:off x="707710" y="3619202"/>
            <a:ext cx="5140196" cy="909538"/>
          </a:xfrm>
          <a:prstGeom prst="rect">
            <a:avLst/>
          </a:prstGeom>
          <a:noFill/>
          <a:ln/>
        </p:spPr>
        <p:txBody>
          <a:bodyPr wrap="square" lIns="0" tIns="0" rIns="0" bIns="0" rtlCol="0" anchor="t">
            <a:normAutofit/>
          </a:bodyPr>
          <a:lstStyle/>
          <a:p>
            <a:pPr marL="264160" indent="-264160" algn="l">
              <a:lnSpc>
                <a:spcPct val="133000"/>
              </a:lnSpc>
              <a:buSzPct val="100000"/>
              <a:buChar char="•"/>
            </a:pPr>
            <a:r>
              <a:rPr lang="en-US" sz="1300" dirty="0">
                <a:solidFill>
                  <a:srgbClr val="FFFFFF"/>
                </a:solidFill>
                <a:latin typeface="Montserrat" pitchFamily="34" charset="0"/>
                <a:ea typeface="Montserrat" pitchFamily="34" charset="-122"/>
                <a:cs typeface="Montserrat" pitchFamily="34" charset="-120"/>
              </a:rPr>
              <a:t>Harness (schema và evidence) đứng </a:t>
            </a:r>
            <a:r>
              <a:rPr lang="en-US" sz="1300" b="1" dirty="0">
                <a:solidFill>
                  <a:srgbClr val="FFFFFF"/>
                </a:solidFill>
                <a:latin typeface="Montserrat Bold" pitchFamily="34" charset="0"/>
                <a:ea typeface="Montserrat Bold" pitchFamily="34" charset="-122"/>
                <a:cs typeface="Montserrat Bold" pitchFamily="34" charset="-120"/>
              </a:rPr>
              <a:t>sau</a:t>
            </a:r>
            <a:r>
              <a:rPr lang="en-US" sz="1300" dirty="0">
                <a:solidFill>
                  <a:srgbClr val="FFFFFF"/>
                </a:solidFill>
                <a:latin typeface="Montserrat" pitchFamily="34" charset="0"/>
                <a:ea typeface="Montserrat" pitchFamily="34" charset="-122"/>
                <a:cs typeface="Montserrat" pitchFamily="34" charset="-120"/>
              </a:rPr>
              <a:t> AI extract.</a:t>
            </a:r>
            <a:endParaRPr lang="en-US" sz="1300" dirty="0"/>
          </a:p>
          <a:p>
            <a:pPr marL="264160" indent="-264160" algn="l">
              <a:lnSpc>
                <a:spcPct val="133000"/>
              </a:lnSpc>
              <a:buSzPct val="100000"/>
              <a:buChar char="•"/>
            </a:pPr>
            <a:r>
              <a:rPr lang="en-US" sz="1300" dirty="0">
                <a:solidFill>
                  <a:srgbClr val="FFFFFF"/>
                </a:solidFill>
                <a:latin typeface="Montserrat" pitchFamily="34" charset="0"/>
                <a:ea typeface="Montserrat" pitchFamily="34" charset="-122"/>
                <a:cs typeface="Montserrat" pitchFamily="34" charset="-120"/>
              </a:rPr>
              <a:t>Phù hợp với hợp đồng: đầu vào tĩnh, xử lý theo mẻ.</a:t>
            </a:r>
            <a:endParaRPr lang="en-US" sz="1300" dirty="0"/>
          </a:p>
          <a:p>
            <a:pPr marL="264160" indent="-264160" algn="l">
              <a:lnSpc>
                <a:spcPct val="133000"/>
              </a:lnSpc>
              <a:buSzPct val="100000"/>
              <a:buChar char="•"/>
            </a:pPr>
            <a:r>
              <a:rPr lang="en-US" sz="1300" dirty="0">
                <a:solidFill>
                  <a:srgbClr val="FFFFFF"/>
                </a:solidFill>
                <a:latin typeface="Montserrat" pitchFamily="34" charset="0"/>
                <a:ea typeface="Montserrat" pitchFamily="34" charset="-122"/>
                <a:cs typeface="Montserrat" pitchFamily="34" charset="-120"/>
              </a:rPr>
              <a:t>Quyết định cuối do Pháp chế (HITL).</a:t>
            </a:r>
            <a:endParaRPr lang="en-US" sz="1300" dirty="0"/>
          </a:p>
        </p:txBody>
      </p:sp>
      <p:sp>
        <p:nvSpPr>
          <p:cNvPr id="7" name="Text 5"/>
          <p:cNvSpPr/>
          <p:nvPr/>
        </p:nvSpPr>
        <p:spPr>
          <a:xfrm>
            <a:off x="6303904" y="3195439"/>
            <a:ext cx="5232666"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Buổi 5 · Kiểm chứng hội thoại</a:t>
            </a:r>
            <a:endParaRPr lang="en-US" sz="1600" dirty="0"/>
          </a:p>
        </p:txBody>
      </p:sp>
      <p:sp>
        <p:nvSpPr>
          <p:cNvPr id="8" name="Text 6"/>
          <p:cNvSpPr/>
          <p:nvPr/>
        </p:nvSpPr>
        <p:spPr>
          <a:xfrm>
            <a:off x="6303904" y="3619202"/>
            <a:ext cx="5232666" cy="909538"/>
          </a:xfrm>
          <a:prstGeom prst="rect">
            <a:avLst/>
          </a:prstGeom>
          <a:noFill/>
          <a:ln/>
        </p:spPr>
        <p:txBody>
          <a:bodyPr wrap="square" lIns="0" tIns="0" rIns="0" bIns="0" rtlCol="0" anchor="t">
            <a:normAutofit/>
          </a:bodyPr>
          <a:lstStyle/>
          <a:p>
            <a:pPr marL="264160" indent="-264160" algn="l">
              <a:lnSpc>
                <a:spcPct val="133000"/>
              </a:lnSpc>
              <a:buSzPct val="100000"/>
              <a:buChar char="•"/>
            </a:pPr>
            <a:r>
              <a:rPr lang="en-US" sz="1300" dirty="0">
                <a:solidFill>
                  <a:srgbClr val="000000"/>
                </a:solidFill>
                <a:latin typeface="Montserrat" pitchFamily="34" charset="0"/>
                <a:ea typeface="Montserrat" pitchFamily="34" charset="-122"/>
                <a:cs typeface="Montserrat" pitchFamily="34" charset="-120"/>
              </a:rPr>
              <a:t>Guardrail, Cache, LLM-as-Judge đứng </a:t>
            </a:r>
            <a:r>
              <a:rPr lang="en-US" sz="1300" b="1" dirty="0">
                <a:solidFill>
                  <a:srgbClr val="000000"/>
                </a:solidFill>
                <a:latin typeface="Montserrat Bold" pitchFamily="34" charset="0"/>
                <a:ea typeface="Montserrat Bold" pitchFamily="34" charset="-122"/>
                <a:cs typeface="Montserrat Bold" pitchFamily="34" charset="-120"/>
              </a:rPr>
              <a:t>trước và sau</a:t>
            </a:r>
            <a:r>
              <a:rPr lang="en-US" sz="1300" dirty="0">
                <a:solidFill>
                  <a:srgbClr val="000000"/>
                </a:solidFill>
                <a:latin typeface="Montserrat" pitchFamily="34" charset="0"/>
                <a:ea typeface="Montserrat" pitchFamily="34" charset="-122"/>
                <a:cs typeface="Montserrat" pitchFamily="34" charset="-120"/>
              </a:rPr>
              <a:t> AI trả lời.</a:t>
            </a:r>
            <a:endParaRPr lang="en-US" sz="1300" dirty="0"/>
          </a:p>
          <a:p>
            <a:pPr marL="264160" indent="-264160" algn="l">
              <a:lnSpc>
                <a:spcPct val="133000"/>
              </a:lnSpc>
              <a:buSzPct val="100000"/>
              <a:buChar char="•"/>
            </a:pPr>
            <a:r>
              <a:rPr lang="en-US" sz="1300" dirty="0">
                <a:solidFill>
                  <a:srgbClr val="000000"/>
                </a:solidFill>
                <a:latin typeface="Montserrat" pitchFamily="34" charset="0"/>
                <a:ea typeface="Montserrat" pitchFamily="34" charset="-122"/>
                <a:cs typeface="Montserrat" pitchFamily="34" charset="-120"/>
              </a:rPr>
              <a:t>Phù hợp với CSKH: đầu vào thay đổi từng giây, real-time.</a:t>
            </a:r>
            <a:endParaRPr lang="en-US" sz="1300" dirty="0"/>
          </a:p>
          <a:p>
            <a:pPr marL="264160" indent="-264160" algn="l">
              <a:lnSpc>
                <a:spcPct val="133000"/>
              </a:lnSpc>
              <a:buSzPct val="100000"/>
              <a:buChar char="•"/>
            </a:pPr>
            <a:r>
              <a:rPr lang="en-US" sz="1300" dirty="0">
                <a:solidFill>
                  <a:srgbClr val="000000"/>
                </a:solidFill>
                <a:latin typeface="Montserrat" pitchFamily="34" charset="0"/>
                <a:ea typeface="Montserrat" pitchFamily="34" charset="-122"/>
                <a:cs typeface="Montserrat" pitchFamily="34" charset="-120"/>
              </a:rPr>
              <a:t>Quyết định nhạy cảm được chuyển người qua ticket (HITL).</a:t>
            </a:r>
            <a:endParaRPr lang="en-US" sz="1300" dirty="0"/>
          </a:p>
        </p:txBody>
      </p:sp>
      <p:sp>
        <p:nvSpPr>
          <p:cNvPr id="9" name="Shape 7"/>
          <p:cNvSpPr/>
          <p:nvPr/>
        </p:nvSpPr>
        <p:spPr>
          <a:xfrm>
            <a:off x="661475" y="4772620"/>
            <a:ext cx="10868745" cy="661293"/>
          </a:xfrm>
          <a:prstGeom prst="roundRect">
            <a:avLst>
              <a:gd name="adj" fmla="val 10504"/>
            </a:avLst>
          </a:prstGeom>
          <a:solidFill>
            <a:srgbClr val="B6D6FC"/>
          </a:solidFill>
          <a:ln/>
        </p:spPr>
      </p:sp>
      <p:pic>
        <p:nvPicPr>
          <p:cNvPr id="10" name="Image 0" descr="preencoded.png"/>
          <p:cNvPicPr>
            <a:picLocks noChangeAspect="1"/>
          </p:cNvPicPr>
          <p:nvPr/>
        </p:nvPicPr>
        <p:blipFill>
          <a:blip r:embed="rId3"/>
          <a:stretch>
            <a:fillRect/>
          </a:stretch>
        </p:blipFill>
        <p:spPr>
          <a:xfrm>
            <a:off x="826769" y="5012333"/>
            <a:ext cx="206667" cy="165298"/>
          </a:xfrm>
          <a:prstGeom prst="rect">
            <a:avLst/>
          </a:prstGeom>
        </p:spPr>
      </p:pic>
      <p:sp>
        <p:nvSpPr>
          <p:cNvPr id="11" name="Text 8"/>
          <p:cNvSpPr/>
          <p:nvPr/>
        </p:nvSpPr>
        <p:spPr>
          <a:xfrm>
            <a:off x="1198731" y="4979194"/>
            <a:ext cx="10775780"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Nguyên tắc giống nhau, nhưng vị trí đặt lớp kiểm soát và tốc độ xử lý hoàn toàn khác nhau.</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61475" y="504825"/>
            <a:ext cx="10868745" cy="457895"/>
          </a:xfrm>
          <a:prstGeom prst="rect">
            <a:avLst/>
          </a:prstGeom>
          <a:noFill/>
          <a:ln/>
        </p:spPr>
        <p:txBody>
          <a:bodyPr wrap="none" lIns="0" tIns="0" rIns="0" bIns="0" rtlCol="0" anchor="t"/>
          <a:lstStyle/>
          <a:p>
            <a:pPr marL="0" indent="0" algn="l">
              <a:lnSpc>
                <a:spcPct val="104000"/>
              </a:lnSpc>
              <a:buNone/>
            </a:pPr>
            <a:r>
              <a:rPr lang="en-US" sz="2850" b="1" dirty="0">
                <a:solidFill>
                  <a:srgbClr val="004AAD"/>
                </a:solidFill>
                <a:latin typeface="Montserrat Bold" pitchFamily="34" charset="0"/>
                <a:ea typeface="Montserrat Bold" pitchFamily="34" charset="-122"/>
                <a:cs typeface="Montserrat Bold" pitchFamily="34" charset="-120"/>
              </a:rPr>
              <a:t>5 trụ tư duy của buổi 5</a:t>
            </a:r>
            <a:endParaRPr lang="en-US" sz="2850" dirty="0"/>
          </a:p>
        </p:txBody>
      </p:sp>
      <p:sp>
        <p:nvSpPr>
          <p:cNvPr id="3" name="Text 1"/>
          <p:cNvSpPr/>
          <p:nvPr/>
        </p:nvSpPr>
        <p:spPr>
          <a:xfrm>
            <a:off x="661475" y="1014611"/>
            <a:ext cx="10868745" cy="228898"/>
          </a:xfrm>
          <a:prstGeom prst="rect">
            <a:avLst/>
          </a:prstGeom>
          <a:noFill/>
          <a:ln/>
        </p:spPr>
        <p:txBody>
          <a:bodyPr wrap="none" lIns="0" tIns="0" rIns="0" bIns="0" rtlCol="0" anchor="t"/>
          <a:lstStyle/>
          <a:p>
            <a:pPr marL="0" indent="0" algn="l">
              <a:lnSpc>
                <a:spcPct val="104000"/>
              </a:lnSpc>
              <a:buNone/>
            </a:pPr>
            <a:r>
              <a:rPr lang="en-US" sz="1400" b="1" dirty="0">
                <a:solidFill>
                  <a:srgbClr val="004AAD"/>
                </a:solidFill>
                <a:latin typeface="Montserrat Bold" pitchFamily="34" charset="0"/>
                <a:ea typeface="Montserrat Bold" pitchFamily="34" charset="-122"/>
                <a:cs typeface="Montserrat Bold" pitchFamily="34" charset="-120"/>
              </a:rPr>
              <a:t>Nền tảng cho một chatbot CSKH đáng tin</a:t>
            </a:r>
            <a:endParaRPr lang="en-US" sz="1400" dirty="0"/>
          </a:p>
        </p:txBody>
      </p:sp>
      <p:sp>
        <p:nvSpPr>
          <p:cNvPr id="4" name="Shape 2"/>
          <p:cNvSpPr/>
          <p:nvPr/>
        </p:nvSpPr>
        <p:spPr>
          <a:xfrm>
            <a:off x="808017" y="1657945"/>
            <a:ext cx="146443" cy="659309"/>
          </a:xfrm>
          <a:prstGeom prst="roundRect">
            <a:avLst>
              <a:gd name="adj" fmla="val 42024"/>
            </a:avLst>
          </a:prstGeom>
          <a:solidFill>
            <a:srgbClr val="CCE2FF"/>
          </a:solidFill>
          <a:ln w="6350">
            <a:solidFill>
              <a:srgbClr val="B2C8E5"/>
            </a:solidFill>
            <a:prstDash val="solid"/>
          </a:ln>
        </p:spPr>
      </p:sp>
      <p:sp>
        <p:nvSpPr>
          <p:cNvPr id="5" name="Shape 3"/>
          <p:cNvSpPr/>
          <p:nvPr/>
        </p:nvSpPr>
        <p:spPr>
          <a:xfrm>
            <a:off x="661475" y="1561802"/>
            <a:ext cx="439528" cy="439539"/>
          </a:xfrm>
          <a:prstGeom prst="ellipse">
            <a:avLst/>
          </a:prstGeom>
          <a:solidFill>
            <a:srgbClr val="CCE2FF"/>
          </a:solidFill>
          <a:ln w="6350">
            <a:solidFill>
              <a:srgbClr val="B2C8E5"/>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1307" y="1671737"/>
            <a:ext cx="219764" cy="219770"/>
          </a:xfrm>
          <a:prstGeom prst="rect">
            <a:avLst/>
          </a:prstGeom>
        </p:spPr>
      </p:pic>
      <p:sp>
        <p:nvSpPr>
          <p:cNvPr id="7" name="Text 4"/>
          <p:cNvSpPr/>
          <p:nvPr/>
        </p:nvSpPr>
        <p:spPr>
          <a:xfrm>
            <a:off x="1230778" y="1584623"/>
            <a:ext cx="10299442" cy="228898"/>
          </a:xfrm>
          <a:prstGeom prst="rect">
            <a:avLst/>
          </a:prstGeom>
          <a:noFill/>
          <a:ln/>
        </p:spPr>
        <p:txBody>
          <a:bodyPr wrap="none" lIns="0" tIns="0" rIns="0" bIns="0" rtlCol="0" anchor="t"/>
          <a:lstStyle/>
          <a:p>
            <a:pPr marL="0" indent="0" algn="l">
              <a:lnSpc>
                <a:spcPct val="104000"/>
              </a:lnSpc>
              <a:buNone/>
            </a:pPr>
            <a:r>
              <a:rPr lang="en-US" sz="1400" b="1" dirty="0">
                <a:solidFill>
                  <a:srgbClr val="000000"/>
                </a:solidFill>
                <a:latin typeface="Montserrat Bold" pitchFamily="34" charset="0"/>
                <a:ea typeface="Montserrat Bold" pitchFamily="34" charset="-122"/>
                <a:cs typeface="Montserrat Bold" pitchFamily="34" charset="-120"/>
              </a:rPr>
              <a:t>Knowledge Base First</a:t>
            </a:r>
            <a:endParaRPr lang="en-US" sz="1400" dirty="0"/>
          </a:p>
        </p:txBody>
      </p:sp>
      <p:sp>
        <p:nvSpPr>
          <p:cNvPr id="8" name="Text 5"/>
          <p:cNvSpPr/>
          <p:nvPr/>
        </p:nvSpPr>
        <p:spPr>
          <a:xfrm>
            <a:off x="1230778" y="1891407"/>
            <a:ext cx="10299442" cy="221059"/>
          </a:xfrm>
          <a:prstGeom prst="rect">
            <a:avLst/>
          </a:prstGeom>
          <a:noFill/>
          <a:ln/>
        </p:spPr>
        <p:txBody>
          <a:bodyPr wrap="none" lIns="0" tIns="0" rIns="0" bIns="0" rtlCol="0" anchor="t"/>
          <a:lstStyle/>
          <a:p>
            <a:pPr marL="0" indent="0" algn="l">
              <a:lnSpc>
                <a:spcPct val="126000"/>
              </a:lnSpc>
              <a:buNone/>
            </a:pPr>
            <a:r>
              <a:rPr lang="en-US" sz="1150" dirty="0">
                <a:solidFill>
                  <a:srgbClr val="000000"/>
                </a:solidFill>
                <a:latin typeface="Montserrat" pitchFamily="34" charset="0"/>
                <a:ea typeface="Montserrat" pitchFamily="34" charset="-122"/>
                <a:cs typeface="Montserrat" pitchFamily="34" charset="-120"/>
              </a:rPr>
              <a:t>Trước khi có bot, phải có kho FAQ chuẩn từ chính sách, để bot </a:t>
            </a:r>
            <a:r>
              <a:rPr lang="en-US" sz="1150" b="1" dirty="0">
                <a:solidFill>
                  <a:srgbClr val="000000"/>
                </a:solidFill>
                <a:latin typeface="Montserrat Bold" pitchFamily="34" charset="0"/>
                <a:ea typeface="Montserrat Bold" pitchFamily="34" charset="-122"/>
                <a:cs typeface="Montserrat Bold" pitchFamily="34" charset="-120"/>
              </a:rPr>
              <a:t>bám nguồn</a:t>
            </a:r>
            <a:r>
              <a:rPr lang="en-US" sz="1150" dirty="0">
                <a:solidFill>
                  <a:srgbClr val="000000"/>
                </a:solidFill>
                <a:latin typeface="Montserrat" pitchFamily="34" charset="0"/>
                <a:ea typeface="Montserrat" pitchFamily="34" charset="-122"/>
                <a:cs typeface="Montserrat" pitchFamily="34" charset="-120"/>
              </a:rPr>
              <a:t> thay vì đoán mò.</a:t>
            </a:r>
            <a:endParaRPr lang="en-US" sz="1150" dirty="0"/>
          </a:p>
        </p:txBody>
      </p:sp>
      <p:sp>
        <p:nvSpPr>
          <p:cNvPr id="9" name="Shape 6"/>
          <p:cNvSpPr/>
          <p:nvPr/>
        </p:nvSpPr>
        <p:spPr>
          <a:xfrm>
            <a:off x="1027781" y="2666901"/>
            <a:ext cx="146443" cy="659309"/>
          </a:xfrm>
          <a:prstGeom prst="roundRect">
            <a:avLst>
              <a:gd name="adj" fmla="val 42024"/>
            </a:avLst>
          </a:prstGeom>
          <a:solidFill>
            <a:srgbClr val="CCE2FF"/>
          </a:solidFill>
          <a:ln w="6350">
            <a:solidFill>
              <a:srgbClr val="B2C8E5"/>
            </a:solidFill>
            <a:prstDash val="solid"/>
          </a:ln>
        </p:spPr>
      </p:sp>
      <p:sp>
        <p:nvSpPr>
          <p:cNvPr id="10" name="Shape 7"/>
          <p:cNvSpPr/>
          <p:nvPr/>
        </p:nvSpPr>
        <p:spPr>
          <a:xfrm>
            <a:off x="881239" y="2570758"/>
            <a:ext cx="439528" cy="439539"/>
          </a:xfrm>
          <a:prstGeom prst="ellipse">
            <a:avLst/>
          </a:prstGeom>
          <a:solidFill>
            <a:srgbClr val="CCE2FF"/>
          </a:solidFill>
          <a:ln w="6350">
            <a:solidFill>
              <a:srgbClr val="B2C8E5"/>
            </a:solidFill>
            <a:prstDash val="solid"/>
          </a:ln>
        </p:spPr>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071" y="2680692"/>
            <a:ext cx="219764" cy="219770"/>
          </a:xfrm>
          <a:prstGeom prst="rect">
            <a:avLst/>
          </a:prstGeom>
        </p:spPr>
      </p:pic>
      <p:sp>
        <p:nvSpPr>
          <p:cNvPr id="12" name="Text 8"/>
          <p:cNvSpPr/>
          <p:nvPr/>
        </p:nvSpPr>
        <p:spPr>
          <a:xfrm>
            <a:off x="1450542" y="2593578"/>
            <a:ext cx="10079678" cy="228898"/>
          </a:xfrm>
          <a:prstGeom prst="rect">
            <a:avLst/>
          </a:prstGeom>
          <a:noFill/>
          <a:ln/>
        </p:spPr>
        <p:txBody>
          <a:bodyPr wrap="none" lIns="0" tIns="0" rIns="0" bIns="0" rtlCol="0" anchor="t"/>
          <a:lstStyle/>
          <a:p>
            <a:pPr marL="0" indent="0" algn="l">
              <a:lnSpc>
                <a:spcPct val="104000"/>
              </a:lnSpc>
              <a:buNone/>
            </a:pPr>
            <a:r>
              <a:rPr lang="en-US" sz="1400" b="1" dirty="0">
                <a:solidFill>
                  <a:srgbClr val="000000"/>
                </a:solidFill>
                <a:latin typeface="Montserrat Bold" pitchFamily="34" charset="0"/>
                <a:ea typeface="Montserrat Bold" pitchFamily="34" charset="-122"/>
                <a:cs typeface="Montserrat Bold" pitchFamily="34" charset="-120"/>
              </a:rPr>
              <a:t>Guardrail First</a:t>
            </a:r>
            <a:endParaRPr lang="en-US" sz="1400" dirty="0"/>
          </a:p>
        </p:txBody>
      </p:sp>
      <p:sp>
        <p:nvSpPr>
          <p:cNvPr id="13" name="Text 9"/>
          <p:cNvSpPr/>
          <p:nvPr/>
        </p:nvSpPr>
        <p:spPr>
          <a:xfrm>
            <a:off x="1450542" y="2900363"/>
            <a:ext cx="10079678" cy="221059"/>
          </a:xfrm>
          <a:prstGeom prst="rect">
            <a:avLst/>
          </a:prstGeom>
          <a:noFill/>
          <a:ln/>
        </p:spPr>
        <p:txBody>
          <a:bodyPr wrap="none" lIns="0" tIns="0" rIns="0" bIns="0" rtlCol="0" anchor="t"/>
          <a:lstStyle/>
          <a:p>
            <a:pPr marL="0" indent="0" algn="l">
              <a:lnSpc>
                <a:spcPct val="126000"/>
              </a:lnSpc>
              <a:buNone/>
            </a:pPr>
            <a:r>
              <a:rPr lang="en-US" sz="1150" dirty="0">
                <a:solidFill>
                  <a:srgbClr val="000000"/>
                </a:solidFill>
                <a:latin typeface="Montserrat" pitchFamily="34" charset="0"/>
                <a:ea typeface="Montserrat" pitchFamily="34" charset="-122"/>
                <a:cs typeface="Montserrat" pitchFamily="34" charset="-120"/>
              </a:rPr>
              <a:t>Ngay khi nhận câu hỏi, chống </a:t>
            </a:r>
            <a:r>
              <a:rPr lang="en-US" sz="1150" b="1" dirty="0">
                <a:solidFill>
                  <a:srgbClr val="000000"/>
                </a:solidFill>
                <a:latin typeface="Montserrat Bold" pitchFamily="34" charset="0"/>
                <a:ea typeface="Montserrat Bold" pitchFamily="34" charset="-122"/>
                <a:cs typeface="Montserrat Bold" pitchFamily="34" charset="-120"/>
              </a:rPr>
              <a:t>prompt injection</a:t>
            </a:r>
            <a:r>
              <a:rPr lang="en-US" sz="1150" dirty="0">
                <a:solidFill>
                  <a:srgbClr val="000000"/>
                </a:solidFill>
                <a:latin typeface="Montserrat" pitchFamily="34" charset="0"/>
                <a:ea typeface="Montserrat" pitchFamily="34" charset="-122"/>
                <a:cs typeface="Montserrat" pitchFamily="34" charset="-120"/>
              </a:rPr>
              <a:t> và từ chối chủ đề ngoài phạm vi trước khi trả lời.</a:t>
            </a:r>
            <a:endParaRPr lang="en-US" sz="1150" dirty="0"/>
          </a:p>
        </p:txBody>
      </p:sp>
      <p:sp>
        <p:nvSpPr>
          <p:cNvPr id="14" name="Shape 10"/>
          <p:cNvSpPr/>
          <p:nvPr/>
        </p:nvSpPr>
        <p:spPr>
          <a:xfrm>
            <a:off x="1247545" y="3675856"/>
            <a:ext cx="146443" cy="659309"/>
          </a:xfrm>
          <a:prstGeom prst="roundRect">
            <a:avLst>
              <a:gd name="adj" fmla="val 42024"/>
            </a:avLst>
          </a:prstGeom>
          <a:solidFill>
            <a:srgbClr val="CCE2FF"/>
          </a:solidFill>
          <a:ln w="6350">
            <a:solidFill>
              <a:srgbClr val="B2C8E5"/>
            </a:solidFill>
            <a:prstDash val="solid"/>
          </a:ln>
        </p:spPr>
      </p:sp>
      <p:sp>
        <p:nvSpPr>
          <p:cNvPr id="15" name="Shape 11"/>
          <p:cNvSpPr/>
          <p:nvPr/>
        </p:nvSpPr>
        <p:spPr>
          <a:xfrm>
            <a:off x="1101003" y="3579713"/>
            <a:ext cx="439528" cy="439539"/>
          </a:xfrm>
          <a:prstGeom prst="ellipse">
            <a:avLst/>
          </a:prstGeom>
          <a:solidFill>
            <a:srgbClr val="CCE2FF"/>
          </a:solidFill>
          <a:ln w="6350">
            <a:solidFill>
              <a:srgbClr val="B2C8E5"/>
            </a:solidFill>
            <a:prstDash val="solid"/>
          </a:ln>
        </p:spPr>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10835" y="3689648"/>
            <a:ext cx="219764" cy="219770"/>
          </a:xfrm>
          <a:prstGeom prst="rect">
            <a:avLst/>
          </a:prstGeom>
        </p:spPr>
      </p:pic>
      <p:sp>
        <p:nvSpPr>
          <p:cNvPr id="17" name="Text 12"/>
          <p:cNvSpPr/>
          <p:nvPr/>
        </p:nvSpPr>
        <p:spPr>
          <a:xfrm>
            <a:off x="1670306" y="3602534"/>
            <a:ext cx="9859914" cy="228898"/>
          </a:xfrm>
          <a:prstGeom prst="rect">
            <a:avLst/>
          </a:prstGeom>
          <a:noFill/>
          <a:ln/>
        </p:spPr>
        <p:txBody>
          <a:bodyPr wrap="none" lIns="0" tIns="0" rIns="0" bIns="0" rtlCol="0" anchor="t"/>
          <a:lstStyle/>
          <a:p>
            <a:pPr marL="0" indent="0" algn="l">
              <a:lnSpc>
                <a:spcPct val="104000"/>
              </a:lnSpc>
              <a:buNone/>
            </a:pPr>
            <a:r>
              <a:rPr lang="en-US" sz="1400" b="1" dirty="0">
                <a:solidFill>
                  <a:srgbClr val="000000"/>
                </a:solidFill>
                <a:latin typeface="Montserrat Bold" pitchFamily="34" charset="0"/>
                <a:ea typeface="Montserrat Bold" pitchFamily="34" charset="-122"/>
                <a:cs typeface="Montserrat Bold" pitchFamily="34" charset="-120"/>
              </a:rPr>
              <a:t>Fast Path trước LLM</a:t>
            </a:r>
            <a:endParaRPr lang="en-US" sz="1400" dirty="0"/>
          </a:p>
        </p:txBody>
      </p:sp>
      <p:sp>
        <p:nvSpPr>
          <p:cNvPr id="18" name="Text 13"/>
          <p:cNvSpPr/>
          <p:nvPr/>
        </p:nvSpPr>
        <p:spPr>
          <a:xfrm>
            <a:off x="1670306" y="3909318"/>
            <a:ext cx="9859914" cy="221059"/>
          </a:xfrm>
          <a:prstGeom prst="rect">
            <a:avLst/>
          </a:prstGeom>
          <a:noFill/>
          <a:ln/>
        </p:spPr>
        <p:txBody>
          <a:bodyPr wrap="none" lIns="0" tIns="0" rIns="0" bIns="0" rtlCol="0" anchor="t"/>
          <a:lstStyle/>
          <a:p>
            <a:pPr marL="0" indent="0" algn="l">
              <a:lnSpc>
                <a:spcPct val="126000"/>
              </a:lnSpc>
              <a:buNone/>
            </a:pPr>
            <a:r>
              <a:rPr lang="en-US" sz="1150" dirty="0">
                <a:solidFill>
                  <a:srgbClr val="000000"/>
                </a:solidFill>
                <a:latin typeface="Montserrat" pitchFamily="34" charset="0"/>
                <a:ea typeface="Montserrat" pitchFamily="34" charset="-122"/>
                <a:cs typeface="Montserrat" pitchFamily="34" charset="-120"/>
              </a:rPr>
              <a:t>Câu trùng hoặc rất giống FAQ cũ trả lời ngay từ </a:t>
            </a:r>
            <a:r>
              <a:rPr lang="en-US" sz="1150" b="1" dirty="0">
                <a:solidFill>
                  <a:srgbClr val="000000"/>
                </a:solidFill>
                <a:latin typeface="Montserrat Bold" pitchFamily="34" charset="0"/>
                <a:ea typeface="Montserrat Bold" pitchFamily="34" charset="-122"/>
                <a:cs typeface="Montserrat Bold" pitchFamily="34" charset="-120"/>
              </a:rPr>
              <a:t>cache</a:t>
            </a:r>
            <a:r>
              <a:rPr lang="en-US" sz="1150" dirty="0">
                <a:solidFill>
                  <a:srgbClr val="000000"/>
                </a:solidFill>
                <a:latin typeface="Montserrat" pitchFamily="34" charset="0"/>
                <a:ea typeface="Montserrat" pitchFamily="34" charset="-122"/>
                <a:cs typeface="Montserrat" pitchFamily="34" charset="-120"/>
              </a:rPr>
              <a:t>, chỉ gọi LLM khi cache miss.</a:t>
            </a:r>
            <a:endParaRPr lang="en-US" sz="1150" dirty="0"/>
          </a:p>
        </p:txBody>
      </p:sp>
      <p:sp>
        <p:nvSpPr>
          <p:cNvPr id="19" name="Shape 14"/>
          <p:cNvSpPr/>
          <p:nvPr/>
        </p:nvSpPr>
        <p:spPr>
          <a:xfrm>
            <a:off x="1467309" y="4684812"/>
            <a:ext cx="146443" cy="659309"/>
          </a:xfrm>
          <a:prstGeom prst="roundRect">
            <a:avLst>
              <a:gd name="adj" fmla="val 42024"/>
            </a:avLst>
          </a:prstGeom>
          <a:solidFill>
            <a:srgbClr val="CCE2FF"/>
          </a:solidFill>
          <a:ln w="6350">
            <a:solidFill>
              <a:srgbClr val="B2C8E5"/>
            </a:solidFill>
            <a:prstDash val="solid"/>
          </a:ln>
        </p:spPr>
      </p:sp>
      <p:sp>
        <p:nvSpPr>
          <p:cNvPr id="20" name="Shape 15"/>
          <p:cNvSpPr/>
          <p:nvPr/>
        </p:nvSpPr>
        <p:spPr>
          <a:xfrm>
            <a:off x="1320767" y="4588669"/>
            <a:ext cx="439528" cy="439539"/>
          </a:xfrm>
          <a:prstGeom prst="ellipse">
            <a:avLst/>
          </a:prstGeom>
          <a:solidFill>
            <a:srgbClr val="CCE2FF"/>
          </a:solidFill>
          <a:ln w="6350">
            <a:solidFill>
              <a:srgbClr val="B2C8E5"/>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30599" y="4698603"/>
            <a:ext cx="219764" cy="219770"/>
          </a:xfrm>
          <a:prstGeom prst="rect">
            <a:avLst/>
          </a:prstGeom>
        </p:spPr>
      </p:pic>
      <p:sp>
        <p:nvSpPr>
          <p:cNvPr id="22" name="Text 16"/>
          <p:cNvSpPr/>
          <p:nvPr/>
        </p:nvSpPr>
        <p:spPr>
          <a:xfrm>
            <a:off x="1890070" y="4611489"/>
            <a:ext cx="9640150" cy="228898"/>
          </a:xfrm>
          <a:prstGeom prst="rect">
            <a:avLst/>
          </a:prstGeom>
          <a:noFill/>
          <a:ln/>
        </p:spPr>
        <p:txBody>
          <a:bodyPr wrap="none" lIns="0" tIns="0" rIns="0" bIns="0" rtlCol="0" anchor="t"/>
          <a:lstStyle/>
          <a:p>
            <a:pPr marL="0" indent="0" algn="l">
              <a:lnSpc>
                <a:spcPct val="104000"/>
              </a:lnSpc>
              <a:buNone/>
            </a:pPr>
            <a:r>
              <a:rPr lang="en-US" sz="1400" b="1" dirty="0">
                <a:solidFill>
                  <a:srgbClr val="000000"/>
                </a:solidFill>
                <a:latin typeface="Montserrat Bold" pitchFamily="34" charset="0"/>
                <a:ea typeface="Montserrat Bold" pitchFamily="34" charset="-122"/>
                <a:cs typeface="Montserrat Bold" pitchFamily="34" charset="-120"/>
              </a:rPr>
              <a:t>LLM-as-Judge</a:t>
            </a:r>
            <a:endParaRPr lang="en-US" sz="1400" dirty="0"/>
          </a:p>
        </p:txBody>
      </p:sp>
      <p:sp>
        <p:nvSpPr>
          <p:cNvPr id="23" name="Text 17"/>
          <p:cNvSpPr/>
          <p:nvPr/>
        </p:nvSpPr>
        <p:spPr>
          <a:xfrm>
            <a:off x="1890070" y="4918273"/>
            <a:ext cx="9640150" cy="221059"/>
          </a:xfrm>
          <a:prstGeom prst="rect">
            <a:avLst/>
          </a:prstGeom>
          <a:noFill/>
          <a:ln/>
        </p:spPr>
        <p:txBody>
          <a:bodyPr wrap="none" lIns="0" tIns="0" rIns="0" bIns="0" rtlCol="0" anchor="t"/>
          <a:lstStyle/>
          <a:p>
            <a:pPr marL="0" indent="0" algn="l">
              <a:lnSpc>
                <a:spcPct val="126000"/>
              </a:lnSpc>
              <a:buNone/>
            </a:pPr>
            <a:r>
              <a:rPr lang="en-US" sz="1150" dirty="0">
                <a:solidFill>
                  <a:srgbClr val="000000"/>
                </a:solidFill>
                <a:latin typeface="Montserrat" pitchFamily="34" charset="0"/>
                <a:ea typeface="Montserrat" pitchFamily="34" charset="-122"/>
                <a:cs typeface="Montserrat" pitchFamily="34" charset="-120"/>
              </a:rPr>
              <a:t>Tách hai vai: một LLM trả lời, một LLM khác chấm </a:t>
            </a:r>
            <a:r>
              <a:rPr lang="en-US" sz="1150" b="1" dirty="0">
                <a:solidFill>
                  <a:srgbClr val="000000"/>
                </a:solidFill>
                <a:latin typeface="Montserrat Bold" pitchFamily="34" charset="0"/>
                <a:ea typeface="Montserrat Bold" pitchFamily="34" charset="-122"/>
                <a:cs typeface="Montserrat Bold" pitchFamily="34" charset="-120"/>
              </a:rPr>
              <a:t>confidence</a:t>
            </a:r>
            <a:r>
              <a:rPr lang="en-US" sz="1150" dirty="0">
                <a:solidFill>
                  <a:srgbClr val="000000"/>
                </a:solidFill>
                <a:latin typeface="Montserrat" pitchFamily="34" charset="0"/>
                <a:ea typeface="Montserrat" pitchFamily="34" charset="-122"/>
                <a:cs typeface="Montserrat" pitchFamily="34" charset="-120"/>
              </a:rPr>
              <a:t> độc lập — model không vừa trả lời vừa tự tin.</a:t>
            </a:r>
            <a:endParaRPr lang="en-US" sz="1150" dirty="0"/>
          </a:p>
        </p:txBody>
      </p:sp>
      <p:sp>
        <p:nvSpPr>
          <p:cNvPr id="24" name="Shape 18"/>
          <p:cNvSpPr/>
          <p:nvPr/>
        </p:nvSpPr>
        <p:spPr>
          <a:xfrm>
            <a:off x="1247545" y="5693767"/>
            <a:ext cx="146443" cy="659309"/>
          </a:xfrm>
          <a:prstGeom prst="roundRect">
            <a:avLst>
              <a:gd name="adj" fmla="val 42024"/>
            </a:avLst>
          </a:prstGeom>
          <a:solidFill>
            <a:srgbClr val="CCE2FF"/>
          </a:solidFill>
          <a:ln w="6350">
            <a:solidFill>
              <a:srgbClr val="B2C8E5"/>
            </a:solidFill>
            <a:prstDash val="solid"/>
          </a:ln>
        </p:spPr>
      </p:sp>
      <p:sp>
        <p:nvSpPr>
          <p:cNvPr id="25" name="Shape 19"/>
          <p:cNvSpPr/>
          <p:nvPr/>
        </p:nvSpPr>
        <p:spPr>
          <a:xfrm>
            <a:off x="1101003" y="5597624"/>
            <a:ext cx="439528" cy="439539"/>
          </a:xfrm>
          <a:prstGeom prst="ellipse">
            <a:avLst/>
          </a:prstGeom>
          <a:solidFill>
            <a:srgbClr val="CCE2FF"/>
          </a:solidFill>
          <a:ln w="6350">
            <a:solidFill>
              <a:srgbClr val="B2C8E5"/>
            </a:solidFill>
            <a:prstDash val="solid"/>
          </a:ln>
        </p:spPr>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10835" y="5707559"/>
            <a:ext cx="219764" cy="219770"/>
          </a:xfrm>
          <a:prstGeom prst="rect">
            <a:avLst/>
          </a:prstGeom>
        </p:spPr>
      </p:pic>
      <p:sp>
        <p:nvSpPr>
          <p:cNvPr id="27" name="Text 20"/>
          <p:cNvSpPr/>
          <p:nvPr/>
        </p:nvSpPr>
        <p:spPr>
          <a:xfrm>
            <a:off x="1670306" y="5620445"/>
            <a:ext cx="9859914" cy="228898"/>
          </a:xfrm>
          <a:prstGeom prst="rect">
            <a:avLst/>
          </a:prstGeom>
          <a:noFill/>
          <a:ln/>
        </p:spPr>
        <p:txBody>
          <a:bodyPr wrap="none" lIns="0" tIns="0" rIns="0" bIns="0" rtlCol="0" anchor="t"/>
          <a:lstStyle/>
          <a:p>
            <a:pPr marL="0" indent="0" algn="l">
              <a:lnSpc>
                <a:spcPct val="104000"/>
              </a:lnSpc>
              <a:buNone/>
            </a:pPr>
            <a:r>
              <a:rPr lang="en-US" sz="1400" b="1" dirty="0">
                <a:solidFill>
                  <a:srgbClr val="000000"/>
                </a:solidFill>
                <a:latin typeface="Montserrat Bold" pitchFamily="34" charset="0"/>
                <a:ea typeface="Montserrat Bold" pitchFamily="34" charset="-122"/>
                <a:cs typeface="Montserrat Bold" pitchFamily="34" charset="-120"/>
              </a:rPr>
              <a:t>HITL</a:t>
            </a:r>
            <a:endParaRPr lang="en-US" sz="1400" dirty="0"/>
          </a:p>
        </p:txBody>
      </p:sp>
      <p:sp>
        <p:nvSpPr>
          <p:cNvPr id="28" name="Text 21"/>
          <p:cNvSpPr/>
          <p:nvPr/>
        </p:nvSpPr>
        <p:spPr>
          <a:xfrm>
            <a:off x="1670306" y="5927229"/>
            <a:ext cx="9859914" cy="221059"/>
          </a:xfrm>
          <a:prstGeom prst="rect">
            <a:avLst/>
          </a:prstGeom>
          <a:noFill/>
          <a:ln/>
        </p:spPr>
        <p:txBody>
          <a:bodyPr wrap="none" lIns="0" tIns="0" rIns="0" bIns="0" rtlCol="0" anchor="t"/>
          <a:lstStyle/>
          <a:p>
            <a:pPr marL="0" indent="0" algn="l">
              <a:lnSpc>
                <a:spcPct val="126000"/>
              </a:lnSpc>
              <a:buNone/>
            </a:pPr>
            <a:r>
              <a:rPr lang="en-US" sz="1150" dirty="0">
                <a:solidFill>
                  <a:srgbClr val="000000"/>
                </a:solidFill>
                <a:latin typeface="Montserrat" pitchFamily="34" charset="0"/>
                <a:ea typeface="Montserrat" pitchFamily="34" charset="-122"/>
                <a:cs typeface="Montserrat" pitchFamily="34" charset="-120"/>
              </a:rPr>
              <a:t>Khi confidence thấp hoặc case nhạy cảm, bot </a:t>
            </a:r>
            <a:r>
              <a:rPr lang="en-US" sz="1150" b="1" dirty="0">
                <a:solidFill>
                  <a:srgbClr val="000000"/>
                </a:solidFill>
                <a:latin typeface="Montserrat Bold" pitchFamily="34" charset="0"/>
                <a:ea typeface="Montserrat Bold" pitchFamily="34" charset="-122"/>
                <a:cs typeface="Montserrat Bold" pitchFamily="34" charset="-120"/>
              </a:rPr>
              <a:t>tạo ticket chuyển người</a:t>
            </a:r>
            <a:r>
              <a:rPr lang="en-US" sz="1150" dirty="0">
                <a:solidFill>
                  <a:srgbClr val="000000"/>
                </a:solidFill>
                <a:latin typeface="Montserrat" pitchFamily="34" charset="0"/>
                <a:ea typeface="Montserrat" pitchFamily="34" charset="-122"/>
                <a:cs typeface="Montserrat" pitchFamily="34" charset="-120"/>
              </a:rPr>
              <a:t> thay vì tự xử lý.</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61475" y="537071"/>
            <a:ext cx="10868745" cy="413445"/>
          </a:xfrm>
          <a:prstGeom prst="rect">
            <a:avLst/>
          </a:prstGeom>
          <a:noFill/>
          <a:ln/>
        </p:spPr>
        <p:txBody>
          <a:bodyPr wrap="none" lIns="0" tIns="0" rIns="0" bIns="0" rtlCol="0" anchor="t"/>
          <a:lstStyle/>
          <a:p>
            <a:pPr marL="0" indent="0" algn="l">
              <a:lnSpc>
                <a:spcPct val="104000"/>
              </a:lnSpc>
              <a:buNone/>
            </a:pPr>
            <a:r>
              <a:rPr lang="en-US" sz="2600" b="1" dirty="0">
                <a:solidFill>
                  <a:srgbClr val="004AAD"/>
                </a:solidFill>
                <a:latin typeface="Montserrat Bold" pitchFamily="34" charset="0"/>
                <a:ea typeface="Montserrat Bold" pitchFamily="34" charset="-122"/>
                <a:cs typeface="Montserrat Bold" pitchFamily="34" charset="-120"/>
              </a:rPr>
              <a:t>Một câu hỏi khách đi qua sáu lớp</a:t>
            </a:r>
            <a:endParaRPr lang="en-US" sz="2600" dirty="0"/>
          </a:p>
        </p:txBody>
      </p:sp>
      <p:sp>
        <p:nvSpPr>
          <p:cNvPr id="3" name="Text 1"/>
          <p:cNvSpPr/>
          <p:nvPr/>
        </p:nvSpPr>
        <p:spPr>
          <a:xfrm>
            <a:off x="661475" y="992783"/>
            <a:ext cx="10868745" cy="206673"/>
          </a:xfrm>
          <a:prstGeom prst="rect">
            <a:avLst/>
          </a:prstGeom>
          <a:noFill/>
          <a:ln/>
        </p:spPr>
        <p:txBody>
          <a:bodyPr wrap="none" lIns="0" tIns="0" rIns="0" bIns="0" rtlCol="0" anchor="t"/>
          <a:lstStyle/>
          <a:p>
            <a:pPr marL="0" indent="0" algn="l">
              <a:lnSpc>
                <a:spcPct val="104000"/>
              </a:lnSpc>
              <a:buNone/>
            </a:pPr>
            <a:r>
              <a:rPr lang="en-US" sz="1300" b="1" dirty="0">
                <a:solidFill>
                  <a:srgbClr val="004AAD"/>
                </a:solidFill>
                <a:latin typeface="Montserrat Bold" pitchFamily="34" charset="0"/>
                <a:ea typeface="Montserrat Bold" pitchFamily="34" charset="-122"/>
                <a:cs typeface="Montserrat Bold" pitchFamily="34" charset="-120"/>
              </a:rPr>
              <a:t>Chain workflow</a:t>
            </a:r>
            <a:endParaRPr lang="en-US" sz="1300" dirty="0"/>
          </a:p>
        </p:txBody>
      </p:sp>
      <p:pic>
        <p:nvPicPr>
          <p:cNvPr id="4" name="Image 0" descr="preencoded.png"/>
          <p:cNvPicPr>
            <a:picLocks noChangeAspect="1"/>
          </p:cNvPicPr>
          <p:nvPr/>
        </p:nvPicPr>
        <p:blipFill>
          <a:blip r:embed="rId3"/>
          <a:stretch>
            <a:fillRect/>
          </a:stretch>
        </p:blipFill>
        <p:spPr>
          <a:xfrm>
            <a:off x="1894435" y="1358205"/>
            <a:ext cx="8402824" cy="4462562"/>
          </a:xfrm>
          <a:prstGeom prst="rect">
            <a:avLst/>
          </a:prstGeom>
        </p:spPr>
      </p:pic>
      <p:sp>
        <p:nvSpPr>
          <p:cNvPr id="5" name="Text 2"/>
          <p:cNvSpPr/>
          <p:nvPr/>
        </p:nvSpPr>
        <p:spPr>
          <a:xfrm>
            <a:off x="6235988" y="4789538"/>
            <a:ext cx="1956332" cy="244547"/>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Montserrat Bold" pitchFamily="34" charset="0"/>
                <a:ea typeface="Montserrat Bold" pitchFamily="34" charset="-122"/>
                <a:cs typeface="Montserrat Bold" pitchFamily="34" charset="-120"/>
              </a:rPr>
              <a:t>Fast path</a:t>
            </a:r>
            <a:endParaRPr lang="en-US" sz="1500" dirty="0"/>
          </a:p>
        </p:txBody>
      </p:sp>
      <p:sp>
        <p:nvSpPr>
          <p:cNvPr id="6" name="Text 3"/>
          <p:cNvSpPr/>
          <p:nvPr/>
        </p:nvSpPr>
        <p:spPr>
          <a:xfrm>
            <a:off x="6235988" y="5103646"/>
            <a:ext cx="3182301" cy="176075"/>
          </a:xfrm>
          <a:prstGeom prst="rect">
            <a:avLst/>
          </a:prstGeom>
          <a:noFill/>
          <a:ln/>
        </p:spPr>
        <p:txBody>
          <a:bodyPr wrap="none" lIns="0" tIns="0" rIns="0" bIns="0" rtlCol="0" anchor="t"/>
          <a:lstStyle/>
          <a:p>
            <a:pPr marL="0" indent="0" algn="l">
              <a:lnSpc>
                <a:spcPct val="94000"/>
              </a:lnSpc>
              <a:buNone/>
            </a:pPr>
            <a:r>
              <a:rPr lang="en-US" sz="1200" dirty="0">
                <a:solidFill>
                  <a:srgbClr val="000000"/>
                </a:solidFill>
                <a:latin typeface="Montserrat" pitchFamily="34" charset="0"/>
                <a:ea typeface="Montserrat" pitchFamily="34" charset="-122"/>
                <a:cs typeface="Montserrat" pitchFamily="34" charset="-120"/>
              </a:rPr>
              <a:t>Cache với score ≥0.86.</a:t>
            </a:r>
            <a:endParaRPr lang="en-US" sz="1200" dirty="0"/>
          </a:p>
        </p:txBody>
      </p:sp>
      <p:sp>
        <p:nvSpPr>
          <p:cNvPr id="7" name="Text 4"/>
          <p:cNvSpPr/>
          <p:nvPr/>
        </p:nvSpPr>
        <p:spPr>
          <a:xfrm>
            <a:off x="6914183" y="3841780"/>
            <a:ext cx="1956332" cy="244547"/>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Montserrat Bold" pitchFamily="34" charset="0"/>
                <a:ea typeface="Montserrat Bold" pitchFamily="34" charset="-122"/>
                <a:cs typeface="Montserrat Bold" pitchFamily="34" charset="-120"/>
              </a:rPr>
              <a:t>Định tuyến</a:t>
            </a:r>
            <a:endParaRPr lang="en-US" sz="1500" dirty="0"/>
          </a:p>
        </p:txBody>
      </p:sp>
      <p:sp>
        <p:nvSpPr>
          <p:cNvPr id="8" name="Text 5"/>
          <p:cNvSpPr/>
          <p:nvPr/>
        </p:nvSpPr>
        <p:spPr>
          <a:xfrm>
            <a:off x="6914183" y="4155888"/>
            <a:ext cx="3182301" cy="176074"/>
          </a:xfrm>
          <a:prstGeom prst="rect">
            <a:avLst/>
          </a:prstGeom>
          <a:noFill/>
          <a:ln/>
        </p:spPr>
        <p:txBody>
          <a:bodyPr wrap="none" lIns="0" tIns="0" rIns="0" bIns="0" rtlCol="0" anchor="t"/>
          <a:lstStyle/>
          <a:p>
            <a:pPr marL="0" indent="0" algn="l">
              <a:lnSpc>
                <a:spcPct val="94000"/>
              </a:lnSpc>
              <a:buNone/>
            </a:pPr>
            <a:r>
              <a:rPr lang="en-US" sz="1200" dirty="0">
                <a:solidFill>
                  <a:srgbClr val="000000"/>
                </a:solidFill>
                <a:latin typeface="Montserrat" pitchFamily="34" charset="0"/>
                <a:ea typeface="Montserrat" pitchFamily="34" charset="-122"/>
                <a:cs typeface="Montserrat" pitchFamily="34" charset="-120"/>
              </a:rPr>
              <a:t>Router phân 5 loại intent.</a:t>
            </a:r>
            <a:endParaRPr lang="en-US" sz="1200" dirty="0"/>
          </a:p>
        </p:txBody>
      </p:sp>
      <p:sp>
        <p:nvSpPr>
          <p:cNvPr id="9" name="Text 6"/>
          <p:cNvSpPr/>
          <p:nvPr/>
        </p:nvSpPr>
        <p:spPr>
          <a:xfrm>
            <a:off x="6844625" y="2676646"/>
            <a:ext cx="1956332" cy="244548"/>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Montserrat Bold" pitchFamily="34" charset="0"/>
                <a:ea typeface="Montserrat Bold" pitchFamily="34" charset="-122"/>
                <a:cs typeface="Montserrat Bold" pitchFamily="34" charset="-120"/>
              </a:rPr>
              <a:t>Biên an toàn</a:t>
            </a:r>
            <a:endParaRPr lang="en-US" sz="1500" dirty="0"/>
          </a:p>
        </p:txBody>
      </p:sp>
      <p:sp>
        <p:nvSpPr>
          <p:cNvPr id="10" name="Text 7"/>
          <p:cNvSpPr/>
          <p:nvPr/>
        </p:nvSpPr>
        <p:spPr>
          <a:xfrm>
            <a:off x="6844625" y="2990754"/>
            <a:ext cx="3182301" cy="176074"/>
          </a:xfrm>
          <a:prstGeom prst="rect">
            <a:avLst/>
          </a:prstGeom>
          <a:noFill/>
          <a:ln/>
        </p:spPr>
        <p:txBody>
          <a:bodyPr wrap="none" lIns="0" tIns="0" rIns="0" bIns="0" rtlCol="0" anchor="t"/>
          <a:lstStyle/>
          <a:p>
            <a:pPr marL="0" indent="0" algn="l">
              <a:lnSpc>
                <a:spcPct val="94000"/>
              </a:lnSpc>
              <a:buNone/>
            </a:pPr>
            <a:r>
              <a:rPr lang="en-US" sz="1200" dirty="0">
                <a:solidFill>
                  <a:srgbClr val="000000"/>
                </a:solidFill>
                <a:latin typeface="Montserrat" pitchFamily="34" charset="0"/>
                <a:ea typeface="Montserrat" pitchFamily="34" charset="-122"/>
                <a:cs typeface="Montserrat" pitchFamily="34" charset="-120"/>
              </a:rPr>
              <a:t>Guardrail chặn injection.</a:t>
            </a:r>
            <a:endParaRPr lang="en-US" sz="1200" dirty="0"/>
          </a:p>
        </p:txBody>
      </p:sp>
      <p:sp>
        <p:nvSpPr>
          <p:cNvPr id="11" name="Text 8"/>
          <p:cNvSpPr/>
          <p:nvPr/>
        </p:nvSpPr>
        <p:spPr>
          <a:xfrm>
            <a:off x="6096871" y="1624548"/>
            <a:ext cx="1956332" cy="244548"/>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Montserrat Bold" pitchFamily="34" charset="0"/>
                <a:ea typeface="Montserrat Bold" pitchFamily="34" charset="-122"/>
                <a:cs typeface="Montserrat Bold" pitchFamily="34" charset="-120"/>
              </a:rPr>
              <a:t>Tri thức</a:t>
            </a:r>
            <a:endParaRPr lang="en-US" sz="1500" dirty="0"/>
          </a:p>
        </p:txBody>
      </p:sp>
      <p:sp>
        <p:nvSpPr>
          <p:cNvPr id="12" name="Text 9"/>
          <p:cNvSpPr/>
          <p:nvPr/>
        </p:nvSpPr>
        <p:spPr>
          <a:xfrm>
            <a:off x="6096871" y="1938656"/>
            <a:ext cx="3182301" cy="176074"/>
          </a:xfrm>
          <a:prstGeom prst="rect">
            <a:avLst/>
          </a:prstGeom>
          <a:noFill/>
          <a:ln/>
        </p:spPr>
        <p:txBody>
          <a:bodyPr wrap="none" lIns="0" tIns="0" rIns="0" bIns="0" rtlCol="0" anchor="t"/>
          <a:lstStyle/>
          <a:p>
            <a:pPr marL="0" indent="0" algn="l">
              <a:lnSpc>
                <a:spcPct val="94000"/>
              </a:lnSpc>
              <a:buNone/>
            </a:pPr>
            <a:r>
              <a:rPr lang="en-US" sz="1200" dirty="0">
                <a:solidFill>
                  <a:srgbClr val="000000"/>
                </a:solidFill>
                <a:latin typeface="Montserrat" pitchFamily="34" charset="0"/>
                <a:ea typeface="Montserrat" pitchFamily="34" charset="-122"/>
                <a:cs typeface="Montserrat" pitchFamily="34" charset="-120"/>
              </a:rPr>
              <a:t>FAQ embed vào vector-store.</a:t>
            </a:r>
            <a:endParaRPr lang="en-US" sz="1200" dirty="0"/>
          </a:p>
        </p:txBody>
      </p:sp>
      <p:sp>
        <p:nvSpPr>
          <p:cNvPr id="13" name="Text 10"/>
          <p:cNvSpPr/>
          <p:nvPr/>
        </p:nvSpPr>
        <p:spPr>
          <a:xfrm>
            <a:off x="661475" y="5939830"/>
            <a:ext cx="10868745" cy="381000"/>
          </a:xfrm>
          <a:prstGeom prst="rect">
            <a:avLst/>
          </a:prstGeom>
          <a:noFill/>
          <a:ln/>
        </p:spPr>
        <p:txBody>
          <a:bodyPr wrap="square" lIns="0" tIns="0" rIns="0" bIns="0" rtlCol="0" anchor="t">
            <a:normAutofit/>
          </a:bodyPr>
          <a:lstStyle/>
          <a:p>
            <a:pPr marL="0" indent="0" algn="l">
              <a:lnSpc>
                <a:spcPct val="120000"/>
              </a:lnSpc>
              <a:buNone/>
            </a:pPr>
            <a:r>
              <a:rPr lang="en-US" sz="1000" dirty="0">
                <a:solidFill>
                  <a:srgbClr val="000000"/>
                </a:solidFill>
                <a:latin typeface="Montserrat" pitchFamily="34" charset="0"/>
                <a:ea typeface="Montserrat" pitchFamily="34" charset="-122"/>
                <a:cs typeface="Montserrat" pitchFamily="34" charset="-120"/>
              </a:rPr>
              <a:t>Mỗi câu hỏi của khách đi qua đủ sáu lớp — từ kho tri thức, biên an toàn, định tuyến, bộ nhớ đệm, dự phòng có kiểm soát, đến giao diện người dùng. Không lớp nào có thể bỏ qua.</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61475" y="1300460"/>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Bốn rủi ro cần kiểm soát</a:t>
            </a:r>
            <a:endParaRPr lang="en-US" sz="3250" dirty="0"/>
          </a:p>
        </p:txBody>
      </p:sp>
      <p:sp>
        <p:nvSpPr>
          <p:cNvPr id="3" name="Text 1"/>
          <p:cNvSpPr/>
          <p:nvPr/>
        </p:nvSpPr>
        <p:spPr>
          <a:xfrm>
            <a:off x="661475" y="1883271"/>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Những thứ bot dễ làm sai nếu không có guardrail</a:t>
            </a:r>
            <a:endParaRPr lang="en-US" sz="1600" dirty="0"/>
          </a:p>
        </p:txBody>
      </p:sp>
      <p:sp>
        <p:nvSpPr>
          <p:cNvPr id="4" name="Shape 2"/>
          <p:cNvSpPr/>
          <p:nvPr/>
        </p:nvSpPr>
        <p:spPr>
          <a:xfrm>
            <a:off x="661475" y="2389783"/>
            <a:ext cx="5351725" cy="1501180"/>
          </a:xfrm>
          <a:prstGeom prst="roundRect">
            <a:avLst>
              <a:gd name="adj" fmla="val 4627"/>
            </a:avLst>
          </a:prstGeom>
          <a:solidFill>
            <a:srgbClr val="CCE2FF"/>
          </a:solidFill>
          <a:ln w="6350">
            <a:solidFill>
              <a:srgbClr val="B2C8E5"/>
            </a:solidFill>
            <a:prstDash val="solid"/>
          </a:ln>
        </p:spPr>
      </p:sp>
      <p:sp>
        <p:nvSpPr>
          <p:cNvPr id="5" name="Text 3"/>
          <p:cNvSpPr/>
          <p:nvPr/>
        </p:nvSpPr>
        <p:spPr>
          <a:xfrm>
            <a:off x="833119" y="2561431"/>
            <a:ext cx="5008437" cy="26481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Twemoji Mozilla" pitchFamily="34" charset="0"/>
                <a:ea typeface="Twemoji Mozilla" pitchFamily="34" charset="-122"/>
                <a:cs typeface="Twemoji Mozilla" pitchFamily="34" charset="-120"/>
              </a:rPr>
              <a:t>📝</a:t>
            </a:r>
            <a:r>
              <a:rPr lang="en-US" sz="1600" b="1" dirty="0">
                <a:solidFill>
                  <a:srgbClr val="000000"/>
                </a:solidFill>
                <a:latin typeface="Montserrat Bold" pitchFamily="34" charset="0"/>
                <a:ea typeface="Montserrat Bold" pitchFamily="34" charset="-122"/>
                <a:cs typeface="Montserrat Bold" pitchFamily="34" charset="-120"/>
              </a:rPr>
              <a:t> Bịa chính sách</a:t>
            </a:r>
            <a:endParaRPr lang="en-US" sz="1600" dirty="0"/>
          </a:p>
        </p:txBody>
      </p:sp>
      <p:sp>
        <p:nvSpPr>
          <p:cNvPr id="6" name="Text 4"/>
          <p:cNvSpPr/>
          <p:nvPr/>
        </p:nvSpPr>
        <p:spPr>
          <a:xfrm>
            <a:off x="833119" y="2925465"/>
            <a:ext cx="5008437"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Tự đẻ ra ưu đãi, thời hạn đổi trả hay điều kiện bảo hành </a:t>
            </a:r>
            <a:r>
              <a:rPr lang="en-US" sz="1300" b="1" dirty="0">
                <a:solidFill>
                  <a:srgbClr val="000000"/>
                </a:solidFill>
                <a:latin typeface="Montserrat Bold" pitchFamily="34" charset="0"/>
                <a:ea typeface="Montserrat Bold" pitchFamily="34" charset="-122"/>
                <a:cs typeface="Montserrat Bold" pitchFamily="34" charset="-120"/>
              </a:rPr>
              <a:t>không có trong tài liệu</a:t>
            </a:r>
            <a:r>
              <a:rPr lang="en-US" sz="1300" dirty="0">
                <a:solidFill>
                  <a:srgbClr val="000000"/>
                </a:solidFill>
                <a:latin typeface="Montserrat" pitchFamily="34" charset="0"/>
                <a:ea typeface="Montserrat" pitchFamily="34" charset="-122"/>
                <a:cs typeface="Montserrat" pitchFamily="34" charset="-120"/>
              </a:rPr>
              <a:t>. Hậu quả: khiếu kiện và mất uy tín thương hiệu.</a:t>
            </a:r>
            <a:endParaRPr lang="en-US" sz="1300" dirty="0"/>
          </a:p>
        </p:txBody>
      </p:sp>
      <p:sp>
        <p:nvSpPr>
          <p:cNvPr id="7" name="Shape 5"/>
          <p:cNvSpPr/>
          <p:nvPr/>
        </p:nvSpPr>
        <p:spPr>
          <a:xfrm>
            <a:off x="6178495" y="2389783"/>
            <a:ext cx="5351725" cy="1501180"/>
          </a:xfrm>
          <a:prstGeom prst="roundRect">
            <a:avLst>
              <a:gd name="adj" fmla="val 4627"/>
            </a:avLst>
          </a:prstGeom>
          <a:solidFill>
            <a:srgbClr val="CCE2FF"/>
          </a:solidFill>
          <a:ln w="6350">
            <a:solidFill>
              <a:srgbClr val="B2C8E5"/>
            </a:solidFill>
            <a:prstDash val="solid"/>
          </a:ln>
        </p:spPr>
      </p:sp>
      <p:sp>
        <p:nvSpPr>
          <p:cNvPr id="8" name="Text 6"/>
          <p:cNvSpPr/>
          <p:nvPr/>
        </p:nvSpPr>
        <p:spPr>
          <a:xfrm>
            <a:off x="6350139" y="2561431"/>
            <a:ext cx="5008437" cy="26481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Twemoji Mozilla" pitchFamily="34" charset="0"/>
                <a:ea typeface="Twemoji Mozilla" pitchFamily="34" charset="-122"/>
                <a:cs typeface="Twemoji Mozilla" pitchFamily="34" charset="-120"/>
              </a:rPr>
              <a:t>💸</a:t>
            </a:r>
            <a:r>
              <a:rPr lang="en-US" sz="1600" b="1" dirty="0">
                <a:solidFill>
                  <a:srgbClr val="000000"/>
                </a:solidFill>
                <a:latin typeface="Montserrat Bold" pitchFamily="34" charset="0"/>
                <a:ea typeface="Montserrat Bold" pitchFamily="34" charset="-122"/>
                <a:cs typeface="Montserrat Bold" pitchFamily="34" charset="-120"/>
              </a:rPr>
              <a:t> Xử lý nhạy cảm</a:t>
            </a:r>
            <a:endParaRPr lang="en-US" sz="1600" dirty="0"/>
          </a:p>
        </p:txBody>
      </p:sp>
      <p:sp>
        <p:nvSpPr>
          <p:cNvPr id="9" name="Text 7"/>
          <p:cNvSpPr/>
          <p:nvPr/>
        </p:nvSpPr>
        <p:spPr>
          <a:xfrm>
            <a:off x="6350139" y="2925465"/>
            <a:ext cx="5008437"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Tự nhận giải quyết khiếu nại hay hoàn tiền thay vì chuyển người phụ trách. Bot không có thẩm quyền </a:t>
            </a:r>
            <a:r>
              <a:rPr lang="en-US" sz="1300" b="1" dirty="0">
                <a:solidFill>
                  <a:srgbClr val="000000"/>
                </a:solidFill>
                <a:latin typeface="Montserrat Bold" pitchFamily="34" charset="0"/>
                <a:ea typeface="Montserrat Bold" pitchFamily="34" charset="-122"/>
                <a:cs typeface="Montserrat Bold" pitchFamily="34" charset="-120"/>
              </a:rPr>
              <a:t>phê duyệt giao dịch tài chính</a:t>
            </a:r>
            <a:r>
              <a:rPr lang="en-US" sz="1300" dirty="0">
                <a:solidFill>
                  <a:srgbClr val="000000"/>
                </a:solidFill>
                <a:latin typeface="Montserrat" pitchFamily="34" charset="0"/>
                <a:ea typeface="Montserrat" pitchFamily="34" charset="-122"/>
                <a:cs typeface="Montserrat" pitchFamily="34" charset="-120"/>
              </a:rPr>
              <a:t>.</a:t>
            </a:r>
            <a:endParaRPr lang="en-US" sz="1300" dirty="0"/>
          </a:p>
        </p:txBody>
      </p:sp>
      <p:sp>
        <p:nvSpPr>
          <p:cNvPr id="10" name="Shape 8"/>
          <p:cNvSpPr/>
          <p:nvPr/>
        </p:nvSpPr>
        <p:spPr>
          <a:xfrm>
            <a:off x="661475" y="4056261"/>
            <a:ext cx="5351725" cy="1501180"/>
          </a:xfrm>
          <a:prstGeom prst="roundRect">
            <a:avLst>
              <a:gd name="adj" fmla="val 4627"/>
            </a:avLst>
          </a:prstGeom>
          <a:solidFill>
            <a:srgbClr val="CCE2FF"/>
          </a:solidFill>
          <a:ln w="6350">
            <a:solidFill>
              <a:srgbClr val="B2C8E5"/>
            </a:solidFill>
            <a:prstDash val="solid"/>
          </a:ln>
        </p:spPr>
      </p:sp>
      <p:sp>
        <p:nvSpPr>
          <p:cNvPr id="11" name="Text 9"/>
          <p:cNvSpPr/>
          <p:nvPr/>
        </p:nvSpPr>
        <p:spPr>
          <a:xfrm>
            <a:off x="833119" y="4227909"/>
            <a:ext cx="5008437" cy="26481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Twemoji Mozilla" pitchFamily="34" charset="0"/>
                <a:ea typeface="Twemoji Mozilla" pitchFamily="34" charset="-122"/>
                <a:cs typeface="Twemoji Mozilla" pitchFamily="34" charset="-120"/>
              </a:rPr>
              <a:t>💉</a:t>
            </a:r>
            <a:r>
              <a:rPr lang="en-US" sz="1600" b="1" dirty="0">
                <a:solidFill>
                  <a:srgbClr val="000000"/>
                </a:solidFill>
                <a:latin typeface="Montserrat Bold" pitchFamily="34" charset="0"/>
                <a:ea typeface="Montserrat Bold" pitchFamily="34" charset="-122"/>
                <a:cs typeface="Montserrat Bold" pitchFamily="34" charset="-120"/>
              </a:rPr>
              <a:t> Prompt Injection</a:t>
            </a:r>
            <a:endParaRPr lang="en-US" sz="1600" dirty="0"/>
          </a:p>
        </p:txBody>
      </p:sp>
      <p:sp>
        <p:nvSpPr>
          <p:cNvPr id="12" name="Text 10"/>
          <p:cNvSpPr/>
          <p:nvPr/>
        </p:nvSpPr>
        <p:spPr>
          <a:xfrm>
            <a:off x="833119" y="4591943"/>
            <a:ext cx="5008437"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Khách gửi câu chứa chỉ thị độc hại (kiểu </a:t>
            </a:r>
            <a:r>
              <a:rPr lang="en-US" sz="1300" i="1" dirty="0">
                <a:solidFill>
                  <a:srgbClr val="000000"/>
                </a:solidFill>
                <a:latin typeface="Montserrat" pitchFamily="34" charset="0"/>
                <a:ea typeface="Montserrat" pitchFamily="34" charset="-122"/>
                <a:cs typeface="Montserrat" pitchFamily="34" charset="-120"/>
              </a:rPr>
              <a:t>"bỏ qua quy định cũ"</a:t>
            </a:r>
            <a:r>
              <a:rPr lang="en-US" sz="1300" dirty="0">
                <a:solidFill>
                  <a:srgbClr val="000000"/>
                </a:solidFill>
                <a:latin typeface="Montserrat" pitchFamily="34" charset="0"/>
                <a:ea typeface="Montserrat" pitchFamily="34" charset="-122"/>
                <a:cs typeface="Montserrat" pitchFamily="34" charset="-120"/>
              </a:rPr>
              <a:t>). Hệ thống phải coi đó là </a:t>
            </a:r>
            <a:r>
              <a:rPr lang="en-US" sz="1300" b="1" dirty="0">
                <a:solidFill>
                  <a:srgbClr val="000000"/>
                </a:solidFill>
                <a:latin typeface="Montserrat Bold" pitchFamily="34" charset="0"/>
                <a:ea typeface="Montserrat Bold" pitchFamily="34" charset="-122"/>
                <a:cs typeface="Montserrat Bold" pitchFamily="34" charset="-120"/>
              </a:rPr>
              <a:t>dữ liệu</a:t>
            </a:r>
            <a:r>
              <a:rPr lang="en-US" sz="1300" dirty="0">
                <a:solidFill>
                  <a:srgbClr val="000000"/>
                </a:solidFill>
                <a:latin typeface="Montserrat" pitchFamily="34" charset="0"/>
                <a:ea typeface="Montserrat" pitchFamily="34" charset="-122"/>
                <a:cs typeface="Montserrat" pitchFamily="34" charset="-120"/>
              </a:rPr>
              <a:t>, không phải lệnh điều khiển.</a:t>
            </a:r>
            <a:endParaRPr lang="en-US" sz="1300" dirty="0"/>
          </a:p>
        </p:txBody>
      </p:sp>
      <p:sp>
        <p:nvSpPr>
          <p:cNvPr id="13" name="Shape 11"/>
          <p:cNvSpPr/>
          <p:nvPr/>
        </p:nvSpPr>
        <p:spPr>
          <a:xfrm>
            <a:off x="6178495" y="4056261"/>
            <a:ext cx="5351725" cy="1501180"/>
          </a:xfrm>
          <a:prstGeom prst="roundRect">
            <a:avLst>
              <a:gd name="adj" fmla="val 4627"/>
            </a:avLst>
          </a:prstGeom>
          <a:solidFill>
            <a:srgbClr val="CCE2FF"/>
          </a:solidFill>
          <a:ln w="6350">
            <a:solidFill>
              <a:srgbClr val="B2C8E5"/>
            </a:solidFill>
            <a:prstDash val="solid"/>
          </a:ln>
        </p:spPr>
      </p:sp>
      <p:sp>
        <p:nvSpPr>
          <p:cNvPr id="14" name="Text 12"/>
          <p:cNvSpPr/>
          <p:nvPr/>
        </p:nvSpPr>
        <p:spPr>
          <a:xfrm>
            <a:off x="6350139" y="4227909"/>
            <a:ext cx="5008437" cy="26481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Twemoji Mozilla" pitchFamily="34" charset="0"/>
                <a:ea typeface="Twemoji Mozilla" pitchFamily="34" charset="-122"/>
                <a:cs typeface="Twemoji Mozilla" pitchFamily="34" charset="-120"/>
              </a:rPr>
              <a:t>🔇</a:t>
            </a:r>
            <a:r>
              <a:rPr lang="en-US" sz="1600" b="1" dirty="0">
                <a:solidFill>
                  <a:srgbClr val="000000"/>
                </a:solidFill>
                <a:latin typeface="Montserrat Bold" pitchFamily="34" charset="0"/>
                <a:ea typeface="Montserrat Bold" pitchFamily="34" charset="-122"/>
                <a:cs typeface="Montserrat Bold" pitchFamily="34" charset="-120"/>
              </a:rPr>
              <a:t> Tự tin thái quá</a:t>
            </a:r>
            <a:endParaRPr lang="en-US" sz="1600" dirty="0"/>
          </a:p>
        </p:txBody>
      </p:sp>
      <p:sp>
        <p:nvSpPr>
          <p:cNvPr id="15" name="Text 13"/>
          <p:cNvSpPr/>
          <p:nvPr/>
        </p:nvSpPr>
        <p:spPr>
          <a:xfrm>
            <a:off x="6350139" y="4591943"/>
            <a:ext cx="5008437"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Một LLM vừa trả lời vừa tự chấm điểm tin cậy sẽ </a:t>
            </a:r>
            <a:r>
              <a:rPr lang="en-US" sz="1300" b="1" dirty="0">
                <a:solidFill>
                  <a:srgbClr val="000000"/>
                </a:solidFill>
                <a:latin typeface="Montserrat Bold" pitchFamily="34" charset="0"/>
                <a:ea typeface="Montserrat Bold" pitchFamily="34" charset="-122"/>
                <a:cs typeface="Montserrat Bold" pitchFamily="34" charset="-120"/>
              </a:rPr>
              <a:t>không khách quan</a:t>
            </a:r>
            <a:r>
              <a:rPr lang="en-US" sz="1300" dirty="0">
                <a:solidFill>
                  <a:srgbClr val="000000"/>
                </a:solidFill>
                <a:latin typeface="Montserrat" pitchFamily="34" charset="0"/>
                <a:ea typeface="Montserrat" pitchFamily="34" charset="-122"/>
                <a:cs typeface="Montserrat" pitchFamily="34" charset="-120"/>
              </a:rPr>
              <a:t>. Tách judge thành vai riêng biệt là bắt buộc.</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Text 0"/>
          <p:cNvSpPr/>
          <p:nvPr/>
        </p:nvSpPr>
        <p:spPr>
          <a:xfrm>
            <a:off x="5233360" y="2816027"/>
            <a:ext cx="6296860" cy="713184"/>
          </a:xfrm>
          <a:prstGeom prst="rect">
            <a:avLst/>
          </a:prstGeom>
          <a:noFill/>
          <a:ln/>
        </p:spPr>
        <p:txBody>
          <a:bodyPr wrap="none" lIns="0" tIns="0" rIns="0" bIns="0" rtlCol="0" anchor="t"/>
          <a:lstStyle/>
          <a:p>
            <a:pPr marL="0" indent="0" algn="l">
              <a:lnSpc>
                <a:spcPct val="104000"/>
              </a:lnSpc>
              <a:buNone/>
            </a:pPr>
            <a:r>
              <a:rPr lang="en-US" sz="4450" b="1" dirty="0">
                <a:solidFill>
                  <a:srgbClr val="004AAD"/>
                </a:solidFill>
                <a:latin typeface="Montserrat Bold" pitchFamily="34" charset="0"/>
                <a:ea typeface="Montserrat Bold" pitchFamily="34" charset="-122"/>
                <a:cs typeface="Montserrat Bold" pitchFamily="34" charset="-120"/>
              </a:rPr>
              <a:t>Demo qua notebook</a:t>
            </a:r>
            <a:endParaRPr lang="en-US" sz="4450" dirty="0"/>
          </a:p>
        </p:txBody>
      </p:sp>
      <p:sp>
        <p:nvSpPr>
          <p:cNvPr id="4" name="Text 1"/>
          <p:cNvSpPr/>
          <p:nvPr/>
        </p:nvSpPr>
        <p:spPr>
          <a:xfrm>
            <a:off x="5233360" y="3777258"/>
            <a:ext cx="6906444" cy="264616"/>
          </a:xfrm>
          <a:prstGeom prst="rect">
            <a:avLst/>
          </a:prstGeom>
          <a:noFill/>
          <a:ln/>
        </p:spPr>
        <p:txBody>
          <a:bodyPr wrap="none" lIns="0" tIns="0" rIns="0" bIns="0" rtlCol="0" anchor="t"/>
          <a:lstStyle/>
          <a:p>
            <a:pPr marL="0" indent="0" algn="l">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npx n8n và webhook /cskh</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61475" y="1562100"/>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Vì sao học qua notebook?</a:t>
            </a:r>
            <a:endParaRPr lang="en-US" sz="3250" dirty="0"/>
          </a:p>
        </p:txBody>
      </p:sp>
      <p:sp>
        <p:nvSpPr>
          <p:cNvPr id="3" name="Text 1"/>
          <p:cNvSpPr/>
          <p:nvPr/>
        </p:nvSpPr>
        <p:spPr>
          <a:xfrm>
            <a:off x="909516" y="2657574"/>
            <a:ext cx="10620705" cy="516930"/>
          </a:xfrm>
          <a:prstGeom prst="rect">
            <a:avLst/>
          </a:prstGeom>
          <a:noFill/>
          <a:ln/>
        </p:spPr>
        <p:txBody>
          <a:bodyPr wrap="square" lIns="0" tIns="0" rIns="0" bIns="0" rtlCol="0" anchor="t">
            <a:normAutofit/>
          </a:bodyPr>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Học viên không kéo-thả Node, cũng không cài đặt. Một lệnh </a:t>
            </a:r>
            <a:r>
              <a:rPr lang="en-US" sz="1600" b="1" dirty="0">
                <a:solidFill>
                  <a:srgbClr val="000000"/>
                </a:solidFill>
                <a:highlight>
                  <a:srgbClr val="F2F2F2"/>
                </a:highlight>
                <a:latin typeface="Consolas" pitchFamily="34" charset="0"/>
                <a:ea typeface="Consolas" pitchFamily="34" charset="-122"/>
                <a:cs typeface="Consolas" pitchFamily="34" charset="-120"/>
              </a:rPr>
              <a:t>npx n8n start</a:t>
            </a:r>
            <a:r>
              <a:rPr lang="en-US" sz="1600" b="1" dirty="0">
                <a:solidFill>
                  <a:srgbClr val="004AAD"/>
                </a:solidFill>
                <a:latin typeface="Montserrat Bold" pitchFamily="34" charset="0"/>
                <a:ea typeface="Montserrat Bold" pitchFamily="34" charset="-122"/>
                <a:cs typeface="Montserrat Bold" pitchFamily="34" charset="-120"/>
              </a:rPr>
              <a:t> bật n8n local, notebook tự nạp workflow và gọi webhook /cskh.</a:t>
            </a:r>
            <a:endParaRPr lang="en-US" sz="1600" dirty="0"/>
          </a:p>
        </p:txBody>
      </p:sp>
      <p:sp>
        <p:nvSpPr>
          <p:cNvPr id="4" name="Shape 2"/>
          <p:cNvSpPr/>
          <p:nvPr/>
        </p:nvSpPr>
        <p:spPr>
          <a:xfrm>
            <a:off x="661475" y="2409527"/>
            <a:ext cx="19050" cy="1013023"/>
          </a:xfrm>
          <a:prstGeom prst="roundRect">
            <a:avLst>
              <a:gd name="adj" fmla="val 49999"/>
            </a:avLst>
          </a:prstGeom>
          <a:solidFill>
            <a:srgbClr val="004AAD"/>
          </a:solidFill>
          <a:ln/>
        </p:spPr>
      </p:sp>
      <p:sp>
        <p:nvSpPr>
          <p:cNvPr id="5" name="Text 3"/>
          <p:cNvSpPr/>
          <p:nvPr/>
        </p:nvSpPr>
        <p:spPr>
          <a:xfrm>
            <a:off x="661475" y="3608586"/>
            <a:ext cx="10868745"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Thời gian buổi học dành hoàn toàn cho </a:t>
            </a:r>
            <a:r>
              <a:rPr lang="en-US" sz="1300" b="1" dirty="0">
                <a:solidFill>
                  <a:srgbClr val="000000"/>
                </a:solidFill>
                <a:latin typeface="Montserrat Bold" pitchFamily="34" charset="0"/>
                <a:ea typeface="Montserrat Bold" pitchFamily="34" charset="-122"/>
                <a:cs typeface="Montserrat Bold" pitchFamily="34" charset="-120"/>
              </a:rPr>
              <a:t>năm lớp kiểm soát</a:t>
            </a:r>
            <a:r>
              <a:rPr lang="en-US" sz="1300" dirty="0">
                <a:solidFill>
                  <a:srgbClr val="000000"/>
                </a:solidFill>
                <a:latin typeface="Montserrat" pitchFamily="34" charset="0"/>
                <a:ea typeface="Montserrat" pitchFamily="34" charset="-122"/>
                <a:cs typeface="Montserrat" pitchFamily="34" charset="-120"/>
              </a:rPr>
              <a:t> — đúng chỗ bot sống hay chết. Mỗi cell notebook gửi một test case thật và cho thấy ngay bot đi về đâu: trả lời nhanh, từ chối, hay tạo ticket chuyển người.</a:t>
            </a:r>
            <a:endParaRPr lang="en-US" sz="1300" dirty="0"/>
          </a:p>
        </p:txBody>
      </p:sp>
      <p:sp>
        <p:nvSpPr>
          <p:cNvPr id="6" name="Shape 4"/>
          <p:cNvSpPr/>
          <p:nvPr/>
        </p:nvSpPr>
        <p:spPr>
          <a:xfrm>
            <a:off x="661475" y="4323854"/>
            <a:ext cx="3512653" cy="971947"/>
          </a:xfrm>
          <a:prstGeom prst="roundRect">
            <a:avLst>
              <a:gd name="adj" fmla="val 7147"/>
            </a:avLst>
          </a:prstGeom>
          <a:solidFill>
            <a:srgbClr val="CCE2FF"/>
          </a:solidFill>
          <a:ln w="6350">
            <a:solidFill>
              <a:srgbClr val="B2C8E5"/>
            </a:solidFill>
            <a:prstDash val="solid"/>
          </a:ln>
        </p:spPr>
      </p:sp>
      <p:sp>
        <p:nvSpPr>
          <p:cNvPr id="7" name="Text 5"/>
          <p:cNvSpPr/>
          <p:nvPr/>
        </p:nvSpPr>
        <p:spPr>
          <a:xfrm>
            <a:off x="833119" y="4495502"/>
            <a:ext cx="3169364" cy="26481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Twemoji Mozilla" pitchFamily="34" charset="0"/>
                <a:ea typeface="Twemoji Mozilla" pitchFamily="34" charset="-122"/>
                <a:cs typeface="Twemoji Mozilla" pitchFamily="34" charset="-120"/>
              </a:rPr>
              <a:t>⚡</a:t>
            </a:r>
            <a:r>
              <a:rPr lang="en-US" sz="1600" b="1" dirty="0">
                <a:solidFill>
                  <a:srgbClr val="000000"/>
                </a:solidFill>
                <a:latin typeface="Montserrat Bold" pitchFamily="34" charset="0"/>
                <a:ea typeface="Montserrat Bold" pitchFamily="34" charset="-122"/>
                <a:cs typeface="Montserrat Bold" pitchFamily="34" charset="-120"/>
              </a:rPr>
              <a:t> Không cài đặt</a:t>
            </a:r>
            <a:endParaRPr lang="en-US" sz="1600" dirty="0"/>
          </a:p>
        </p:txBody>
      </p:sp>
      <p:sp>
        <p:nvSpPr>
          <p:cNvPr id="8" name="Text 6"/>
          <p:cNvSpPr/>
          <p:nvPr/>
        </p:nvSpPr>
        <p:spPr>
          <a:xfrm>
            <a:off x="833119" y="4859536"/>
            <a:ext cx="3169364"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npx tự tải, không cần Docker</a:t>
            </a:r>
            <a:endParaRPr lang="en-US" sz="1300" dirty="0"/>
          </a:p>
        </p:txBody>
      </p:sp>
      <p:sp>
        <p:nvSpPr>
          <p:cNvPr id="9" name="Shape 7"/>
          <p:cNvSpPr/>
          <p:nvPr/>
        </p:nvSpPr>
        <p:spPr>
          <a:xfrm>
            <a:off x="4339422" y="4323854"/>
            <a:ext cx="3512752" cy="971947"/>
          </a:xfrm>
          <a:prstGeom prst="roundRect">
            <a:avLst>
              <a:gd name="adj" fmla="val 7147"/>
            </a:avLst>
          </a:prstGeom>
          <a:solidFill>
            <a:srgbClr val="CCE2FF"/>
          </a:solidFill>
          <a:ln w="6350">
            <a:solidFill>
              <a:srgbClr val="B2C8E5"/>
            </a:solidFill>
            <a:prstDash val="solid"/>
          </a:ln>
        </p:spPr>
      </p:sp>
      <p:sp>
        <p:nvSpPr>
          <p:cNvPr id="10" name="Text 8"/>
          <p:cNvSpPr/>
          <p:nvPr/>
        </p:nvSpPr>
        <p:spPr>
          <a:xfrm>
            <a:off x="4511066" y="4495502"/>
            <a:ext cx="3169464" cy="26481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Twemoji Mozilla" pitchFamily="34" charset="0"/>
                <a:ea typeface="Twemoji Mozilla" pitchFamily="34" charset="-122"/>
                <a:cs typeface="Twemoji Mozilla" pitchFamily="34" charset="-120"/>
              </a:rPr>
              <a:t>📓</a:t>
            </a:r>
            <a:r>
              <a:rPr lang="en-US" sz="1600" b="1" dirty="0">
                <a:solidFill>
                  <a:srgbClr val="000000"/>
                </a:solidFill>
                <a:latin typeface="Montserrat Bold" pitchFamily="34" charset="0"/>
                <a:ea typeface="Montserrat Bold" pitchFamily="34" charset="-122"/>
                <a:cs typeface="Montserrat Bold" pitchFamily="34" charset="-120"/>
              </a:rPr>
              <a:t> Notebook sẵn sàng</a:t>
            </a:r>
            <a:endParaRPr lang="en-US" sz="1600" dirty="0"/>
          </a:p>
        </p:txBody>
      </p:sp>
      <p:sp>
        <p:nvSpPr>
          <p:cNvPr id="11" name="Text 9"/>
          <p:cNvSpPr/>
          <p:nvPr/>
        </p:nvSpPr>
        <p:spPr>
          <a:xfrm>
            <a:off x="4511066" y="4859536"/>
            <a:ext cx="3169464"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Workflow đã nạp sẵn, chỉ chạy cell</a:t>
            </a:r>
            <a:endParaRPr lang="en-US" sz="1300" dirty="0"/>
          </a:p>
        </p:txBody>
      </p:sp>
      <p:sp>
        <p:nvSpPr>
          <p:cNvPr id="12" name="Shape 10"/>
          <p:cNvSpPr/>
          <p:nvPr/>
        </p:nvSpPr>
        <p:spPr>
          <a:xfrm>
            <a:off x="8017468" y="4323854"/>
            <a:ext cx="3512653" cy="971947"/>
          </a:xfrm>
          <a:prstGeom prst="roundRect">
            <a:avLst>
              <a:gd name="adj" fmla="val 7147"/>
            </a:avLst>
          </a:prstGeom>
          <a:solidFill>
            <a:srgbClr val="CCE2FF"/>
          </a:solidFill>
          <a:ln w="6350">
            <a:solidFill>
              <a:srgbClr val="B2C8E5"/>
            </a:solidFill>
            <a:prstDash val="solid"/>
          </a:ln>
        </p:spPr>
      </p:sp>
      <p:sp>
        <p:nvSpPr>
          <p:cNvPr id="13" name="Text 11"/>
          <p:cNvSpPr/>
          <p:nvPr/>
        </p:nvSpPr>
        <p:spPr>
          <a:xfrm>
            <a:off x="8189112" y="4495502"/>
            <a:ext cx="3169364" cy="26481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Twemoji Mozilla" pitchFamily="34" charset="0"/>
                <a:ea typeface="Twemoji Mozilla" pitchFamily="34" charset="-122"/>
                <a:cs typeface="Twemoji Mozilla" pitchFamily="34" charset="-120"/>
              </a:rPr>
              <a:t>🔍</a:t>
            </a:r>
            <a:r>
              <a:rPr lang="en-US" sz="1600" b="1" dirty="0">
                <a:solidFill>
                  <a:srgbClr val="000000"/>
                </a:solidFill>
                <a:latin typeface="Montserrat Bold" pitchFamily="34" charset="0"/>
                <a:ea typeface="Montserrat Bold" pitchFamily="34" charset="-122"/>
                <a:cs typeface="Montserrat Bold" pitchFamily="34" charset="-120"/>
              </a:rPr>
              <a:t> Thấy ngay kết quả</a:t>
            </a:r>
            <a:endParaRPr lang="en-US" sz="1600" dirty="0"/>
          </a:p>
        </p:txBody>
      </p:sp>
      <p:sp>
        <p:nvSpPr>
          <p:cNvPr id="14" name="Text 12"/>
          <p:cNvSpPr/>
          <p:nvPr/>
        </p:nvSpPr>
        <p:spPr>
          <a:xfrm>
            <a:off x="8189112" y="4859536"/>
            <a:ext cx="3169364"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Mỗi cell = một test case thật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61475" y="1792883"/>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Demo bước 0: khởi động n8n và nạp workflow</a:t>
            </a:r>
            <a:endParaRPr lang="en-US" sz="3250" dirty="0"/>
          </a:p>
        </p:txBody>
      </p:sp>
      <p:sp>
        <p:nvSpPr>
          <p:cNvPr id="3" name="Text 1"/>
          <p:cNvSpPr/>
          <p:nvPr/>
        </p:nvSpPr>
        <p:spPr>
          <a:xfrm>
            <a:off x="661475" y="2375694"/>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Một lệnh bật n8n với webhook /cskh sẵn sàng</a:t>
            </a:r>
            <a:endParaRPr lang="en-US" sz="1600" dirty="0"/>
          </a:p>
        </p:txBody>
      </p:sp>
      <p:sp>
        <p:nvSpPr>
          <p:cNvPr id="4" name="Shape 2"/>
          <p:cNvSpPr/>
          <p:nvPr/>
        </p:nvSpPr>
        <p:spPr>
          <a:xfrm>
            <a:off x="661475" y="2882205"/>
            <a:ext cx="10868745" cy="2182912"/>
          </a:xfrm>
          <a:prstGeom prst="roundRect">
            <a:avLst>
              <a:gd name="adj" fmla="val 3182"/>
            </a:avLst>
          </a:prstGeom>
          <a:solidFill>
            <a:srgbClr val="F2F2F2"/>
          </a:solidFill>
          <a:ln/>
        </p:spPr>
      </p:sp>
      <p:sp>
        <p:nvSpPr>
          <p:cNvPr id="5" name="Text 3"/>
          <p:cNvSpPr/>
          <p:nvPr/>
        </p:nvSpPr>
        <p:spPr>
          <a:xfrm>
            <a:off x="859907" y="3047504"/>
            <a:ext cx="10471880" cy="1852315"/>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120"/>
              </a:rPr>
              <a:t>$ cd test</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120"/>
              </a:rPr>
              <a:t>$ python3 auto_import_n8n.py</a:t>
            </a:r>
            <a:endParaRPr lang="en-US" sz="1300" dirty="0"/>
          </a:p>
          <a:p>
            <a:pPr marL="0" indent="0" algn="l">
              <a:lnSpc>
                <a:spcPct val="133000"/>
              </a:lnSpc>
              <a:buNone/>
            </a:pP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120"/>
              </a:rPr>
              <a:t>→ n8n chạy tại http://localhost:5678</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120"/>
              </a:rPr>
              <a:t>→ Nạp workflow 'B5 K1 - Retail CSKH Bot'</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120"/>
              </a:rPr>
              <a:t>→ Webhook sẵn sàng: POST http://localhost:5678/webhook/cskh</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120"/>
              </a:rPr>
              <a: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61475" y="1691580"/>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Demo bước 2 &amp; 3: cache hit và guard chặn</a:t>
            </a:r>
            <a:endParaRPr lang="en-US" sz="3250" dirty="0"/>
          </a:p>
        </p:txBody>
      </p:sp>
      <p:sp>
        <p:nvSpPr>
          <p:cNvPr id="3" name="Text 1"/>
          <p:cNvSpPr/>
          <p:nvPr/>
        </p:nvSpPr>
        <p:spPr>
          <a:xfrm>
            <a:off x="661475" y="2274391"/>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Câu giống FAQ trả lời nhanh, câu độc bị chặn</a:t>
            </a:r>
            <a:endParaRPr lang="en-US" sz="1600" dirty="0"/>
          </a:p>
        </p:txBody>
      </p:sp>
      <p:sp>
        <p:nvSpPr>
          <p:cNvPr id="4" name="Shape 2"/>
          <p:cNvSpPr/>
          <p:nvPr/>
        </p:nvSpPr>
        <p:spPr>
          <a:xfrm>
            <a:off x="542415" y="2780903"/>
            <a:ext cx="5470785" cy="1538089"/>
          </a:xfrm>
          <a:prstGeom prst="roundRect">
            <a:avLst>
              <a:gd name="adj" fmla="val 7742"/>
            </a:avLst>
          </a:prstGeom>
          <a:solidFill>
            <a:srgbClr val="004AAD"/>
          </a:solidFill>
          <a:ln/>
        </p:spPr>
      </p:sp>
      <p:sp>
        <p:nvSpPr>
          <p:cNvPr id="5" name="Text 3"/>
          <p:cNvSpPr/>
          <p:nvPr/>
        </p:nvSpPr>
        <p:spPr>
          <a:xfrm>
            <a:off x="707710" y="2946202"/>
            <a:ext cx="5140196" cy="258465"/>
          </a:xfrm>
          <a:prstGeom prst="rect">
            <a:avLst/>
          </a:prstGeom>
          <a:noFill/>
          <a:ln/>
        </p:spPr>
        <p:txBody>
          <a:bodyPr wrap="none" lIns="0" tIns="0" rIns="0" bIns="0" rtlCol="0" anchor="t"/>
          <a:lstStyle/>
          <a:p>
            <a:pPr marL="0" indent="0" algn="l">
              <a:lnSpc>
                <a:spcPct val="104000"/>
              </a:lnSpc>
              <a:buNone/>
            </a:pPr>
            <a:r>
              <a:rPr lang="en-US" sz="1600" b="1" dirty="0">
                <a:solidFill>
                  <a:srgbClr val="FFFFFF"/>
                </a:solidFill>
                <a:latin typeface="Montserrat Bold" pitchFamily="34" charset="0"/>
                <a:ea typeface="Montserrat Bold" pitchFamily="34" charset="-122"/>
                <a:cs typeface="Montserrat Bold" pitchFamily="34" charset="-120"/>
              </a:rPr>
              <a:t>Cell Step 2 · Cache Hit</a:t>
            </a:r>
            <a:endParaRPr lang="en-US" sz="1600" dirty="0"/>
          </a:p>
        </p:txBody>
      </p:sp>
      <p:sp>
        <p:nvSpPr>
          <p:cNvPr id="6" name="Text 4"/>
          <p:cNvSpPr/>
          <p:nvPr/>
        </p:nvSpPr>
        <p:spPr>
          <a:xfrm>
            <a:off x="707710" y="3369965"/>
            <a:ext cx="5140196" cy="80019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FFFFFF"/>
                </a:solidFill>
                <a:latin typeface="Montserrat" pitchFamily="34" charset="0"/>
                <a:ea typeface="Montserrat" pitchFamily="34" charset="-122"/>
                <a:cs typeface="Montserrat" pitchFamily="34" charset="-120"/>
              </a:rPr>
              <a:t>Gửi câu giao hàng từng có trong FAQ. Cache hit với </a:t>
            </a:r>
            <a:r>
              <a:rPr lang="en-US" sz="1300" b="1" dirty="0">
                <a:solidFill>
                  <a:srgbClr val="FFFFFF"/>
                </a:solidFill>
                <a:latin typeface="Montserrat Bold" pitchFamily="34" charset="0"/>
                <a:ea typeface="Montserrat Bold" pitchFamily="34" charset="-122"/>
                <a:cs typeface="Montserrat Bold" pitchFamily="34" charset="-120"/>
              </a:rPr>
              <a:t>score cao</a:t>
            </a:r>
            <a:r>
              <a:rPr lang="en-US" sz="1300" dirty="0">
                <a:solidFill>
                  <a:srgbClr val="FFFFFF"/>
                </a:solidFill>
                <a:latin typeface="Montserrat" pitchFamily="34" charset="0"/>
                <a:ea typeface="Montserrat" pitchFamily="34" charset="-122"/>
                <a:cs typeface="Montserrat" pitchFamily="34" charset="-120"/>
              </a:rPr>
              <a:t> — trả lời ngay, không gọi LLM. Quan sát trường </a:t>
            </a:r>
            <a:r>
              <a:rPr lang="en-US" sz="1300" dirty="0">
                <a:solidFill>
                  <a:srgbClr val="FFFFFF"/>
                </a:solidFill>
                <a:highlight>
                  <a:srgbClr val="0D57BA"/>
                </a:highlight>
                <a:latin typeface="Consolas" pitchFamily="34" charset="0"/>
                <a:ea typeface="Consolas" pitchFamily="34" charset="-122"/>
                <a:cs typeface="Consolas" pitchFamily="34" charset="-120"/>
              </a:rPr>
              <a:t>cache_hit: true</a:t>
            </a:r>
            <a:r>
              <a:rPr lang="en-US" sz="1300" dirty="0">
                <a:solidFill>
                  <a:srgbClr val="FFFFFF"/>
                </a:solidFill>
                <a:latin typeface="Montserrat" pitchFamily="34" charset="0"/>
                <a:ea typeface="Montserrat" pitchFamily="34" charset="-122"/>
                <a:cs typeface="Montserrat" pitchFamily="34" charset="-120"/>
              </a:rPr>
              <a:t> trong response.</a:t>
            </a:r>
            <a:endParaRPr lang="en-US" sz="1300" dirty="0"/>
          </a:p>
        </p:txBody>
      </p:sp>
      <p:sp>
        <p:nvSpPr>
          <p:cNvPr id="7" name="Text 5"/>
          <p:cNvSpPr/>
          <p:nvPr/>
        </p:nvSpPr>
        <p:spPr>
          <a:xfrm>
            <a:off x="6303904" y="2946202"/>
            <a:ext cx="5232666"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Cell Step 3 · Guard Chặn</a:t>
            </a:r>
            <a:endParaRPr lang="en-US" sz="1600" dirty="0"/>
          </a:p>
        </p:txBody>
      </p:sp>
      <p:sp>
        <p:nvSpPr>
          <p:cNvPr id="8" name="Text 6"/>
          <p:cNvSpPr/>
          <p:nvPr/>
        </p:nvSpPr>
        <p:spPr>
          <a:xfrm>
            <a:off x="6303904" y="3369965"/>
            <a:ext cx="5232666" cy="80019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Gửi câu chứa </a:t>
            </a:r>
            <a:r>
              <a:rPr lang="en-US" sz="1300" b="1" dirty="0">
                <a:solidFill>
                  <a:srgbClr val="000000"/>
                </a:solidFill>
                <a:latin typeface="Montserrat Bold" pitchFamily="34" charset="0"/>
                <a:ea typeface="Montserrat Bold" pitchFamily="34" charset="-122"/>
                <a:cs typeface="Montserrat Bold" pitchFamily="34" charset="-120"/>
              </a:rPr>
              <a:t>prompt injection</a:t>
            </a:r>
            <a:r>
              <a:rPr lang="en-US" sz="1300" dirty="0">
                <a:solidFill>
                  <a:srgbClr val="000000"/>
                </a:solidFill>
                <a:latin typeface="Montserrat" pitchFamily="34" charset="0"/>
                <a:ea typeface="Montserrat" pitchFamily="34" charset="-122"/>
                <a:cs typeface="Montserrat" pitchFamily="34" charset="-120"/>
              </a:rPr>
              <a:t> hay ngoài phạm vi — guard chặn trước khi tới LLM. Quan sát trường </a:t>
            </a:r>
            <a:r>
              <a:rPr lang="en-US" sz="1300" dirty="0">
                <a:solidFill>
                  <a:srgbClr val="000000"/>
                </a:solidFill>
                <a:highlight>
                  <a:srgbClr val="F2F2F2"/>
                </a:highlight>
                <a:latin typeface="Consolas" pitchFamily="34" charset="0"/>
                <a:ea typeface="Consolas" pitchFamily="34" charset="-122"/>
                <a:cs typeface="Consolas" pitchFamily="34" charset="-120"/>
              </a:rPr>
              <a:t>route: ngoai_pham_vi</a:t>
            </a:r>
            <a:r>
              <a:rPr lang="en-US" sz="1300" dirty="0">
                <a:solidFill>
                  <a:srgbClr val="000000"/>
                </a:solidFill>
                <a:latin typeface="Montserrat" pitchFamily="34" charset="0"/>
                <a:ea typeface="Montserrat" pitchFamily="34" charset="-122"/>
                <a:cs typeface="Montserrat" pitchFamily="34" charset="-120"/>
              </a:rPr>
              <a:t> và refusal message.</a:t>
            </a:r>
            <a:endParaRPr lang="en-US" sz="1300" dirty="0"/>
          </a:p>
        </p:txBody>
      </p:sp>
      <p:sp>
        <p:nvSpPr>
          <p:cNvPr id="9" name="Shape 7"/>
          <p:cNvSpPr/>
          <p:nvPr/>
        </p:nvSpPr>
        <p:spPr>
          <a:xfrm>
            <a:off x="661475" y="4505027"/>
            <a:ext cx="10868745" cy="661293"/>
          </a:xfrm>
          <a:prstGeom prst="roundRect">
            <a:avLst>
              <a:gd name="adj" fmla="val 10504"/>
            </a:avLst>
          </a:prstGeom>
          <a:solidFill>
            <a:srgbClr val="B6D6FC"/>
          </a:solidFill>
          <a:ln/>
        </p:spPr>
      </p:sp>
      <p:pic>
        <p:nvPicPr>
          <p:cNvPr id="10" name="Image 0" descr="preencoded.png"/>
          <p:cNvPicPr>
            <a:picLocks noChangeAspect="1"/>
          </p:cNvPicPr>
          <p:nvPr/>
        </p:nvPicPr>
        <p:blipFill>
          <a:blip r:embed="rId3"/>
          <a:stretch>
            <a:fillRect/>
          </a:stretch>
        </p:blipFill>
        <p:spPr>
          <a:xfrm>
            <a:off x="826769" y="4744740"/>
            <a:ext cx="206667" cy="165298"/>
          </a:xfrm>
          <a:prstGeom prst="rect">
            <a:avLst/>
          </a:prstGeom>
        </p:spPr>
      </p:pic>
      <p:sp>
        <p:nvSpPr>
          <p:cNvPr id="11" name="Text 8"/>
          <p:cNvSpPr/>
          <p:nvPr/>
        </p:nvSpPr>
        <p:spPr>
          <a:xfrm>
            <a:off x="1198731" y="4711601"/>
            <a:ext cx="10775780"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Ý chính: </a:t>
            </a:r>
            <a:r>
              <a:rPr lang="en-US" sz="1300" b="1" dirty="0">
                <a:solidFill>
                  <a:srgbClr val="000000"/>
                </a:solidFill>
                <a:latin typeface="Montserrat Bold" pitchFamily="34" charset="0"/>
                <a:ea typeface="Montserrat Bold" pitchFamily="34" charset="-122"/>
                <a:cs typeface="Montserrat Bold" pitchFamily="34" charset="-120"/>
              </a:rPr>
              <a:t>fast path tiết kiệm chi phí</a:t>
            </a:r>
            <a:r>
              <a:rPr lang="en-US" sz="1300" dirty="0">
                <a:solidFill>
                  <a:srgbClr val="000000"/>
                </a:solidFill>
                <a:latin typeface="Montserrat" pitchFamily="34" charset="0"/>
                <a:ea typeface="Montserrat" pitchFamily="34" charset="-122"/>
                <a:cs typeface="Montserrat" pitchFamily="34" charset="-120"/>
              </a:rPr>
              <a:t> (không gọi LLM không cần thiết), </a:t>
            </a:r>
            <a:r>
              <a:rPr lang="en-US" sz="1300" b="1" dirty="0">
                <a:solidFill>
                  <a:srgbClr val="000000"/>
                </a:solidFill>
                <a:latin typeface="Montserrat Bold" pitchFamily="34" charset="0"/>
                <a:ea typeface="Montserrat Bold" pitchFamily="34" charset="-122"/>
                <a:cs typeface="Montserrat Bold" pitchFamily="34" charset="-120"/>
              </a:rPr>
              <a:t>guardrail giữ an toàn</a:t>
            </a:r>
            <a:r>
              <a:rPr lang="en-US" sz="1300" dirty="0">
                <a:solidFill>
                  <a:srgbClr val="000000"/>
                </a:solidFill>
                <a:latin typeface="Montserrat" pitchFamily="34" charset="0"/>
                <a:ea typeface="Montserrat" pitchFamily="34" charset="-122"/>
                <a:cs typeface="Montserrat" pitchFamily="34" charset="-120"/>
              </a:rPr>
              <a:t> (chặn ngay từ đầu).</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61475" y="1631553"/>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Demo bước 4–6: ticket và landing chatbot</a:t>
            </a:r>
            <a:endParaRPr lang="en-US" sz="3250" dirty="0"/>
          </a:p>
        </p:txBody>
      </p:sp>
      <p:sp>
        <p:nvSpPr>
          <p:cNvPr id="3" name="Text 1"/>
          <p:cNvSpPr/>
          <p:nvPr/>
        </p:nvSpPr>
        <p:spPr>
          <a:xfrm>
            <a:off x="661475" y="2214364"/>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Case nhạy cảm chuyển người, landing chat live</a:t>
            </a:r>
            <a:endParaRPr lang="en-US" sz="1600" dirty="0"/>
          </a:p>
        </p:txBody>
      </p:sp>
      <p:sp>
        <p:nvSpPr>
          <p:cNvPr id="4" name="Text 2"/>
          <p:cNvSpPr/>
          <p:nvPr/>
        </p:nvSpPr>
        <p:spPr>
          <a:xfrm>
            <a:off x="661475" y="2720876"/>
            <a:ext cx="330688" cy="206673"/>
          </a:xfrm>
          <a:prstGeom prst="rect">
            <a:avLst/>
          </a:prstGeom>
          <a:noFill/>
          <a:ln/>
        </p:spPr>
        <p:txBody>
          <a:bodyPr wrap="none" lIns="0" tIns="0" rIns="0" bIns="0" rtlCol="0" anchor="ctr"/>
          <a:lstStyle/>
          <a:p>
            <a:pPr marL="0" indent="0" algn="l">
              <a:lnSpc>
                <a:spcPct val="100000"/>
              </a:lnSpc>
              <a:buNone/>
            </a:pPr>
            <a:r>
              <a:rPr lang="en-US" sz="1300" dirty="0">
                <a:solidFill>
                  <a:srgbClr val="000000"/>
                </a:solidFill>
                <a:latin typeface="Montserrat Light" pitchFamily="34" charset="0"/>
                <a:ea typeface="Montserrat Light" pitchFamily="34" charset="-122"/>
                <a:cs typeface="Montserrat Light" pitchFamily="34" charset="-120"/>
              </a:rPr>
              <a:t>01</a:t>
            </a:r>
            <a:endParaRPr lang="en-US" sz="1300" dirty="0"/>
          </a:p>
        </p:txBody>
      </p:sp>
      <p:sp>
        <p:nvSpPr>
          <p:cNvPr id="5" name="Shape 3"/>
          <p:cNvSpPr/>
          <p:nvPr/>
        </p:nvSpPr>
        <p:spPr>
          <a:xfrm>
            <a:off x="661475" y="2982813"/>
            <a:ext cx="3512653" cy="19050"/>
          </a:xfrm>
          <a:prstGeom prst="rect">
            <a:avLst/>
          </a:prstGeom>
          <a:solidFill>
            <a:srgbClr val="004AAD"/>
          </a:solidFill>
          <a:ln/>
        </p:spPr>
      </p:sp>
      <p:sp>
        <p:nvSpPr>
          <p:cNvPr id="6" name="Text 4"/>
          <p:cNvSpPr/>
          <p:nvPr/>
        </p:nvSpPr>
        <p:spPr>
          <a:xfrm>
            <a:off x="661475" y="3103563"/>
            <a:ext cx="3512653"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Cell Step 4 · HITL Ticket</a:t>
            </a:r>
            <a:endParaRPr lang="en-US" sz="1600" dirty="0"/>
          </a:p>
        </p:txBody>
      </p:sp>
      <p:sp>
        <p:nvSpPr>
          <p:cNvPr id="7" name="Text 5"/>
          <p:cNvSpPr/>
          <p:nvPr/>
        </p:nvSpPr>
        <p:spPr>
          <a:xfrm>
            <a:off x="661475" y="3461246"/>
            <a:ext cx="3512653"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Gửi case hoàn tiền, judge chấm </a:t>
            </a:r>
            <a:r>
              <a:rPr lang="en-US" sz="1300" b="1" dirty="0">
                <a:solidFill>
                  <a:srgbClr val="000000"/>
                </a:solidFill>
                <a:latin typeface="Montserrat Bold" pitchFamily="34" charset="0"/>
                <a:ea typeface="Montserrat Bold" pitchFamily="34" charset="-122"/>
                <a:cs typeface="Montserrat Bold" pitchFamily="34" charset="-120"/>
              </a:rPr>
              <a:t>confidence thấp</a:t>
            </a:r>
            <a:r>
              <a:rPr lang="en-US" sz="1300" dirty="0">
                <a:solidFill>
                  <a:srgbClr val="000000"/>
                </a:solidFill>
                <a:latin typeface="Montserrat" pitchFamily="34" charset="0"/>
                <a:ea typeface="Montserrat" pitchFamily="34" charset="-122"/>
                <a:cs typeface="Montserrat" pitchFamily="34" charset="-120"/>
              </a:rPr>
              <a:t>, bot tạo ticket HITL thay vì tự trả lời.</a:t>
            </a:r>
            <a:endParaRPr lang="en-US" sz="1300" dirty="0"/>
          </a:p>
        </p:txBody>
      </p:sp>
      <p:sp>
        <p:nvSpPr>
          <p:cNvPr id="8" name="Text 6"/>
          <p:cNvSpPr/>
          <p:nvPr/>
        </p:nvSpPr>
        <p:spPr>
          <a:xfrm>
            <a:off x="4339422" y="2720876"/>
            <a:ext cx="330688" cy="206673"/>
          </a:xfrm>
          <a:prstGeom prst="rect">
            <a:avLst/>
          </a:prstGeom>
          <a:noFill/>
          <a:ln/>
        </p:spPr>
        <p:txBody>
          <a:bodyPr wrap="none" lIns="0" tIns="0" rIns="0" bIns="0" rtlCol="0" anchor="ctr"/>
          <a:lstStyle/>
          <a:p>
            <a:pPr marL="0" indent="0" algn="l">
              <a:lnSpc>
                <a:spcPct val="100000"/>
              </a:lnSpc>
              <a:buNone/>
            </a:pPr>
            <a:r>
              <a:rPr lang="en-US" sz="1300" dirty="0">
                <a:solidFill>
                  <a:srgbClr val="000000"/>
                </a:solidFill>
                <a:latin typeface="Montserrat Light" pitchFamily="34" charset="0"/>
                <a:ea typeface="Montserrat Light" pitchFamily="34" charset="-122"/>
                <a:cs typeface="Montserrat Light" pitchFamily="34" charset="-120"/>
              </a:rPr>
              <a:t>02</a:t>
            </a:r>
            <a:endParaRPr lang="en-US" sz="1300" dirty="0"/>
          </a:p>
        </p:txBody>
      </p:sp>
      <p:sp>
        <p:nvSpPr>
          <p:cNvPr id="9" name="Shape 7"/>
          <p:cNvSpPr/>
          <p:nvPr/>
        </p:nvSpPr>
        <p:spPr>
          <a:xfrm>
            <a:off x="4339422" y="2982813"/>
            <a:ext cx="3512752" cy="19050"/>
          </a:xfrm>
          <a:prstGeom prst="rect">
            <a:avLst/>
          </a:prstGeom>
          <a:solidFill>
            <a:srgbClr val="004AAD"/>
          </a:solidFill>
          <a:ln/>
        </p:spPr>
      </p:sp>
      <p:sp>
        <p:nvSpPr>
          <p:cNvPr id="10" name="Text 8"/>
          <p:cNvSpPr/>
          <p:nvPr/>
        </p:nvSpPr>
        <p:spPr>
          <a:xfrm>
            <a:off x="4339422" y="3103563"/>
            <a:ext cx="3512752"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Cell Step 5 · Toàn bộ 5 test case</a:t>
            </a:r>
            <a:endParaRPr lang="en-US" sz="1600" dirty="0"/>
          </a:p>
        </p:txBody>
      </p:sp>
      <p:sp>
        <p:nvSpPr>
          <p:cNvPr id="11" name="Text 9"/>
          <p:cNvSpPr/>
          <p:nvPr/>
        </p:nvSpPr>
        <p:spPr>
          <a:xfrm>
            <a:off x="4339422" y="3461246"/>
            <a:ext cx="3512752"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Chạy đủ 5 test case qua webhook, ghi </a:t>
            </a:r>
            <a:r>
              <a:rPr lang="en-US" sz="1300" b="1" dirty="0">
                <a:solidFill>
                  <a:srgbClr val="000000"/>
                </a:solidFill>
                <a:latin typeface="Montserrat Bold" pitchFamily="34" charset="0"/>
                <a:ea typeface="Montserrat Bold" pitchFamily="34" charset="-122"/>
                <a:cs typeface="Montserrat Bold" pitchFamily="34" charset="-120"/>
              </a:rPr>
              <a:t>conversation log</a:t>
            </a:r>
            <a:r>
              <a:rPr lang="en-US" sz="1300" dirty="0">
                <a:solidFill>
                  <a:srgbClr val="000000"/>
                </a:solidFill>
                <a:latin typeface="Montserrat" pitchFamily="34" charset="0"/>
                <a:ea typeface="Montserrat" pitchFamily="34" charset="-122"/>
                <a:cs typeface="Montserrat" pitchFamily="34" charset="-120"/>
              </a:rPr>
              <a:t> đầy đủ.</a:t>
            </a:r>
            <a:endParaRPr lang="en-US" sz="1300" dirty="0"/>
          </a:p>
        </p:txBody>
      </p:sp>
      <p:sp>
        <p:nvSpPr>
          <p:cNvPr id="12" name="Text 10"/>
          <p:cNvSpPr/>
          <p:nvPr/>
        </p:nvSpPr>
        <p:spPr>
          <a:xfrm>
            <a:off x="8017468" y="2720876"/>
            <a:ext cx="330688" cy="206673"/>
          </a:xfrm>
          <a:prstGeom prst="rect">
            <a:avLst/>
          </a:prstGeom>
          <a:noFill/>
          <a:ln/>
        </p:spPr>
        <p:txBody>
          <a:bodyPr wrap="none" lIns="0" tIns="0" rIns="0" bIns="0" rtlCol="0" anchor="ctr"/>
          <a:lstStyle/>
          <a:p>
            <a:pPr marL="0" indent="0" algn="l">
              <a:lnSpc>
                <a:spcPct val="100000"/>
              </a:lnSpc>
              <a:buNone/>
            </a:pPr>
            <a:r>
              <a:rPr lang="en-US" sz="1300" dirty="0">
                <a:solidFill>
                  <a:srgbClr val="000000"/>
                </a:solidFill>
                <a:latin typeface="Montserrat Light" pitchFamily="34" charset="0"/>
                <a:ea typeface="Montserrat Light" pitchFamily="34" charset="-122"/>
                <a:cs typeface="Montserrat Light" pitchFamily="34" charset="-120"/>
              </a:rPr>
              <a:t>03</a:t>
            </a:r>
            <a:endParaRPr lang="en-US" sz="1300" dirty="0"/>
          </a:p>
        </p:txBody>
      </p:sp>
      <p:sp>
        <p:nvSpPr>
          <p:cNvPr id="13" name="Shape 11"/>
          <p:cNvSpPr/>
          <p:nvPr/>
        </p:nvSpPr>
        <p:spPr>
          <a:xfrm>
            <a:off x="8017468" y="2982813"/>
            <a:ext cx="3512653" cy="19050"/>
          </a:xfrm>
          <a:prstGeom prst="rect">
            <a:avLst/>
          </a:prstGeom>
          <a:solidFill>
            <a:srgbClr val="004AAD"/>
          </a:solidFill>
          <a:ln/>
        </p:spPr>
      </p:sp>
      <p:sp>
        <p:nvSpPr>
          <p:cNvPr id="14" name="Text 12"/>
          <p:cNvSpPr/>
          <p:nvPr/>
        </p:nvSpPr>
        <p:spPr>
          <a:xfrm>
            <a:off x="8017468" y="3103563"/>
            <a:ext cx="3512653"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Cell Step 6 · Landing Chat Live</a:t>
            </a:r>
            <a:endParaRPr lang="en-US" sz="1600" dirty="0"/>
          </a:p>
        </p:txBody>
      </p:sp>
      <p:sp>
        <p:nvSpPr>
          <p:cNvPr id="15" name="Text 13"/>
          <p:cNvSpPr/>
          <p:nvPr/>
        </p:nvSpPr>
        <p:spPr>
          <a:xfrm>
            <a:off x="8017468" y="3461246"/>
            <a:ext cx="3512653" cy="53558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Mở </a:t>
            </a:r>
            <a:r>
              <a:rPr lang="en-US" sz="1300" dirty="0">
                <a:solidFill>
                  <a:srgbClr val="000000"/>
                </a:solidFill>
                <a:highlight>
                  <a:srgbClr val="F2F2F2"/>
                </a:highlight>
                <a:latin typeface="Consolas" pitchFamily="34" charset="0"/>
                <a:ea typeface="Consolas" pitchFamily="34" charset="-122"/>
                <a:cs typeface="Consolas" pitchFamily="34" charset="-120"/>
              </a:rPr>
              <a:t>landing-chatbot-demo.html</a:t>
            </a:r>
            <a:r>
              <a:rPr lang="en-US" sz="1300" dirty="0">
                <a:solidFill>
                  <a:srgbClr val="000000"/>
                </a:solidFill>
                <a:latin typeface="Montserrat" pitchFamily="34" charset="0"/>
                <a:ea typeface="Montserrat" pitchFamily="34" charset="-122"/>
                <a:cs typeface="Montserrat" pitchFamily="34" charset="-120"/>
              </a:rPr>
              <a:t>, chat trực tiếp với webhook /cskh.</a:t>
            </a:r>
            <a:endParaRPr lang="en-US" sz="1300" dirty="0"/>
          </a:p>
        </p:txBody>
      </p:sp>
      <p:sp>
        <p:nvSpPr>
          <p:cNvPr id="16" name="Shape 14"/>
          <p:cNvSpPr/>
          <p:nvPr/>
        </p:nvSpPr>
        <p:spPr>
          <a:xfrm>
            <a:off x="661475" y="4565154"/>
            <a:ext cx="10868745" cy="661293"/>
          </a:xfrm>
          <a:prstGeom prst="roundRect">
            <a:avLst>
              <a:gd name="adj" fmla="val 10504"/>
            </a:avLst>
          </a:prstGeom>
          <a:solidFill>
            <a:srgbClr val="CCE2FF"/>
          </a:solidFill>
          <a:ln/>
        </p:spPr>
      </p:sp>
      <p:pic>
        <p:nvPicPr>
          <p:cNvPr id="17" name="Image 0" descr="preencoded.png"/>
          <p:cNvPicPr>
            <a:picLocks noChangeAspect="1"/>
          </p:cNvPicPr>
          <p:nvPr/>
        </p:nvPicPr>
        <p:blipFill>
          <a:blip r:embed="rId3"/>
          <a:stretch>
            <a:fillRect/>
          </a:stretch>
        </p:blipFill>
        <p:spPr>
          <a:xfrm>
            <a:off x="826769" y="4804866"/>
            <a:ext cx="206667" cy="165298"/>
          </a:xfrm>
          <a:prstGeom prst="rect">
            <a:avLst/>
          </a:prstGeom>
        </p:spPr>
      </p:pic>
      <p:sp>
        <p:nvSpPr>
          <p:cNvPr id="18" name="Text 15"/>
          <p:cNvSpPr/>
          <p:nvPr/>
        </p:nvSpPr>
        <p:spPr>
          <a:xfrm>
            <a:off x="1198731" y="4771727"/>
            <a:ext cx="10775780"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Kết quả mong muốn: </a:t>
            </a:r>
            <a:r>
              <a:rPr lang="en-US" sz="1300" b="1" dirty="0">
                <a:solidFill>
                  <a:srgbClr val="000000"/>
                </a:solidFill>
                <a:latin typeface="Montserrat Bold" pitchFamily="34" charset="0"/>
                <a:ea typeface="Montserrat Bold" pitchFamily="34" charset="-122"/>
                <a:cs typeface="Montserrat Bold" pitchFamily="34" charset="-120"/>
              </a:rPr>
              <a:t>3 case an toàn trả lời được, 2 case rủi ro chuyển người đúng.</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2597348"/>
            <a:ext cx="6296860" cy="713184"/>
          </a:xfrm>
          <a:prstGeom prst="rect">
            <a:avLst/>
          </a:prstGeom>
          <a:noFill/>
          <a:ln/>
        </p:spPr>
        <p:txBody>
          <a:bodyPr wrap="none" lIns="0" tIns="0" rIns="0" bIns="0" rtlCol="0" anchor="t"/>
          <a:lstStyle/>
          <a:p>
            <a:pPr marL="0" indent="0" algn="l">
              <a:lnSpc>
                <a:spcPct val="104000"/>
              </a:lnSpc>
              <a:buNone/>
            </a:pPr>
            <a:r>
              <a:rPr lang="en-US" sz="4450" b="1" dirty="0">
                <a:solidFill>
                  <a:srgbClr val="004AAD"/>
                </a:solidFill>
                <a:latin typeface="Montserrat Bold" pitchFamily="34" charset="0"/>
                <a:ea typeface="Montserrat Bold" pitchFamily="34" charset="-122"/>
                <a:cs typeface="Montserrat Bold" pitchFamily="34" charset="-120"/>
              </a:rPr>
              <a:t>Thực hành 1</a:t>
            </a:r>
            <a:endParaRPr lang="en-US" sz="4450" dirty="0"/>
          </a:p>
        </p:txBody>
      </p:sp>
      <p:sp>
        <p:nvSpPr>
          <p:cNvPr id="4" name="Text 1"/>
          <p:cNvSpPr/>
          <p:nvPr/>
        </p:nvSpPr>
        <p:spPr>
          <a:xfrm>
            <a:off x="661475" y="3558580"/>
            <a:ext cx="6906444" cy="264616"/>
          </a:xfrm>
          <a:prstGeom prst="rect">
            <a:avLst/>
          </a:prstGeom>
          <a:noFill/>
          <a:ln/>
        </p:spPr>
        <p:txBody>
          <a:bodyPr wrap="none" lIns="0" tIns="0" rIns="0" bIns="0" rtlCol="0" anchor="t"/>
          <a:lstStyle/>
          <a:p>
            <a:pPr marL="0" indent="0" algn="l">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Vector Knowledge DB</a:t>
            </a:r>
            <a:endParaRPr lang="en-US" sz="1300" dirty="0"/>
          </a:p>
        </p:txBody>
      </p:sp>
      <p:sp>
        <p:nvSpPr>
          <p:cNvPr id="5" name="Shape 2"/>
          <p:cNvSpPr/>
          <p:nvPr/>
        </p:nvSpPr>
        <p:spPr>
          <a:xfrm>
            <a:off x="661475" y="4009231"/>
            <a:ext cx="553329" cy="251420"/>
          </a:xfrm>
          <a:prstGeom prst="roundRect">
            <a:avLst>
              <a:gd name="adj" fmla="val 22103"/>
            </a:avLst>
          </a:prstGeom>
          <a:solidFill>
            <a:srgbClr val="CCE2FF"/>
          </a:solidFill>
          <a:ln/>
        </p:spPr>
      </p:sp>
      <p:sp>
        <p:nvSpPr>
          <p:cNvPr id="6" name="Text 3"/>
          <p:cNvSpPr/>
          <p:nvPr/>
        </p:nvSpPr>
        <p:spPr>
          <a:xfrm>
            <a:off x="760691" y="4058841"/>
            <a:ext cx="964481" cy="152202"/>
          </a:xfrm>
          <a:prstGeom prst="rect">
            <a:avLst/>
          </a:prstGeom>
          <a:noFill/>
          <a:ln/>
        </p:spPr>
        <p:txBody>
          <a:bodyPr wrap="none" lIns="0" tIns="0" rIns="0" bIns="0" rtlCol="0" anchor="t"/>
          <a:lstStyle/>
          <a:p>
            <a:pPr marL="0" indent="0" algn="l">
              <a:lnSpc>
                <a:spcPct val="96000"/>
              </a:lnSpc>
              <a:buNone/>
            </a:pPr>
            <a:r>
              <a:rPr lang="en-US" sz="1000" dirty="0">
                <a:solidFill>
                  <a:srgbClr val="000000"/>
                </a:solidFill>
                <a:latin typeface="Montserrat" pitchFamily="34" charset="0"/>
                <a:ea typeface="Montserrat" pitchFamily="34" charset="-122"/>
                <a:cs typeface="Montserrat" pitchFamily="34" charset="-120"/>
              </a:rPr>
              <a:t>LAB 1</a:t>
            </a:r>
            <a:endParaRPr lang="en-US" sz="1000" dirty="0"/>
          </a:p>
        </p:txBody>
      </p:sp>
      <p:sp>
        <p:nvSpPr>
          <p:cNvPr id="7" name="Shape 4"/>
          <p:cNvSpPr/>
          <p:nvPr/>
        </p:nvSpPr>
        <p:spPr>
          <a:xfrm>
            <a:off x="1297451" y="4009231"/>
            <a:ext cx="1518009" cy="251420"/>
          </a:xfrm>
          <a:prstGeom prst="roundRect">
            <a:avLst>
              <a:gd name="adj" fmla="val 22103"/>
            </a:avLst>
          </a:prstGeom>
          <a:noFill/>
          <a:ln w="6350">
            <a:solidFill>
              <a:srgbClr val="004AAD"/>
            </a:solidFill>
            <a:prstDash val="solid"/>
          </a:ln>
        </p:spPr>
      </p:sp>
      <p:sp>
        <p:nvSpPr>
          <p:cNvPr id="8" name="Text 5"/>
          <p:cNvSpPr/>
          <p:nvPr/>
        </p:nvSpPr>
        <p:spPr>
          <a:xfrm>
            <a:off x="1396667" y="4058841"/>
            <a:ext cx="1929161" cy="152202"/>
          </a:xfrm>
          <a:prstGeom prst="rect">
            <a:avLst/>
          </a:prstGeom>
          <a:noFill/>
          <a:ln/>
        </p:spPr>
        <p:txBody>
          <a:bodyPr wrap="none" lIns="0" tIns="0" rIns="0" bIns="0" rtlCol="0" anchor="t"/>
          <a:lstStyle/>
          <a:p>
            <a:pPr marL="0" indent="0" algn="l">
              <a:lnSpc>
                <a:spcPct val="96000"/>
              </a:lnSpc>
              <a:buNone/>
            </a:pPr>
            <a:r>
              <a:rPr lang="en-US" sz="1000" dirty="0">
                <a:solidFill>
                  <a:srgbClr val="004AAD"/>
                </a:solidFill>
                <a:latin typeface="Montserrat" pitchFamily="34" charset="0"/>
                <a:ea typeface="Montserrat" pitchFamily="34" charset="-122"/>
                <a:cs typeface="Montserrat" pitchFamily="34" charset="-120"/>
              </a:rPr>
              <a:t>KNOWLEDGE BASE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61475" y="463947"/>
            <a:ext cx="10868745" cy="450552"/>
          </a:xfrm>
          <a:prstGeom prst="rect">
            <a:avLst/>
          </a:prstGeom>
          <a:noFill/>
          <a:ln/>
        </p:spPr>
        <p:txBody>
          <a:bodyPr wrap="none" lIns="0" tIns="0" rIns="0" bIns="0" rtlCol="0" anchor="t"/>
          <a:lstStyle/>
          <a:p>
            <a:pPr marL="0" indent="0" algn="l">
              <a:lnSpc>
                <a:spcPct val="104000"/>
              </a:lnSpc>
              <a:buNone/>
            </a:pPr>
            <a:r>
              <a:rPr lang="en-US" sz="2800" b="1" dirty="0">
                <a:solidFill>
                  <a:srgbClr val="004AAD"/>
                </a:solidFill>
                <a:latin typeface="Montserrat Bold" pitchFamily="34" charset="0"/>
                <a:ea typeface="Montserrat Bold" pitchFamily="34" charset="-122"/>
                <a:cs typeface="Montserrat Bold" pitchFamily="34" charset="-120"/>
              </a:rPr>
              <a:t>Trước khi có bot, phải có kho tri thức</a:t>
            </a:r>
            <a:endParaRPr lang="en-US" sz="2800" dirty="0"/>
          </a:p>
        </p:txBody>
      </p:sp>
      <p:sp>
        <p:nvSpPr>
          <p:cNvPr id="3" name="Text 1"/>
          <p:cNvSpPr/>
          <p:nvPr/>
        </p:nvSpPr>
        <p:spPr>
          <a:xfrm>
            <a:off x="661475" y="964704"/>
            <a:ext cx="10868745" cy="225326"/>
          </a:xfrm>
          <a:prstGeom prst="rect">
            <a:avLst/>
          </a:prstGeom>
          <a:noFill/>
          <a:ln/>
        </p:spPr>
        <p:txBody>
          <a:bodyPr wrap="none" lIns="0" tIns="0" rIns="0" bIns="0" rtlCol="0" anchor="t"/>
          <a:lstStyle/>
          <a:p>
            <a:pPr marL="0" indent="0" algn="l">
              <a:lnSpc>
                <a:spcPct val="104000"/>
              </a:lnSpc>
              <a:buNone/>
            </a:pPr>
            <a:r>
              <a:rPr lang="en-US" sz="1400" b="1" dirty="0">
                <a:solidFill>
                  <a:srgbClr val="004AAD"/>
                </a:solidFill>
                <a:latin typeface="Montserrat Bold" pitchFamily="34" charset="0"/>
                <a:ea typeface="Montserrat Bold" pitchFamily="34" charset="-122"/>
                <a:cs typeface="Montserrat Bold" pitchFamily="34" charset="-120"/>
              </a:rPr>
              <a:t>JIT: Knowledge Base First</a:t>
            </a:r>
            <a:endParaRPr lang="en-US" sz="1400" dirty="0"/>
          </a:p>
        </p:txBody>
      </p:sp>
      <p:sp>
        <p:nvSpPr>
          <p:cNvPr id="4" name="Text 2"/>
          <p:cNvSpPr/>
          <p:nvPr/>
        </p:nvSpPr>
        <p:spPr>
          <a:xfrm>
            <a:off x="661475" y="1491655"/>
            <a:ext cx="5258462" cy="1204813"/>
          </a:xfrm>
          <a:prstGeom prst="rect">
            <a:avLst/>
          </a:prstGeom>
          <a:noFill/>
          <a:ln/>
        </p:spPr>
        <p:txBody>
          <a:bodyPr wrap="square" lIns="0" tIns="0" rIns="0" bIns="0" rtlCol="0" anchor="t">
            <a:normAutofit/>
          </a:bodyPr>
          <a:lstStyle/>
          <a:p>
            <a:pPr marL="0" indent="0" algn="l">
              <a:lnSpc>
                <a:spcPct val="125000"/>
              </a:lnSpc>
              <a:spcAft>
                <a:spcPts val="850"/>
              </a:spcAft>
              <a:buNone/>
            </a:pPr>
            <a:r>
              <a:rPr lang="en-US" sz="1100" dirty="0">
                <a:solidFill>
                  <a:srgbClr val="000000"/>
                </a:solidFill>
                <a:latin typeface="Montserrat" pitchFamily="34" charset="0"/>
                <a:ea typeface="Montserrat" pitchFamily="34" charset="-122"/>
                <a:cs typeface="Montserrat" pitchFamily="34" charset="-120"/>
              </a:rPr>
              <a:t>Bot không nên trả lời từ </a:t>
            </a:r>
            <a:r>
              <a:rPr lang="en-US" sz="1100" b="1" dirty="0">
                <a:solidFill>
                  <a:srgbClr val="000000"/>
                </a:solidFill>
                <a:latin typeface="Montserrat Bold" pitchFamily="34" charset="0"/>
                <a:ea typeface="Montserrat Bold" pitchFamily="34" charset="-122"/>
                <a:cs typeface="Montserrat Bold" pitchFamily="34" charset="-120"/>
              </a:rPr>
              <a:t>trí nhớ của LLM</a:t>
            </a:r>
            <a:r>
              <a:rPr lang="en-US" sz="1100" dirty="0">
                <a:solidFill>
                  <a:srgbClr val="000000"/>
                </a:solidFill>
                <a:latin typeface="Montserrat" pitchFamily="34" charset="0"/>
                <a:ea typeface="Montserrat" pitchFamily="34" charset="-122"/>
                <a:cs typeface="Montserrat" pitchFamily="34" charset="-120"/>
              </a:rPr>
              <a:t>, vì đó là nguồn của sự bịa. Thay vào đó, ta mã hóa vector (embed) </a:t>
            </a:r>
            <a:r>
              <a:rPr lang="en-US" sz="1100" b="1" dirty="0">
                <a:solidFill>
                  <a:srgbClr val="000000"/>
                </a:solidFill>
                <a:latin typeface="Montserrat Bold" pitchFamily="34" charset="0"/>
                <a:ea typeface="Montserrat Bold" pitchFamily="34" charset="-122"/>
                <a:cs typeface="Montserrat Bold" pitchFamily="34" charset="-120"/>
              </a:rPr>
              <a:t>15 FAQ bán lẻ</a:t>
            </a:r>
            <a:r>
              <a:rPr lang="en-US" sz="1100" dirty="0">
                <a:solidFill>
                  <a:srgbClr val="000000"/>
                </a:solidFill>
                <a:latin typeface="Montserrat" pitchFamily="34" charset="0"/>
                <a:ea typeface="Montserrat" pitchFamily="34" charset="-122"/>
                <a:cs typeface="Montserrat" pitchFamily="34" charset="-120"/>
              </a:rPr>
              <a:t> (chia 5 nhóm) thành </a:t>
            </a:r>
            <a:r>
              <a:rPr lang="en-US" sz="1100" dirty="0">
                <a:solidFill>
                  <a:srgbClr val="000000"/>
                </a:solidFill>
                <a:highlight>
                  <a:srgbClr val="F2F2F2"/>
                </a:highlight>
                <a:latin typeface="Consolas" pitchFamily="34" charset="0"/>
                <a:ea typeface="Consolas" pitchFamily="34" charset="-122"/>
                <a:cs typeface="Consolas" pitchFamily="34" charset="-120"/>
              </a:rPr>
              <a:t>vector-store.json</a:t>
            </a:r>
            <a:r>
              <a:rPr lang="en-US" sz="1100" dirty="0">
                <a:solidFill>
                  <a:srgbClr val="000000"/>
                </a:solidFill>
                <a:latin typeface="Montserrat" pitchFamily="34" charset="0"/>
                <a:ea typeface="Montserrat" pitchFamily="34" charset="-122"/>
                <a:cs typeface="Montserrat" pitchFamily="34" charset="-120"/>
              </a:rPr>
              <a:t>.</a:t>
            </a:r>
            <a:endParaRPr lang="en-US" sz="1100" dirty="0"/>
          </a:p>
          <a:p>
            <a:pPr marL="0" indent="0" algn="l">
              <a:lnSpc>
                <a:spcPct val="125000"/>
              </a:lnSpc>
              <a:buNone/>
            </a:pPr>
            <a:r>
              <a:rPr lang="en-US" sz="1100" dirty="0">
                <a:solidFill>
                  <a:srgbClr val="000000"/>
                </a:solidFill>
                <a:latin typeface="Montserrat" pitchFamily="34" charset="0"/>
                <a:ea typeface="Montserrat" pitchFamily="34" charset="-122"/>
                <a:cs typeface="Montserrat" pitchFamily="34" charset="-120"/>
              </a:rPr>
              <a:t>Mỗi FAQ có </a:t>
            </a:r>
            <a:r>
              <a:rPr lang="en-US" sz="1100" dirty="0">
                <a:solidFill>
                  <a:srgbClr val="000000"/>
                </a:solidFill>
                <a:highlight>
                  <a:srgbClr val="F2F2F2"/>
                </a:highlight>
                <a:latin typeface="Consolas" pitchFamily="34" charset="0"/>
                <a:ea typeface="Consolas" pitchFamily="34" charset="-122"/>
                <a:cs typeface="Consolas" pitchFamily="34" charset="-120"/>
              </a:rPr>
              <a:t>faq_id</a:t>
            </a:r>
            <a:r>
              <a:rPr lang="en-US" sz="1100" dirty="0">
                <a:solidFill>
                  <a:srgbClr val="000000"/>
                </a:solidFill>
                <a:latin typeface="Montserrat" pitchFamily="34" charset="0"/>
                <a:ea typeface="Montserrat" pitchFamily="34" charset="-122"/>
                <a:cs typeface="Montserrat" pitchFamily="34" charset="-120"/>
              </a:rPr>
              <a:t>, nhóm nội dung và vector embedding. Khi khách hỏi, hệ thống tìm theo </a:t>
            </a:r>
            <a:r>
              <a:rPr lang="en-US" sz="1100" b="1" dirty="0">
                <a:solidFill>
                  <a:srgbClr val="000000"/>
                </a:solidFill>
                <a:latin typeface="Montserrat Bold" pitchFamily="34" charset="0"/>
                <a:ea typeface="Montserrat Bold" pitchFamily="34" charset="-122"/>
                <a:cs typeface="Montserrat Bold" pitchFamily="34" charset="-120"/>
              </a:rPr>
              <a:t>ý nghĩa (semantic search)</a:t>
            </a:r>
            <a:r>
              <a:rPr lang="en-US" sz="1100" dirty="0">
                <a:solidFill>
                  <a:srgbClr val="000000"/>
                </a:solidFill>
                <a:latin typeface="Montserrat" pitchFamily="34" charset="0"/>
                <a:ea typeface="Montserrat" pitchFamily="34" charset="-122"/>
                <a:cs typeface="Montserrat" pitchFamily="34" charset="-120"/>
              </a:rPr>
              <a:t> thay vì khớp từ khóa cứng.</a:t>
            </a:r>
            <a:endParaRPr lang="en-US" sz="1100" dirty="0"/>
          </a:p>
        </p:txBody>
      </p:sp>
      <p:sp>
        <p:nvSpPr>
          <p:cNvPr id="5" name="Shape 3"/>
          <p:cNvSpPr/>
          <p:nvPr/>
        </p:nvSpPr>
        <p:spPr>
          <a:xfrm>
            <a:off x="661475" y="2837855"/>
            <a:ext cx="5258462" cy="514052"/>
          </a:xfrm>
          <a:prstGeom prst="roundRect">
            <a:avLst>
              <a:gd name="adj" fmla="val 11782"/>
            </a:avLst>
          </a:prstGeom>
          <a:solidFill>
            <a:srgbClr val="B6FCB8"/>
          </a:solidFill>
          <a:ln/>
        </p:spPr>
      </p:sp>
      <p:pic>
        <p:nvPicPr>
          <p:cNvPr id="6" name="Image 0" descr="preencoded.png"/>
          <p:cNvPicPr>
            <a:picLocks noChangeAspect="1"/>
          </p:cNvPicPr>
          <p:nvPr/>
        </p:nvPicPr>
        <p:blipFill>
          <a:blip r:embed="rId3"/>
          <a:stretch>
            <a:fillRect/>
          </a:stretch>
        </p:blipFill>
        <p:spPr>
          <a:xfrm>
            <a:off x="805636" y="3044230"/>
            <a:ext cx="180177" cy="144165"/>
          </a:xfrm>
          <a:prstGeom prst="rect">
            <a:avLst/>
          </a:prstGeom>
        </p:spPr>
      </p:pic>
      <p:sp>
        <p:nvSpPr>
          <p:cNvPr id="7" name="Text 4"/>
          <p:cNvSpPr/>
          <p:nvPr/>
        </p:nvSpPr>
        <p:spPr>
          <a:xfrm>
            <a:off x="1129974" y="2986980"/>
            <a:ext cx="5255386" cy="215801"/>
          </a:xfrm>
          <a:prstGeom prst="rect">
            <a:avLst/>
          </a:prstGeom>
          <a:noFill/>
          <a:ln/>
        </p:spPr>
        <p:txBody>
          <a:bodyPr wrap="none" lIns="0" tIns="0" rIns="0" bIns="0" rtlCol="0" anchor="t"/>
          <a:lstStyle/>
          <a:p>
            <a:pPr marL="0" indent="0" algn="l">
              <a:lnSpc>
                <a:spcPct val="125000"/>
              </a:lnSpc>
              <a:buNone/>
            </a:pPr>
            <a:r>
              <a:rPr lang="en-US" sz="1100" dirty="0">
                <a:solidFill>
                  <a:srgbClr val="000000"/>
                </a:solidFill>
                <a:latin typeface="Montserrat" pitchFamily="34" charset="0"/>
                <a:ea typeface="Montserrat" pitchFamily="34" charset="-122"/>
                <a:cs typeface="Montserrat" pitchFamily="34" charset="-120"/>
              </a:rPr>
              <a:t>Nhờ đó câu hỏi diễn đạt khác vẫn </a:t>
            </a:r>
            <a:r>
              <a:rPr lang="en-US" sz="1100" b="1" dirty="0">
                <a:solidFill>
                  <a:srgbClr val="000000"/>
                </a:solidFill>
                <a:latin typeface="Montserrat Bold" pitchFamily="34" charset="0"/>
                <a:ea typeface="Montserrat Bold" pitchFamily="34" charset="-122"/>
                <a:cs typeface="Montserrat Bold" pitchFamily="34" charset="-120"/>
              </a:rPr>
              <a:t>trúng FAQ đúng</a:t>
            </a:r>
            <a:r>
              <a:rPr lang="en-US" sz="1100" dirty="0">
                <a:solidFill>
                  <a:srgbClr val="000000"/>
                </a:solidFill>
                <a:latin typeface="Montserrat" pitchFamily="34" charset="0"/>
                <a:ea typeface="Montserrat" pitchFamily="34" charset="-122"/>
                <a:cs typeface="Montserrat" pitchFamily="34" charset="-120"/>
              </a:rPr>
              <a:t>.</a:t>
            </a:r>
            <a:endParaRPr lang="en-US" sz="1100" dirty="0"/>
          </a:p>
        </p:txBody>
      </p:sp>
      <p:pic>
        <p:nvPicPr>
          <p:cNvPr id="8" name="Image 1" descr="preencoded.png"/>
          <p:cNvPicPr>
            <a:picLocks noChangeAspect="1"/>
          </p:cNvPicPr>
          <p:nvPr/>
        </p:nvPicPr>
        <p:blipFill>
          <a:blip r:embed="rId4"/>
          <a:stretch>
            <a:fillRect/>
          </a:stretch>
        </p:blipFill>
        <p:spPr>
          <a:xfrm>
            <a:off x="6278108" y="1519932"/>
            <a:ext cx="4732616" cy="473273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61475" y="613569"/>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Thực hành 1: auto-config và vector knowledge DB</a:t>
            </a:r>
            <a:endParaRPr lang="en-US" sz="3250" dirty="0"/>
          </a:p>
        </p:txBody>
      </p:sp>
      <p:sp>
        <p:nvSpPr>
          <p:cNvPr id="3" name="Text 1"/>
          <p:cNvSpPr/>
          <p:nvPr/>
        </p:nvSpPr>
        <p:spPr>
          <a:xfrm>
            <a:off x="661475" y="1196380"/>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Lab · 15 phút</a:t>
            </a:r>
            <a:endParaRPr lang="en-US" sz="1600" dirty="0"/>
          </a:p>
        </p:txBody>
      </p:sp>
      <p:sp>
        <p:nvSpPr>
          <p:cNvPr id="4" name="Shape 2"/>
          <p:cNvSpPr/>
          <p:nvPr/>
        </p:nvSpPr>
        <p:spPr>
          <a:xfrm>
            <a:off x="661475" y="1702891"/>
            <a:ext cx="10868745" cy="661293"/>
          </a:xfrm>
          <a:prstGeom prst="roundRect">
            <a:avLst>
              <a:gd name="adj" fmla="val 10504"/>
            </a:avLst>
          </a:prstGeom>
          <a:solidFill>
            <a:srgbClr val="CCE2FF"/>
          </a:solidFill>
          <a:ln/>
        </p:spPr>
      </p:sp>
      <p:pic>
        <p:nvPicPr>
          <p:cNvPr id="5" name="Image 0" descr="preencoded.png"/>
          <p:cNvPicPr>
            <a:picLocks noChangeAspect="1"/>
          </p:cNvPicPr>
          <p:nvPr/>
        </p:nvPicPr>
        <p:blipFill>
          <a:blip r:embed="rId3"/>
          <a:stretch>
            <a:fillRect/>
          </a:stretch>
        </p:blipFill>
        <p:spPr>
          <a:xfrm>
            <a:off x="826769" y="1942604"/>
            <a:ext cx="206667" cy="165298"/>
          </a:xfrm>
          <a:prstGeom prst="rect">
            <a:avLst/>
          </a:prstGeom>
        </p:spPr>
      </p:pic>
      <p:sp>
        <p:nvSpPr>
          <p:cNvPr id="6" name="Text 3"/>
          <p:cNvSpPr/>
          <p:nvPr/>
        </p:nvSpPr>
        <p:spPr>
          <a:xfrm>
            <a:off x="1198731" y="1909465"/>
            <a:ext cx="10775780" cy="264616"/>
          </a:xfrm>
          <a:prstGeom prst="rect">
            <a:avLst/>
          </a:prstGeom>
          <a:noFill/>
          <a:ln/>
        </p:spPr>
        <p:txBody>
          <a:bodyPr wrap="none" lIns="0" tIns="0" rIns="0" bIns="0" rtlCol="0" anchor="t"/>
          <a:lstStyle/>
          <a:p>
            <a:pPr marL="0" indent="0" algn="l">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Mục tiêu:</a:t>
            </a:r>
            <a:r>
              <a:rPr lang="en-US" sz="1300" dirty="0">
                <a:solidFill>
                  <a:srgbClr val="000000"/>
                </a:solidFill>
                <a:latin typeface="Montserrat" pitchFamily="34" charset="0"/>
                <a:ea typeface="Montserrat" pitchFamily="34" charset="-122"/>
                <a:cs typeface="Montserrat" pitchFamily="34" charset="-120"/>
              </a:rPr>
              <a:t> n8n local đang chạy, workflow tự nạp, vector-store.json đủ 15 vector (mỗi FAQ đúng một vector).</a:t>
            </a:r>
            <a:endParaRPr lang="en-US" sz="1300" dirty="0"/>
          </a:p>
        </p:txBody>
      </p:sp>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475" y="2550220"/>
            <a:ext cx="5351725" cy="1764407"/>
          </a:xfrm>
          <a:prstGeom prst="rect">
            <a:avLst/>
          </a:prstGeom>
        </p:spPr>
      </p:pic>
      <p:sp>
        <p:nvSpPr>
          <p:cNvPr id="8" name="Text 4"/>
          <p:cNvSpPr/>
          <p:nvPr/>
        </p:nvSpPr>
        <p:spPr>
          <a:xfrm>
            <a:off x="3213317" y="2659063"/>
            <a:ext cx="248041" cy="310059"/>
          </a:xfrm>
          <a:prstGeom prst="rect">
            <a:avLst/>
          </a:prstGeom>
          <a:noFill/>
          <a:ln/>
        </p:spPr>
        <p:txBody>
          <a:bodyPr wrap="none" lIns="0" tIns="0" rIns="0" bIns="0" rtlCol="0" anchor="ctr"/>
          <a:lstStyle/>
          <a:p>
            <a:pPr marL="0" indent="0" algn="ctr">
              <a:lnSpc>
                <a:spcPct val="100000"/>
              </a:lnSpc>
              <a:buNone/>
            </a:pPr>
            <a:r>
              <a:rPr lang="en-US" sz="1950" b="1" dirty="0">
                <a:solidFill>
                  <a:srgbClr val="000000"/>
                </a:solidFill>
                <a:latin typeface="Montserrat Bold" pitchFamily="34" charset="0"/>
                <a:ea typeface="Montserrat Bold" pitchFamily="34" charset="-122"/>
                <a:cs typeface="Montserrat Bold" pitchFamily="34" charset="-120"/>
              </a:rPr>
              <a:t>1</a:t>
            </a:r>
            <a:endParaRPr lang="en-US" sz="1950" dirty="0"/>
          </a:p>
        </p:txBody>
      </p:sp>
      <p:sp>
        <p:nvSpPr>
          <p:cNvPr id="9" name="Text 5"/>
          <p:cNvSpPr/>
          <p:nvPr/>
        </p:nvSpPr>
        <p:spPr>
          <a:xfrm>
            <a:off x="845819" y="3230662"/>
            <a:ext cx="4983038"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Khởi động</a:t>
            </a:r>
            <a:endParaRPr lang="en-US" sz="1600" dirty="0"/>
          </a:p>
        </p:txBody>
      </p:sp>
      <p:sp>
        <p:nvSpPr>
          <p:cNvPr id="10" name="Text 6"/>
          <p:cNvSpPr/>
          <p:nvPr/>
        </p:nvSpPr>
        <p:spPr>
          <a:xfrm>
            <a:off x="845819" y="3588345"/>
            <a:ext cx="4983038" cy="5419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Chạy </a:t>
            </a:r>
            <a:r>
              <a:rPr lang="en-US" sz="1300" dirty="0">
                <a:solidFill>
                  <a:srgbClr val="000000"/>
                </a:solidFill>
                <a:highlight>
                  <a:srgbClr val="F2F2F2"/>
                </a:highlight>
                <a:latin typeface="Consolas" pitchFamily="34" charset="0"/>
                <a:ea typeface="Consolas" pitchFamily="34" charset="-122"/>
                <a:cs typeface="Consolas" pitchFamily="34" charset="-120"/>
              </a:rPr>
              <a:t>cd test</a:t>
            </a:r>
            <a:r>
              <a:rPr lang="en-US" sz="1300" dirty="0">
                <a:solidFill>
                  <a:srgbClr val="000000"/>
                </a:solidFill>
                <a:latin typeface="Montserrat" pitchFamily="34" charset="0"/>
                <a:ea typeface="Montserrat" pitchFamily="34" charset="-122"/>
                <a:cs typeface="Montserrat" pitchFamily="34" charset="-120"/>
              </a:rPr>
              <a:t> rồi </a:t>
            </a:r>
            <a:r>
              <a:rPr lang="en-US" sz="1300" dirty="0">
                <a:solidFill>
                  <a:srgbClr val="000000"/>
                </a:solidFill>
                <a:highlight>
                  <a:srgbClr val="F2F2F2"/>
                </a:highlight>
                <a:latin typeface="Consolas" pitchFamily="34" charset="0"/>
                <a:ea typeface="Consolas" pitchFamily="34" charset="-122"/>
                <a:cs typeface="Consolas" pitchFamily="34" charset="-120"/>
              </a:rPr>
              <a:t>python3 auto_import_n8n.py</a:t>
            </a:r>
            <a:r>
              <a:rPr lang="en-US" sz="1300" dirty="0">
                <a:solidFill>
                  <a:srgbClr val="000000"/>
                </a:solidFill>
                <a:latin typeface="Montserrat" pitchFamily="34" charset="0"/>
                <a:ea typeface="Montserrat" pitchFamily="34" charset="-122"/>
                <a:cs typeface="Montserrat" pitchFamily="34" charset="-120"/>
              </a:rPr>
              <a:t>, mở </a:t>
            </a:r>
            <a:r>
              <a:rPr lang="en-US" sz="1300" dirty="0">
                <a:solidFill>
                  <a:srgbClr val="000000"/>
                </a:solidFill>
                <a:highlight>
                  <a:srgbClr val="F2F2F2"/>
                </a:highlight>
                <a:latin typeface="Consolas" pitchFamily="34" charset="0"/>
                <a:ea typeface="Consolas" pitchFamily="34" charset="-122"/>
                <a:cs typeface="Consolas" pitchFamily="34" charset="-120"/>
              </a:rPr>
              <a:t>localhost:5678</a:t>
            </a:r>
            <a:r>
              <a:rPr lang="en-US" sz="1300" dirty="0">
                <a:solidFill>
                  <a:srgbClr val="000000"/>
                </a:solidFill>
                <a:latin typeface="Montserrat" pitchFamily="34" charset="0"/>
                <a:ea typeface="Montserrat" pitchFamily="34" charset="-122"/>
                <a:cs typeface="Montserrat" pitchFamily="34" charset="-120"/>
              </a:rPr>
              <a:t> xác nhận workflow đã nạp.</a:t>
            </a:r>
            <a:endParaRPr lang="en-US" sz="1300" dirty="0"/>
          </a:p>
        </p:txBody>
      </p:sp>
      <p:pic>
        <p:nvPicPr>
          <p:cNvPr id="11"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78495" y="2550220"/>
            <a:ext cx="5351725" cy="1764407"/>
          </a:xfrm>
          <a:prstGeom prst="rect">
            <a:avLst/>
          </a:prstGeom>
        </p:spPr>
      </p:pic>
      <p:sp>
        <p:nvSpPr>
          <p:cNvPr id="12" name="Text 7"/>
          <p:cNvSpPr/>
          <p:nvPr/>
        </p:nvSpPr>
        <p:spPr>
          <a:xfrm>
            <a:off x="8730337" y="2659063"/>
            <a:ext cx="248041" cy="310059"/>
          </a:xfrm>
          <a:prstGeom prst="rect">
            <a:avLst/>
          </a:prstGeom>
          <a:noFill/>
          <a:ln/>
        </p:spPr>
        <p:txBody>
          <a:bodyPr wrap="none" lIns="0" tIns="0" rIns="0" bIns="0" rtlCol="0" anchor="ctr"/>
          <a:lstStyle/>
          <a:p>
            <a:pPr marL="0" indent="0" algn="ctr">
              <a:lnSpc>
                <a:spcPct val="100000"/>
              </a:lnSpc>
              <a:buNone/>
            </a:pPr>
            <a:r>
              <a:rPr lang="en-US" sz="1950" b="1" dirty="0">
                <a:solidFill>
                  <a:srgbClr val="000000"/>
                </a:solidFill>
                <a:latin typeface="Montserrat Bold" pitchFamily="34" charset="0"/>
                <a:ea typeface="Montserrat Bold" pitchFamily="34" charset="-122"/>
                <a:cs typeface="Montserrat Bold" pitchFamily="34" charset="-120"/>
              </a:rPr>
              <a:t>2</a:t>
            </a:r>
            <a:endParaRPr lang="en-US" sz="1950" dirty="0"/>
          </a:p>
        </p:txBody>
      </p:sp>
      <p:sp>
        <p:nvSpPr>
          <p:cNvPr id="13" name="Text 8"/>
          <p:cNvSpPr/>
          <p:nvPr/>
        </p:nvSpPr>
        <p:spPr>
          <a:xfrm>
            <a:off x="6362838" y="3230662"/>
            <a:ext cx="4983038"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Mở notebook</a:t>
            </a:r>
            <a:endParaRPr lang="en-US" sz="1600" dirty="0"/>
          </a:p>
        </p:txBody>
      </p:sp>
      <p:sp>
        <p:nvSpPr>
          <p:cNvPr id="14" name="Text 9"/>
          <p:cNvSpPr/>
          <p:nvPr/>
        </p:nvSpPr>
        <p:spPr>
          <a:xfrm>
            <a:off x="6362838" y="3588345"/>
            <a:ext cx="4983038" cy="53558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Mở </a:t>
            </a:r>
            <a:r>
              <a:rPr lang="en-US" sz="1300" dirty="0">
                <a:solidFill>
                  <a:srgbClr val="000000"/>
                </a:solidFill>
                <a:highlight>
                  <a:srgbClr val="F2F2F2"/>
                </a:highlight>
                <a:latin typeface="Consolas" pitchFamily="34" charset="0"/>
                <a:ea typeface="Consolas" pitchFamily="34" charset="-122"/>
                <a:cs typeface="Consolas" pitchFamily="34" charset="-120"/>
              </a:rPr>
              <a:t>05_cskh_bot_lab_demo.ipynb</a:t>
            </a:r>
            <a:r>
              <a:rPr lang="en-US" sz="1300" dirty="0">
                <a:solidFill>
                  <a:srgbClr val="000000"/>
                </a:solidFill>
                <a:latin typeface="Montserrat" pitchFamily="34" charset="0"/>
                <a:ea typeface="Montserrat" pitchFamily="34" charset="-122"/>
                <a:cs typeface="Montserrat" pitchFamily="34" charset="-120"/>
              </a:rPr>
              <a:t>, chạy Cell Step 0 và Step 1 để kết nối webhook.</a:t>
            </a:r>
            <a:endParaRPr lang="en-US" sz="1300" dirty="0"/>
          </a:p>
        </p:txBody>
      </p:sp>
      <p:pic>
        <p:nvPicPr>
          <p:cNvPr id="15"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475" y="4479925"/>
            <a:ext cx="5351725" cy="1764407"/>
          </a:xfrm>
          <a:prstGeom prst="rect">
            <a:avLst/>
          </a:prstGeom>
        </p:spPr>
      </p:pic>
      <p:sp>
        <p:nvSpPr>
          <p:cNvPr id="16" name="Text 10"/>
          <p:cNvSpPr/>
          <p:nvPr/>
        </p:nvSpPr>
        <p:spPr>
          <a:xfrm>
            <a:off x="3213317" y="4588768"/>
            <a:ext cx="248041" cy="310059"/>
          </a:xfrm>
          <a:prstGeom prst="rect">
            <a:avLst/>
          </a:prstGeom>
          <a:noFill/>
          <a:ln/>
        </p:spPr>
        <p:txBody>
          <a:bodyPr wrap="none" lIns="0" tIns="0" rIns="0" bIns="0" rtlCol="0" anchor="ctr"/>
          <a:lstStyle/>
          <a:p>
            <a:pPr marL="0" indent="0" algn="ctr">
              <a:lnSpc>
                <a:spcPct val="100000"/>
              </a:lnSpc>
              <a:buNone/>
            </a:pPr>
            <a:r>
              <a:rPr lang="en-US" sz="1950" b="1" dirty="0">
                <a:solidFill>
                  <a:srgbClr val="000000"/>
                </a:solidFill>
                <a:latin typeface="Montserrat Bold" pitchFamily="34" charset="0"/>
                <a:ea typeface="Montserrat Bold" pitchFamily="34" charset="-122"/>
                <a:cs typeface="Montserrat Bold" pitchFamily="34" charset="-120"/>
              </a:rPr>
              <a:t>3</a:t>
            </a:r>
            <a:endParaRPr lang="en-US" sz="1950" dirty="0"/>
          </a:p>
        </p:txBody>
      </p:sp>
      <p:sp>
        <p:nvSpPr>
          <p:cNvPr id="17" name="Text 11"/>
          <p:cNvSpPr/>
          <p:nvPr/>
        </p:nvSpPr>
        <p:spPr>
          <a:xfrm>
            <a:off x="845819" y="5160367"/>
            <a:ext cx="4983038"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Embed FAQ</a:t>
            </a:r>
            <a:endParaRPr lang="en-US" sz="1600" dirty="0"/>
          </a:p>
        </p:txBody>
      </p:sp>
      <p:sp>
        <p:nvSpPr>
          <p:cNvPr id="18" name="Text 12"/>
          <p:cNvSpPr/>
          <p:nvPr/>
        </p:nvSpPr>
        <p:spPr>
          <a:xfrm>
            <a:off x="845819" y="5518051"/>
            <a:ext cx="4983038" cy="5419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Chạy Cell Step 2 để embed </a:t>
            </a:r>
            <a:r>
              <a:rPr lang="en-US" sz="1300" dirty="0">
                <a:solidFill>
                  <a:srgbClr val="000000"/>
                </a:solidFill>
                <a:highlight>
                  <a:srgbClr val="F2F2F2"/>
                </a:highlight>
                <a:latin typeface="Consolas" pitchFamily="34" charset="0"/>
                <a:ea typeface="Consolas" pitchFamily="34" charset="-122"/>
                <a:cs typeface="Consolas" pitchFamily="34" charset="-120"/>
              </a:rPr>
              <a:t>faq-khoa-hoc.json</a:t>
            </a:r>
            <a:r>
              <a:rPr lang="en-US" sz="1300" dirty="0">
                <a:solidFill>
                  <a:srgbClr val="000000"/>
                </a:solidFill>
                <a:latin typeface="Montserrat" pitchFamily="34" charset="0"/>
                <a:ea typeface="Montserrat" pitchFamily="34" charset="-122"/>
                <a:cs typeface="Montserrat" pitchFamily="34" charset="-120"/>
              </a:rPr>
              <a:t> thành </a:t>
            </a:r>
            <a:r>
              <a:rPr lang="en-US" sz="1300" dirty="0">
                <a:solidFill>
                  <a:srgbClr val="000000"/>
                </a:solidFill>
                <a:highlight>
                  <a:srgbClr val="F2F2F2"/>
                </a:highlight>
                <a:latin typeface="Consolas" pitchFamily="34" charset="0"/>
                <a:ea typeface="Consolas" pitchFamily="34" charset="-122"/>
                <a:cs typeface="Consolas" pitchFamily="34" charset="-120"/>
              </a:rPr>
              <a:t>vector-store.json</a:t>
            </a:r>
            <a:r>
              <a:rPr lang="en-US" sz="1300" dirty="0">
                <a:solidFill>
                  <a:srgbClr val="000000"/>
                </a:solidFill>
                <a:latin typeface="Montserrat" pitchFamily="34" charset="0"/>
                <a:ea typeface="Montserrat" pitchFamily="34" charset="-122"/>
                <a:cs typeface="Montserrat" pitchFamily="34" charset="-120"/>
              </a:rPr>
              <a:t>.</a:t>
            </a:r>
            <a:endParaRPr lang="en-US" sz="1300" dirty="0"/>
          </a:p>
        </p:txBody>
      </p:sp>
      <p:pic>
        <p:nvPicPr>
          <p:cNvPr id="19"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78495" y="4479925"/>
            <a:ext cx="5351725" cy="1764407"/>
          </a:xfrm>
          <a:prstGeom prst="rect">
            <a:avLst/>
          </a:prstGeom>
        </p:spPr>
      </p:pic>
      <p:sp>
        <p:nvSpPr>
          <p:cNvPr id="20" name="Text 13"/>
          <p:cNvSpPr/>
          <p:nvPr/>
        </p:nvSpPr>
        <p:spPr>
          <a:xfrm>
            <a:off x="8730337" y="4588768"/>
            <a:ext cx="248041" cy="310059"/>
          </a:xfrm>
          <a:prstGeom prst="rect">
            <a:avLst/>
          </a:prstGeom>
          <a:noFill/>
          <a:ln/>
        </p:spPr>
        <p:txBody>
          <a:bodyPr wrap="none" lIns="0" tIns="0" rIns="0" bIns="0" rtlCol="0" anchor="ctr"/>
          <a:lstStyle/>
          <a:p>
            <a:pPr marL="0" indent="0" algn="ctr">
              <a:lnSpc>
                <a:spcPct val="100000"/>
              </a:lnSpc>
              <a:buNone/>
            </a:pPr>
            <a:r>
              <a:rPr lang="en-US" sz="1950" b="1" dirty="0">
                <a:solidFill>
                  <a:srgbClr val="000000"/>
                </a:solidFill>
                <a:latin typeface="Montserrat Bold" pitchFamily="34" charset="0"/>
                <a:ea typeface="Montserrat Bold" pitchFamily="34" charset="-122"/>
                <a:cs typeface="Montserrat Bold" pitchFamily="34" charset="-120"/>
              </a:rPr>
              <a:t>4</a:t>
            </a:r>
            <a:endParaRPr lang="en-US" sz="1950" dirty="0"/>
          </a:p>
        </p:txBody>
      </p:sp>
      <p:sp>
        <p:nvSpPr>
          <p:cNvPr id="21" name="Text 14"/>
          <p:cNvSpPr/>
          <p:nvPr/>
        </p:nvSpPr>
        <p:spPr>
          <a:xfrm>
            <a:off x="6362838" y="5160367"/>
            <a:ext cx="4983038"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Kiểm tra kết quả</a:t>
            </a:r>
            <a:endParaRPr lang="en-US" sz="1600" dirty="0"/>
          </a:p>
        </p:txBody>
      </p:sp>
      <p:sp>
        <p:nvSpPr>
          <p:cNvPr id="22" name="Text 15"/>
          <p:cNvSpPr/>
          <p:nvPr/>
        </p:nvSpPr>
        <p:spPr>
          <a:xfrm>
            <a:off x="6362838" y="5518051"/>
            <a:ext cx="4983038" cy="53558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Xác nhận đủ </a:t>
            </a:r>
            <a:r>
              <a:rPr lang="en-US" sz="1300" b="1" dirty="0">
                <a:solidFill>
                  <a:srgbClr val="000000"/>
                </a:solidFill>
                <a:latin typeface="Montserrat Bold" pitchFamily="34" charset="0"/>
                <a:ea typeface="Montserrat Bold" pitchFamily="34" charset="-122"/>
                <a:cs typeface="Montserrat Bold" pitchFamily="34" charset="-120"/>
              </a:rPr>
              <a:t>15 vector</a:t>
            </a:r>
            <a:r>
              <a:rPr lang="en-US" sz="1300" dirty="0">
                <a:solidFill>
                  <a:srgbClr val="000000"/>
                </a:solidFill>
                <a:latin typeface="Montserrat" pitchFamily="34" charset="0"/>
                <a:ea typeface="Montserrat" pitchFamily="34" charset="-122"/>
                <a:cs typeface="Montserrat" pitchFamily="34" charset="-120"/>
              </a:rPr>
              <a:t>, mỗi FAQ có </a:t>
            </a:r>
            <a:r>
              <a:rPr lang="en-US" sz="1300" dirty="0">
                <a:solidFill>
                  <a:srgbClr val="000000"/>
                </a:solidFill>
                <a:highlight>
                  <a:srgbClr val="F2F2F2"/>
                </a:highlight>
                <a:latin typeface="Consolas" pitchFamily="34" charset="0"/>
                <a:ea typeface="Consolas" pitchFamily="34" charset="-122"/>
                <a:cs typeface="Consolas" pitchFamily="34" charset="-120"/>
              </a:rPr>
              <a:t>faq_id</a:t>
            </a:r>
            <a:r>
              <a:rPr lang="en-US" sz="1300" dirty="0">
                <a:solidFill>
                  <a:srgbClr val="000000"/>
                </a:solidFill>
                <a:latin typeface="Montserrat" pitchFamily="34" charset="0"/>
                <a:ea typeface="Montserrat" pitchFamily="34" charset="-122"/>
                <a:cs typeface="Montserrat" pitchFamily="34" charset="-120"/>
              </a:rPr>
              <a:t> và nhóm nội dung chính xác.</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2655788"/>
            <a:ext cx="6296860" cy="1033661"/>
          </a:xfrm>
          <a:prstGeom prst="rect">
            <a:avLst/>
          </a:prstGeom>
          <a:noFill/>
          <a:ln/>
        </p:spPr>
        <p:txBody>
          <a:bodyPr wrap="none" lIns="0" tIns="0" rIns="0" bIns="0" rtlCol="0" anchor="t"/>
          <a:lstStyle/>
          <a:p>
            <a:pPr marL="0" indent="0" algn="l">
              <a:lnSpc>
                <a:spcPct val="104000"/>
              </a:lnSpc>
              <a:buNone/>
            </a:pPr>
            <a:r>
              <a:rPr lang="en-US" sz="6500" b="1" dirty="0">
                <a:solidFill>
                  <a:srgbClr val="004AAD"/>
                </a:solidFill>
                <a:latin typeface="Montserrat Bold" pitchFamily="34" charset="0"/>
                <a:ea typeface="Montserrat Bold" pitchFamily="34" charset="-122"/>
                <a:cs typeface="Montserrat Bold" pitchFamily="34" charset="-120"/>
              </a:rPr>
              <a:t>Thực hành 1</a:t>
            </a:r>
            <a:endParaRPr lang="en-US" sz="6500" dirty="0"/>
          </a:p>
        </p:txBody>
      </p:sp>
      <p:sp>
        <p:nvSpPr>
          <p:cNvPr id="4" name="Text 1"/>
          <p:cNvSpPr/>
          <p:nvPr/>
        </p:nvSpPr>
        <p:spPr>
          <a:xfrm>
            <a:off x="661475" y="3937496"/>
            <a:ext cx="6906444" cy="264616"/>
          </a:xfrm>
          <a:prstGeom prst="rect">
            <a:avLst/>
          </a:prstGeom>
          <a:noFill/>
          <a:ln/>
        </p:spPr>
        <p:txBody>
          <a:bodyPr wrap="none" lIns="0" tIns="0" rIns="0" bIns="0" rtlCol="0" anchor="t"/>
          <a:lstStyle/>
          <a:p>
            <a:pPr marL="0" indent="0" algn="l">
              <a:lnSpc>
                <a:spcPct val="133000"/>
              </a:lnSpc>
              <a:buNone/>
            </a:pPr>
            <a:r>
              <a:rPr lang="en-US" sz="1300" i="1" dirty="0">
                <a:solidFill>
                  <a:srgbClr val="000000"/>
                </a:solidFill>
                <a:latin typeface="Montserrat" pitchFamily="34" charset="0"/>
                <a:ea typeface="Montserrat" pitchFamily="34" charset="-122"/>
                <a:cs typeface="Montserrat" pitchFamily="34" charset="-120"/>
              </a:rPr>
              <a:t>12 phút · Mở notebook và bắt đầu</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61475" y="1484709"/>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Kết quả thực hành 1</a:t>
            </a:r>
            <a:endParaRPr lang="en-US" sz="3250" dirty="0"/>
          </a:p>
        </p:txBody>
      </p:sp>
      <p:sp>
        <p:nvSpPr>
          <p:cNvPr id="3" name="Text 1"/>
          <p:cNvSpPr/>
          <p:nvPr/>
        </p:nvSpPr>
        <p:spPr>
          <a:xfrm>
            <a:off x="661475" y="2067520"/>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Kho tri thức 15 FAQ đã sẵn sàng truy hồi</a:t>
            </a:r>
            <a:endParaRPr lang="en-US" sz="1600" dirty="0"/>
          </a:p>
        </p:txBody>
      </p:sp>
      <p:sp>
        <p:nvSpPr>
          <p:cNvPr id="4" name="Text 2"/>
          <p:cNvSpPr/>
          <p:nvPr/>
        </p:nvSpPr>
        <p:spPr>
          <a:xfrm>
            <a:off x="661475" y="2574032"/>
            <a:ext cx="10868745" cy="53558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highlight>
                  <a:srgbClr val="F2F2F2"/>
                </a:highlight>
                <a:latin typeface="Consolas" pitchFamily="34" charset="0"/>
                <a:ea typeface="Consolas" pitchFamily="34" charset="-122"/>
                <a:cs typeface="Consolas" pitchFamily="34" charset="-120"/>
              </a:rPr>
              <a:t>vector-store.json</a:t>
            </a:r>
            <a:r>
              <a:rPr lang="en-US" sz="1300" dirty="0">
                <a:solidFill>
                  <a:srgbClr val="000000"/>
                </a:solidFill>
                <a:latin typeface="Montserrat" pitchFamily="34" charset="0"/>
                <a:ea typeface="Montserrat" pitchFamily="34" charset="-122"/>
                <a:cs typeface="Montserrat" pitchFamily="34" charset="-120"/>
              </a:rPr>
              <a:t> chứa 15 FAQ, mỗi FAQ một vector, gắn </a:t>
            </a:r>
            <a:r>
              <a:rPr lang="en-US" sz="1300" dirty="0">
                <a:solidFill>
                  <a:srgbClr val="000000"/>
                </a:solidFill>
                <a:highlight>
                  <a:srgbClr val="F2F2F2"/>
                </a:highlight>
                <a:latin typeface="Consolas" pitchFamily="34" charset="0"/>
                <a:ea typeface="Consolas" pitchFamily="34" charset="-122"/>
                <a:cs typeface="Consolas" pitchFamily="34" charset="-120"/>
              </a:rPr>
              <a:t>faq_id</a:t>
            </a:r>
            <a:r>
              <a:rPr lang="en-US" sz="1300" dirty="0">
                <a:solidFill>
                  <a:srgbClr val="000000"/>
                </a:solidFill>
                <a:latin typeface="Montserrat" pitchFamily="34" charset="0"/>
                <a:ea typeface="Montserrat" pitchFamily="34" charset="-122"/>
                <a:cs typeface="Montserrat" pitchFamily="34" charset="-120"/>
              </a:rPr>
              <a:t> và nhóm nội dung. Workflow </a:t>
            </a:r>
            <a:r>
              <a:rPr lang="en-US" sz="1300" b="1" dirty="0">
                <a:solidFill>
                  <a:srgbClr val="000000"/>
                </a:solidFill>
                <a:latin typeface="Montserrat Bold" pitchFamily="34" charset="0"/>
                <a:ea typeface="Montserrat Bold" pitchFamily="34" charset="-122"/>
                <a:cs typeface="Montserrat Bold" pitchFamily="34" charset="-120"/>
              </a:rPr>
              <a:t>'B5 K1 - Retail CSKH Bot'</a:t>
            </a:r>
            <a:r>
              <a:rPr lang="en-US" sz="1300" dirty="0">
                <a:solidFill>
                  <a:srgbClr val="000000"/>
                </a:solidFill>
                <a:latin typeface="Montserrat" pitchFamily="34" charset="0"/>
                <a:ea typeface="Montserrat" pitchFamily="34" charset="-122"/>
                <a:cs typeface="Montserrat" pitchFamily="34" charset="-120"/>
              </a:rPr>
              <a:t> đã nạp và webhook /cskh đã mở.</a:t>
            </a:r>
            <a:endParaRPr lang="en-US" sz="1300" dirty="0"/>
          </a:p>
        </p:txBody>
      </p:sp>
      <p:sp>
        <p:nvSpPr>
          <p:cNvPr id="5" name="Shape 3"/>
          <p:cNvSpPr/>
          <p:nvPr/>
        </p:nvSpPr>
        <p:spPr>
          <a:xfrm>
            <a:off x="661475" y="3295650"/>
            <a:ext cx="3512653" cy="965597"/>
          </a:xfrm>
          <a:prstGeom prst="roundRect">
            <a:avLst>
              <a:gd name="adj" fmla="val 7194"/>
            </a:avLst>
          </a:prstGeom>
          <a:solidFill>
            <a:srgbClr val="CCE2FF"/>
          </a:solidFill>
          <a:ln w="6350">
            <a:solidFill>
              <a:srgbClr val="B2C8E5"/>
            </a:solidFill>
            <a:prstDash val="solid"/>
          </a:ln>
        </p:spPr>
      </p:sp>
      <p:sp>
        <p:nvSpPr>
          <p:cNvPr id="6" name="Text 4"/>
          <p:cNvSpPr/>
          <p:nvPr/>
        </p:nvSpPr>
        <p:spPr>
          <a:xfrm>
            <a:off x="833119" y="3467298"/>
            <a:ext cx="3169364"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15 FAQ</a:t>
            </a:r>
            <a:endParaRPr lang="en-US" sz="1600" dirty="0"/>
          </a:p>
        </p:txBody>
      </p:sp>
      <p:sp>
        <p:nvSpPr>
          <p:cNvPr id="7" name="Text 5"/>
          <p:cNvSpPr/>
          <p:nvPr/>
        </p:nvSpPr>
        <p:spPr>
          <a:xfrm>
            <a:off x="833119" y="3824982"/>
            <a:ext cx="3169364"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Đủ 5 nhóm chủ đề bán lẻ</a:t>
            </a:r>
            <a:endParaRPr lang="en-US" sz="1300" dirty="0"/>
          </a:p>
        </p:txBody>
      </p:sp>
      <p:sp>
        <p:nvSpPr>
          <p:cNvPr id="8" name="Shape 6"/>
          <p:cNvSpPr/>
          <p:nvPr/>
        </p:nvSpPr>
        <p:spPr>
          <a:xfrm>
            <a:off x="4339422" y="3295650"/>
            <a:ext cx="3512752" cy="965597"/>
          </a:xfrm>
          <a:prstGeom prst="roundRect">
            <a:avLst>
              <a:gd name="adj" fmla="val 7194"/>
            </a:avLst>
          </a:prstGeom>
          <a:solidFill>
            <a:srgbClr val="CCE2FF"/>
          </a:solidFill>
          <a:ln w="6350">
            <a:solidFill>
              <a:srgbClr val="B2C8E5"/>
            </a:solidFill>
            <a:prstDash val="solid"/>
          </a:ln>
        </p:spPr>
      </p:sp>
      <p:sp>
        <p:nvSpPr>
          <p:cNvPr id="9" name="Text 7"/>
          <p:cNvSpPr/>
          <p:nvPr/>
        </p:nvSpPr>
        <p:spPr>
          <a:xfrm>
            <a:off x="4511066" y="3467298"/>
            <a:ext cx="3169464"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Semantic Search</a:t>
            </a:r>
            <a:endParaRPr lang="en-US" sz="1600" dirty="0"/>
          </a:p>
        </p:txBody>
      </p:sp>
      <p:sp>
        <p:nvSpPr>
          <p:cNvPr id="10" name="Text 8"/>
          <p:cNvSpPr/>
          <p:nvPr/>
        </p:nvSpPr>
        <p:spPr>
          <a:xfrm>
            <a:off x="4511066" y="3824982"/>
            <a:ext cx="3169464"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Tìm theo ý nghĩa, không khớp từ khóa</a:t>
            </a:r>
            <a:endParaRPr lang="en-US" sz="1300" dirty="0"/>
          </a:p>
        </p:txBody>
      </p:sp>
      <p:sp>
        <p:nvSpPr>
          <p:cNvPr id="11" name="Shape 9"/>
          <p:cNvSpPr/>
          <p:nvPr/>
        </p:nvSpPr>
        <p:spPr>
          <a:xfrm>
            <a:off x="8017468" y="3295650"/>
            <a:ext cx="3512653" cy="965597"/>
          </a:xfrm>
          <a:prstGeom prst="roundRect">
            <a:avLst>
              <a:gd name="adj" fmla="val 7194"/>
            </a:avLst>
          </a:prstGeom>
          <a:solidFill>
            <a:srgbClr val="CCE2FF"/>
          </a:solidFill>
          <a:ln w="6350">
            <a:solidFill>
              <a:srgbClr val="B2C8E5"/>
            </a:solidFill>
            <a:prstDash val="solid"/>
          </a:ln>
        </p:spPr>
      </p:sp>
      <p:sp>
        <p:nvSpPr>
          <p:cNvPr id="12" name="Text 10"/>
          <p:cNvSpPr/>
          <p:nvPr/>
        </p:nvSpPr>
        <p:spPr>
          <a:xfrm>
            <a:off x="8189112" y="3467298"/>
            <a:ext cx="3169364"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Webhook Live</a:t>
            </a:r>
            <a:endParaRPr lang="en-US" sz="1600" dirty="0"/>
          </a:p>
        </p:txBody>
      </p:sp>
      <p:sp>
        <p:nvSpPr>
          <p:cNvPr id="13" name="Text 11"/>
          <p:cNvSpPr/>
          <p:nvPr/>
        </p:nvSpPr>
        <p:spPr>
          <a:xfrm>
            <a:off x="8189112" y="3824982"/>
            <a:ext cx="3169364"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POST /cskh sẵn sàng nhận câu hỏi</a:t>
            </a:r>
            <a:endParaRPr lang="en-US" sz="1300" dirty="0"/>
          </a:p>
        </p:txBody>
      </p:sp>
      <p:sp>
        <p:nvSpPr>
          <p:cNvPr id="14" name="Shape 12"/>
          <p:cNvSpPr/>
          <p:nvPr/>
        </p:nvSpPr>
        <p:spPr>
          <a:xfrm>
            <a:off x="661475" y="4447282"/>
            <a:ext cx="10868745" cy="925909"/>
          </a:xfrm>
          <a:prstGeom prst="roundRect">
            <a:avLst>
              <a:gd name="adj" fmla="val 7502"/>
            </a:avLst>
          </a:prstGeom>
          <a:solidFill>
            <a:srgbClr val="B6FCB8"/>
          </a:solidFill>
          <a:ln/>
        </p:spPr>
      </p:sp>
      <p:pic>
        <p:nvPicPr>
          <p:cNvPr id="15" name="Image 0" descr="preencoded.png"/>
          <p:cNvPicPr>
            <a:picLocks noChangeAspect="1"/>
          </p:cNvPicPr>
          <p:nvPr/>
        </p:nvPicPr>
        <p:blipFill>
          <a:blip r:embed="rId3"/>
          <a:stretch>
            <a:fillRect/>
          </a:stretch>
        </p:blipFill>
        <p:spPr>
          <a:xfrm>
            <a:off x="826769" y="4686995"/>
            <a:ext cx="206667" cy="165298"/>
          </a:xfrm>
          <a:prstGeom prst="rect">
            <a:avLst/>
          </a:prstGeom>
        </p:spPr>
      </p:pic>
      <p:sp>
        <p:nvSpPr>
          <p:cNvPr id="16" name="Text 13"/>
          <p:cNvSpPr/>
          <p:nvPr/>
        </p:nvSpPr>
        <p:spPr>
          <a:xfrm>
            <a:off x="1198731" y="4653855"/>
            <a:ext cx="10166195"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 Nền tri thức xong. Từ đây, mọi câu hỏi sẽ được đối chiếu semantic với kho này trước khi quyết định trả lời hay chuyển người.</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2597348"/>
            <a:ext cx="6296860" cy="713184"/>
          </a:xfrm>
          <a:prstGeom prst="rect">
            <a:avLst/>
          </a:prstGeom>
          <a:noFill/>
          <a:ln/>
        </p:spPr>
        <p:txBody>
          <a:bodyPr wrap="none" lIns="0" tIns="0" rIns="0" bIns="0" rtlCol="0" anchor="t"/>
          <a:lstStyle/>
          <a:p>
            <a:pPr marL="0" indent="0" algn="l">
              <a:lnSpc>
                <a:spcPct val="104000"/>
              </a:lnSpc>
              <a:buNone/>
            </a:pPr>
            <a:r>
              <a:rPr lang="en-US" sz="4450" b="1" dirty="0">
                <a:solidFill>
                  <a:srgbClr val="004AAD"/>
                </a:solidFill>
                <a:latin typeface="Montserrat Bold" pitchFamily="34" charset="0"/>
                <a:ea typeface="Montserrat Bold" pitchFamily="34" charset="-122"/>
                <a:cs typeface="Montserrat Bold" pitchFamily="34" charset="-120"/>
              </a:rPr>
              <a:t>Thực hành 2</a:t>
            </a:r>
            <a:endParaRPr lang="en-US" sz="4450" dirty="0"/>
          </a:p>
        </p:txBody>
      </p:sp>
      <p:sp>
        <p:nvSpPr>
          <p:cNvPr id="4" name="Text 1"/>
          <p:cNvSpPr/>
          <p:nvPr/>
        </p:nvSpPr>
        <p:spPr>
          <a:xfrm>
            <a:off x="661475" y="3558580"/>
            <a:ext cx="6906444" cy="264616"/>
          </a:xfrm>
          <a:prstGeom prst="rect">
            <a:avLst/>
          </a:prstGeom>
          <a:noFill/>
          <a:ln/>
        </p:spPr>
        <p:txBody>
          <a:bodyPr wrap="none" lIns="0" tIns="0" rIns="0" bIns="0" rtlCol="0" anchor="t"/>
          <a:lstStyle/>
          <a:p>
            <a:pPr marL="0" indent="0" algn="l">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Guardrail, Router và FAQ Cache</a:t>
            </a:r>
            <a:endParaRPr lang="en-US" sz="1300" dirty="0"/>
          </a:p>
        </p:txBody>
      </p:sp>
      <p:sp>
        <p:nvSpPr>
          <p:cNvPr id="5" name="Shape 2"/>
          <p:cNvSpPr/>
          <p:nvPr/>
        </p:nvSpPr>
        <p:spPr>
          <a:xfrm>
            <a:off x="661475" y="4009231"/>
            <a:ext cx="580713" cy="251420"/>
          </a:xfrm>
          <a:prstGeom prst="roundRect">
            <a:avLst>
              <a:gd name="adj" fmla="val 22103"/>
            </a:avLst>
          </a:prstGeom>
          <a:solidFill>
            <a:srgbClr val="CCE2FF"/>
          </a:solidFill>
          <a:ln/>
        </p:spPr>
      </p:sp>
      <p:sp>
        <p:nvSpPr>
          <p:cNvPr id="6" name="Text 3"/>
          <p:cNvSpPr/>
          <p:nvPr/>
        </p:nvSpPr>
        <p:spPr>
          <a:xfrm>
            <a:off x="760691" y="4058841"/>
            <a:ext cx="991865" cy="152202"/>
          </a:xfrm>
          <a:prstGeom prst="rect">
            <a:avLst/>
          </a:prstGeom>
          <a:noFill/>
          <a:ln/>
        </p:spPr>
        <p:txBody>
          <a:bodyPr wrap="none" lIns="0" tIns="0" rIns="0" bIns="0" rtlCol="0" anchor="t"/>
          <a:lstStyle/>
          <a:p>
            <a:pPr marL="0" indent="0" algn="l">
              <a:lnSpc>
                <a:spcPct val="96000"/>
              </a:lnSpc>
              <a:buNone/>
            </a:pPr>
            <a:r>
              <a:rPr lang="en-US" sz="1000" dirty="0">
                <a:solidFill>
                  <a:srgbClr val="000000"/>
                </a:solidFill>
                <a:latin typeface="Montserrat" pitchFamily="34" charset="0"/>
                <a:ea typeface="Montserrat" pitchFamily="34" charset="-122"/>
                <a:cs typeface="Montserrat" pitchFamily="34" charset="-120"/>
              </a:rPr>
              <a:t>LAB 2</a:t>
            </a:r>
            <a:endParaRPr lang="en-US" sz="1000" dirty="0"/>
          </a:p>
        </p:txBody>
      </p:sp>
      <p:sp>
        <p:nvSpPr>
          <p:cNvPr id="7" name="Shape 4"/>
          <p:cNvSpPr/>
          <p:nvPr/>
        </p:nvSpPr>
        <p:spPr>
          <a:xfrm>
            <a:off x="1324835" y="4009231"/>
            <a:ext cx="1606510" cy="251420"/>
          </a:xfrm>
          <a:prstGeom prst="roundRect">
            <a:avLst>
              <a:gd name="adj" fmla="val 22103"/>
            </a:avLst>
          </a:prstGeom>
          <a:noFill/>
          <a:ln w="6350">
            <a:solidFill>
              <a:srgbClr val="004AAD"/>
            </a:solidFill>
            <a:prstDash val="solid"/>
          </a:ln>
        </p:spPr>
      </p:sp>
      <p:sp>
        <p:nvSpPr>
          <p:cNvPr id="8" name="Text 5"/>
          <p:cNvSpPr/>
          <p:nvPr/>
        </p:nvSpPr>
        <p:spPr>
          <a:xfrm>
            <a:off x="1424051" y="4058841"/>
            <a:ext cx="2017662" cy="152202"/>
          </a:xfrm>
          <a:prstGeom prst="rect">
            <a:avLst/>
          </a:prstGeom>
          <a:noFill/>
          <a:ln/>
        </p:spPr>
        <p:txBody>
          <a:bodyPr wrap="none" lIns="0" tIns="0" rIns="0" bIns="0" rtlCol="0" anchor="t"/>
          <a:lstStyle/>
          <a:p>
            <a:pPr marL="0" indent="0" algn="l">
              <a:lnSpc>
                <a:spcPct val="96000"/>
              </a:lnSpc>
              <a:buNone/>
            </a:pPr>
            <a:r>
              <a:rPr lang="en-US" sz="1000" dirty="0">
                <a:solidFill>
                  <a:srgbClr val="004AAD"/>
                </a:solidFill>
                <a:latin typeface="Montserrat" pitchFamily="34" charset="0"/>
                <a:ea typeface="Montserrat" pitchFamily="34" charset="-122"/>
                <a:cs typeface="Montserrat" pitchFamily="34" charset="-120"/>
              </a:rPr>
              <a:t>KIỂM SOÁT ĐẦU VÀO</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61475" y="1806178"/>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Ba lớp kiểm soát ngay khi nhận câu hỏi</a:t>
            </a:r>
            <a:endParaRPr lang="en-US" sz="3250" dirty="0"/>
          </a:p>
        </p:txBody>
      </p:sp>
      <p:sp>
        <p:nvSpPr>
          <p:cNvPr id="3" name="Text 1"/>
          <p:cNvSpPr/>
          <p:nvPr/>
        </p:nvSpPr>
        <p:spPr>
          <a:xfrm>
            <a:off x="661475" y="2388989"/>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JIT: ba lớp đứng trước câu trả lời</a:t>
            </a:r>
            <a:endParaRPr lang="en-US" sz="1600" dirty="0"/>
          </a:p>
        </p:txBody>
      </p:sp>
      <p:pic>
        <p:nvPicPr>
          <p:cNvPr id="4" name="Image 0" descr="preencoded.png"/>
          <p:cNvPicPr>
            <a:picLocks noChangeAspect="1"/>
          </p:cNvPicPr>
          <p:nvPr/>
        </p:nvPicPr>
        <p:blipFill>
          <a:blip r:embed="rId3"/>
          <a:stretch>
            <a:fillRect/>
          </a:stretch>
        </p:blipFill>
        <p:spPr>
          <a:xfrm>
            <a:off x="661475" y="2895501"/>
            <a:ext cx="3622882" cy="661491"/>
          </a:xfrm>
          <a:prstGeom prst="rect">
            <a:avLst/>
          </a:prstGeom>
        </p:spPr>
      </p:pic>
      <p:sp>
        <p:nvSpPr>
          <p:cNvPr id="5" name="Text 2"/>
          <p:cNvSpPr/>
          <p:nvPr/>
        </p:nvSpPr>
        <p:spPr>
          <a:xfrm>
            <a:off x="826769" y="3722291"/>
            <a:ext cx="3292293"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Guardrail</a:t>
            </a:r>
            <a:endParaRPr lang="en-US" sz="1600" dirty="0"/>
          </a:p>
        </p:txBody>
      </p:sp>
      <p:sp>
        <p:nvSpPr>
          <p:cNvPr id="6" name="Text 3"/>
          <p:cNvSpPr/>
          <p:nvPr/>
        </p:nvSpPr>
        <p:spPr>
          <a:xfrm>
            <a:off x="826769" y="4079974"/>
            <a:ext cx="3292293"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Phát hiện </a:t>
            </a:r>
            <a:r>
              <a:rPr lang="en-US" sz="1300" b="1" dirty="0">
                <a:solidFill>
                  <a:srgbClr val="000000"/>
                </a:solidFill>
                <a:latin typeface="Montserrat Bold" pitchFamily="34" charset="0"/>
                <a:ea typeface="Montserrat Bold" pitchFamily="34" charset="-122"/>
                <a:cs typeface="Montserrat Bold" pitchFamily="34" charset="-120"/>
              </a:rPr>
              <a:t>prompt injection</a:t>
            </a:r>
            <a:r>
              <a:rPr lang="en-US" sz="1300" dirty="0">
                <a:solidFill>
                  <a:srgbClr val="000000"/>
                </a:solidFill>
                <a:latin typeface="Montserrat" pitchFamily="34" charset="0"/>
                <a:ea typeface="Montserrat" pitchFamily="34" charset="-122"/>
                <a:cs typeface="Montserrat" pitchFamily="34" charset="-120"/>
              </a:rPr>
              <a:t>. Coi tin nhắn khách là dữ liệu, không phải chỉ thị. Chặn trước khi xử lý tiếp.</a:t>
            </a:r>
            <a:endParaRPr lang="en-US" sz="1300" dirty="0"/>
          </a:p>
        </p:txBody>
      </p:sp>
      <p:pic>
        <p:nvPicPr>
          <p:cNvPr id="7" name="Image 1" descr="preencoded.png"/>
          <p:cNvPicPr>
            <a:picLocks noChangeAspect="1"/>
          </p:cNvPicPr>
          <p:nvPr/>
        </p:nvPicPr>
        <p:blipFill>
          <a:blip r:embed="rId4"/>
          <a:stretch>
            <a:fillRect/>
          </a:stretch>
        </p:blipFill>
        <p:spPr>
          <a:xfrm>
            <a:off x="4284357" y="2895501"/>
            <a:ext cx="3622882" cy="661491"/>
          </a:xfrm>
          <a:prstGeom prst="rect">
            <a:avLst/>
          </a:prstGeom>
        </p:spPr>
      </p:pic>
      <p:sp>
        <p:nvSpPr>
          <p:cNvPr id="8" name="Text 4"/>
          <p:cNvSpPr/>
          <p:nvPr/>
        </p:nvSpPr>
        <p:spPr>
          <a:xfrm>
            <a:off x="4449651" y="3722291"/>
            <a:ext cx="3292293"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Router</a:t>
            </a:r>
            <a:endParaRPr lang="en-US" sz="1600" dirty="0"/>
          </a:p>
        </p:txBody>
      </p:sp>
      <p:sp>
        <p:nvSpPr>
          <p:cNvPr id="9" name="Text 5"/>
          <p:cNvSpPr/>
          <p:nvPr/>
        </p:nvSpPr>
        <p:spPr>
          <a:xfrm>
            <a:off x="4449651" y="4079974"/>
            <a:ext cx="3292293" cy="8065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Phân </a:t>
            </a:r>
            <a:r>
              <a:rPr lang="en-US" sz="1300" b="1" dirty="0">
                <a:solidFill>
                  <a:srgbClr val="000000"/>
                </a:solidFill>
                <a:latin typeface="Montserrat Bold" pitchFamily="34" charset="0"/>
                <a:ea typeface="Montserrat Bold" pitchFamily="34" charset="-122"/>
                <a:cs typeface="Montserrat Bold" pitchFamily="34" charset="-120"/>
              </a:rPr>
              <a:t>phạm vi (scope)</a:t>
            </a:r>
            <a:r>
              <a:rPr lang="en-US" sz="1300" dirty="0">
                <a:solidFill>
                  <a:srgbClr val="000000"/>
                </a:solidFill>
                <a:latin typeface="Montserrat" pitchFamily="34" charset="0"/>
                <a:ea typeface="Montserrat" pitchFamily="34" charset="-122"/>
                <a:cs typeface="Montserrat" pitchFamily="34" charset="-120"/>
              </a:rPr>
              <a:t> và ý định (intent): </a:t>
            </a:r>
            <a:r>
              <a:rPr lang="en-US" sz="1300" dirty="0">
                <a:solidFill>
                  <a:srgbClr val="000000"/>
                </a:solidFill>
                <a:highlight>
                  <a:srgbClr val="F2F2F2"/>
                </a:highlight>
                <a:latin typeface="Consolas" pitchFamily="34" charset="0"/>
                <a:ea typeface="Consolas" pitchFamily="34" charset="-122"/>
                <a:cs typeface="Consolas" pitchFamily="34" charset="-120"/>
              </a:rPr>
              <a:t>thong_tin</a:t>
            </a:r>
            <a:r>
              <a:rPr lang="en-US" sz="1300" dirty="0">
                <a:solidFill>
                  <a:srgbClr val="000000"/>
                </a:solidFill>
                <a:latin typeface="Montserrat" pitchFamily="34" charset="0"/>
                <a:ea typeface="Montserrat" pitchFamily="34" charset="-122"/>
                <a:cs typeface="Montserrat" pitchFamily="34" charset="-120"/>
              </a:rPr>
              <a:t>, </a:t>
            </a:r>
            <a:r>
              <a:rPr lang="en-US" sz="1300" dirty="0">
                <a:solidFill>
                  <a:srgbClr val="000000"/>
                </a:solidFill>
                <a:highlight>
                  <a:srgbClr val="F2F2F2"/>
                </a:highlight>
                <a:latin typeface="Consolas" pitchFamily="34" charset="0"/>
                <a:ea typeface="Consolas" pitchFamily="34" charset="-122"/>
                <a:cs typeface="Consolas" pitchFamily="34" charset="-120"/>
              </a:rPr>
              <a:t>gia</a:t>
            </a:r>
            <a:r>
              <a:rPr lang="en-US" sz="1300" dirty="0">
                <a:solidFill>
                  <a:srgbClr val="000000"/>
                </a:solidFill>
                <a:latin typeface="Montserrat" pitchFamily="34" charset="0"/>
                <a:ea typeface="Montserrat" pitchFamily="34" charset="-122"/>
                <a:cs typeface="Montserrat" pitchFamily="34" charset="-120"/>
              </a:rPr>
              <a:t>, </a:t>
            </a:r>
            <a:r>
              <a:rPr lang="en-US" sz="1300" dirty="0">
                <a:solidFill>
                  <a:srgbClr val="000000"/>
                </a:solidFill>
                <a:highlight>
                  <a:srgbClr val="F2F2F2"/>
                </a:highlight>
                <a:latin typeface="Consolas" pitchFamily="34" charset="0"/>
                <a:ea typeface="Consolas" pitchFamily="34" charset="-122"/>
                <a:cs typeface="Consolas" pitchFamily="34" charset="-120"/>
              </a:rPr>
              <a:t>ky_thuat</a:t>
            </a:r>
            <a:r>
              <a:rPr lang="en-US" sz="1300" dirty="0">
                <a:solidFill>
                  <a:srgbClr val="000000"/>
                </a:solidFill>
                <a:latin typeface="Montserrat" pitchFamily="34" charset="0"/>
                <a:ea typeface="Montserrat" pitchFamily="34" charset="-122"/>
                <a:cs typeface="Montserrat" pitchFamily="34" charset="-120"/>
              </a:rPr>
              <a:t>, </a:t>
            </a:r>
            <a:r>
              <a:rPr lang="en-US" sz="1300" dirty="0">
                <a:solidFill>
                  <a:srgbClr val="000000"/>
                </a:solidFill>
                <a:highlight>
                  <a:srgbClr val="F2F2F2"/>
                </a:highlight>
                <a:latin typeface="Consolas" pitchFamily="34" charset="0"/>
                <a:ea typeface="Consolas" pitchFamily="34" charset="-122"/>
                <a:cs typeface="Consolas" pitchFamily="34" charset="-120"/>
              </a:rPr>
              <a:t>khieu_nai</a:t>
            </a:r>
            <a:r>
              <a:rPr lang="en-US" sz="1300" dirty="0">
                <a:solidFill>
                  <a:srgbClr val="000000"/>
                </a:solidFill>
                <a:latin typeface="Montserrat" pitchFamily="34" charset="0"/>
                <a:ea typeface="Montserrat" pitchFamily="34" charset="-122"/>
                <a:cs typeface="Montserrat" pitchFamily="34" charset="-120"/>
              </a:rPr>
              <a:t>, </a:t>
            </a:r>
            <a:r>
              <a:rPr lang="en-US" sz="1300" dirty="0">
                <a:solidFill>
                  <a:srgbClr val="000000"/>
                </a:solidFill>
                <a:highlight>
                  <a:srgbClr val="F2F2F2"/>
                </a:highlight>
                <a:latin typeface="Consolas" pitchFamily="34" charset="0"/>
                <a:ea typeface="Consolas" pitchFamily="34" charset="-122"/>
                <a:cs typeface="Consolas" pitchFamily="34" charset="-120"/>
              </a:rPr>
              <a:t>ngoai_pham_vi</a:t>
            </a:r>
            <a:r>
              <a:rPr lang="en-US" sz="1300" dirty="0">
                <a:solidFill>
                  <a:srgbClr val="000000"/>
                </a:solidFill>
                <a:latin typeface="Montserrat" pitchFamily="34" charset="0"/>
                <a:ea typeface="Montserrat" pitchFamily="34" charset="-122"/>
                <a:cs typeface="Montserrat" pitchFamily="34" charset="-120"/>
              </a:rPr>
              <a:t>.</a:t>
            </a:r>
            <a:endParaRPr lang="en-US" sz="1300" dirty="0"/>
          </a:p>
        </p:txBody>
      </p:sp>
      <p:pic>
        <p:nvPicPr>
          <p:cNvPr id="10" name="Image 2" descr="preencoded.png"/>
          <p:cNvPicPr>
            <a:picLocks noChangeAspect="1"/>
          </p:cNvPicPr>
          <p:nvPr/>
        </p:nvPicPr>
        <p:blipFill>
          <a:blip r:embed="rId5"/>
          <a:stretch>
            <a:fillRect/>
          </a:stretch>
        </p:blipFill>
        <p:spPr>
          <a:xfrm>
            <a:off x="7907239" y="2895501"/>
            <a:ext cx="3622882" cy="661491"/>
          </a:xfrm>
          <a:prstGeom prst="rect">
            <a:avLst/>
          </a:prstGeom>
        </p:spPr>
      </p:pic>
      <p:sp>
        <p:nvSpPr>
          <p:cNvPr id="11" name="Text 6"/>
          <p:cNvSpPr/>
          <p:nvPr/>
        </p:nvSpPr>
        <p:spPr>
          <a:xfrm>
            <a:off x="8072533" y="3722291"/>
            <a:ext cx="3292293"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Cache</a:t>
            </a:r>
            <a:endParaRPr lang="en-US" sz="1600" dirty="0"/>
          </a:p>
        </p:txBody>
      </p:sp>
      <p:sp>
        <p:nvSpPr>
          <p:cNvPr id="12" name="Text 7"/>
          <p:cNvSpPr/>
          <p:nvPr/>
        </p:nvSpPr>
        <p:spPr>
          <a:xfrm>
            <a:off x="8072533" y="4079974"/>
            <a:ext cx="3292293"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So khớp exact và semantic. Score </a:t>
            </a:r>
            <a:r>
              <a:rPr lang="en-US" sz="1300" b="1" dirty="0">
                <a:solidFill>
                  <a:srgbClr val="000000"/>
                </a:solidFill>
                <a:latin typeface="Montserrat Bold" pitchFamily="34" charset="0"/>
                <a:ea typeface="Montserrat Bold" pitchFamily="34" charset="-122"/>
                <a:cs typeface="Montserrat Bold" pitchFamily="34" charset="-120"/>
              </a:rPr>
              <a:t>≥ 0.86</a:t>
            </a:r>
            <a:r>
              <a:rPr lang="en-US" sz="1300" dirty="0">
                <a:solidFill>
                  <a:srgbClr val="000000"/>
                </a:solidFill>
                <a:latin typeface="Montserrat" pitchFamily="34" charset="0"/>
                <a:ea typeface="Montserrat" pitchFamily="34" charset="-122"/>
                <a:cs typeface="Montserrat" pitchFamily="34" charset="-120"/>
              </a:rPr>
              <a:t> → trả lời ngay từ FAQ, không gọi LLM, tiết kiệm chi phí.</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61475" y="1345208"/>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Thực hành 2: guardrail, router và FAQ cache</a:t>
            </a:r>
            <a:endParaRPr lang="en-US" sz="3250" dirty="0"/>
          </a:p>
        </p:txBody>
      </p:sp>
      <p:sp>
        <p:nvSpPr>
          <p:cNvPr id="3" name="Text 1"/>
          <p:cNvSpPr/>
          <p:nvPr/>
        </p:nvSpPr>
        <p:spPr>
          <a:xfrm>
            <a:off x="661475" y="1928019"/>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Lab · 20 phút</a:t>
            </a:r>
            <a:endParaRPr lang="en-US" sz="1600" dirty="0"/>
          </a:p>
        </p:txBody>
      </p:sp>
      <p:sp>
        <p:nvSpPr>
          <p:cNvPr id="4" name="Shape 2"/>
          <p:cNvSpPr/>
          <p:nvPr/>
        </p:nvSpPr>
        <p:spPr>
          <a:xfrm>
            <a:off x="661475" y="2434530"/>
            <a:ext cx="10868745" cy="661293"/>
          </a:xfrm>
          <a:prstGeom prst="roundRect">
            <a:avLst>
              <a:gd name="adj" fmla="val 10504"/>
            </a:avLst>
          </a:prstGeom>
          <a:solidFill>
            <a:srgbClr val="CCE2FF"/>
          </a:solidFill>
          <a:ln/>
        </p:spPr>
      </p:sp>
      <p:pic>
        <p:nvPicPr>
          <p:cNvPr id="5" name="Image 0" descr="preencoded.png"/>
          <p:cNvPicPr>
            <a:picLocks noChangeAspect="1"/>
          </p:cNvPicPr>
          <p:nvPr/>
        </p:nvPicPr>
        <p:blipFill>
          <a:blip r:embed="rId3"/>
          <a:stretch>
            <a:fillRect/>
          </a:stretch>
        </p:blipFill>
        <p:spPr>
          <a:xfrm>
            <a:off x="826769" y="2674243"/>
            <a:ext cx="206667" cy="165298"/>
          </a:xfrm>
          <a:prstGeom prst="rect">
            <a:avLst/>
          </a:prstGeom>
        </p:spPr>
      </p:pic>
      <p:sp>
        <p:nvSpPr>
          <p:cNvPr id="6" name="Text 3"/>
          <p:cNvSpPr/>
          <p:nvPr/>
        </p:nvSpPr>
        <p:spPr>
          <a:xfrm>
            <a:off x="1198731" y="2641104"/>
            <a:ext cx="10775780" cy="264616"/>
          </a:xfrm>
          <a:prstGeom prst="rect">
            <a:avLst/>
          </a:prstGeom>
          <a:noFill/>
          <a:ln/>
        </p:spPr>
        <p:txBody>
          <a:bodyPr wrap="none" lIns="0" tIns="0" rIns="0" bIns="0" rtlCol="0" anchor="t"/>
          <a:lstStyle/>
          <a:p>
            <a:pPr marL="0" indent="0" algn="l">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Mục tiêu:</a:t>
            </a:r>
            <a:r>
              <a:rPr lang="en-US" sz="1300" dirty="0">
                <a:solidFill>
                  <a:srgbClr val="000000"/>
                </a:solidFill>
                <a:latin typeface="Montserrat" pitchFamily="34" charset="0"/>
                <a:ea typeface="Montserrat" pitchFamily="34" charset="-122"/>
                <a:cs typeface="Montserrat" pitchFamily="34" charset="-120"/>
              </a:rPr>
              <a:t> 5 trên 5 test case route đúng, ngoài phạm vi bị chặn trước LLM, câu giống FAQ trả lời nhanh qua cache.</a:t>
            </a:r>
            <a:endParaRPr lang="en-US" sz="1300" dirty="0"/>
          </a:p>
        </p:txBody>
      </p:sp>
      <p:sp>
        <p:nvSpPr>
          <p:cNvPr id="7" name="Shape 4"/>
          <p:cNvSpPr/>
          <p:nvPr/>
        </p:nvSpPr>
        <p:spPr>
          <a:xfrm>
            <a:off x="661475" y="3281859"/>
            <a:ext cx="372061" cy="372070"/>
          </a:xfrm>
          <a:prstGeom prst="roundRect">
            <a:avLst>
              <a:gd name="adj" fmla="val 18670"/>
            </a:avLst>
          </a:prstGeom>
          <a:solidFill>
            <a:srgbClr val="CCE2FF"/>
          </a:solidFill>
          <a:ln w="6350">
            <a:solidFill>
              <a:srgbClr val="B2C8E5"/>
            </a:solidFill>
            <a:prstDash val="solid"/>
          </a:ln>
        </p:spPr>
      </p:sp>
      <p:sp>
        <p:nvSpPr>
          <p:cNvPr id="8" name="Text 5"/>
          <p:cNvSpPr/>
          <p:nvPr/>
        </p:nvSpPr>
        <p:spPr>
          <a:xfrm>
            <a:off x="723485" y="3312864"/>
            <a:ext cx="248041" cy="310059"/>
          </a:xfrm>
          <a:prstGeom prst="rect">
            <a:avLst/>
          </a:prstGeom>
          <a:noFill/>
          <a:ln/>
        </p:spPr>
        <p:txBody>
          <a:bodyPr wrap="none" lIns="0" tIns="0" rIns="0" bIns="0" rtlCol="0" anchor="ctr"/>
          <a:lstStyle/>
          <a:p>
            <a:pPr marL="0" indent="0" algn="ctr">
              <a:lnSpc>
                <a:spcPct val="100000"/>
              </a:lnSpc>
              <a:buNone/>
            </a:pPr>
            <a:r>
              <a:rPr lang="en-US" sz="1950" b="1" dirty="0">
                <a:solidFill>
                  <a:srgbClr val="000000"/>
                </a:solidFill>
                <a:latin typeface="Montserrat Bold" pitchFamily="34" charset="0"/>
                <a:ea typeface="Montserrat Bold" pitchFamily="34" charset="-122"/>
                <a:cs typeface="Montserrat Bold" pitchFamily="34" charset="-120"/>
              </a:rPr>
              <a:t>1</a:t>
            </a:r>
            <a:endParaRPr lang="en-US" sz="1950" dirty="0"/>
          </a:p>
        </p:txBody>
      </p:sp>
      <p:sp>
        <p:nvSpPr>
          <p:cNvPr id="9" name="Text 6"/>
          <p:cNvSpPr/>
          <p:nvPr/>
        </p:nvSpPr>
        <p:spPr>
          <a:xfrm>
            <a:off x="1198830" y="3338711"/>
            <a:ext cx="4793634"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Gửi test case</a:t>
            </a:r>
            <a:endParaRPr lang="en-US" sz="1600" dirty="0"/>
          </a:p>
        </p:txBody>
      </p:sp>
      <p:sp>
        <p:nvSpPr>
          <p:cNvPr id="10" name="Text 7"/>
          <p:cNvSpPr/>
          <p:nvPr/>
        </p:nvSpPr>
        <p:spPr>
          <a:xfrm>
            <a:off x="1198830" y="3696395"/>
            <a:ext cx="4793634"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Chạy Cell Step 2 và Step 3 để gửi test case qua webhook /cskh.</a:t>
            </a:r>
            <a:endParaRPr lang="en-US" sz="1300" dirty="0"/>
          </a:p>
        </p:txBody>
      </p:sp>
      <p:sp>
        <p:nvSpPr>
          <p:cNvPr id="11" name="Shape 8"/>
          <p:cNvSpPr/>
          <p:nvPr/>
        </p:nvSpPr>
        <p:spPr>
          <a:xfrm>
            <a:off x="6199132" y="3281859"/>
            <a:ext cx="372061" cy="372070"/>
          </a:xfrm>
          <a:prstGeom prst="roundRect">
            <a:avLst>
              <a:gd name="adj" fmla="val 18670"/>
            </a:avLst>
          </a:prstGeom>
          <a:solidFill>
            <a:srgbClr val="CCE2FF"/>
          </a:solidFill>
          <a:ln w="6350">
            <a:solidFill>
              <a:srgbClr val="B2C8E5"/>
            </a:solidFill>
            <a:prstDash val="solid"/>
          </a:ln>
        </p:spPr>
      </p:sp>
      <p:sp>
        <p:nvSpPr>
          <p:cNvPr id="12" name="Text 9"/>
          <p:cNvSpPr/>
          <p:nvPr/>
        </p:nvSpPr>
        <p:spPr>
          <a:xfrm>
            <a:off x="6261142" y="3312864"/>
            <a:ext cx="248041" cy="310059"/>
          </a:xfrm>
          <a:prstGeom prst="rect">
            <a:avLst/>
          </a:prstGeom>
          <a:noFill/>
          <a:ln/>
        </p:spPr>
        <p:txBody>
          <a:bodyPr wrap="none" lIns="0" tIns="0" rIns="0" bIns="0" rtlCol="0" anchor="ctr"/>
          <a:lstStyle/>
          <a:p>
            <a:pPr marL="0" indent="0" algn="ctr">
              <a:lnSpc>
                <a:spcPct val="100000"/>
              </a:lnSpc>
              <a:buNone/>
            </a:pPr>
            <a:r>
              <a:rPr lang="en-US" sz="1950" b="1" dirty="0">
                <a:solidFill>
                  <a:srgbClr val="000000"/>
                </a:solidFill>
                <a:latin typeface="Montserrat Bold" pitchFamily="34" charset="0"/>
                <a:ea typeface="Montserrat Bold" pitchFamily="34" charset="-122"/>
                <a:cs typeface="Montserrat Bold" pitchFamily="34" charset="-120"/>
              </a:rPr>
              <a:t>2</a:t>
            </a:r>
            <a:endParaRPr lang="en-US" sz="1950" dirty="0"/>
          </a:p>
        </p:txBody>
      </p:sp>
      <p:sp>
        <p:nvSpPr>
          <p:cNvPr id="13" name="Text 10"/>
          <p:cNvSpPr/>
          <p:nvPr/>
        </p:nvSpPr>
        <p:spPr>
          <a:xfrm>
            <a:off x="6736487" y="3338711"/>
            <a:ext cx="4793733"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Quan sát response</a:t>
            </a:r>
            <a:endParaRPr lang="en-US" sz="1600" dirty="0"/>
          </a:p>
        </p:txBody>
      </p:sp>
      <p:sp>
        <p:nvSpPr>
          <p:cNvPr id="14" name="Text 11"/>
          <p:cNvSpPr/>
          <p:nvPr/>
        </p:nvSpPr>
        <p:spPr>
          <a:xfrm>
            <a:off x="6736487" y="3696395"/>
            <a:ext cx="4793733" cy="53558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Kiểm tra trường </a:t>
            </a:r>
            <a:r>
              <a:rPr lang="en-US" sz="1300" dirty="0">
                <a:solidFill>
                  <a:srgbClr val="000000"/>
                </a:solidFill>
                <a:highlight>
                  <a:srgbClr val="F2F2F2"/>
                </a:highlight>
                <a:latin typeface="Consolas" pitchFamily="34" charset="0"/>
                <a:ea typeface="Consolas" pitchFamily="34" charset="-122"/>
                <a:cs typeface="Consolas" pitchFamily="34" charset="-120"/>
              </a:rPr>
              <a:t>route</a:t>
            </a:r>
            <a:r>
              <a:rPr lang="en-US" sz="1300" dirty="0">
                <a:solidFill>
                  <a:srgbClr val="000000"/>
                </a:solidFill>
                <a:latin typeface="Montserrat" pitchFamily="34" charset="0"/>
                <a:ea typeface="Montserrat" pitchFamily="34" charset="-122"/>
                <a:cs typeface="Montserrat" pitchFamily="34" charset="-120"/>
              </a:rPr>
              <a:t>, </a:t>
            </a:r>
            <a:r>
              <a:rPr lang="en-US" sz="1300" dirty="0">
                <a:solidFill>
                  <a:srgbClr val="000000"/>
                </a:solidFill>
                <a:highlight>
                  <a:srgbClr val="F2F2F2"/>
                </a:highlight>
                <a:latin typeface="Consolas" pitchFamily="34" charset="0"/>
                <a:ea typeface="Consolas" pitchFamily="34" charset="-122"/>
                <a:cs typeface="Consolas" pitchFamily="34" charset="-120"/>
              </a:rPr>
              <a:t>cache_hit</a:t>
            </a:r>
            <a:r>
              <a:rPr lang="en-US" sz="1300" dirty="0">
                <a:solidFill>
                  <a:srgbClr val="000000"/>
                </a:solidFill>
                <a:latin typeface="Montserrat" pitchFamily="34" charset="0"/>
                <a:ea typeface="Montserrat" pitchFamily="34" charset="-122"/>
                <a:cs typeface="Montserrat" pitchFamily="34" charset="-120"/>
              </a:rPr>
              <a:t> và </a:t>
            </a:r>
            <a:r>
              <a:rPr lang="en-US" sz="1300" dirty="0">
                <a:solidFill>
                  <a:srgbClr val="000000"/>
                </a:solidFill>
                <a:highlight>
                  <a:srgbClr val="F2F2F2"/>
                </a:highlight>
                <a:latin typeface="Consolas" pitchFamily="34" charset="0"/>
                <a:ea typeface="Consolas" pitchFamily="34" charset="-122"/>
                <a:cs typeface="Consolas" pitchFamily="34" charset="-120"/>
              </a:rPr>
              <a:t>answer</a:t>
            </a:r>
            <a:r>
              <a:rPr lang="en-US" sz="1300" dirty="0">
                <a:solidFill>
                  <a:srgbClr val="000000"/>
                </a:solidFill>
                <a:latin typeface="Montserrat" pitchFamily="34" charset="0"/>
                <a:ea typeface="Montserrat" pitchFamily="34" charset="-122"/>
                <a:cs typeface="Montserrat" pitchFamily="34" charset="-120"/>
              </a:rPr>
              <a:t> hay </a:t>
            </a:r>
            <a:r>
              <a:rPr lang="en-US" sz="1300" dirty="0">
                <a:solidFill>
                  <a:srgbClr val="000000"/>
                </a:solidFill>
                <a:highlight>
                  <a:srgbClr val="F2F2F2"/>
                </a:highlight>
                <a:latin typeface="Consolas" pitchFamily="34" charset="0"/>
                <a:ea typeface="Consolas" pitchFamily="34" charset="-122"/>
                <a:cs typeface="Consolas" pitchFamily="34" charset="-120"/>
              </a:rPr>
              <a:t>refusal</a:t>
            </a:r>
            <a:r>
              <a:rPr lang="en-US" sz="1300" dirty="0">
                <a:solidFill>
                  <a:srgbClr val="000000"/>
                </a:solidFill>
                <a:latin typeface="Montserrat" pitchFamily="34" charset="0"/>
                <a:ea typeface="Montserrat" pitchFamily="34" charset="-122"/>
                <a:cs typeface="Montserrat" pitchFamily="34" charset="-120"/>
              </a:rPr>
              <a:t> trong kết quả trả về.</a:t>
            </a:r>
            <a:endParaRPr lang="en-US" sz="1300" dirty="0"/>
          </a:p>
        </p:txBody>
      </p:sp>
      <p:sp>
        <p:nvSpPr>
          <p:cNvPr id="15" name="Shape 12"/>
          <p:cNvSpPr/>
          <p:nvPr/>
        </p:nvSpPr>
        <p:spPr>
          <a:xfrm>
            <a:off x="661475" y="4562673"/>
            <a:ext cx="372061" cy="372070"/>
          </a:xfrm>
          <a:prstGeom prst="roundRect">
            <a:avLst>
              <a:gd name="adj" fmla="val 18670"/>
            </a:avLst>
          </a:prstGeom>
          <a:solidFill>
            <a:srgbClr val="CCE2FF"/>
          </a:solidFill>
          <a:ln w="6350">
            <a:solidFill>
              <a:srgbClr val="B2C8E5"/>
            </a:solidFill>
            <a:prstDash val="solid"/>
          </a:ln>
        </p:spPr>
      </p:sp>
      <p:sp>
        <p:nvSpPr>
          <p:cNvPr id="16" name="Text 13"/>
          <p:cNvSpPr/>
          <p:nvPr/>
        </p:nvSpPr>
        <p:spPr>
          <a:xfrm>
            <a:off x="723485" y="4593679"/>
            <a:ext cx="248041" cy="310059"/>
          </a:xfrm>
          <a:prstGeom prst="rect">
            <a:avLst/>
          </a:prstGeom>
          <a:noFill/>
          <a:ln/>
        </p:spPr>
        <p:txBody>
          <a:bodyPr wrap="none" lIns="0" tIns="0" rIns="0" bIns="0" rtlCol="0" anchor="ctr"/>
          <a:lstStyle/>
          <a:p>
            <a:pPr marL="0" indent="0" algn="ctr">
              <a:lnSpc>
                <a:spcPct val="100000"/>
              </a:lnSpc>
              <a:buNone/>
            </a:pPr>
            <a:r>
              <a:rPr lang="en-US" sz="1950" b="1" dirty="0">
                <a:solidFill>
                  <a:srgbClr val="000000"/>
                </a:solidFill>
                <a:latin typeface="Montserrat Bold" pitchFamily="34" charset="0"/>
                <a:ea typeface="Montserrat Bold" pitchFamily="34" charset="-122"/>
                <a:cs typeface="Montserrat Bold" pitchFamily="34" charset="-120"/>
              </a:rPr>
              <a:t>3</a:t>
            </a:r>
            <a:endParaRPr lang="en-US" sz="1950" dirty="0"/>
          </a:p>
        </p:txBody>
      </p:sp>
      <p:sp>
        <p:nvSpPr>
          <p:cNvPr id="17" name="Text 14"/>
          <p:cNvSpPr/>
          <p:nvPr/>
        </p:nvSpPr>
        <p:spPr>
          <a:xfrm>
            <a:off x="1198830" y="4619526"/>
            <a:ext cx="4793634"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Kiểm tra guardrail</a:t>
            </a:r>
            <a:endParaRPr lang="en-US" sz="1600" dirty="0"/>
          </a:p>
        </p:txBody>
      </p:sp>
      <p:sp>
        <p:nvSpPr>
          <p:cNvPr id="18" name="Text 15"/>
          <p:cNvSpPr/>
          <p:nvPr/>
        </p:nvSpPr>
        <p:spPr>
          <a:xfrm>
            <a:off x="1198830" y="4977209"/>
            <a:ext cx="4793634"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Xác nhận câu injection và ngoài scope bị chặn </a:t>
            </a:r>
            <a:r>
              <a:rPr lang="en-US" sz="1300" b="1" dirty="0">
                <a:solidFill>
                  <a:srgbClr val="000000"/>
                </a:solidFill>
                <a:latin typeface="Montserrat Bold" pitchFamily="34" charset="0"/>
                <a:ea typeface="Montserrat Bold" pitchFamily="34" charset="-122"/>
                <a:cs typeface="Montserrat Bold" pitchFamily="34" charset="-120"/>
              </a:rPr>
              <a:t>trước khi tới LLM</a:t>
            </a:r>
            <a:r>
              <a:rPr lang="en-US" sz="1300" dirty="0">
                <a:solidFill>
                  <a:srgbClr val="000000"/>
                </a:solidFill>
                <a:latin typeface="Montserrat" pitchFamily="34" charset="0"/>
                <a:ea typeface="Montserrat" pitchFamily="34" charset="-122"/>
                <a:cs typeface="Montserrat" pitchFamily="34" charset="-120"/>
              </a:rPr>
              <a:t>.</a:t>
            </a:r>
            <a:endParaRPr lang="en-US" sz="1300" dirty="0"/>
          </a:p>
        </p:txBody>
      </p:sp>
      <p:sp>
        <p:nvSpPr>
          <p:cNvPr id="19" name="Shape 16"/>
          <p:cNvSpPr/>
          <p:nvPr/>
        </p:nvSpPr>
        <p:spPr>
          <a:xfrm>
            <a:off x="6199132" y="4562673"/>
            <a:ext cx="372061" cy="372070"/>
          </a:xfrm>
          <a:prstGeom prst="roundRect">
            <a:avLst>
              <a:gd name="adj" fmla="val 18670"/>
            </a:avLst>
          </a:prstGeom>
          <a:solidFill>
            <a:srgbClr val="CCE2FF"/>
          </a:solidFill>
          <a:ln w="6350">
            <a:solidFill>
              <a:srgbClr val="B2C8E5"/>
            </a:solidFill>
            <a:prstDash val="solid"/>
          </a:ln>
        </p:spPr>
      </p:sp>
      <p:sp>
        <p:nvSpPr>
          <p:cNvPr id="20" name="Text 17"/>
          <p:cNvSpPr/>
          <p:nvPr/>
        </p:nvSpPr>
        <p:spPr>
          <a:xfrm>
            <a:off x="6261142" y="4593679"/>
            <a:ext cx="248041" cy="310059"/>
          </a:xfrm>
          <a:prstGeom prst="rect">
            <a:avLst/>
          </a:prstGeom>
          <a:noFill/>
          <a:ln/>
        </p:spPr>
        <p:txBody>
          <a:bodyPr wrap="none" lIns="0" tIns="0" rIns="0" bIns="0" rtlCol="0" anchor="ctr"/>
          <a:lstStyle/>
          <a:p>
            <a:pPr marL="0" indent="0" algn="ctr">
              <a:lnSpc>
                <a:spcPct val="100000"/>
              </a:lnSpc>
              <a:buNone/>
            </a:pPr>
            <a:r>
              <a:rPr lang="en-US" sz="1950" b="1" dirty="0">
                <a:solidFill>
                  <a:srgbClr val="000000"/>
                </a:solidFill>
                <a:latin typeface="Montserrat Bold" pitchFamily="34" charset="0"/>
                <a:ea typeface="Montserrat Bold" pitchFamily="34" charset="-122"/>
                <a:cs typeface="Montserrat Bold" pitchFamily="34" charset="-120"/>
              </a:rPr>
              <a:t>4</a:t>
            </a:r>
            <a:endParaRPr lang="en-US" sz="1950" dirty="0"/>
          </a:p>
        </p:txBody>
      </p:sp>
      <p:sp>
        <p:nvSpPr>
          <p:cNvPr id="21" name="Text 18"/>
          <p:cNvSpPr/>
          <p:nvPr/>
        </p:nvSpPr>
        <p:spPr>
          <a:xfrm>
            <a:off x="6736487" y="4619526"/>
            <a:ext cx="4793733"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Xác nhận fast path</a:t>
            </a:r>
            <a:endParaRPr lang="en-US" sz="1600" dirty="0"/>
          </a:p>
        </p:txBody>
      </p:sp>
      <p:sp>
        <p:nvSpPr>
          <p:cNvPr id="22" name="Text 19"/>
          <p:cNvSpPr/>
          <p:nvPr/>
        </p:nvSpPr>
        <p:spPr>
          <a:xfrm>
            <a:off x="6736487" y="4977209"/>
            <a:ext cx="4793733" cy="53558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Câu giao hàng trúng FAQ → trả lời nhanh, </a:t>
            </a:r>
            <a:r>
              <a:rPr lang="en-US" sz="1300" dirty="0">
                <a:solidFill>
                  <a:srgbClr val="000000"/>
                </a:solidFill>
                <a:highlight>
                  <a:srgbClr val="F2F2F2"/>
                </a:highlight>
                <a:latin typeface="Consolas" pitchFamily="34" charset="0"/>
                <a:ea typeface="Consolas" pitchFamily="34" charset="-122"/>
                <a:cs typeface="Consolas" pitchFamily="34" charset="-120"/>
              </a:rPr>
              <a:t>cache_hit: true</a:t>
            </a:r>
            <a:r>
              <a:rPr lang="en-US" sz="1300" dirty="0">
                <a:solidFill>
                  <a:srgbClr val="000000"/>
                </a:solidFill>
                <a:latin typeface="Montserrat" pitchFamily="34" charset="0"/>
                <a:ea typeface="Montserrat" pitchFamily="34" charset="-122"/>
                <a:cs typeface="Montserrat" pitchFamily="34" charset="-120"/>
              </a:rPr>
              <a:t>, không gọi LLM.</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Text 0"/>
          <p:cNvSpPr/>
          <p:nvPr/>
        </p:nvSpPr>
        <p:spPr>
          <a:xfrm>
            <a:off x="5233360" y="2655788"/>
            <a:ext cx="6296860" cy="1033661"/>
          </a:xfrm>
          <a:prstGeom prst="rect">
            <a:avLst/>
          </a:prstGeom>
          <a:noFill/>
          <a:ln/>
        </p:spPr>
        <p:txBody>
          <a:bodyPr wrap="none" lIns="0" tIns="0" rIns="0" bIns="0" rtlCol="0" anchor="t"/>
          <a:lstStyle/>
          <a:p>
            <a:pPr marL="0" indent="0" algn="l">
              <a:lnSpc>
                <a:spcPct val="104000"/>
              </a:lnSpc>
              <a:buNone/>
            </a:pPr>
            <a:r>
              <a:rPr lang="en-US" sz="6500" b="1" dirty="0">
                <a:solidFill>
                  <a:srgbClr val="004AAD"/>
                </a:solidFill>
                <a:latin typeface="Montserrat Bold" pitchFamily="34" charset="0"/>
                <a:ea typeface="Montserrat Bold" pitchFamily="34" charset="-122"/>
                <a:cs typeface="Montserrat Bold" pitchFamily="34" charset="-120"/>
              </a:rPr>
              <a:t>Thực hành 2</a:t>
            </a:r>
            <a:endParaRPr lang="en-US" sz="6500" dirty="0"/>
          </a:p>
        </p:txBody>
      </p:sp>
      <p:sp>
        <p:nvSpPr>
          <p:cNvPr id="4" name="Text 1"/>
          <p:cNvSpPr/>
          <p:nvPr/>
        </p:nvSpPr>
        <p:spPr>
          <a:xfrm>
            <a:off x="5233360" y="3937496"/>
            <a:ext cx="6906444" cy="264616"/>
          </a:xfrm>
          <a:prstGeom prst="rect">
            <a:avLst/>
          </a:prstGeom>
          <a:noFill/>
          <a:ln/>
        </p:spPr>
        <p:txBody>
          <a:bodyPr wrap="none" lIns="0" tIns="0" rIns="0" bIns="0" rtlCol="0" anchor="t"/>
          <a:lstStyle/>
          <a:p>
            <a:pPr marL="0" indent="0" algn="l">
              <a:lnSpc>
                <a:spcPct val="133000"/>
              </a:lnSpc>
              <a:buNone/>
            </a:pPr>
            <a:r>
              <a:rPr lang="en-US" sz="1300" i="1" dirty="0">
                <a:solidFill>
                  <a:srgbClr val="000000"/>
                </a:solidFill>
                <a:latin typeface="Montserrat" pitchFamily="34" charset="0"/>
                <a:ea typeface="Montserrat" pitchFamily="34" charset="-122"/>
                <a:cs typeface="Montserrat" pitchFamily="34" charset="-120"/>
              </a:rPr>
              <a:t>15 phút · Gửi test case và quan sát route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61475" y="488156"/>
            <a:ext cx="10868745" cy="508695"/>
          </a:xfrm>
          <a:prstGeom prst="rect">
            <a:avLst/>
          </a:prstGeom>
          <a:noFill/>
          <a:ln/>
        </p:spPr>
        <p:txBody>
          <a:bodyPr wrap="none" lIns="0" tIns="0" rIns="0" bIns="0" rtlCol="0" anchor="t"/>
          <a:lstStyle/>
          <a:p>
            <a:pPr marL="0" indent="0" algn="l">
              <a:lnSpc>
                <a:spcPct val="104000"/>
              </a:lnSpc>
              <a:buNone/>
            </a:pPr>
            <a:r>
              <a:rPr lang="en-US" sz="3200" b="1" dirty="0">
                <a:solidFill>
                  <a:srgbClr val="004AAD"/>
                </a:solidFill>
                <a:latin typeface="Montserrat Bold" pitchFamily="34" charset="0"/>
                <a:ea typeface="Montserrat Bold" pitchFamily="34" charset="-122"/>
                <a:cs typeface="Montserrat Bold" pitchFamily="34" charset="-120"/>
              </a:rPr>
              <a:t>Kết quả thực hành 2</a:t>
            </a:r>
            <a:endParaRPr lang="en-US" sz="3200" dirty="0"/>
          </a:p>
        </p:txBody>
      </p:sp>
      <p:sp>
        <p:nvSpPr>
          <p:cNvPr id="3" name="Text 1"/>
          <p:cNvSpPr/>
          <p:nvPr/>
        </p:nvSpPr>
        <p:spPr>
          <a:xfrm>
            <a:off x="661475" y="1060946"/>
            <a:ext cx="10868745" cy="254298"/>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Năm case route đúng, ngoài scope bị chặn</a:t>
            </a:r>
            <a:endParaRPr lang="en-US" sz="1600" dirty="0"/>
          </a:p>
        </p:txBody>
      </p:sp>
      <p:sp>
        <p:nvSpPr>
          <p:cNvPr id="4" name="Text 2"/>
          <p:cNvSpPr/>
          <p:nvPr/>
        </p:nvSpPr>
        <p:spPr>
          <a:xfrm>
            <a:off x="661475" y="1555552"/>
            <a:ext cx="10868745" cy="516930"/>
          </a:xfrm>
          <a:prstGeom prst="rect">
            <a:avLst/>
          </a:prstGeom>
          <a:noFill/>
          <a:ln/>
        </p:spPr>
        <p:txBody>
          <a:bodyPr wrap="square" lIns="0" tIns="0" rIns="0" bIns="0" rtlCol="0" anchor="t">
            <a:normAutofit/>
          </a:bodyPr>
          <a:lstStyle/>
          <a:p>
            <a:pPr marL="0" indent="0" algn="l">
              <a:lnSpc>
                <a:spcPct val="132000"/>
              </a:lnSpc>
              <a:buNone/>
            </a:pPr>
            <a:r>
              <a:rPr lang="en-US" sz="1250" dirty="0">
                <a:solidFill>
                  <a:srgbClr val="000000"/>
                </a:solidFill>
                <a:latin typeface="Montserrat" pitchFamily="34" charset="0"/>
                <a:ea typeface="Montserrat" pitchFamily="34" charset="-122"/>
                <a:cs typeface="Montserrat" pitchFamily="34" charset="-120"/>
              </a:rPr>
              <a:t>Trường </a:t>
            </a:r>
            <a:r>
              <a:rPr lang="en-US" sz="1250" dirty="0">
                <a:solidFill>
                  <a:srgbClr val="000000"/>
                </a:solidFill>
                <a:highlight>
                  <a:srgbClr val="F2F2F2"/>
                </a:highlight>
                <a:latin typeface="Consolas" pitchFamily="34" charset="0"/>
                <a:ea typeface="Consolas" pitchFamily="34" charset="-122"/>
                <a:cs typeface="Consolas" pitchFamily="34" charset="-120"/>
              </a:rPr>
              <a:t>route</a:t>
            </a:r>
            <a:r>
              <a:rPr lang="en-US" sz="1250" dirty="0">
                <a:solidFill>
                  <a:srgbClr val="000000"/>
                </a:solidFill>
                <a:latin typeface="Montserrat" pitchFamily="34" charset="0"/>
                <a:ea typeface="Montserrat" pitchFamily="34" charset="-122"/>
                <a:cs typeface="Montserrat" pitchFamily="34" charset="-120"/>
              </a:rPr>
              <a:t> cho thấy 5 intent được phân đúng, câu ngoài phạm vi bị refusal trước LLM, câu giống FAQ trả lời qua cache không tốn chi phí LLM.</a:t>
            </a:r>
            <a:endParaRPr lang="en-US" sz="1250" dirty="0"/>
          </a:p>
        </p:txBody>
      </p:sp>
      <p:sp>
        <p:nvSpPr>
          <p:cNvPr id="5" name="Text 3"/>
          <p:cNvSpPr/>
          <p:nvPr/>
        </p:nvSpPr>
        <p:spPr>
          <a:xfrm>
            <a:off x="1404902" y="3310930"/>
            <a:ext cx="2002383" cy="406995"/>
          </a:xfrm>
          <a:prstGeom prst="rect">
            <a:avLst/>
          </a:prstGeom>
          <a:noFill/>
          <a:ln/>
        </p:spPr>
        <p:txBody>
          <a:bodyPr wrap="none" lIns="0" tIns="0" rIns="0" bIns="0" rtlCol="0" anchor="t"/>
          <a:lstStyle/>
          <a:p>
            <a:pPr marL="0" indent="0" algn="ctr">
              <a:lnSpc>
                <a:spcPct val="83000"/>
              </a:lnSpc>
              <a:buNone/>
            </a:pPr>
            <a:r>
              <a:rPr lang="en-US" sz="3200" b="1" dirty="0">
                <a:solidFill>
                  <a:srgbClr val="000000"/>
                </a:solidFill>
                <a:latin typeface="Montserrat Bold" pitchFamily="34" charset="0"/>
                <a:ea typeface="Montserrat Bold" pitchFamily="34" charset="-122"/>
                <a:cs typeface="Montserrat Bold" pitchFamily="34" charset="-120"/>
              </a:rPr>
              <a:t>5/5</a:t>
            </a:r>
            <a:endParaRPr lang="en-US" sz="3200" dirty="0"/>
          </a:p>
        </p:txBody>
      </p:sp>
      <p:pic>
        <p:nvPicPr>
          <p:cNvPr id="6" name="Image 0" descr="preencoded.png"/>
          <p:cNvPicPr>
            <a:picLocks noChangeAspect="1"/>
          </p:cNvPicPr>
          <p:nvPr/>
        </p:nvPicPr>
        <p:blipFill>
          <a:blip r:embed="rId3"/>
          <a:stretch>
            <a:fillRect/>
          </a:stretch>
        </p:blipFill>
        <p:spPr>
          <a:xfrm>
            <a:off x="1185138" y="2293441"/>
            <a:ext cx="2442010" cy="2442071"/>
          </a:xfrm>
          <a:prstGeom prst="rect">
            <a:avLst/>
          </a:prstGeom>
        </p:spPr>
      </p:pic>
      <p:sp>
        <p:nvSpPr>
          <p:cNvPr id="7" name="Text 4"/>
          <p:cNvSpPr/>
          <p:nvPr/>
        </p:nvSpPr>
        <p:spPr>
          <a:xfrm>
            <a:off x="661475" y="4936430"/>
            <a:ext cx="3489337" cy="254298"/>
          </a:xfrm>
          <a:prstGeom prst="rect">
            <a:avLst/>
          </a:prstGeom>
          <a:noFill/>
          <a:ln/>
        </p:spPr>
        <p:txBody>
          <a:bodyPr wrap="none" lIns="0" tIns="0" rIns="0" bIns="0" rtlCol="0" anchor="t"/>
          <a:lstStyle/>
          <a:p>
            <a:pPr marL="0" indent="0" algn="ctr">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Route chính xác</a:t>
            </a:r>
            <a:endParaRPr lang="en-US" sz="1600" dirty="0"/>
          </a:p>
        </p:txBody>
      </p:sp>
      <p:sp>
        <p:nvSpPr>
          <p:cNvPr id="8" name="Text 5"/>
          <p:cNvSpPr/>
          <p:nvPr/>
        </p:nvSpPr>
        <p:spPr>
          <a:xfrm>
            <a:off x="661475" y="5286871"/>
            <a:ext cx="3489337" cy="258465"/>
          </a:xfrm>
          <a:prstGeom prst="rect">
            <a:avLst/>
          </a:prstGeom>
          <a:noFill/>
          <a:ln/>
        </p:spPr>
        <p:txBody>
          <a:bodyPr wrap="none" lIns="0" tIns="0" rIns="0" bIns="0" rtlCol="0" anchor="t"/>
          <a:lstStyle/>
          <a:p>
            <a:pPr marL="0" indent="0" algn="ctr">
              <a:lnSpc>
                <a:spcPct val="132000"/>
              </a:lnSpc>
              <a:buNone/>
            </a:pPr>
            <a:r>
              <a:rPr lang="en-US" sz="1250" dirty="0">
                <a:solidFill>
                  <a:srgbClr val="000000"/>
                </a:solidFill>
                <a:latin typeface="Montserrat" pitchFamily="34" charset="0"/>
                <a:ea typeface="Montserrat" pitchFamily="34" charset="-122"/>
                <a:cs typeface="Montserrat" pitchFamily="34" charset="-120"/>
              </a:rPr>
              <a:t>Tất cả intent được phân đúng loại</a:t>
            </a:r>
            <a:endParaRPr lang="en-US" sz="1250" dirty="0"/>
          </a:p>
        </p:txBody>
      </p:sp>
      <p:sp>
        <p:nvSpPr>
          <p:cNvPr id="9" name="Text 6"/>
          <p:cNvSpPr/>
          <p:nvPr/>
        </p:nvSpPr>
        <p:spPr>
          <a:xfrm>
            <a:off x="5094557" y="3310930"/>
            <a:ext cx="2002383" cy="406995"/>
          </a:xfrm>
          <a:prstGeom prst="rect">
            <a:avLst/>
          </a:prstGeom>
          <a:noFill/>
          <a:ln/>
        </p:spPr>
        <p:txBody>
          <a:bodyPr wrap="none" lIns="0" tIns="0" rIns="0" bIns="0" rtlCol="0" anchor="t"/>
          <a:lstStyle/>
          <a:p>
            <a:pPr marL="0" indent="0" algn="ctr">
              <a:lnSpc>
                <a:spcPct val="83000"/>
              </a:lnSpc>
              <a:buNone/>
            </a:pPr>
            <a:r>
              <a:rPr lang="en-US" sz="3200" b="1" dirty="0">
                <a:solidFill>
                  <a:srgbClr val="000000"/>
                </a:solidFill>
                <a:latin typeface="Montserrat Bold" pitchFamily="34" charset="0"/>
                <a:ea typeface="Montserrat Bold" pitchFamily="34" charset="-122"/>
                <a:cs typeface="Montserrat Bold" pitchFamily="34" charset="-120"/>
              </a:rPr>
              <a:t>100%</a:t>
            </a:r>
            <a:endParaRPr lang="en-US" sz="3200" dirty="0"/>
          </a:p>
        </p:txBody>
      </p:sp>
      <p:pic>
        <p:nvPicPr>
          <p:cNvPr id="10" name="Image 1" descr="preencoded.png"/>
          <p:cNvPicPr>
            <a:picLocks noChangeAspect="1"/>
          </p:cNvPicPr>
          <p:nvPr/>
        </p:nvPicPr>
        <p:blipFill>
          <a:blip r:embed="rId3"/>
          <a:stretch>
            <a:fillRect/>
          </a:stretch>
        </p:blipFill>
        <p:spPr>
          <a:xfrm>
            <a:off x="4874793" y="2293441"/>
            <a:ext cx="2442010" cy="2442071"/>
          </a:xfrm>
          <a:prstGeom prst="rect">
            <a:avLst/>
          </a:prstGeom>
        </p:spPr>
      </p:pic>
      <p:sp>
        <p:nvSpPr>
          <p:cNvPr id="11" name="Text 7"/>
          <p:cNvSpPr/>
          <p:nvPr/>
        </p:nvSpPr>
        <p:spPr>
          <a:xfrm>
            <a:off x="4351129" y="4936430"/>
            <a:ext cx="3489337" cy="254298"/>
          </a:xfrm>
          <a:prstGeom prst="rect">
            <a:avLst/>
          </a:prstGeom>
          <a:noFill/>
          <a:ln/>
        </p:spPr>
        <p:txBody>
          <a:bodyPr wrap="none" lIns="0" tIns="0" rIns="0" bIns="0" rtlCol="0" anchor="t"/>
          <a:lstStyle/>
          <a:p>
            <a:pPr marL="0" indent="0" algn="ctr">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Guardrail hoạt động</a:t>
            </a:r>
            <a:endParaRPr lang="en-US" sz="1600" dirty="0"/>
          </a:p>
        </p:txBody>
      </p:sp>
      <p:sp>
        <p:nvSpPr>
          <p:cNvPr id="12" name="Text 8"/>
          <p:cNvSpPr/>
          <p:nvPr/>
        </p:nvSpPr>
        <p:spPr>
          <a:xfrm>
            <a:off x="4351129" y="5286871"/>
            <a:ext cx="3489337" cy="258465"/>
          </a:xfrm>
          <a:prstGeom prst="rect">
            <a:avLst/>
          </a:prstGeom>
          <a:noFill/>
          <a:ln/>
        </p:spPr>
        <p:txBody>
          <a:bodyPr wrap="none" lIns="0" tIns="0" rIns="0" bIns="0" rtlCol="0" anchor="t"/>
          <a:lstStyle/>
          <a:p>
            <a:pPr marL="0" indent="0" algn="ctr">
              <a:lnSpc>
                <a:spcPct val="132000"/>
              </a:lnSpc>
              <a:buNone/>
            </a:pPr>
            <a:r>
              <a:rPr lang="en-US" sz="1250" dirty="0">
                <a:solidFill>
                  <a:srgbClr val="000000"/>
                </a:solidFill>
                <a:latin typeface="Montserrat" pitchFamily="34" charset="0"/>
                <a:ea typeface="Montserrat" pitchFamily="34" charset="-122"/>
                <a:cs typeface="Montserrat" pitchFamily="34" charset="-120"/>
              </a:rPr>
              <a:t>Câu injection bị chặn trước LLM</a:t>
            </a:r>
            <a:endParaRPr lang="en-US" sz="1250" dirty="0"/>
          </a:p>
        </p:txBody>
      </p:sp>
      <p:sp>
        <p:nvSpPr>
          <p:cNvPr id="13" name="Text 9"/>
          <p:cNvSpPr/>
          <p:nvPr/>
        </p:nvSpPr>
        <p:spPr>
          <a:xfrm>
            <a:off x="8784211" y="3310930"/>
            <a:ext cx="2002383" cy="406995"/>
          </a:xfrm>
          <a:prstGeom prst="rect">
            <a:avLst/>
          </a:prstGeom>
          <a:noFill/>
          <a:ln/>
        </p:spPr>
        <p:txBody>
          <a:bodyPr wrap="none" lIns="0" tIns="0" rIns="0" bIns="0" rtlCol="0" anchor="t"/>
          <a:lstStyle/>
          <a:p>
            <a:pPr marL="0" indent="0" algn="ctr">
              <a:lnSpc>
                <a:spcPct val="83000"/>
              </a:lnSpc>
              <a:buNone/>
            </a:pPr>
            <a:r>
              <a:rPr lang="en-US" sz="3200" b="1" dirty="0">
                <a:solidFill>
                  <a:srgbClr val="000000"/>
                </a:solidFill>
                <a:latin typeface="Montserrat Bold" pitchFamily="34" charset="0"/>
                <a:ea typeface="Montserrat Bold" pitchFamily="34" charset="-122"/>
                <a:cs typeface="Montserrat Bold" pitchFamily="34" charset="-120"/>
              </a:rPr>
              <a:t>1/1</a:t>
            </a:r>
            <a:endParaRPr lang="en-US" sz="3200" dirty="0"/>
          </a:p>
        </p:txBody>
      </p:sp>
      <p:pic>
        <p:nvPicPr>
          <p:cNvPr id="14" name="Image 2" descr="preencoded.png"/>
          <p:cNvPicPr>
            <a:picLocks noChangeAspect="1"/>
          </p:cNvPicPr>
          <p:nvPr/>
        </p:nvPicPr>
        <p:blipFill>
          <a:blip r:embed="rId3"/>
          <a:stretch>
            <a:fillRect/>
          </a:stretch>
        </p:blipFill>
        <p:spPr>
          <a:xfrm>
            <a:off x="8564447" y="2293441"/>
            <a:ext cx="2442010" cy="2442071"/>
          </a:xfrm>
          <a:prstGeom prst="rect">
            <a:avLst/>
          </a:prstGeom>
        </p:spPr>
      </p:pic>
      <p:sp>
        <p:nvSpPr>
          <p:cNvPr id="15" name="Text 10"/>
          <p:cNvSpPr/>
          <p:nvPr/>
        </p:nvSpPr>
        <p:spPr>
          <a:xfrm>
            <a:off x="8040784" y="4936430"/>
            <a:ext cx="3489436" cy="254298"/>
          </a:xfrm>
          <a:prstGeom prst="rect">
            <a:avLst/>
          </a:prstGeom>
          <a:noFill/>
          <a:ln/>
        </p:spPr>
        <p:txBody>
          <a:bodyPr wrap="none" lIns="0" tIns="0" rIns="0" bIns="0" rtlCol="0" anchor="t"/>
          <a:lstStyle/>
          <a:p>
            <a:pPr marL="0" indent="0" algn="ctr">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Cache hit</a:t>
            </a:r>
            <a:endParaRPr lang="en-US" sz="1600" dirty="0"/>
          </a:p>
        </p:txBody>
      </p:sp>
      <p:sp>
        <p:nvSpPr>
          <p:cNvPr id="16" name="Text 11"/>
          <p:cNvSpPr/>
          <p:nvPr/>
        </p:nvSpPr>
        <p:spPr>
          <a:xfrm>
            <a:off x="8040784" y="5286871"/>
            <a:ext cx="3489436" cy="258465"/>
          </a:xfrm>
          <a:prstGeom prst="rect">
            <a:avLst/>
          </a:prstGeom>
          <a:noFill/>
          <a:ln/>
        </p:spPr>
        <p:txBody>
          <a:bodyPr wrap="none" lIns="0" tIns="0" rIns="0" bIns="0" rtlCol="0" anchor="t"/>
          <a:lstStyle/>
          <a:p>
            <a:pPr marL="0" indent="0" algn="ctr">
              <a:lnSpc>
                <a:spcPct val="132000"/>
              </a:lnSpc>
              <a:buNone/>
            </a:pPr>
            <a:r>
              <a:rPr lang="en-US" sz="1250" dirty="0">
                <a:solidFill>
                  <a:srgbClr val="000000"/>
                </a:solidFill>
                <a:latin typeface="Montserrat" pitchFamily="34" charset="0"/>
                <a:ea typeface="Montserrat" pitchFamily="34" charset="-122"/>
                <a:cs typeface="Montserrat" pitchFamily="34" charset="-120"/>
              </a:rPr>
              <a:t>Câu FAQ trả lời nhanh, không gọi LLM</a:t>
            </a:r>
            <a:endParaRPr lang="en-US" sz="1250" dirty="0"/>
          </a:p>
        </p:txBody>
      </p:sp>
      <p:sp>
        <p:nvSpPr>
          <p:cNvPr id="17" name="Shape 12"/>
          <p:cNvSpPr/>
          <p:nvPr/>
        </p:nvSpPr>
        <p:spPr>
          <a:xfrm>
            <a:off x="661475" y="5725616"/>
            <a:ext cx="10868745" cy="644227"/>
          </a:xfrm>
          <a:prstGeom prst="roundRect">
            <a:avLst>
              <a:gd name="adj" fmla="val 10614"/>
            </a:avLst>
          </a:prstGeom>
          <a:solidFill>
            <a:srgbClr val="B6FCB8"/>
          </a:solidFill>
          <a:ln/>
        </p:spPr>
      </p:sp>
      <p:pic>
        <p:nvPicPr>
          <p:cNvPr id="18" name="Image 3" descr="preencoded.png"/>
          <p:cNvPicPr>
            <a:picLocks noChangeAspect="1"/>
          </p:cNvPicPr>
          <p:nvPr/>
        </p:nvPicPr>
        <p:blipFill>
          <a:blip r:embed="rId4"/>
          <a:stretch>
            <a:fillRect/>
          </a:stretch>
        </p:blipFill>
        <p:spPr>
          <a:xfrm>
            <a:off x="824190" y="5958086"/>
            <a:ext cx="203493" cy="162719"/>
          </a:xfrm>
          <a:prstGeom prst="rect">
            <a:avLst/>
          </a:prstGeom>
        </p:spPr>
      </p:pic>
      <p:sp>
        <p:nvSpPr>
          <p:cNvPr id="19" name="Text 13"/>
          <p:cNvSpPr/>
          <p:nvPr/>
        </p:nvSpPr>
        <p:spPr>
          <a:xfrm>
            <a:off x="1190397" y="5926534"/>
            <a:ext cx="10786693" cy="258465"/>
          </a:xfrm>
          <a:prstGeom prst="rect">
            <a:avLst/>
          </a:prstGeom>
          <a:noFill/>
          <a:ln/>
        </p:spPr>
        <p:txBody>
          <a:bodyPr wrap="none" lIns="0" tIns="0" rIns="0" bIns="0" rtlCol="0" anchor="t"/>
          <a:lstStyle/>
          <a:p>
            <a:pPr marL="0" indent="0" algn="l">
              <a:lnSpc>
                <a:spcPct val="132000"/>
              </a:lnSpc>
              <a:buNone/>
            </a:pPr>
            <a:r>
              <a:rPr lang="en-US" sz="1250" dirty="0">
                <a:solidFill>
                  <a:srgbClr val="000000"/>
                </a:solidFill>
                <a:latin typeface="Montserrat" pitchFamily="34" charset="0"/>
                <a:ea typeface="Montserrat" pitchFamily="34" charset="-122"/>
                <a:cs typeface="Montserrat" pitchFamily="34" charset="-120"/>
              </a:rPr>
              <a:t>✅ Biên an toàn và đường nhanh đã hoạt động. Khi cache miss, bot mới chuyển sang LLM fallback ở thực hành 3.</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2597348"/>
            <a:ext cx="6296860" cy="713184"/>
          </a:xfrm>
          <a:prstGeom prst="rect">
            <a:avLst/>
          </a:prstGeom>
          <a:noFill/>
          <a:ln/>
        </p:spPr>
        <p:txBody>
          <a:bodyPr wrap="none" lIns="0" tIns="0" rIns="0" bIns="0" rtlCol="0" anchor="t"/>
          <a:lstStyle/>
          <a:p>
            <a:pPr marL="0" indent="0" algn="l">
              <a:lnSpc>
                <a:spcPct val="104000"/>
              </a:lnSpc>
              <a:buNone/>
            </a:pPr>
            <a:r>
              <a:rPr lang="en-US" sz="4450" b="1" dirty="0">
                <a:solidFill>
                  <a:srgbClr val="004AAD"/>
                </a:solidFill>
                <a:latin typeface="Montserrat Bold" pitchFamily="34" charset="0"/>
                <a:ea typeface="Montserrat Bold" pitchFamily="34" charset="-122"/>
                <a:cs typeface="Montserrat Bold" pitchFamily="34" charset="-120"/>
              </a:rPr>
              <a:t>Thực hành 3</a:t>
            </a:r>
            <a:endParaRPr lang="en-US" sz="4450" dirty="0"/>
          </a:p>
        </p:txBody>
      </p:sp>
      <p:sp>
        <p:nvSpPr>
          <p:cNvPr id="4" name="Text 1"/>
          <p:cNvSpPr/>
          <p:nvPr/>
        </p:nvSpPr>
        <p:spPr>
          <a:xfrm>
            <a:off x="661475" y="3558580"/>
            <a:ext cx="6906444" cy="264616"/>
          </a:xfrm>
          <a:prstGeom prst="rect">
            <a:avLst/>
          </a:prstGeom>
          <a:noFill/>
          <a:ln/>
        </p:spPr>
        <p:txBody>
          <a:bodyPr wrap="none" lIns="0" tIns="0" rIns="0" bIns="0" rtlCol="0" anchor="t"/>
          <a:lstStyle/>
          <a:p>
            <a:pPr marL="0" indent="0" algn="l">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LLM Fallback, LLM-as-Judge và HITL Ticket</a:t>
            </a:r>
            <a:endParaRPr lang="en-US" sz="1300" dirty="0"/>
          </a:p>
        </p:txBody>
      </p:sp>
      <p:sp>
        <p:nvSpPr>
          <p:cNvPr id="5" name="Shape 2"/>
          <p:cNvSpPr/>
          <p:nvPr/>
        </p:nvSpPr>
        <p:spPr>
          <a:xfrm>
            <a:off x="661475" y="4009231"/>
            <a:ext cx="580217" cy="251420"/>
          </a:xfrm>
          <a:prstGeom prst="roundRect">
            <a:avLst>
              <a:gd name="adj" fmla="val 22103"/>
            </a:avLst>
          </a:prstGeom>
          <a:solidFill>
            <a:srgbClr val="CCE2FF"/>
          </a:solidFill>
          <a:ln/>
        </p:spPr>
      </p:sp>
      <p:sp>
        <p:nvSpPr>
          <p:cNvPr id="6" name="Text 3"/>
          <p:cNvSpPr/>
          <p:nvPr/>
        </p:nvSpPr>
        <p:spPr>
          <a:xfrm>
            <a:off x="760691" y="4058841"/>
            <a:ext cx="991369" cy="152202"/>
          </a:xfrm>
          <a:prstGeom prst="rect">
            <a:avLst/>
          </a:prstGeom>
          <a:noFill/>
          <a:ln/>
        </p:spPr>
        <p:txBody>
          <a:bodyPr wrap="none" lIns="0" tIns="0" rIns="0" bIns="0" rtlCol="0" anchor="t"/>
          <a:lstStyle/>
          <a:p>
            <a:pPr marL="0" indent="0" algn="l">
              <a:lnSpc>
                <a:spcPct val="96000"/>
              </a:lnSpc>
              <a:buNone/>
            </a:pPr>
            <a:r>
              <a:rPr lang="en-US" sz="1000" dirty="0">
                <a:solidFill>
                  <a:srgbClr val="000000"/>
                </a:solidFill>
                <a:latin typeface="Montserrat" pitchFamily="34" charset="0"/>
                <a:ea typeface="Montserrat" pitchFamily="34" charset="-122"/>
                <a:cs typeface="Montserrat" pitchFamily="34" charset="-120"/>
              </a:rPr>
              <a:t>LAB 3</a:t>
            </a:r>
            <a:endParaRPr lang="en-US" sz="1000" dirty="0"/>
          </a:p>
        </p:txBody>
      </p:sp>
      <p:sp>
        <p:nvSpPr>
          <p:cNvPr id="7" name="Shape 4"/>
          <p:cNvSpPr/>
          <p:nvPr/>
        </p:nvSpPr>
        <p:spPr>
          <a:xfrm>
            <a:off x="1324339" y="4009231"/>
            <a:ext cx="1504912" cy="251420"/>
          </a:xfrm>
          <a:prstGeom prst="roundRect">
            <a:avLst>
              <a:gd name="adj" fmla="val 22103"/>
            </a:avLst>
          </a:prstGeom>
          <a:noFill/>
          <a:ln w="6350">
            <a:solidFill>
              <a:srgbClr val="004AAD"/>
            </a:solidFill>
            <a:prstDash val="solid"/>
          </a:ln>
        </p:spPr>
      </p:sp>
      <p:sp>
        <p:nvSpPr>
          <p:cNvPr id="8" name="Text 5"/>
          <p:cNvSpPr/>
          <p:nvPr/>
        </p:nvSpPr>
        <p:spPr>
          <a:xfrm>
            <a:off x="1423555" y="4058841"/>
            <a:ext cx="1916065" cy="152202"/>
          </a:xfrm>
          <a:prstGeom prst="rect">
            <a:avLst/>
          </a:prstGeom>
          <a:noFill/>
          <a:ln/>
        </p:spPr>
        <p:txBody>
          <a:bodyPr wrap="none" lIns="0" tIns="0" rIns="0" bIns="0" rtlCol="0" anchor="t"/>
          <a:lstStyle/>
          <a:p>
            <a:pPr marL="0" indent="0" algn="l">
              <a:lnSpc>
                <a:spcPct val="96000"/>
              </a:lnSpc>
              <a:buNone/>
            </a:pPr>
            <a:r>
              <a:rPr lang="en-US" sz="1000" dirty="0">
                <a:solidFill>
                  <a:srgbClr val="004AAD"/>
                </a:solidFill>
                <a:latin typeface="Montserrat" pitchFamily="34" charset="0"/>
                <a:ea typeface="Montserrat" pitchFamily="34" charset="-122"/>
                <a:cs typeface="Montserrat" pitchFamily="34" charset="-120"/>
              </a:rPr>
              <a:t>KIỂM SOÁT ĐẦU RA</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61475" y="1886744"/>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Tách hai vai: một trả lời, một chấm điểm</a:t>
            </a:r>
            <a:endParaRPr lang="en-US" sz="3250" dirty="0"/>
          </a:p>
        </p:txBody>
      </p:sp>
      <p:sp>
        <p:nvSpPr>
          <p:cNvPr id="3" name="Text 1"/>
          <p:cNvSpPr/>
          <p:nvPr/>
        </p:nvSpPr>
        <p:spPr>
          <a:xfrm>
            <a:off x="661475" y="2469555"/>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JIT: LLM-as-Judge và HITL</a:t>
            </a:r>
            <a:endParaRPr lang="en-US" sz="1600" dirty="0"/>
          </a:p>
        </p:txBody>
      </p:sp>
      <p:sp>
        <p:nvSpPr>
          <p:cNvPr id="4" name="Shape 2"/>
          <p:cNvSpPr/>
          <p:nvPr/>
        </p:nvSpPr>
        <p:spPr>
          <a:xfrm>
            <a:off x="542415" y="2976066"/>
            <a:ext cx="5470785" cy="1273473"/>
          </a:xfrm>
          <a:prstGeom prst="roundRect">
            <a:avLst>
              <a:gd name="adj" fmla="val 9351"/>
            </a:avLst>
          </a:prstGeom>
          <a:solidFill>
            <a:srgbClr val="004AAD"/>
          </a:solidFill>
          <a:ln/>
        </p:spPr>
      </p:sp>
      <p:sp>
        <p:nvSpPr>
          <p:cNvPr id="5" name="Text 3"/>
          <p:cNvSpPr/>
          <p:nvPr/>
        </p:nvSpPr>
        <p:spPr>
          <a:xfrm>
            <a:off x="707710" y="3141365"/>
            <a:ext cx="5140196" cy="258465"/>
          </a:xfrm>
          <a:prstGeom prst="rect">
            <a:avLst/>
          </a:prstGeom>
          <a:noFill/>
          <a:ln/>
        </p:spPr>
        <p:txBody>
          <a:bodyPr wrap="none" lIns="0" tIns="0" rIns="0" bIns="0" rtlCol="0" anchor="t"/>
          <a:lstStyle/>
          <a:p>
            <a:pPr marL="0" indent="0" algn="l">
              <a:lnSpc>
                <a:spcPct val="104000"/>
              </a:lnSpc>
              <a:buNone/>
            </a:pPr>
            <a:r>
              <a:rPr lang="en-US" sz="1600" b="1" dirty="0">
                <a:solidFill>
                  <a:srgbClr val="FFFFFF"/>
                </a:solidFill>
                <a:latin typeface="Montserrat Bold" pitchFamily="34" charset="0"/>
                <a:ea typeface="Montserrat Bold" pitchFamily="34" charset="-122"/>
                <a:cs typeface="Montserrat Bold" pitchFamily="34" charset="-120"/>
              </a:rPr>
              <a:t>LLM Trả lời (khi cache miss)</a:t>
            </a:r>
            <a:endParaRPr lang="en-US" sz="1600" dirty="0"/>
          </a:p>
        </p:txBody>
      </p:sp>
      <p:sp>
        <p:nvSpPr>
          <p:cNvPr id="6" name="Text 4"/>
          <p:cNvSpPr/>
          <p:nvPr/>
        </p:nvSpPr>
        <p:spPr>
          <a:xfrm>
            <a:off x="707710" y="3565128"/>
            <a:ext cx="5140196"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FFFFFF"/>
                </a:solidFill>
                <a:latin typeface="Montserrat" pitchFamily="34" charset="0"/>
                <a:ea typeface="Montserrat" pitchFamily="34" charset="-122"/>
                <a:cs typeface="Montserrat" pitchFamily="34" charset="-120"/>
              </a:rPr>
              <a:t>Dựa vào top FAQ và chính sách, LLM trả lời </a:t>
            </a:r>
            <a:r>
              <a:rPr lang="en-US" sz="1300" b="1" dirty="0">
                <a:solidFill>
                  <a:srgbClr val="FFFFFF"/>
                </a:solidFill>
                <a:latin typeface="Montserrat Bold" pitchFamily="34" charset="0"/>
                <a:ea typeface="Montserrat Bold" pitchFamily="34" charset="-122"/>
                <a:cs typeface="Montserrat Bold" pitchFamily="34" charset="-120"/>
              </a:rPr>
              <a:t>có nguồn</a:t>
            </a:r>
            <a:r>
              <a:rPr lang="en-US" sz="1300" dirty="0">
                <a:solidFill>
                  <a:srgbClr val="FFFFFF"/>
                </a:solidFill>
                <a:latin typeface="Montserrat" pitchFamily="34" charset="0"/>
                <a:ea typeface="Montserrat" pitchFamily="34" charset="-122"/>
                <a:cs typeface="Montserrat" pitchFamily="34" charset="-120"/>
              </a:rPr>
              <a:t> — không được phép sáng tạo thông tin ngoài tài liệu.</a:t>
            </a:r>
            <a:endParaRPr lang="en-US" sz="1300" dirty="0"/>
          </a:p>
        </p:txBody>
      </p:sp>
      <p:sp>
        <p:nvSpPr>
          <p:cNvPr id="7" name="Text 5"/>
          <p:cNvSpPr/>
          <p:nvPr/>
        </p:nvSpPr>
        <p:spPr>
          <a:xfrm>
            <a:off x="6303904" y="3141365"/>
            <a:ext cx="5232666"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LLM-as-Judge (độc lập)</a:t>
            </a:r>
            <a:endParaRPr lang="en-US" sz="1600" dirty="0"/>
          </a:p>
        </p:txBody>
      </p:sp>
      <p:sp>
        <p:nvSpPr>
          <p:cNvPr id="8" name="Text 6"/>
          <p:cNvSpPr/>
          <p:nvPr/>
        </p:nvSpPr>
        <p:spPr>
          <a:xfrm>
            <a:off x="6303904" y="3565128"/>
            <a:ext cx="5232666" cy="53558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LLM thứ hai chấm cặp </a:t>
            </a:r>
            <a:r>
              <a:rPr lang="en-US" sz="1300" dirty="0">
                <a:solidFill>
                  <a:srgbClr val="000000"/>
                </a:solidFill>
                <a:highlight>
                  <a:srgbClr val="F2F2F2"/>
                </a:highlight>
                <a:latin typeface="Consolas" pitchFamily="34" charset="0"/>
                <a:ea typeface="Consolas" pitchFamily="34" charset="-122"/>
                <a:cs typeface="Consolas" pitchFamily="34" charset="-120"/>
              </a:rPr>
              <a:t>(confidence, reason)</a:t>
            </a:r>
            <a:r>
              <a:rPr lang="en-US" sz="1300" dirty="0">
                <a:solidFill>
                  <a:srgbClr val="000000"/>
                </a:solidFill>
                <a:latin typeface="Montserrat" pitchFamily="34" charset="0"/>
                <a:ea typeface="Montserrat" pitchFamily="34" charset="-122"/>
                <a:cs typeface="Montserrat" pitchFamily="34" charset="-120"/>
              </a:rPr>
              <a:t> hoàn toàn độc lập. Tránh model vừa tự trả lời vừa tự tin vào chính mình.</a:t>
            </a:r>
            <a:endParaRPr lang="en-US" sz="1300" dirty="0"/>
          </a:p>
        </p:txBody>
      </p:sp>
      <p:sp>
        <p:nvSpPr>
          <p:cNvPr id="9" name="Text 7"/>
          <p:cNvSpPr/>
          <p:nvPr/>
        </p:nvSpPr>
        <p:spPr>
          <a:xfrm>
            <a:off x="661475" y="4435574"/>
            <a:ext cx="10868745" cy="53558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Nếu </a:t>
            </a:r>
            <a:r>
              <a:rPr lang="en-US" sz="1300" dirty="0">
                <a:solidFill>
                  <a:srgbClr val="000000"/>
                </a:solidFill>
                <a:highlight>
                  <a:srgbClr val="F2F2F2"/>
                </a:highlight>
                <a:latin typeface="Consolas" pitchFamily="34" charset="0"/>
                <a:ea typeface="Consolas" pitchFamily="34" charset="-122"/>
                <a:cs typeface="Consolas" pitchFamily="34" charset="-120"/>
              </a:rPr>
              <a:t>confidence &lt; 0.7</a:t>
            </a:r>
            <a:r>
              <a:rPr lang="en-US" sz="1300" dirty="0">
                <a:solidFill>
                  <a:srgbClr val="000000"/>
                </a:solidFill>
                <a:latin typeface="Montserrat" pitchFamily="34" charset="0"/>
                <a:ea typeface="Montserrat" pitchFamily="34" charset="-122"/>
                <a:cs typeface="Montserrat" pitchFamily="34" charset="-120"/>
              </a:rPr>
              <a:t> hoặc case nhạy cảm (khiếu nại, hoàn tiền, ngoài phạm vi), IF node chuyển sang tạo </a:t>
            </a:r>
            <a:r>
              <a:rPr lang="en-US" sz="1300" b="1" dirty="0">
                <a:solidFill>
                  <a:srgbClr val="000000"/>
                </a:solidFill>
                <a:latin typeface="Montserrat Bold" pitchFamily="34" charset="0"/>
                <a:ea typeface="Montserrat Bold" pitchFamily="34" charset="-122"/>
                <a:cs typeface="Montserrat Bold" pitchFamily="34" charset="-120"/>
              </a:rPr>
              <a:t>ticket HITL</a:t>
            </a:r>
            <a:r>
              <a:rPr lang="en-US" sz="1300" dirty="0">
                <a:solidFill>
                  <a:srgbClr val="000000"/>
                </a:solidFill>
                <a:latin typeface="Montserrat" pitchFamily="34" charset="0"/>
                <a:ea typeface="Montserrat" pitchFamily="34" charset="-122"/>
                <a:cs typeface="Montserrat" pitchFamily="34" charset="-120"/>
              </a:rPr>
              <a:t> thay vì tự trả lời — người có thẩm quyền sẽ xử lý tiếp.</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61475" y="484485"/>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Thực hành 3: LLM Fallback và HITL ticket</a:t>
            </a:r>
            <a:endParaRPr lang="en-US" sz="3250" dirty="0"/>
          </a:p>
        </p:txBody>
      </p:sp>
      <p:sp>
        <p:nvSpPr>
          <p:cNvPr id="3" name="Text 1"/>
          <p:cNvSpPr/>
          <p:nvPr/>
        </p:nvSpPr>
        <p:spPr>
          <a:xfrm>
            <a:off x="661475" y="1067296"/>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Lab · 20 phút</a:t>
            </a:r>
            <a:endParaRPr lang="en-US" sz="1600" dirty="0"/>
          </a:p>
        </p:txBody>
      </p:sp>
      <p:sp>
        <p:nvSpPr>
          <p:cNvPr id="4" name="Shape 2"/>
          <p:cNvSpPr/>
          <p:nvPr/>
        </p:nvSpPr>
        <p:spPr>
          <a:xfrm>
            <a:off x="661475" y="1573808"/>
            <a:ext cx="10868745" cy="925909"/>
          </a:xfrm>
          <a:prstGeom prst="roundRect">
            <a:avLst>
              <a:gd name="adj" fmla="val 7502"/>
            </a:avLst>
          </a:prstGeom>
          <a:solidFill>
            <a:srgbClr val="CCE2FF"/>
          </a:solidFill>
          <a:ln/>
        </p:spPr>
      </p:sp>
      <p:pic>
        <p:nvPicPr>
          <p:cNvPr id="5" name="Image 0" descr="preencoded.png"/>
          <p:cNvPicPr>
            <a:picLocks noChangeAspect="1"/>
          </p:cNvPicPr>
          <p:nvPr/>
        </p:nvPicPr>
        <p:blipFill>
          <a:blip r:embed="rId3"/>
          <a:stretch>
            <a:fillRect/>
          </a:stretch>
        </p:blipFill>
        <p:spPr>
          <a:xfrm>
            <a:off x="826769" y="1813520"/>
            <a:ext cx="206667" cy="165298"/>
          </a:xfrm>
          <a:prstGeom prst="rect">
            <a:avLst/>
          </a:prstGeom>
        </p:spPr>
      </p:pic>
      <p:sp>
        <p:nvSpPr>
          <p:cNvPr id="6" name="Text 3"/>
          <p:cNvSpPr/>
          <p:nvPr/>
        </p:nvSpPr>
        <p:spPr>
          <a:xfrm>
            <a:off x="1198731" y="1780381"/>
            <a:ext cx="10166195" cy="529233"/>
          </a:xfrm>
          <a:prstGeom prst="rect">
            <a:avLst/>
          </a:prstGeom>
          <a:noFill/>
          <a:ln/>
        </p:spPr>
        <p:txBody>
          <a:bodyPr wrap="square" lIns="0" tIns="0" rIns="0" bIns="0" rtlCol="0" anchor="t">
            <a:normAutofit/>
          </a:bodyPr>
          <a:lstStyle/>
          <a:p>
            <a:pPr marL="0" indent="0" algn="l">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Mục tiêu:</a:t>
            </a:r>
            <a:r>
              <a:rPr lang="en-US" sz="1300" dirty="0">
                <a:solidFill>
                  <a:srgbClr val="000000"/>
                </a:solidFill>
                <a:latin typeface="Montserrat" pitchFamily="34" charset="0"/>
                <a:ea typeface="Montserrat" pitchFamily="34" charset="-122"/>
                <a:cs typeface="Montserrat" pitchFamily="34" charset="-120"/>
              </a:rPr>
              <a:t> LLM chỉ chạy khi cache miss, judge có confidence và reason, đúng 2 case chuyển người (TC2 hoàn tiền, TC4 ngoài scope).</a:t>
            </a:r>
            <a:endParaRPr lang="en-US" sz="1300" dirty="0"/>
          </a:p>
        </p:txBody>
      </p:sp>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475" y="2685752"/>
            <a:ext cx="5351725" cy="1764407"/>
          </a:xfrm>
          <a:prstGeom prst="rect">
            <a:avLst/>
          </a:prstGeom>
        </p:spPr>
      </p:pic>
      <p:sp>
        <p:nvSpPr>
          <p:cNvPr id="8" name="Text 4"/>
          <p:cNvSpPr/>
          <p:nvPr/>
        </p:nvSpPr>
        <p:spPr>
          <a:xfrm>
            <a:off x="3213317" y="2794595"/>
            <a:ext cx="248041" cy="310059"/>
          </a:xfrm>
          <a:prstGeom prst="rect">
            <a:avLst/>
          </a:prstGeom>
          <a:noFill/>
          <a:ln/>
        </p:spPr>
        <p:txBody>
          <a:bodyPr wrap="none" lIns="0" tIns="0" rIns="0" bIns="0" rtlCol="0" anchor="ctr"/>
          <a:lstStyle/>
          <a:p>
            <a:pPr marL="0" indent="0" algn="ctr">
              <a:lnSpc>
                <a:spcPct val="100000"/>
              </a:lnSpc>
              <a:buNone/>
            </a:pPr>
            <a:r>
              <a:rPr lang="en-US" sz="1950" b="1" dirty="0">
                <a:solidFill>
                  <a:srgbClr val="000000"/>
                </a:solidFill>
                <a:latin typeface="Montserrat Bold" pitchFamily="34" charset="0"/>
                <a:ea typeface="Montserrat Bold" pitchFamily="34" charset="-122"/>
                <a:cs typeface="Montserrat Bold" pitchFamily="34" charset="-120"/>
              </a:rPr>
              <a:t>1</a:t>
            </a:r>
            <a:endParaRPr lang="en-US" sz="1950" dirty="0"/>
          </a:p>
        </p:txBody>
      </p:sp>
      <p:sp>
        <p:nvSpPr>
          <p:cNvPr id="9" name="Text 5"/>
          <p:cNvSpPr/>
          <p:nvPr/>
        </p:nvSpPr>
        <p:spPr>
          <a:xfrm>
            <a:off x="845819" y="3366195"/>
            <a:ext cx="4983038"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Gửi cache miss case</a:t>
            </a:r>
            <a:endParaRPr lang="en-US" sz="1600" dirty="0"/>
          </a:p>
        </p:txBody>
      </p:sp>
      <p:sp>
        <p:nvSpPr>
          <p:cNvPr id="10" name="Text 6"/>
          <p:cNvSpPr/>
          <p:nvPr/>
        </p:nvSpPr>
        <p:spPr>
          <a:xfrm>
            <a:off x="845819" y="3723878"/>
            <a:ext cx="4983038"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Chạy Cell Step 4 và Step 5 gửi các case cache miss để kích hoạt LLM fallback.</a:t>
            </a:r>
            <a:endParaRPr lang="en-US" sz="1300" dirty="0"/>
          </a:p>
        </p:txBody>
      </p:sp>
      <p:pic>
        <p:nvPicPr>
          <p:cNvPr id="11"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78495" y="2685752"/>
            <a:ext cx="5351725" cy="1764407"/>
          </a:xfrm>
          <a:prstGeom prst="rect">
            <a:avLst/>
          </a:prstGeom>
        </p:spPr>
      </p:pic>
      <p:sp>
        <p:nvSpPr>
          <p:cNvPr id="12" name="Text 7"/>
          <p:cNvSpPr/>
          <p:nvPr/>
        </p:nvSpPr>
        <p:spPr>
          <a:xfrm>
            <a:off x="8730337" y="2794595"/>
            <a:ext cx="248041" cy="310059"/>
          </a:xfrm>
          <a:prstGeom prst="rect">
            <a:avLst/>
          </a:prstGeom>
          <a:noFill/>
          <a:ln/>
        </p:spPr>
        <p:txBody>
          <a:bodyPr wrap="none" lIns="0" tIns="0" rIns="0" bIns="0" rtlCol="0" anchor="ctr"/>
          <a:lstStyle/>
          <a:p>
            <a:pPr marL="0" indent="0" algn="ctr">
              <a:lnSpc>
                <a:spcPct val="100000"/>
              </a:lnSpc>
              <a:buNone/>
            </a:pPr>
            <a:r>
              <a:rPr lang="en-US" sz="1950" b="1" dirty="0">
                <a:solidFill>
                  <a:srgbClr val="000000"/>
                </a:solidFill>
                <a:latin typeface="Montserrat Bold" pitchFamily="34" charset="0"/>
                <a:ea typeface="Montserrat Bold" pitchFamily="34" charset="-122"/>
                <a:cs typeface="Montserrat Bold" pitchFamily="34" charset="-120"/>
              </a:rPr>
              <a:t>2</a:t>
            </a:r>
            <a:endParaRPr lang="en-US" sz="1950" dirty="0"/>
          </a:p>
        </p:txBody>
      </p:sp>
      <p:sp>
        <p:nvSpPr>
          <p:cNvPr id="13" name="Text 8"/>
          <p:cNvSpPr/>
          <p:nvPr/>
        </p:nvSpPr>
        <p:spPr>
          <a:xfrm>
            <a:off x="6362838" y="3366195"/>
            <a:ext cx="4983038"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Quan sát LLM + Judge</a:t>
            </a:r>
            <a:endParaRPr lang="en-US" sz="1600" dirty="0"/>
          </a:p>
        </p:txBody>
      </p:sp>
      <p:sp>
        <p:nvSpPr>
          <p:cNvPr id="14" name="Text 9"/>
          <p:cNvSpPr/>
          <p:nvPr/>
        </p:nvSpPr>
        <p:spPr>
          <a:xfrm>
            <a:off x="6362838" y="3723878"/>
            <a:ext cx="4983038" cy="5419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Xem LLM trả lời có nguồn và LLM-as-Judge chấm </a:t>
            </a:r>
            <a:r>
              <a:rPr lang="en-US" sz="1300" dirty="0">
                <a:solidFill>
                  <a:srgbClr val="000000"/>
                </a:solidFill>
                <a:highlight>
                  <a:srgbClr val="F2F2F2"/>
                </a:highlight>
                <a:latin typeface="Consolas" pitchFamily="34" charset="0"/>
                <a:ea typeface="Consolas" pitchFamily="34" charset="-122"/>
                <a:cs typeface="Consolas" pitchFamily="34" charset="-120"/>
              </a:rPr>
              <a:t>confidence</a:t>
            </a:r>
            <a:r>
              <a:rPr lang="en-US" sz="1300" dirty="0">
                <a:solidFill>
                  <a:srgbClr val="000000"/>
                </a:solidFill>
                <a:latin typeface="Montserrat" pitchFamily="34" charset="0"/>
                <a:ea typeface="Montserrat" pitchFamily="34" charset="-122"/>
                <a:cs typeface="Montserrat" pitchFamily="34" charset="-120"/>
              </a:rPr>
              <a:t> kèm </a:t>
            </a:r>
            <a:r>
              <a:rPr lang="en-US" sz="1300" dirty="0">
                <a:solidFill>
                  <a:srgbClr val="000000"/>
                </a:solidFill>
                <a:highlight>
                  <a:srgbClr val="F2F2F2"/>
                </a:highlight>
                <a:latin typeface="Consolas" pitchFamily="34" charset="0"/>
                <a:ea typeface="Consolas" pitchFamily="34" charset="-122"/>
                <a:cs typeface="Consolas" pitchFamily="34" charset="-120"/>
              </a:rPr>
              <a:t>reason</a:t>
            </a:r>
            <a:r>
              <a:rPr lang="en-US" sz="1300" dirty="0">
                <a:solidFill>
                  <a:srgbClr val="000000"/>
                </a:solidFill>
                <a:latin typeface="Montserrat" pitchFamily="34" charset="0"/>
                <a:ea typeface="Montserrat" pitchFamily="34" charset="-122"/>
                <a:cs typeface="Montserrat" pitchFamily="34" charset="-120"/>
              </a:rPr>
              <a:t> rõ ràng.</a:t>
            </a:r>
            <a:endParaRPr lang="en-US" sz="1300" dirty="0"/>
          </a:p>
        </p:txBody>
      </p:sp>
      <p:pic>
        <p:nvPicPr>
          <p:cNvPr id="15"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1475" y="4615458"/>
            <a:ext cx="5351725" cy="1758057"/>
          </a:xfrm>
          <a:prstGeom prst="rect">
            <a:avLst/>
          </a:prstGeom>
        </p:spPr>
      </p:pic>
      <p:sp>
        <p:nvSpPr>
          <p:cNvPr id="16" name="Text 10"/>
          <p:cNvSpPr/>
          <p:nvPr/>
        </p:nvSpPr>
        <p:spPr>
          <a:xfrm>
            <a:off x="3213317" y="4724301"/>
            <a:ext cx="248041" cy="310059"/>
          </a:xfrm>
          <a:prstGeom prst="rect">
            <a:avLst/>
          </a:prstGeom>
          <a:noFill/>
          <a:ln/>
        </p:spPr>
        <p:txBody>
          <a:bodyPr wrap="none" lIns="0" tIns="0" rIns="0" bIns="0" rtlCol="0" anchor="ctr"/>
          <a:lstStyle/>
          <a:p>
            <a:pPr marL="0" indent="0" algn="ctr">
              <a:lnSpc>
                <a:spcPct val="100000"/>
              </a:lnSpc>
              <a:buNone/>
            </a:pPr>
            <a:r>
              <a:rPr lang="en-US" sz="1950" b="1" dirty="0">
                <a:solidFill>
                  <a:srgbClr val="000000"/>
                </a:solidFill>
                <a:latin typeface="Montserrat Bold" pitchFamily="34" charset="0"/>
                <a:ea typeface="Montserrat Bold" pitchFamily="34" charset="-122"/>
                <a:cs typeface="Montserrat Bold" pitchFamily="34" charset="-120"/>
              </a:rPr>
              <a:t>3</a:t>
            </a:r>
            <a:endParaRPr lang="en-US" sz="1950" dirty="0"/>
          </a:p>
        </p:txBody>
      </p:sp>
      <p:sp>
        <p:nvSpPr>
          <p:cNvPr id="17" name="Text 11"/>
          <p:cNvSpPr/>
          <p:nvPr/>
        </p:nvSpPr>
        <p:spPr>
          <a:xfrm>
            <a:off x="845819" y="5295900"/>
            <a:ext cx="4983038"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Kiểm tra HITL ticket</a:t>
            </a:r>
            <a:endParaRPr lang="en-US" sz="1600" dirty="0"/>
          </a:p>
        </p:txBody>
      </p:sp>
      <p:sp>
        <p:nvSpPr>
          <p:cNvPr id="18" name="Text 12"/>
          <p:cNvSpPr/>
          <p:nvPr/>
        </p:nvSpPr>
        <p:spPr>
          <a:xfrm>
            <a:off x="845819" y="5653584"/>
            <a:ext cx="4983038"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Xác nhận TC2 (hoàn tiền) và TC4 (ngoài scope) được tạo ticket HITL, không tự duyệt.</a:t>
            </a:r>
            <a:endParaRPr lang="en-US" sz="1300" dirty="0"/>
          </a:p>
        </p:txBody>
      </p:sp>
      <p:pic>
        <p:nvPicPr>
          <p:cNvPr id="19" name="Image 4"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78495" y="4615458"/>
            <a:ext cx="5351725" cy="1758057"/>
          </a:xfrm>
          <a:prstGeom prst="rect">
            <a:avLst/>
          </a:prstGeom>
        </p:spPr>
      </p:pic>
      <p:sp>
        <p:nvSpPr>
          <p:cNvPr id="20" name="Text 13"/>
          <p:cNvSpPr/>
          <p:nvPr/>
        </p:nvSpPr>
        <p:spPr>
          <a:xfrm>
            <a:off x="8730337" y="4724301"/>
            <a:ext cx="248041" cy="310059"/>
          </a:xfrm>
          <a:prstGeom prst="rect">
            <a:avLst/>
          </a:prstGeom>
          <a:noFill/>
          <a:ln/>
        </p:spPr>
        <p:txBody>
          <a:bodyPr wrap="none" lIns="0" tIns="0" rIns="0" bIns="0" rtlCol="0" anchor="ctr"/>
          <a:lstStyle/>
          <a:p>
            <a:pPr marL="0" indent="0" algn="ctr">
              <a:lnSpc>
                <a:spcPct val="100000"/>
              </a:lnSpc>
              <a:buNone/>
            </a:pPr>
            <a:r>
              <a:rPr lang="en-US" sz="1950" b="1" dirty="0">
                <a:solidFill>
                  <a:srgbClr val="000000"/>
                </a:solidFill>
                <a:latin typeface="Montserrat Bold" pitchFamily="34" charset="0"/>
                <a:ea typeface="Montserrat Bold" pitchFamily="34" charset="-122"/>
                <a:cs typeface="Montserrat Bold" pitchFamily="34" charset="-120"/>
              </a:rPr>
              <a:t>4</a:t>
            </a:r>
            <a:endParaRPr lang="en-US" sz="1950" dirty="0"/>
          </a:p>
        </p:txBody>
      </p:sp>
      <p:sp>
        <p:nvSpPr>
          <p:cNvPr id="21" name="Text 14"/>
          <p:cNvSpPr/>
          <p:nvPr/>
        </p:nvSpPr>
        <p:spPr>
          <a:xfrm>
            <a:off x="6362838" y="5295900"/>
            <a:ext cx="4983038"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Xác nhận reason rõ ràng</a:t>
            </a:r>
            <a:endParaRPr lang="en-US" sz="1600" dirty="0"/>
          </a:p>
        </p:txBody>
      </p:sp>
      <p:sp>
        <p:nvSpPr>
          <p:cNvPr id="22" name="Text 15"/>
          <p:cNvSpPr/>
          <p:nvPr/>
        </p:nvSpPr>
        <p:spPr>
          <a:xfrm>
            <a:off x="6362838" y="5653584"/>
            <a:ext cx="4983038" cy="53558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Ticket phải có </a:t>
            </a:r>
            <a:r>
              <a:rPr lang="en-US" sz="1300" dirty="0">
                <a:solidFill>
                  <a:srgbClr val="000000"/>
                </a:solidFill>
                <a:highlight>
                  <a:srgbClr val="F2F2F2"/>
                </a:highlight>
                <a:latin typeface="Consolas" pitchFamily="34" charset="0"/>
                <a:ea typeface="Consolas" pitchFamily="34" charset="-122"/>
                <a:cs typeface="Consolas" pitchFamily="34" charset="-120"/>
              </a:rPr>
              <a:t>reason</a:t>
            </a:r>
            <a:r>
              <a:rPr lang="en-US" sz="1300" dirty="0">
                <a:solidFill>
                  <a:srgbClr val="000000"/>
                </a:solidFill>
                <a:latin typeface="Montserrat" pitchFamily="34" charset="0"/>
                <a:ea typeface="Montserrat" pitchFamily="34" charset="-122"/>
                <a:cs typeface="Montserrat" pitchFamily="34" charset="-120"/>
              </a:rPr>
              <a:t> cụ thể — người tiếp nhận biết tại sao case này cần xử lý thủ công.</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Text 0"/>
          <p:cNvSpPr/>
          <p:nvPr/>
        </p:nvSpPr>
        <p:spPr>
          <a:xfrm>
            <a:off x="5233360" y="2655788"/>
            <a:ext cx="6296860" cy="1033661"/>
          </a:xfrm>
          <a:prstGeom prst="rect">
            <a:avLst/>
          </a:prstGeom>
          <a:noFill/>
          <a:ln/>
        </p:spPr>
        <p:txBody>
          <a:bodyPr wrap="none" lIns="0" tIns="0" rIns="0" bIns="0" rtlCol="0" anchor="t"/>
          <a:lstStyle/>
          <a:p>
            <a:pPr marL="0" indent="0" algn="l">
              <a:lnSpc>
                <a:spcPct val="104000"/>
              </a:lnSpc>
              <a:buNone/>
            </a:pPr>
            <a:r>
              <a:rPr lang="en-US" sz="6500" b="1" dirty="0">
                <a:solidFill>
                  <a:srgbClr val="004AAD"/>
                </a:solidFill>
                <a:latin typeface="Montserrat Bold" pitchFamily="34" charset="0"/>
                <a:ea typeface="Montserrat Bold" pitchFamily="34" charset="-122"/>
                <a:cs typeface="Montserrat Bold" pitchFamily="34" charset="-120"/>
              </a:rPr>
              <a:t>Thực hành 3</a:t>
            </a:r>
            <a:endParaRPr lang="en-US" sz="6500" dirty="0"/>
          </a:p>
        </p:txBody>
      </p:sp>
      <p:sp>
        <p:nvSpPr>
          <p:cNvPr id="4" name="Text 1"/>
          <p:cNvSpPr/>
          <p:nvPr/>
        </p:nvSpPr>
        <p:spPr>
          <a:xfrm>
            <a:off x="5233360" y="3937496"/>
            <a:ext cx="6906444" cy="264616"/>
          </a:xfrm>
          <a:prstGeom prst="rect">
            <a:avLst/>
          </a:prstGeom>
          <a:noFill/>
          <a:ln/>
        </p:spPr>
        <p:txBody>
          <a:bodyPr wrap="none" lIns="0" tIns="0" rIns="0" bIns="0" rtlCol="0" anchor="t"/>
          <a:lstStyle/>
          <a:p>
            <a:pPr marL="0" indent="0" algn="l">
              <a:lnSpc>
                <a:spcPct val="133000"/>
              </a:lnSpc>
              <a:buNone/>
            </a:pPr>
            <a:r>
              <a:rPr lang="en-US" sz="1300" i="1" dirty="0">
                <a:solidFill>
                  <a:srgbClr val="000000"/>
                </a:solidFill>
                <a:latin typeface="Montserrat" pitchFamily="34" charset="0"/>
                <a:ea typeface="Montserrat" pitchFamily="34" charset="-122"/>
                <a:cs typeface="Montserrat" pitchFamily="34" charset="-120"/>
              </a:rPr>
              <a:t>15 phút · Chạy fallback và kiểm tra ticket HITL</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661475" y="1484709"/>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Kết quả thực hành 3</a:t>
            </a:r>
            <a:endParaRPr lang="en-US" sz="3250" dirty="0"/>
          </a:p>
        </p:txBody>
      </p:sp>
      <p:sp>
        <p:nvSpPr>
          <p:cNvPr id="3" name="Text 1"/>
          <p:cNvSpPr/>
          <p:nvPr/>
        </p:nvSpPr>
        <p:spPr>
          <a:xfrm>
            <a:off x="661475" y="2067520"/>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Đúng hai case nhạy cảm được chuyển người</a:t>
            </a:r>
            <a:endParaRPr lang="en-US" sz="1600" dirty="0"/>
          </a:p>
        </p:txBody>
      </p:sp>
      <p:sp>
        <p:nvSpPr>
          <p:cNvPr id="4" name="Text 2"/>
          <p:cNvSpPr/>
          <p:nvPr/>
        </p:nvSpPr>
        <p:spPr>
          <a:xfrm>
            <a:off x="661475" y="2574032"/>
            <a:ext cx="10868745" cy="53558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highlight>
                  <a:srgbClr val="F2F2F2"/>
                </a:highlight>
                <a:latin typeface="Consolas" pitchFamily="34" charset="0"/>
                <a:ea typeface="Consolas" pitchFamily="34" charset="-122"/>
                <a:cs typeface="Consolas" pitchFamily="34" charset="-120"/>
              </a:rPr>
              <a:t>risk-analyzed</a:t>
            </a:r>
            <a:r>
              <a:rPr lang="en-US" sz="1300" dirty="0">
                <a:solidFill>
                  <a:srgbClr val="000000"/>
                </a:solidFill>
                <a:latin typeface="Montserrat" pitchFamily="34" charset="0"/>
                <a:ea typeface="Montserrat" pitchFamily="34" charset="-122"/>
                <a:cs typeface="Montserrat" pitchFamily="34" charset="-120"/>
              </a:rPr>
              <a:t> cho thấy judge chấm confidence thấp ở TC2 và TC4. IF node tạo ticket HITL kèm reason. Các case an toàn vẫn </a:t>
            </a:r>
            <a:r>
              <a:rPr lang="en-US" sz="1300" b="1" dirty="0">
                <a:solidFill>
                  <a:srgbClr val="000000"/>
                </a:solidFill>
                <a:latin typeface="Montserrat Bold" pitchFamily="34" charset="0"/>
                <a:ea typeface="Montserrat Bold" pitchFamily="34" charset="-122"/>
                <a:cs typeface="Montserrat Bold" pitchFamily="34" charset="-120"/>
              </a:rPr>
              <a:t>trả lời tự động có nguồn</a:t>
            </a:r>
            <a:r>
              <a:rPr lang="en-US" sz="1300" dirty="0">
                <a:solidFill>
                  <a:srgbClr val="000000"/>
                </a:solidFill>
                <a:latin typeface="Montserrat" pitchFamily="34" charset="0"/>
                <a:ea typeface="Montserrat" pitchFamily="34" charset="-122"/>
                <a:cs typeface="Montserrat" pitchFamily="34" charset="-120"/>
              </a:rPr>
              <a:t>.</a:t>
            </a:r>
            <a:endParaRPr lang="en-US" sz="1300" dirty="0"/>
          </a:p>
        </p:txBody>
      </p:sp>
      <p:sp>
        <p:nvSpPr>
          <p:cNvPr id="5" name="Shape 3"/>
          <p:cNvSpPr/>
          <p:nvPr/>
        </p:nvSpPr>
        <p:spPr>
          <a:xfrm>
            <a:off x="661475" y="3295650"/>
            <a:ext cx="10868745" cy="1230213"/>
          </a:xfrm>
          <a:prstGeom prst="roundRect">
            <a:avLst>
              <a:gd name="adj" fmla="val 5647"/>
            </a:avLst>
          </a:prstGeom>
          <a:solidFill>
            <a:srgbClr val="CCE2FF"/>
          </a:solidFill>
          <a:ln w="6350">
            <a:solidFill>
              <a:srgbClr val="B2C8E5"/>
            </a:solidFill>
            <a:prstDash val="solid"/>
          </a:ln>
        </p:spPr>
      </p:sp>
      <p:sp>
        <p:nvSpPr>
          <p:cNvPr id="6" name="Shape 4"/>
          <p:cNvSpPr/>
          <p:nvPr/>
        </p:nvSpPr>
        <p:spPr>
          <a:xfrm>
            <a:off x="667825" y="3302000"/>
            <a:ext cx="3618616" cy="1217513"/>
          </a:xfrm>
          <a:custGeom>
            <a:avLst/>
            <a:gdLst/>
            <a:ahLst/>
            <a:cxnLst/>
            <a:rect l="l" t="t" r="r" b="b"/>
            <a:pathLst>
              <a:path w="3618616" h="1217513">
                <a:moveTo>
                  <a:pt x="57887" y="0"/>
                </a:moveTo>
                <a:lnTo>
                  <a:pt x="3618616" y="0"/>
                </a:lnTo>
                <a:lnTo>
                  <a:pt x="3618616" y="1217513"/>
                </a:lnTo>
                <a:lnTo>
                  <a:pt x="57887" y="1217513"/>
                </a:lnTo>
                <a:arcTo wR="57887" hR="57888" stAng="5400000" swAng="5400000"/>
                <a:lnTo>
                  <a:pt x="0" y="57888"/>
                </a:lnTo>
                <a:arcTo wR="57887" hR="57888" stAng="10800000" swAng="5400000"/>
                <a:close/>
              </a:path>
            </a:pathLst>
          </a:custGeom>
          <a:solidFill>
            <a:srgbClr val="CCE2FF"/>
          </a:solidFill>
          <a:ln/>
        </p:spPr>
      </p:sp>
      <p:sp>
        <p:nvSpPr>
          <p:cNvPr id="7" name="Text 5"/>
          <p:cNvSpPr/>
          <p:nvPr/>
        </p:nvSpPr>
        <p:spPr>
          <a:xfrm>
            <a:off x="833119" y="3467298"/>
            <a:ext cx="3288027"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TC1, TC3, TC5</a:t>
            </a:r>
            <a:endParaRPr lang="en-US" sz="1600" dirty="0"/>
          </a:p>
        </p:txBody>
      </p:sp>
      <p:sp>
        <p:nvSpPr>
          <p:cNvPr id="8" name="Text 6"/>
          <p:cNvSpPr/>
          <p:nvPr/>
        </p:nvSpPr>
        <p:spPr>
          <a:xfrm>
            <a:off x="833119" y="3824982"/>
            <a:ext cx="3288027"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 Trả lời tự động — confidence cao, nguồn rõ ràng</a:t>
            </a:r>
            <a:endParaRPr lang="en-US" sz="1300" dirty="0"/>
          </a:p>
        </p:txBody>
      </p:sp>
      <p:sp>
        <p:nvSpPr>
          <p:cNvPr id="9" name="Shape 7"/>
          <p:cNvSpPr/>
          <p:nvPr/>
        </p:nvSpPr>
        <p:spPr>
          <a:xfrm>
            <a:off x="4286440" y="3302000"/>
            <a:ext cx="3618715" cy="1217513"/>
          </a:xfrm>
          <a:prstGeom prst="rect">
            <a:avLst/>
          </a:prstGeom>
          <a:solidFill>
            <a:srgbClr val="CCE2FF"/>
          </a:solidFill>
          <a:ln/>
        </p:spPr>
      </p:sp>
      <p:sp>
        <p:nvSpPr>
          <p:cNvPr id="10" name="Shape 8"/>
          <p:cNvSpPr/>
          <p:nvPr/>
        </p:nvSpPr>
        <p:spPr>
          <a:xfrm>
            <a:off x="4286440" y="3302000"/>
            <a:ext cx="19050" cy="1217513"/>
          </a:xfrm>
          <a:prstGeom prst="roundRect">
            <a:avLst>
              <a:gd name="adj" fmla="val 49999"/>
            </a:avLst>
          </a:prstGeom>
          <a:solidFill>
            <a:srgbClr val="B2C8E5"/>
          </a:solidFill>
          <a:ln/>
        </p:spPr>
      </p:sp>
      <p:sp>
        <p:nvSpPr>
          <p:cNvPr id="11" name="Text 9"/>
          <p:cNvSpPr/>
          <p:nvPr/>
        </p:nvSpPr>
        <p:spPr>
          <a:xfrm>
            <a:off x="4451735" y="3467298"/>
            <a:ext cx="3288126"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TC2 · Hoàn tiền</a:t>
            </a:r>
            <a:endParaRPr lang="en-US" sz="1600" dirty="0"/>
          </a:p>
        </p:txBody>
      </p:sp>
      <p:sp>
        <p:nvSpPr>
          <p:cNvPr id="12" name="Text 10"/>
          <p:cNvSpPr/>
          <p:nvPr/>
        </p:nvSpPr>
        <p:spPr>
          <a:xfrm>
            <a:off x="4451735" y="3824982"/>
            <a:ext cx="3288126"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 Ticket HITL — judge chấm confidence thấp</a:t>
            </a:r>
            <a:endParaRPr lang="en-US" sz="1300" dirty="0"/>
          </a:p>
        </p:txBody>
      </p:sp>
      <p:sp>
        <p:nvSpPr>
          <p:cNvPr id="13" name="Shape 11"/>
          <p:cNvSpPr/>
          <p:nvPr/>
        </p:nvSpPr>
        <p:spPr>
          <a:xfrm>
            <a:off x="7905155" y="3302000"/>
            <a:ext cx="3618715" cy="1217513"/>
          </a:xfrm>
          <a:custGeom>
            <a:avLst/>
            <a:gdLst/>
            <a:ahLst/>
            <a:cxnLst/>
            <a:rect l="l" t="t" r="r" b="b"/>
            <a:pathLst>
              <a:path w="3618715" h="1217513">
                <a:moveTo>
                  <a:pt x="0" y="0"/>
                </a:moveTo>
                <a:lnTo>
                  <a:pt x="3560828" y="0"/>
                </a:lnTo>
                <a:arcTo wR="57887" hR="57888" stAng="16200000" swAng="5400000"/>
                <a:lnTo>
                  <a:pt x="3618715" y="1159625"/>
                </a:lnTo>
                <a:arcTo wR="57887" hR="57888" stAng="0" swAng="5400000"/>
                <a:lnTo>
                  <a:pt x="0" y="1217513"/>
                </a:lnTo>
                <a:lnTo>
                  <a:pt x="0" y="0"/>
                </a:lnTo>
                <a:close/>
              </a:path>
            </a:pathLst>
          </a:custGeom>
          <a:solidFill>
            <a:srgbClr val="CCE2FF"/>
          </a:solidFill>
          <a:ln/>
        </p:spPr>
      </p:sp>
      <p:sp>
        <p:nvSpPr>
          <p:cNvPr id="14" name="Shape 12"/>
          <p:cNvSpPr/>
          <p:nvPr/>
        </p:nvSpPr>
        <p:spPr>
          <a:xfrm>
            <a:off x="7905155" y="3302000"/>
            <a:ext cx="19050" cy="1217513"/>
          </a:xfrm>
          <a:prstGeom prst="roundRect">
            <a:avLst>
              <a:gd name="adj" fmla="val 49999"/>
            </a:avLst>
          </a:prstGeom>
          <a:solidFill>
            <a:srgbClr val="B2C8E5"/>
          </a:solidFill>
          <a:ln/>
        </p:spPr>
      </p:sp>
      <p:sp>
        <p:nvSpPr>
          <p:cNvPr id="15" name="Text 13"/>
          <p:cNvSpPr/>
          <p:nvPr/>
        </p:nvSpPr>
        <p:spPr>
          <a:xfrm>
            <a:off x="8070450" y="3467298"/>
            <a:ext cx="3288126"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TC4 · Ngoài scope</a:t>
            </a:r>
            <a:endParaRPr lang="en-US" sz="1600" dirty="0"/>
          </a:p>
        </p:txBody>
      </p:sp>
      <p:sp>
        <p:nvSpPr>
          <p:cNvPr id="16" name="Text 14"/>
          <p:cNvSpPr/>
          <p:nvPr/>
        </p:nvSpPr>
        <p:spPr>
          <a:xfrm>
            <a:off x="8070450" y="3824982"/>
            <a:ext cx="3288126"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 Ticket HITL — ngoài phạm vi dịch vụ</a:t>
            </a:r>
            <a:endParaRPr lang="en-US" sz="1300" dirty="0"/>
          </a:p>
        </p:txBody>
      </p:sp>
      <p:sp>
        <p:nvSpPr>
          <p:cNvPr id="17" name="Shape 15"/>
          <p:cNvSpPr/>
          <p:nvPr/>
        </p:nvSpPr>
        <p:spPr>
          <a:xfrm>
            <a:off x="661475" y="4711898"/>
            <a:ext cx="10868745" cy="661293"/>
          </a:xfrm>
          <a:prstGeom prst="roundRect">
            <a:avLst>
              <a:gd name="adj" fmla="val 10504"/>
            </a:avLst>
          </a:prstGeom>
          <a:solidFill>
            <a:srgbClr val="B6FCB8"/>
          </a:solidFill>
          <a:ln/>
        </p:spPr>
      </p:sp>
      <p:pic>
        <p:nvPicPr>
          <p:cNvPr id="18" name="Image 0" descr="preencoded.png"/>
          <p:cNvPicPr>
            <a:picLocks noChangeAspect="1"/>
          </p:cNvPicPr>
          <p:nvPr/>
        </p:nvPicPr>
        <p:blipFill>
          <a:blip r:embed="rId3"/>
          <a:stretch>
            <a:fillRect/>
          </a:stretch>
        </p:blipFill>
        <p:spPr>
          <a:xfrm>
            <a:off x="826769" y="4951611"/>
            <a:ext cx="206667" cy="165298"/>
          </a:xfrm>
          <a:prstGeom prst="rect">
            <a:avLst/>
          </a:prstGeom>
        </p:spPr>
      </p:pic>
      <p:sp>
        <p:nvSpPr>
          <p:cNvPr id="19" name="Text 16"/>
          <p:cNvSpPr/>
          <p:nvPr/>
        </p:nvSpPr>
        <p:spPr>
          <a:xfrm>
            <a:off x="1198731" y="4918472"/>
            <a:ext cx="10775780"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 Harness hội thoại hoạt động: AI đề xuất, judge kiểm chứng, người quyết định ở case nhạy cảm.</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Text 0"/>
          <p:cNvSpPr/>
          <p:nvPr/>
        </p:nvSpPr>
        <p:spPr>
          <a:xfrm>
            <a:off x="5233360" y="2597348"/>
            <a:ext cx="6296860" cy="713184"/>
          </a:xfrm>
          <a:prstGeom prst="rect">
            <a:avLst/>
          </a:prstGeom>
          <a:noFill/>
          <a:ln/>
        </p:spPr>
        <p:txBody>
          <a:bodyPr wrap="none" lIns="0" tIns="0" rIns="0" bIns="0" rtlCol="0" anchor="t"/>
          <a:lstStyle/>
          <a:p>
            <a:pPr marL="0" indent="0" algn="l">
              <a:lnSpc>
                <a:spcPct val="104000"/>
              </a:lnSpc>
              <a:buNone/>
            </a:pPr>
            <a:r>
              <a:rPr lang="en-US" sz="4450" b="1" dirty="0">
                <a:solidFill>
                  <a:srgbClr val="004AAD"/>
                </a:solidFill>
                <a:latin typeface="Montserrat Bold" pitchFamily="34" charset="0"/>
                <a:ea typeface="Montserrat Bold" pitchFamily="34" charset="-122"/>
                <a:cs typeface="Montserrat Bold" pitchFamily="34" charset="-120"/>
              </a:rPr>
              <a:t>Thực hành 4</a:t>
            </a:r>
            <a:endParaRPr lang="en-US" sz="4450" dirty="0"/>
          </a:p>
        </p:txBody>
      </p:sp>
      <p:sp>
        <p:nvSpPr>
          <p:cNvPr id="4" name="Text 1"/>
          <p:cNvSpPr/>
          <p:nvPr/>
        </p:nvSpPr>
        <p:spPr>
          <a:xfrm>
            <a:off x="5233360" y="3558580"/>
            <a:ext cx="6906444" cy="264616"/>
          </a:xfrm>
          <a:prstGeom prst="rect">
            <a:avLst/>
          </a:prstGeom>
          <a:noFill/>
          <a:ln/>
        </p:spPr>
        <p:txBody>
          <a:bodyPr wrap="none" lIns="0" tIns="0" rIns="0" bIns="0" rtlCol="0" anchor="t"/>
          <a:lstStyle/>
          <a:p>
            <a:pPr marL="0" indent="0" algn="l">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Landing Page có Chatbot gọi Webhook</a:t>
            </a:r>
            <a:endParaRPr lang="en-US" sz="1300" dirty="0"/>
          </a:p>
        </p:txBody>
      </p:sp>
      <p:sp>
        <p:nvSpPr>
          <p:cNvPr id="5" name="Shape 2"/>
          <p:cNvSpPr/>
          <p:nvPr/>
        </p:nvSpPr>
        <p:spPr>
          <a:xfrm>
            <a:off x="5233360" y="4009231"/>
            <a:ext cx="593016" cy="251420"/>
          </a:xfrm>
          <a:prstGeom prst="roundRect">
            <a:avLst>
              <a:gd name="adj" fmla="val 22103"/>
            </a:avLst>
          </a:prstGeom>
          <a:solidFill>
            <a:srgbClr val="CCE2FF"/>
          </a:solidFill>
          <a:ln/>
        </p:spPr>
      </p:sp>
      <p:sp>
        <p:nvSpPr>
          <p:cNvPr id="6" name="Text 3"/>
          <p:cNvSpPr/>
          <p:nvPr/>
        </p:nvSpPr>
        <p:spPr>
          <a:xfrm>
            <a:off x="5332577" y="4058841"/>
            <a:ext cx="1004168" cy="152202"/>
          </a:xfrm>
          <a:prstGeom prst="rect">
            <a:avLst/>
          </a:prstGeom>
          <a:noFill/>
          <a:ln/>
        </p:spPr>
        <p:txBody>
          <a:bodyPr wrap="none" lIns="0" tIns="0" rIns="0" bIns="0" rtlCol="0" anchor="t"/>
          <a:lstStyle/>
          <a:p>
            <a:pPr marL="0" indent="0" algn="l">
              <a:lnSpc>
                <a:spcPct val="96000"/>
              </a:lnSpc>
              <a:buNone/>
            </a:pPr>
            <a:r>
              <a:rPr lang="en-US" sz="1000" dirty="0">
                <a:solidFill>
                  <a:srgbClr val="000000"/>
                </a:solidFill>
                <a:latin typeface="Montserrat" pitchFamily="34" charset="0"/>
                <a:ea typeface="Montserrat" pitchFamily="34" charset="-122"/>
                <a:cs typeface="Montserrat" pitchFamily="34" charset="-120"/>
              </a:rPr>
              <a:t>LAB 4</a:t>
            </a:r>
            <a:endParaRPr lang="en-US" sz="1000" dirty="0"/>
          </a:p>
        </p:txBody>
      </p:sp>
      <p:sp>
        <p:nvSpPr>
          <p:cNvPr id="7" name="Shape 4"/>
          <p:cNvSpPr/>
          <p:nvPr/>
        </p:nvSpPr>
        <p:spPr>
          <a:xfrm>
            <a:off x="5909023" y="4009231"/>
            <a:ext cx="1093462" cy="251420"/>
          </a:xfrm>
          <a:prstGeom prst="roundRect">
            <a:avLst>
              <a:gd name="adj" fmla="val 22103"/>
            </a:avLst>
          </a:prstGeom>
          <a:noFill/>
          <a:ln w="6350">
            <a:solidFill>
              <a:srgbClr val="004AAD"/>
            </a:solidFill>
            <a:prstDash val="solid"/>
          </a:ln>
        </p:spPr>
      </p:sp>
      <p:sp>
        <p:nvSpPr>
          <p:cNvPr id="8" name="Text 5"/>
          <p:cNvSpPr/>
          <p:nvPr/>
        </p:nvSpPr>
        <p:spPr>
          <a:xfrm>
            <a:off x="6008240" y="4058841"/>
            <a:ext cx="1504615" cy="152202"/>
          </a:xfrm>
          <a:prstGeom prst="rect">
            <a:avLst/>
          </a:prstGeom>
          <a:noFill/>
          <a:ln/>
        </p:spPr>
        <p:txBody>
          <a:bodyPr wrap="none" lIns="0" tIns="0" rIns="0" bIns="0" rtlCol="0" anchor="t"/>
          <a:lstStyle/>
          <a:p>
            <a:pPr marL="0" indent="0" algn="l">
              <a:lnSpc>
                <a:spcPct val="96000"/>
              </a:lnSpc>
              <a:buNone/>
            </a:pPr>
            <a:r>
              <a:rPr lang="en-US" sz="1000" dirty="0">
                <a:solidFill>
                  <a:srgbClr val="004AAD"/>
                </a:solidFill>
                <a:latin typeface="Montserrat" pitchFamily="34" charset="0"/>
                <a:ea typeface="Montserrat" pitchFamily="34" charset="-122"/>
                <a:cs typeface="Montserrat" pitchFamily="34" charset="-120"/>
              </a:rPr>
              <a:t>END-TO-END</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661475" y="463947"/>
            <a:ext cx="10868745" cy="450552"/>
          </a:xfrm>
          <a:prstGeom prst="rect">
            <a:avLst/>
          </a:prstGeom>
          <a:noFill/>
          <a:ln/>
        </p:spPr>
        <p:txBody>
          <a:bodyPr wrap="none" lIns="0" tIns="0" rIns="0" bIns="0" rtlCol="0" anchor="t"/>
          <a:lstStyle/>
          <a:p>
            <a:pPr marL="0" indent="0" algn="l">
              <a:lnSpc>
                <a:spcPct val="104000"/>
              </a:lnSpc>
              <a:buNone/>
            </a:pPr>
            <a:r>
              <a:rPr lang="en-US" sz="2800" b="1" dirty="0">
                <a:solidFill>
                  <a:srgbClr val="004AAD"/>
                </a:solidFill>
                <a:latin typeface="Montserrat Bold" pitchFamily="34" charset="0"/>
                <a:ea typeface="Montserrat Bold" pitchFamily="34" charset="-122"/>
                <a:cs typeface="Montserrat Bold" pitchFamily="34" charset="-120"/>
              </a:rPr>
              <a:t>Đưa chatbot ra giao diện thật cho khách</a:t>
            </a:r>
            <a:endParaRPr lang="en-US" sz="2800" dirty="0"/>
          </a:p>
        </p:txBody>
      </p:sp>
      <p:sp>
        <p:nvSpPr>
          <p:cNvPr id="3" name="Text 1"/>
          <p:cNvSpPr/>
          <p:nvPr/>
        </p:nvSpPr>
        <p:spPr>
          <a:xfrm>
            <a:off x="661475" y="964704"/>
            <a:ext cx="10868745" cy="225326"/>
          </a:xfrm>
          <a:prstGeom prst="rect">
            <a:avLst/>
          </a:prstGeom>
          <a:noFill/>
          <a:ln/>
        </p:spPr>
        <p:txBody>
          <a:bodyPr wrap="none" lIns="0" tIns="0" rIns="0" bIns="0" rtlCol="0" anchor="t"/>
          <a:lstStyle/>
          <a:p>
            <a:pPr marL="0" indent="0" algn="l">
              <a:lnSpc>
                <a:spcPct val="104000"/>
              </a:lnSpc>
              <a:buNone/>
            </a:pPr>
            <a:r>
              <a:rPr lang="en-US" sz="1400" b="1" dirty="0">
                <a:solidFill>
                  <a:srgbClr val="004AAD"/>
                </a:solidFill>
                <a:latin typeface="Montserrat Bold" pitchFamily="34" charset="0"/>
                <a:ea typeface="Montserrat Bold" pitchFamily="34" charset="-122"/>
                <a:cs typeface="Montserrat Bold" pitchFamily="34" charset="-120"/>
              </a:rPr>
              <a:t>JIT: vibe coding landing + webhook</a:t>
            </a:r>
            <a:endParaRPr lang="en-US" sz="1400" dirty="0"/>
          </a:p>
        </p:txBody>
      </p:sp>
      <p:sp>
        <p:nvSpPr>
          <p:cNvPr id="4" name="Text 2"/>
          <p:cNvSpPr/>
          <p:nvPr/>
        </p:nvSpPr>
        <p:spPr>
          <a:xfrm>
            <a:off x="661475" y="1491655"/>
            <a:ext cx="5258462" cy="1420614"/>
          </a:xfrm>
          <a:prstGeom prst="rect">
            <a:avLst/>
          </a:prstGeom>
          <a:noFill/>
          <a:ln/>
        </p:spPr>
        <p:txBody>
          <a:bodyPr wrap="square" lIns="0" tIns="0" rIns="0" bIns="0" rtlCol="0" anchor="t">
            <a:normAutofit/>
          </a:bodyPr>
          <a:lstStyle/>
          <a:p>
            <a:pPr marL="0" indent="0" algn="l">
              <a:lnSpc>
                <a:spcPct val="125000"/>
              </a:lnSpc>
              <a:spcAft>
                <a:spcPts val="850"/>
              </a:spcAft>
              <a:buNone/>
            </a:pPr>
            <a:r>
              <a:rPr lang="en-US" sz="1100" dirty="0">
                <a:solidFill>
                  <a:srgbClr val="000000"/>
                </a:solidFill>
                <a:latin typeface="Montserrat" pitchFamily="34" charset="0"/>
                <a:ea typeface="Montserrat" pitchFamily="34" charset="-122"/>
                <a:cs typeface="Montserrat" pitchFamily="34" charset="-120"/>
              </a:rPr>
              <a:t>Đến đây workflow đã chạy qua webhook </a:t>
            </a:r>
            <a:r>
              <a:rPr lang="en-US" sz="1100" dirty="0">
                <a:solidFill>
                  <a:srgbClr val="000000"/>
                </a:solidFill>
                <a:highlight>
                  <a:srgbClr val="F2F2F2"/>
                </a:highlight>
                <a:latin typeface="Consolas" pitchFamily="34" charset="0"/>
                <a:ea typeface="Consolas" pitchFamily="34" charset="-122"/>
                <a:cs typeface="Consolas" pitchFamily="34" charset="-120"/>
              </a:rPr>
              <a:t>/cskh</a:t>
            </a:r>
            <a:r>
              <a:rPr lang="en-US" sz="1100" dirty="0">
                <a:solidFill>
                  <a:srgbClr val="000000"/>
                </a:solidFill>
                <a:latin typeface="Montserrat" pitchFamily="34" charset="0"/>
                <a:ea typeface="Montserrat" pitchFamily="34" charset="-122"/>
                <a:cs typeface="Montserrat" pitchFamily="34" charset="-120"/>
              </a:rPr>
              <a:t>. Thực hành 4 dùng </a:t>
            </a:r>
            <a:r>
              <a:rPr lang="en-US" sz="1100" b="1" dirty="0">
                <a:solidFill>
                  <a:srgbClr val="000000"/>
                </a:solidFill>
                <a:latin typeface="Montserrat Bold" pitchFamily="34" charset="0"/>
                <a:ea typeface="Montserrat Bold" pitchFamily="34" charset="-122"/>
                <a:cs typeface="Montserrat Bold" pitchFamily="34" charset="-120"/>
              </a:rPr>
              <a:t>vibe coding</a:t>
            </a:r>
            <a:r>
              <a:rPr lang="en-US" sz="1100" dirty="0">
                <a:solidFill>
                  <a:srgbClr val="000000"/>
                </a:solidFill>
                <a:latin typeface="Montserrat" pitchFamily="34" charset="0"/>
                <a:ea typeface="Montserrat" pitchFamily="34" charset="-122"/>
                <a:cs typeface="Montserrat" pitchFamily="34" charset="-120"/>
              </a:rPr>
              <a:t> (Cursor hay Antigravity) để làm một landing page bán lẻ đơn giản, gắn chatbot widget POST thẳng tới webhook.</a:t>
            </a:r>
            <a:endParaRPr lang="en-US" sz="1100" dirty="0"/>
          </a:p>
          <a:p>
            <a:pPr marL="0" indent="0" algn="l">
              <a:lnSpc>
                <a:spcPct val="125000"/>
              </a:lnSpc>
              <a:buNone/>
            </a:pPr>
            <a:r>
              <a:rPr lang="en-US" sz="1100" dirty="0">
                <a:solidFill>
                  <a:srgbClr val="000000"/>
                </a:solidFill>
                <a:latin typeface="Montserrat" pitchFamily="34" charset="0"/>
                <a:ea typeface="Montserrat" pitchFamily="34" charset="-122"/>
                <a:cs typeface="Montserrat" pitchFamily="34" charset="-120"/>
              </a:rPr>
              <a:t>Học viên chạy thử </a:t>
            </a:r>
            <a:r>
              <a:rPr lang="en-US" sz="1100" b="1" dirty="0">
                <a:solidFill>
                  <a:srgbClr val="000000"/>
                </a:solidFill>
                <a:latin typeface="Montserrat Bold" pitchFamily="34" charset="0"/>
                <a:ea typeface="Montserrat Bold" pitchFamily="34" charset="-122"/>
                <a:cs typeface="Montserrat Bold" pitchFamily="34" charset="-120"/>
              </a:rPr>
              <a:t>5 case qua giao diện</a:t>
            </a:r>
            <a:r>
              <a:rPr lang="en-US" sz="1100" dirty="0">
                <a:solidFill>
                  <a:srgbClr val="000000"/>
                </a:solidFill>
                <a:latin typeface="Montserrat" pitchFamily="34" charset="0"/>
                <a:ea typeface="Montserrat" pitchFamily="34" charset="-122"/>
                <a:cs typeface="Montserrat" pitchFamily="34" charset="-120"/>
              </a:rPr>
              <a:t>, ghi conversation log có </a:t>
            </a:r>
            <a:r>
              <a:rPr lang="en-US" sz="1100" dirty="0">
                <a:solidFill>
                  <a:srgbClr val="000000"/>
                </a:solidFill>
                <a:highlight>
                  <a:srgbClr val="F2F2F2"/>
                </a:highlight>
                <a:latin typeface="Consolas" pitchFamily="34" charset="0"/>
                <a:ea typeface="Consolas" pitchFamily="34" charset="-122"/>
                <a:cs typeface="Consolas" pitchFamily="34" charset="-120"/>
              </a:rPr>
              <a:t>source_q_id</a:t>
            </a:r>
            <a:r>
              <a:rPr lang="en-US" sz="1100" dirty="0">
                <a:solidFill>
                  <a:srgbClr val="000000"/>
                </a:solidFill>
                <a:latin typeface="Montserrat" pitchFamily="34" charset="0"/>
                <a:ea typeface="Montserrat" pitchFamily="34" charset="-122"/>
                <a:cs typeface="Montserrat" pitchFamily="34" charset="-120"/>
              </a:rPr>
              <a:t>. Bước này khép kín vòng: khách hỏi thật trên web, bot trả lời hoặc chuyển người đúng quy tắc.</a:t>
            </a:r>
            <a:endParaRPr lang="en-US" sz="1100" dirty="0"/>
          </a:p>
        </p:txBody>
      </p:sp>
      <p:pic>
        <p:nvPicPr>
          <p:cNvPr id="5" name="Image 0" descr="preencoded.png"/>
          <p:cNvPicPr>
            <a:picLocks noChangeAspect="1"/>
          </p:cNvPicPr>
          <p:nvPr/>
        </p:nvPicPr>
        <p:blipFill>
          <a:blip r:embed="rId3"/>
          <a:stretch>
            <a:fillRect/>
          </a:stretch>
        </p:blipFill>
        <p:spPr>
          <a:xfrm>
            <a:off x="6278108" y="1519932"/>
            <a:ext cx="4732616" cy="473273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661475" y="977999"/>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Thực hành 4: landing chatbot end-to-end</a:t>
            </a:r>
            <a:endParaRPr lang="en-US" sz="3250" dirty="0"/>
          </a:p>
        </p:txBody>
      </p:sp>
      <p:sp>
        <p:nvSpPr>
          <p:cNvPr id="3" name="Text 1"/>
          <p:cNvSpPr/>
          <p:nvPr/>
        </p:nvSpPr>
        <p:spPr>
          <a:xfrm>
            <a:off x="661475" y="1560810"/>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Lab · 20 phút</a:t>
            </a:r>
            <a:endParaRPr lang="en-US" sz="1600" dirty="0"/>
          </a:p>
        </p:txBody>
      </p:sp>
      <p:sp>
        <p:nvSpPr>
          <p:cNvPr id="4" name="Shape 2"/>
          <p:cNvSpPr/>
          <p:nvPr/>
        </p:nvSpPr>
        <p:spPr>
          <a:xfrm>
            <a:off x="661475" y="2067322"/>
            <a:ext cx="10868745" cy="661293"/>
          </a:xfrm>
          <a:prstGeom prst="roundRect">
            <a:avLst>
              <a:gd name="adj" fmla="val 10504"/>
            </a:avLst>
          </a:prstGeom>
          <a:solidFill>
            <a:srgbClr val="CCE2FF"/>
          </a:solidFill>
          <a:ln/>
        </p:spPr>
      </p:sp>
      <p:pic>
        <p:nvPicPr>
          <p:cNvPr id="5" name="Image 0" descr="preencoded.png"/>
          <p:cNvPicPr>
            <a:picLocks noChangeAspect="1"/>
          </p:cNvPicPr>
          <p:nvPr/>
        </p:nvPicPr>
        <p:blipFill>
          <a:blip r:embed="rId3"/>
          <a:stretch>
            <a:fillRect/>
          </a:stretch>
        </p:blipFill>
        <p:spPr>
          <a:xfrm>
            <a:off x="826769" y="2307034"/>
            <a:ext cx="206667" cy="165298"/>
          </a:xfrm>
          <a:prstGeom prst="rect">
            <a:avLst/>
          </a:prstGeom>
        </p:spPr>
      </p:pic>
      <p:sp>
        <p:nvSpPr>
          <p:cNvPr id="6" name="Text 3"/>
          <p:cNvSpPr/>
          <p:nvPr/>
        </p:nvSpPr>
        <p:spPr>
          <a:xfrm>
            <a:off x="1198731" y="2273895"/>
            <a:ext cx="10775780" cy="264616"/>
          </a:xfrm>
          <a:prstGeom prst="rect">
            <a:avLst/>
          </a:prstGeom>
          <a:noFill/>
          <a:ln/>
        </p:spPr>
        <p:txBody>
          <a:bodyPr wrap="none" lIns="0" tIns="0" rIns="0" bIns="0" rtlCol="0" anchor="t"/>
          <a:lstStyle/>
          <a:p>
            <a:pPr marL="0" indent="0" algn="l">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Mục tiêu:</a:t>
            </a:r>
            <a:r>
              <a:rPr lang="en-US" sz="1300" dirty="0">
                <a:solidFill>
                  <a:srgbClr val="000000"/>
                </a:solidFill>
                <a:latin typeface="Montserrat" pitchFamily="34" charset="0"/>
                <a:ea typeface="Montserrat" pitchFamily="34" charset="-122"/>
                <a:cs typeface="Montserrat" pitchFamily="34" charset="-120"/>
              </a:rPr>
              <a:t> landing-chatbot.html chạy được, gọi webhook /cskh, conversation log đủ 5 case với source_q_id.</a:t>
            </a:r>
            <a:endParaRPr lang="en-US" sz="1300" dirty="0"/>
          </a:p>
        </p:txBody>
      </p:sp>
      <p:sp>
        <p:nvSpPr>
          <p:cNvPr id="7" name="Text 4"/>
          <p:cNvSpPr/>
          <p:nvPr/>
        </p:nvSpPr>
        <p:spPr>
          <a:xfrm>
            <a:off x="661475" y="2914650"/>
            <a:ext cx="330688" cy="206673"/>
          </a:xfrm>
          <a:prstGeom prst="rect">
            <a:avLst/>
          </a:prstGeom>
          <a:noFill/>
          <a:ln/>
        </p:spPr>
        <p:txBody>
          <a:bodyPr wrap="none" lIns="0" tIns="0" rIns="0" bIns="0" rtlCol="0" anchor="ctr"/>
          <a:lstStyle/>
          <a:p>
            <a:pPr marL="0" indent="0" algn="l">
              <a:lnSpc>
                <a:spcPct val="100000"/>
              </a:lnSpc>
              <a:buNone/>
            </a:pPr>
            <a:r>
              <a:rPr lang="en-US" sz="1300" dirty="0">
                <a:solidFill>
                  <a:srgbClr val="000000"/>
                </a:solidFill>
                <a:latin typeface="Montserrat Light" pitchFamily="34" charset="0"/>
                <a:ea typeface="Montserrat Light" pitchFamily="34" charset="-122"/>
                <a:cs typeface="Montserrat Light" pitchFamily="34" charset="-120"/>
              </a:rPr>
              <a:t>01</a:t>
            </a:r>
            <a:endParaRPr lang="en-US" sz="1300" dirty="0"/>
          </a:p>
        </p:txBody>
      </p:sp>
      <p:sp>
        <p:nvSpPr>
          <p:cNvPr id="8" name="Shape 5"/>
          <p:cNvSpPr/>
          <p:nvPr/>
        </p:nvSpPr>
        <p:spPr>
          <a:xfrm>
            <a:off x="661475" y="3176587"/>
            <a:ext cx="5351725" cy="19050"/>
          </a:xfrm>
          <a:prstGeom prst="rect">
            <a:avLst/>
          </a:prstGeom>
          <a:solidFill>
            <a:srgbClr val="004AAD"/>
          </a:solidFill>
          <a:ln/>
        </p:spPr>
      </p:sp>
      <p:sp>
        <p:nvSpPr>
          <p:cNvPr id="9" name="Text 6"/>
          <p:cNvSpPr/>
          <p:nvPr/>
        </p:nvSpPr>
        <p:spPr>
          <a:xfrm>
            <a:off x="661475" y="3297337"/>
            <a:ext cx="5351725"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Xem mẫu</a:t>
            </a:r>
            <a:endParaRPr lang="en-US" sz="1600" dirty="0"/>
          </a:p>
        </p:txBody>
      </p:sp>
      <p:sp>
        <p:nvSpPr>
          <p:cNvPr id="10" name="Text 7"/>
          <p:cNvSpPr/>
          <p:nvPr/>
        </p:nvSpPr>
        <p:spPr>
          <a:xfrm>
            <a:off x="661475" y="3655020"/>
            <a:ext cx="5351725" cy="53558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Mở </a:t>
            </a:r>
            <a:r>
              <a:rPr lang="en-US" sz="1300" dirty="0">
                <a:solidFill>
                  <a:srgbClr val="000000"/>
                </a:solidFill>
                <a:highlight>
                  <a:srgbClr val="F2F2F2"/>
                </a:highlight>
                <a:latin typeface="Consolas" pitchFamily="34" charset="0"/>
                <a:ea typeface="Consolas" pitchFamily="34" charset="-122"/>
                <a:cs typeface="Consolas" pitchFamily="34" charset="-120"/>
              </a:rPr>
              <a:t>landing-chatbot-demo.html</a:t>
            </a:r>
            <a:r>
              <a:rPr lang="en-US" sz="1300" dirty="0">
                <a:solidFill>
                  <a:srgbClr val="000000"/>
                </a:solidFill>
                <a:latin typeface="Montserrat" pitchFamily="34" charset="0"/>
                <a:ea typeface="Montserrat" pitchFamily="34" charset="-122"/>
                <a:cs typeface="Montserrat" pitchFamily="34" charset="-120"/>
              </a:rPr>
              <a:t> làm tham chiếu trực quan trước khi tự code.</a:t>
            </a:r>
            <a:endParaRPr lang="en-US" sz="1300" dirty="0"/>
          </a:p>
        </p:txBody>
      </p:sp>
      <p:sp>
        <p:nvSpPr>
          <p:cNvPr id="11" name="Text 8"/>
          <p:cNvSpPr/>
          <p:nvPr/>
        </p:nvSpPr>
        <p:spPr>
          <a:xfrm>
            <a:off x="6178495" y="2914650"/>
            <a:ext cx="330688" cy="206673"/>
          </a:xfrm>
          <a:prstGeom prst="rect">
            <a:avLst/>
          </a:prstGeom>
          <a:noFill/>
          <a:ln/>
        </p:spPr>
        <p:txBody>
          <a:bodyPr wrap="none" lIns="0" tIns="0" rIns="0" bIns="0" rtlCol="0" anchor="ctr"/>
          <a:lstStyle/>
          <a:p>
            <a:pPr marL="0" indent="0" algn="l">
              <a:lnSpc>
                <a:spcPct val="100000"/>
              </a:lnSpc>
              <a:buNone/>
            </a:pPr>
            <a:r>
              <a:rPr lang="en-US" sz="1300" dirty="0">
                <a:solidFill>
                  <a:srgbClr val="000000"/>
                </a:solidFill>
                <a:latin typeface="Montserrat Light" pitchFamily="34" charset="0"/>
                <a:ea typeface="Montserrat Light" pitchFamily="34" charset="-122"/>
                <a:cs typeface="Montserrat Light" pitchFamily="34" charset="-120"/>
              </a:rPr>
              <a:t>02</a:t>
            </a:r>
            <a:endParaRPr lang="en-US" sz="1300" dirty="0"/>
          </a:p>
        </p:txBody>
      </p:sp>
      <p:sp>
        <p:nvSpPr>
          <p:cNvPr id="12" name="Shape 9"/>
          <p:cNvSpPr/>
          <p:nvPr/>
        </p:nvSpPr>
        <p:spPr>
          <a:xfrm>
            <a:off x="6178495" y="3176587"/>
            <a:ext cx="5351725" cy="19050"/>
          </a:xfrm>
          <a:prstGeom prst="rect">
            <a:avLst/>
          </a:prstGeom>
          <a:solidFill>
            <a:srgbClr val="004AAD"/>
          </a:solidFill>
          <a:ln/>
        </p:spPr>
      </p:sp>
      <p:sp>
        <p:nvSpPr>
          <p:cNvPr id="13" name="Text 10"/>
          <p:cNvSpPr/>
          <p:nvPr/>
        </p:nvSpPr>
        <p:spPr>
          <a:xfrm>
            <a:off x="6178495" y="3297337"/>
            <a:ext cx="5351725"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Vibe-code landing page</a:t>
            </a:r>
            <a:endParaRPr lang="en-US" sz="1600" dirty="0"/>
          </a:p>
        </p:txBody>
      </p:sp>
      <p:sp>
        <p:nvSpPr>
          <p:cNvPr id="14" name="Text 11"/>
          <p:cNvSpPr/>
          <p:nvPr/>
        </p:nvSpPr>
        <p:spPr>
          <a:xfrm>
            <a:off x="6178495" y="3655020"/>
            <a:ext cx="5351725"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Dùng Cursor hoặc Antigravity tạo landing page bán lẻ riêng, gắn chatbot widget.</a:t>
            </a:r>
            <a:endParaRPr lang="en-US" sz="1300" dirty="0"/>
          </a:p>
        </p:txBody>
      </p:sp>
      <p:sp>
        <p:nvSpPr>
          <p:cNvPr id="15" name="Text 12"/>
          <p:cNvSpPr/>
          <p:nvPr/>
        </p:nvSpPr>
        <p:spPr>
          <a:xfrm>
            <a:off x="661475" y="4479925"/>
            <a:ext cx="330688" cy="206673"/>
          </a:xfrm>
          <a:prstGeom prst="rect">
            <a:avLst/>
          </a:prstGeom>
          <a:noFill/>
          <a:ln/>
        </p:spPr>
        <p:txBody>
          <a:bodyPr wrap="none" lIns="0" tIns="0" rIns="0" bIns="0" rtlCol="0" anchor="ctr"/>
          <a:lstStyle/>
          <a:p>
            <a:pPr marL="0" indent="0" algn="l">
              <a:lnSpc>
                <a:spcPct val="100000"/>
              </a:lnSpc>
              <a:buNone/>
            </a:pPr>
            <a:r>
              <a:rPr lang="en-US" sz="1300" dirty="0">
                <a:solidFill>
                  <a:srgbClr val="000000"/>
                </a:solidFill>
                <a:latin typeface="Montserrat Light" pitchFamily="34" charset="0"/>
                <a:ea typeface="Montserrat Light" pitchFamily="34" charset="-122"/>
                <a:cs typeface="Montserrat Light" pitchFamily="34" charset="-120"/>
              </a:rPr>
              <a:t>03</a:t>
            </a:r>
            <a:endParaRPr lang="en-US" sz="1300" dirty="0"/>
          </a:p>
        </p:txBody>
      </p:sp>
      <p:sp>
        <p:nvSpPr>
          <p:cNvPr id="16" name="Shape 13"/>
          <p:cNvSpPr/>
          <p:nvPr/>
        </p:nvSpPr>
        <p:spPr>
          <a:xfrm>
            <a:off x="661475" y="4741863"/>
            <a:ext cx="5351725" cy="19050"/>
          </a:xfrm>
          <a:prstGeom prst="rect">
            <a:avLst/>
          </a:prstGeom>
          <a:solidFill>
            <a:srgbClr val="004AAD"/>
          </a:solidFill>
          <a:ln/>
        </p:spPr>
      </p:sp>
      <p:sp>
        <p:nvSpPr>
          <p:cNvPr id="17" name="Text 14"/>
          <p:cNvSpPr/>
          <p:nvPr/>
        </p:nvSpPr>
        <p:spPr>
          <a:xfrm>
            <a:off x="661475" y="4862612"/>
            <a:ext cx="5351725"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Kết nối webhook</a:t>
            </a:r>
            <a:endParaRPr lang="en-US" sz="1600" dirty="0"/>
          </a:p>
        </p:txBody>
      </p:sp>
      <p:sp>
        <p:nvSpPr>
          <p:cNvPr id="18" name="Text 15"/>
          <p:cNvSpPr/>
          <p:nvPr/>
        </p:nvSpPr>
        <p:spPr>
          <a:xfrm>
            <a:off x="661475" y="5220295"/>
            <a:ext cx="5351725" cy="53558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Widget POST tới </a:t>
            </a:r>
            <a:r>
              <a:rPr lang="en-US" sz="1300" dirty="0">
                <a:solidFill>
                  <a:srgbClr val="000000"/>
                </a:solidFill>
                <a:highlight>
                  <a:srgbClr val="F2F2F2"/>
                </a:highlight>
                <a:latin typeface="Consolas" pitchFamily="34" charset="0"/>
                <a:ea typeface="Consolas" pitchFamily="34" charset="-122"/>
                <a:cs typeface="Consolas" pitchFamily="34" charset="-120"/>
              </a:rPr>
              <a:t>webhook /cskh</a:t>
            </a:r>
            <a:r>
              <a:rPr lang="en-US" sz="1300" dirty="0">
                <a:solidFill>
                  <a:srgbClr val="000000"/>
                </a:solidFill>
                <a:latin typeface="Montserrat" pitchFamily="34" charset="0"/>
                <a:ea typeface="Montserrat" pitchFamily="34" charset="-122"/>
                <a:cs typeface="Montserrat" pitchFamily="34" charset="-120"/>
              </a:rPr>
              <a:t>, xác nhận response hiển thị đúng trên giao diện.</a:t>
            </a:r>
            <a:endParaRPr lang="en-US" sz="1300" dirty="0"/>
          </a:p>
        </p:txBody>
      </p:sp>
      <p:sp>
        <p:nvSpPr>
          <p:cNvPr id="19" name="Text 16"/>
          <p:cNvSpPr/>
          <p:nvPr/>
        </p:nvSpPr>
        <p:spPr>
          <a:xfrm>
            <a:off x="6178495" y="4479925"/>
            <a:ext cx="330688" cy="206673"/>
          </a:xfrm>
          <a:prstGeom prst="rect">
            <a:avLst/>
          </a:prstGeom>
          <a:noFill/>
          <a:ln/>
        </p:spPr>
        <p:txBody>
          <a:bodyPr wrap="none" lIns="0" tIns="0" rIns="0" bIns="0" rtlCol="0" anchor="ctr"/>
          <a:lstStyle/>
          <a:p>
            <a:pPr marL="0" indent="0" algn="l">
              <a:lnSpc>
                <a:spcPct val="100000"/>
              </a:lnSpc>
              <a:buNone/>
            </a:pPr>
            <a:r>
              <a:rPr lang="en-US" sz="1300" dirty="0">
                <a:solidFill>
                  <a:srgbClr val="000000"/>
                </a:solidFill>
                <a:latin typeface="Montserrat Light" pitchFamily="34" charset="0"/>
                <a:ea typeface="Montserrat Light" pitchFamily="34" charset="-122"/>
                <a:cs typeface="Montserrat Light" pitchFamily="34" charset="-120"/>
              </a:rPr>
              <a:t>04</a:t>
            </a:r>
            <a:endParaRPr lang="en-US" sz="1300" dirty="0"/>
          </a:p>
        </p:txBody>
      </p:sp>
      <p:sp>
        <p:nvSpPr>
          <p:cNvPr id="20" name="Shape 17"/>
          <p:cNvSpPr/>
          <p:nvPr/>
        </p:nvSpPr>
        <p:spPr>
          <a:xfrm>
            <a:off x="6178495" y="4741863"/>
            <a:ext cx="5351725" cy="19050"/>
          </a:xfrm>
          <a:prstGeom prst="rect">
            <a:avLst/>
          </a:prstGeom>
          <a:solidFill>
            <a:srgbClr val="004AAD"/>
          </a:solidFill>
          <a:ln/>
        </p:spPr>
      </p:sp>
      <p:sp>
        <p:nvSpPr>
          <p:cNvPr id="21" name="Text 18"/>
          <p:cNvSpPr/>
          <p:nvPr/>
        </p:nvSpPr>
        <p:spPr>
          <a:xfrm>
            <a:off x="6178495" y="4862612"/>
            <a:ext cx="5351725"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Chạy 5 test case</a:t>
            </a:r>
            <a:endParaRPr lang="en-US" sz="1600" dirty="0"/>
          </a:p>
        </p:txBody>
      </p:sp>
      <p:sp>
        <p:nvSpPr>
          <p:cNvPr id="22" name="Text 19"/>
          <p:cNvSpPr/>
          <p:nvPr/>
        </p:nvSpPr>
        <p:spPr>
          <a:xfrm>
            <a:off x="6178495" y="5220295"/>
            <a:ext cx="5351725" cy="53558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Quan sát reply và ticket qua giao diện. Ghi conversation log đủ 5 case kèm </a:t>
            </a:r>
            <a:r>
              <a:rPr lang="en-US" sz="1300" dirty="0">
                <a:solidFill>
                  <a:srgbClr val="000000"/>
                </a:solidFill>
                <a:highlight>
                  <a:srgbClr val="F2F2F2"/>
                </a:highlight>
                <a:latin typeface="Consolas" pitchFamily="34" charset="0"/>
                <a:ea typeface="Consolas" pitchFamily="34" charset="-122"/>
                <a:cs typeface="Consolas" pitchFamily="34" charset="-120"/>
              </a:rPr>
              <a:t>source_q_id</a:t>
            </a:r>
            <a:r>
              <a:rPr lang="en-US" sz="1300" dirty="0">
                <a:solidFill>
                  <a:srgbClr val="000000"/>
                </a:solidFill>
                <a:latin typeface="Montserrat" pitchFamily="34" charset="0"/>
                <a:ea typeface="Montserrat" pitchFamily="34" charset="-122"/>
                <a:cs typeface="Montserrat" pitchFamily="34" charset="-120"/>
              </a:rPr>
              <a: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2655788"/>
            <a:ext cx="6296860" cy="1033661"/>
          </a:xfrm>
          <a:prstGeom prst="rect">
            <a:avLst/>
          </a:prstGeom>
          <a:noFill/>
          <a:ln/>
        </p:spPr>
        <p:txBody>
          <a:bodyPr wrap="none" lIns="0" tIns="0" rIns="0" bIns="0" rtlCol="0" anchor="t"/>
          <a:lstStyle/>
          <a:p>
            <a:pPr marL="0" indent="0" algn="l">
              <a:lnSpc>
                <a:spcPct val="104000"/>
              </a:lnSpc>
              <a:buNone/>
            </a:pPr>
            <a:r>
              <a:rPr lang="en-US" sz="6500" b="1" dirty="0">
                <a:solidFill>
                  <a:srgbClr val="004AAD"/>
                </a:solidFill>
                <a:latin typeface="Montserrat Bold" pitchFamily="34" charset="0"/>
                <a:ea typeface="Montserrat Bold" pitchFamily="34" charset="-122"/>
                <a:cs typeface="Montserrat Bold" pitchFamily="34" charset="-120"/>
              </a:rPr>
              <a:t>Thực hành 4</a:t>
            </a:r>
            <a:endParaRPr lang="en-US" sz="6500" dirty="0"/>
          </a:p>
        </p:txBody>
      </p:sp>
      <p:sp>
        <p:nvSpPr>
          <p:cNvPr id="4" name="Text 1"/>
          <p:cNvSpPr/>
          <p:nvPr/>
        </p:nvSpPr>
        <p:spPr>
          <a:xfrm>
            <a:off x="661475" y="3937496"/>
            <a:ext cx="6906444" cy="264616"/>
          </a:xfrm>
          <a:prstGeom prst="rect">
            <a:avLst/>
          </a:prstGeom>
          <a:noFill/>
          <a:ln/>
        </p:spPr>
        <p:txBody>
          <a:bodyPr wrap="none" lIns="0" tIns="0" rIns="0" bIns="0" rtlCol="0" anchor="t"/>
          <a:lstStyle/>
          <a:p>
            <a:pPr marL="0" indent="0" algn="l">
              <a:lnSpc>
                <a:spcPct val="133000"/>
              </a:lnSpc>
              <a:buNone/>
            </a:pPr>
            <a:r>
              <a:rPr lang="en-US" sz="1300" i="1" dirty="0">
                <a:solidFill>
                  <a:srgbClr val="000000"/>
                </a:solidFill>
                <a:latin typeface="Montserrat" pitchFamily="34" charset="0"/>
                <a:ea typeface="Montserrat" pitchFamily="34" charset="-122"/>
                <a:cs typeface="Montserrat" pitchFamily="34" charset="-120"/>
              </a:rPr>
              <a:t>15 phút · Build landing page và chat live</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661475" y="1478657"/>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Kết quả thực hành 4</a:t>
            </a:r>
            <a:endParaRPr lang="en-US" sz="3250" dirty="0"/>
          </a:p>
        </p:txBody>
      </p:sp>
      <p:sp>
        <p:nvSpPr>
          <p:cNvPr id="3" name="Text 1"/>
          <p:cNvSpPr/>
          <p:nvPr/>
        </p:nvSpPr>
        <p:spPr>
          <a:xfrm>
            <a:off x="661475" y="2061468"/>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Chatbot live trên landing, log đủ năm case</a:t>
            </a:r>
            <a:endParaRPr lang="en-US" sz="1600" dirty="0"/>
          </a:p>
        </p:txBody>
      </p:sp>
      <p:sp>
        <p:nvSpPr>
          <p:cNvPr id="4" name="Text 2"/>
          <p:cNvSpPr/>
          <p:nvPr/>
        </p:nvSpPr>
        <p:spPr>
          <a:xfrm>
            <a:off x="661475" y="2567980"/>
            <a:ext cx="10868745" cy="53558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highlight>
                  <a:srgbClr val="F2F2F2"/>
                </a:highlight>
                <a:latin typeface="Consolas" pitchFamily="34" charset="0"/>
                <a:ea typeface="Consolas" pitchFamily="34" charset="-122"/>
                <a:cs typeface="Consolas" pitchFamily="34" charset="-120"/>
              </a:rPr>
              <a:t>landing-chatbot.html</a:t>
            </a:r>
            <a:r>
              <a:rPr lang="en-US" sz="1300" dirty="0">
                <a:solidFill>
                  <a:srgbClr val="000000"/>
                </a:solidFill>
                <a:latin typeface="Montserrat" pitchFamily="34" charset="0"/>
                <a:ea typeface="Montserrat" pitchFamily="34" charset="-122"/>
                <a:cs typeface="Montserrat" pitchFamily="34" charset="-120"/>
              </a:rPr>
              <a:t> chạy được, chatbot gọi webhook </a:t>
            </a:r>
            <a:r>
              <a:rPr lang="en-US" sz="1300" dirty="0">
                <a:solidFill>
                  <a:srgbClr val="000000"/>
                </a:solidFill>
                <a:highlight>
                  <a:srgbClr val="F2F2F2"/>
                </a:highlight>
                <a:latin typeface="Consolas" pitchFamily="34" charset="0"/>
                <a:ea typeface="Consolas" pitchFamily="34" charset="-122"/>
                <a:cs typeface="Consolas" pitchFamily="34" charset="-120"/>
              </a:rPr>
              <a:t>/cskh</a:t>
            </a:r>
            <a:r>
              <a:rPr lang="en-US" sz="1300" dirty="0">
                <a:solidFill>
                  <a:srgbClr val="000000"/>
                </a:solidFill>
                <a:latin typeface="Montserrat" pitchFamily="34" charset="0"/>
                <a:ea typeface="Montserrat" pitchFamily="34" charset="-122"/>
                <a:cs typeface="Montserrat" pitchFamily="34" charset="-120"/>
              </a:rPr>
              <a:t> end-to-end. Conversation log ghi đủ 5 case với </a:t>
            </a:r>
            <a:r>
              <a:rPr lang="en-US" sz="1300" dirty="0">
                <a:solidFill>
                  <a:srgbClr val="000000"/>
                </a:solidFill>
                <a:highlight>
                  <a:srgbClr val="F2F2F2"/>
                </a:highlight>
                <a:latin typeface="Consolas" pitchFamily="34" charset="0"/>
                <a:ea typeface="Consolas" pitchFamily="34" charset="-122"/>
                <a:cs typeface="Consolas" pitchFamily="34" charset="-120"/>
              </a:rPr>
              <a:t>source_q_id</a:t>
            </a:r>
            <a:r>
              <a:rPr lang="en-US" sz="1300" dirty="0">
                <a:solidFill>
                  <a:srgbClr val="000000"/>
                </a:solidFill>
                <a:latin typeface="Montserrat" pitchFamily="34" charset="0"/>
                <a:ea typeface="Montserrat" pitchFamily="34" charset="-122"/>
                <a:cs typeface="Montserrat" pitchFamily="34" charset="-120"/>
              </a:rPr>
              <a:t>, thể hiện cả reply tự động lẫn ticket chuyển người.</a:t>
            </a:r>
            <a:endParaRPr lang="en-US" sz="1300" dirty="0"/>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3289598"/>
            <a:ext cx="413434" cy="413445"/>
          </a:xfrm>
          <a:prstGeom prst="rect">
            <a:avLst/>
          </a:prstGeom>
        </p:spPr>
      </p:pic>
      <p:sp>
        <p:nvSpPr>
          <p:cNvPr id="6" name="Text 3"/>
          <p:cNvSpPr/>
          <p:nvPr/>
        </p:nvSpPr>
        <p:spPr>
          <a:xfrm>
            <a:off x="661475" y="3909715"/>
            <a:ext cx="3485071"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Landing page live</a:t>
            </a:r>
            <a:endParaRPr lang="en-US" sz="1600" dirty="0"/>
          </a:p>
        </p:txBody>
      </p:sp>
      <p:sp>
        <p:nvSpPr>
          <p:cNvPr id="7" name="Text 4"/>
          <p:cNvSpPr/>
          <p:nvPr/>
        </p:nvSpPr>
        <p:spPr>
          <a:xfrm>
            <a:off x="661475" y="4267398"/>
            <a:ext cx="3485071"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Giao diện thật, khách tương tác trực tiếp</a:t>
            </a:r>
            <a:endParaRPr lang="en-US" sz="13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53213" y="3289598"/>
            <a:ext cx="413434" cy="413445"/>
          </a:xfrm>
          <a:prstGeom prst="rect">
            <a:avLst/>
          </a:prstGeom>
        </p:spPr>
      </p:pic>
      <p:sp>
        <p:nvSpPr>
          <p:cNvPr id="9" name="Text 5"/>
          <p:cNvSpPr/>
          <p:nvPr/>
        </p:nvSpPr>
        <p:spPr>
          <a:xfrm>
            <a:off x="4353213" y="3909715"/>
            <a:ext cx="3485170"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Webhook end-to-end</a:t>
            </a:r>
            <a:endParaRPr lang="en-US" sz="1600" dirty="0"/>
          </a:p>
        </p:txBody>
      </p:sp>
      <p:sp>
        <p:nvSpPr>
          <p:cNvPr id="10" name="Text 6"/>
          <p:cNvSpPr/>
          <p:nvPr/>
        </p:nvSpPr>
        <p:spPr>
          <a:xfrm>
            <a:off x="4353213" y="4267398"/>
            <a:ext cx="3485170"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Chatbot → webhook → 6 lớp kiểm soát</a:t>
            </a:r>
            <a:endParaRPr lang="en-US" sz="1300" dirty="0"/>
          </a:p>
        </p:txBody>
      </p:sp>
      <p:pic>
        <p:nvPicPr>
          <p:cNvPr id="11"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45050" y="3289598"/>
            <a:ext cx="413434" cy="413445"/>
          </a:xfrm>
          <a:prstGeom prst="rect">
            <a:avLst/>
          </a:prstGeom>
        </p:spPr>
      </p:pic>
      <p:sp>
        <p:nvSpPr>
          <p:cNvPr id="12" name="Text 7"/>
          <p:cNvSpPr/>
          <p:nvPr/>
        </p:nvSpPr>
        <p:spPr>
          <a:xfrm>
            <a:off x="8045050" y="3909715"/>
            <a:ext cx="3485170"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Conversation log</a:t>
            </a:r>
            <a:endParaRPr lang="en-US" sz="1600" dirty="0"/>
          </a:p>
        </p:txBody>
      </p:sp>
      <p:sp>
        <p:nvSpPr>
          <p:cNvPr id="13" name="Text 8"/>
          <p:cNvSpPr/>
          <p:nvPr/>
        </p:nvSpPr>
        <p:spPr>
          <a:xfrm>
            <a:off x="8045050" y="4267398"/>
            <a:ext cx="3485170"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5 case đầy đủ, có source_q_id truy vết</a:t>
            </a:r>
            <a:endParaRPr lang="en-US" sz="1300" dirty="0"/>
          </a:p>
        </p:txBody>
      </p:sp>
      <p:sp>
        <p:nvSpPr>
          <p:cNvPr id="14" name="Shape 9"/>
          <p:cNvSpPr/>
          <p:nvPr/>
        </p:nvSpPr>
        <p:spPr>
          <a:xfrm>
            <a:off x="661475" y="4718050"/>
            <a:ext cx="10868745" cy="661293"/>
          </a:xfrm>
          <a:prstGeom prst="roundRect">
            <a:avLst>
              <a:gd name="adj" fmla="val 10504"/>
            </a:avLst>
          </a:prstGeom>
          <a:solidFill>
            <a:srgbClr val="B6FCB8"/>
          </a:solidFill>
          <a:ln/>
        </p:spPr>
      </p:sp>
      <p:pic>
        <p:nvPicPr>
          <p:cNvPr id="15" name="Image 3" descr="preencoded.png"/>
          <p:cNvPicPr>
            <a:picLocks noChangeAspect="1"/>
          </p:cNvPicPr>
          <p:nvPr/>
        </p:nvPicPr>
        <p:blipFill>
          <a:blip r:embed="rId6"/>
          <a:stretch>
            <a:fillRect/>
          </a:stretch>
        </p:blipFill>
        <p:spPr>
          <a:xfrm>
            <a:off x="826769" y="4957763"/>
            <a:ext cx="206667" cy="165298"/>
          </a:xfrm>
          <a:prstGeom prst="rect">
            <a:avLst/>
          </a:prstGeom>
        </p:spPr>
      </p:pic>
      <p:sp>
        <p:nvSpPr>
          <p:cNvPr id="16" name="Text 10"/>
          <p:cNvSpPr/>
          <p:nvPr/>
        </p:nvSpPr>
        <p:spPr>
          <a:xfrm>
            <a:off x="1198731" y="4924623"/>
            <a:ext cx="10775780"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 Vòng khép kín: khách hỏi trên web thật, bot trả lời an toàn hoặc chuyển người đúng quy tắc.</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661475" y="1809353"/>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Những nguyên tắc không thương lượng</a:t>
            </a:r>
            <a:endParaRPr lang="en-US" sz="3250" dirty="0"/>
          </a:p>
        </p:txBody>
      </p:sp>
      <p:sp>
        <p:nvSpPr>
          <p:cNvPr id="3" name="Text 1"/>
          <p:cNvSpPr/>
          <p:nvPr/>
        </p:nvSpPr>
        <p:spPr>
          <a:xfrm>
            <a:off x="661475" y="2392164"/>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An toàn và HITL</a:t>
            </a:r>
            <a:endParaRPr lang="en-US" sz="1600" dirty="0"/>
          </a:p>
        </p:txBody>
      </p:sp>
      <p:sp>
        <p:nvSpPr>
          <p:cNvPr id="4" name="Shape 2"/>
          <p:cNvSpPr/>
          <p:nvPr/>
        </p:nvSpPr>
        <p:spPr>
          <a:xfrm>
            <a:off x="542415" y="2898676"/>
            <a:ext cx="5470785" cy="2149872"/>
          </a:xfrm>
          <a:prstGeom prst="roundRect">
            <a:avLst>
              <a:gd name="adj" fmla="val 5539"/>
            </a:avLst>
          </a:prstGeom>
          <a:solidFill>
            <a:srgbClr val="004AAD"/>
          </a:solidFill>
          <a:ln/>
        </p:spPr>
      </p:sp>
      <p:sp>
        <p:nvSpPr>
          <p:cNvPr id="5" name="Text 3"/>
          <p:cNvSpPr/>
          <p:nvPr/>
        </p:nvSpPr>
        <p:spPr>
          <a:xfrm>
            <a:off x="707710" y="3063974"/>
            <a:ext cx="5140196" cy="26481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Twemoji Mozilla" pitchFamily="34" charset="0"/>
                <a:ea typeface="Twemoji Mozilla" pitchFamily="34" charset="-122"/>
                <a:cs typeface="Twemoji Mozilla" pitchFamily="34" charset="-120"/>
              </a:rPr>
              <a:t>✅</a:t>
            </a:r>
            <a:r>
              <a:rPr lang="en-US" sz="1600" b="1" dirty="0">
                <a:solidFill>
                  <a:srgbClr val="FFFFFF"/>
                </a:solidFill>
                <a:latin typeface="Montserrat Bold" pitchFamily="34" charset="0"/>
                <a:ea typeface="Montserrat Bold" pitchFamily="34" charset="-122"/>
                <a:cs typeface="Montserrat Bold" pitchFamily="34" charset="-120"/>
              </a:rPr>
              <a:t> Phải làm</a:t>
            </a:r>
            <a:endParaRPr lang="en-US" sz="1600" dirty="0"/>
          </a:p>
        </p:txBody>
      </p:sp>
      <p:sp>
        <p:nvSpPr>
          <p:cNvPr id="6" name="Text 4"/>
          <p:cNvSpPr/>
          <p:nvPr/>
        </p:nvSpPr>
        <p:spPr>
          <a:xfrm>
            <a:off x="707710" y="3494088"/>
            <a:ext cx="5140196" cy="1496616"/>
          </a:xfrm>
          <a:prstGeom prst="rect">
            <a:avLst/>
          </a:prstGeom>
          <a:noFill/>
          <a:ln/>
        </p:spPr>
        <p:txBody>
          <a:bodyPr wrap="square" lIns="0" tIns="0" rIns="0" bIns="0" rtlCol="0" anchor="t">
            <a:normAutofit/>
          </a:bodyPr>
          <a:lstStyle/>
          <a:p>
            <a:pPr marL="264160" indent="-264160" algn="l">
              <a:lnSpc>
                <a:spcPct val="133000"/>
              </a:lnSpc>
              <a:buSzPct val="100000"/>
              <a:buChar char="•"/>
            </a:pPr>
            <a:r>
              <a:rPr lang="en-US" sz="1300" dirty="0">
                <a:solidFill>
                  <a:srgbClr val="FFFFFF"/>
                </a:solidFill>
                <a:latin typeface="Montserrat" pitchFamily="34" charset="0"/>
                <a:ea typeface="Montserrat" pitchFamily="34" charset="-122"/>
                <a:cs typeface="Montserrat" pitchFamily="34" charset="-120"/>
              </a:rPr>
              <a:t>Có knowledge base </a:t>
            </a:r>
            <a:r>
              <a:rPr lang="en-US" sz="1300" b="1" dirty="0">
                <a:solidFill>
                  <a:srgbClr val="FFFFFF"/>
                </a:solidFill>
                <a:latin typeface="Montserrat Bold" pitchFamily="34" charset="0"/>
                <a:ea typeface="Montserrat Bold" pitchFamily="34" charset="-122"/>
                <a:cs typeface="Montserrat Bold" pitchFamily="34" charset="-120"/>
              </a:rPr>
              <a:t>trước</a:t>
            </a:r>
            <a:r>
              <a:rPr lang="en-US" sz="1300" dirty="0">
                <a:solidFill>
                  <a:srgbClr val="FFFFFF"/>
                </a:solidFill>
                <a:latin typeface="Montserrat" pitchFamily="34" charset="0"/>
                <a:ea typeface="Montserrat" pitchFamily="34" charset="-122"/>
                <a:cs typeface="Montserrat" pitchFamily="34" charset="-120"/>
              </a:rPr>
              <a:t> khi để bot trả lời.</a:t>
            </a:r>
            <a:endParaRPr lang="en-US" sz="1300" dirty="0"/>
          </a:p>
          <a:p>
            <a:pPr marL="264160" indent="-264160" algn="l">
              <a:lnSpc>
                <a:spcPct val="133000"/>
              </a:lnSpc>
              <a:buSzPct val="100000"/>
              <a:buChar char="•"/>
            </a:pPr>
            <a:r>
              <a:rPr lang="en-US" sz="1300" dirty="0">
                <a:solidFill>
                  <a:srgbClr val="FFFFFF"/>
                </a:solidFill>
                <a:latin typeface="Montserrat" pitchFamily="34" charset="0"/>
                <a:ea typeface="Montserrat" pitchFamily="34" charset="-122"/>
                <a:cs typeface="Montserrat" pitchFamily="34" charset="-120"/>
              </a:rPr>
              <a:t>Coi tin nhắn khách là </a:t>
            </a:r>
            <a:r>
              <a:rPr lang="en-US" sz="1300" b="1" dirty="0">
                <a:solidFill>
                  <a:srgbClr val="FFFFFF"/>
                </a:solidFill>
                <a:latin typeface="Montserrat Bold" pitchFamily="34" charset="0"/>
                <a:ea typeface="Montserrat Bold" pitchFamily="34" charset="-122"/>
                <a:cs typeface="Montserrat Bold" pitchFamily="34" charset="-120"/>
              </a:rPr>
              <a:t>dữ liệu</a:t>
            </a:r>
            <a:r>
              <a:rPr lang="en-US" sz="1300" dirty="0">
                <a:solidFill>
                  <a:srgbClr val="FFFFFF"/>
                </a:solidFill>
                <a:latin typeface="Montserrat" pitchFamily="34" charset="0"/>
                <a:ea typeface="Montserrat" pitchFamily="34" charset="-122"/>
                <a:cs typeface="Montserrat" pitchFamily="34" charset="-120"/>
              </a:rPr>
              <a:t>, bỏ qua lệnh giấu trong câu.</a:t>
            </a:r>
            <a:endParaRPr lang="en-US" sz="1300" dirty="0"/>
          </a:p>
          <a:p>
            <a:pPr marL="264160" indent="-264160" algn="l">
              <a:lnSpc>
                <a:spcPct val="133000"/>
              </a:lnSpc>
              <a:buSzPct val="100000"/>
              <a:buChar char="•"/>
            </a:pPr>
            <a:r>
              <a:rPr lang="en-US" sz="1300" dirty="0">
                <a:solidFill>
                  <a:srgbClr val="FFFFFF"/>
                </a:solidFill>
                <a:latin typeface="Montserrat" pitchFamily="34" charset="0"/>
                <a:ea typeface="Montserrat" pitchFamily="34" charset="-122"/>
                <a:cs typeface="Montserrat" pitchFamily="34" charset="-120"/>
              </a:rPr>
              <a:t>Tách LLM trả lời và LLM-as-Judge thành </a:t>
            </a:r>
            <a:r>
              <a:rPr lang="en-US" sz="1300" b="1" dirty="0">
                <a:solidFill>
                  <a:srgbClr val="FFFFFF"/>
                </a:solidFill>
                <a:latin typeface="Montserrat Bold" pitchFamily="34" charset="0"/>
                <a:ea typeface="Montserrat Bold" pitchFamily="34" charset="-122"/>
                <a:cs typeface="Montserrat Bold" pitchFamily="34" charset="-120"/>
              </a:rPr>
              <a:t>hai vai độc lập</a:t>
            </a:r>
            <a:r>
              <a:rPr lang="en-US" sz="1300" dirty="0">
                <a:solidFill>
                  <a:srgbClr val="FFFFFF"/>
                </a:solidFill>
                <a:latin typeface="Montserrat" pitchFamily="34" charset="0"/>
                <a:ea typeface="Montserrat" pitchFamily="34" charset="-122"/>
                <a:cs typeface="Montserrat" pitchFamily="34" charset="-120"/>
              </a:rPr>
              <a:t>.</a:t>
            </a:r>
            <a:endParaRPr lang="en-US" sz="1300" dirty="0"/>
          </a:p>
          <a:p>
            <a:pPr marL="264160" indent="-264160" algn="l">
              <a:lnSpc>
                <a:spcPct val="133000"/>
              </a:lnSpc>
              <a:buSzPct val="100000"/>
              <a:buChar char="•"/>
            </a:pPr>
            <a:r>
              <a:rPr lang="en-US" sz="1300" dirty="0">
                <a:solidFill>
                  <a:srgbClr val="FFFFFF"/>
                </a:solidFill>
                <a:latin typeface="Montserrat" pitchFamily="34" charset="0"/>
                <a:ea typeface="Montserrat" pitchFamily="34" charset="-122"/>
                <a:cs typeface="Montserrat" pitchFamily="34" charset="-120"/>
              </a:rPr>
              <a:t>Case nhạy cảm (khiếu nại, hoàn tiền) phải tạo ticket </a:t>
            </a:r>
            <a:r>
              <a:rPr lang="en-US" sz="1300" b="1" dirty="0">
                <a:solidFill>
                  <a:srgbClr val="FFFFFF"/>
                </a:solidFill>
                <a:latin typeface="Montserrat Bold" pitchFamily="34" charset="0"/>
                <a:ea typeface="Montserrat Bold" pitchFamily="34" charset="-122"/>
                <a:cs typeface="Montserrat Bold" pitchFamily="34" charset="-120"/>
              </a:rPr>
              <a:t>chuyển người</a:t>
            </a:r>
            <a:r>
              <a:rPr lang="en-US" sz="1300" dirty="0">
                <a:solidFill>
                  <a:srgbClr val="FFFFFF"/>
                </a:solidFill>
                <a:latin typeface="Montserrat" pitchFamily="34" charset="0"/>
                <a:ea typeface="Montserrat" pitchFamily="34" charset="-122"/>
                <a:cs typeface="Montserrat" pitchFamily="34" charset="-120"/>
              </a:rPr>
              <a:t>.</a:t>
            </a:r>
            <a:endParaRPr lang="en-US" sz="1300" dirty="0"/>
          </a:p>
        </p:txBody>
      </p:sp>
      <p:sp>
        <p:nvSpPr>
          <p:cNvPr id="7" name="Text 5"/>
          <p:cNvSpPr/>
          <p:nvPr/>
        </p:nvSpPr>
        <p:spPr>
          <a:xfrm>
            <a:off x="6303904" y="3063974"/>
            <a:ext cx="5232666" cy="26481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Twemoji Mozilla" pitchFamily="34" charset="0"/>
                <a:ea typeface="Twemoji Mozilla" pitchFamily="34" charset="-122"/>
                <a:cs typeface="Twemoji Mozilla" pitchFamily="34" charset="-120"/>
              </a:rPr>
              <a:t>🚫</a:t>
            </a:r>
            <a:r>
              <a:rPr lang="en-US" sz="1600" b="1" dirty="0">
                <a:solidFill>
                  <a:srgbClr val="004AAD"/>
                </a:solidFill>
                <a:latin typeface="Montserrat Bold" pitchFamily="34" charset="0"/>
                <a:ea typeface="Montserrat Bold" pitchFamily="34" charset="-122"/>
                <a:cs typeface="Montserrat Bold" pitchFamily="34" charset="-120"/>
              </a:rPr>
              <a:t> Không được làm</a:t>
            </a:r>
            <a:endParaRPr lang="en-US" sz="1600" dirty="0"/>
          </a:p>
        </p:txBody>
      </p:sp>
      <p:sp>
        <p:nvSpPr>
          <p:cNvPr id="8" name="Text 6"/>
          <p:cNvSpPr/>
          <p:nvPr/>
        </p:nvSpPr>
        <p:spPr>
          <a:xfrm>
            <a:off x="6303904" y="3494088"/>
            <a:ext cx="5232666" cy="1496616"/>
          </a:xfrm>
          <a:prstGeom prst="rect">
            <a:avLst/>
          </a:prstGeom>
          <a:noFill/>
          <a:ln/>
        </p:spPr>
        <p:txBody>
          <a:bodyPr wrap="square" lIns="0" tIns="0" rIns="0" bIns="0" rtlCol="0" anchor="t">
            <a:normAutofit/>
          </a:bodyPr>
          <a:lstStyle/>
          <a:p>
            <a:pPr marL="264160" indent="-264160" algn="l">
              <a:lnSpc>
                <a:spcPct val="133000"/>
              </a:lnSpc>
              <a:buSzPct val="100000"/>
              <a:buChar char="•"/>
            </a:pPr>
            <a:r>
              <a:rPr lang="en-US" sz="1300" dirty="0">
                <a:solidFill>
                  <a:srgbClr val="000000"/>
                </a:solidFill>
                <a:latin typeface="Montserrat" pitchFamily="34" charset="0"/>
                <a:ea typeface="Montserrat" pitchFamily="34" charset="-122"/>
                <a:cs typeface="Montserrat" pitchFamily="34" charset="-120"/>
              </a:rPr>
              <a:t>Không để bot tự </a:t>
            </a:r>
            <a:r>
              <a:rPr lang="en-US" sz="1300" b="1" dirty="0">
                <a:solidFill>
                  <a:srgbClr val="000000"/>
                </a:solidFill>
                <a:latin typeface="Montserrat Bold" pitchFamily="34" charset="0"/>
                <a:ea typeface="Montserrat Bold" pitchFamily="34" charset="-122"/>
                <a:cs typeface="Montserrat Bold" pitchFamily="34" charset="-120"/>
              </a:rPr>
              <a:t>bịa chính sách</a:t>
            </a:r>
            <a:r>
              <a:rPr lang="en-US" sz="1300" dirty="0">
                <a:solidFill>
                  <a:srgbClr val="000000"/>
                </a:solidFill>
                <a:latin typeface="Montserrat" pitchFamily="34" charset="0"/>
                <a:ea typeface="Montserrat" pitchFamily="34" charset="-122"/>
                <a:cs typeface="Montserrat" pitchFamily="34" charset="-120"/>
              </a:rPr>
              <a:t> hay ưu đãi không có trong nguồn.</a:t>
            </a:r>
            <a:endParaRPr lang="en-US" sz="1300" dirty="0"/>
          </a:p>
          <a:p>
            <a:pPr marL="264160" indent="-264160" algn="l">
              <a:lnSpc>
                <a:spcPct val="133000"/>
              </a:lnSpc>
              <a:buSzPct val="100000"/>
              <a:buChar char="•"/>
            </a:pPr>
            <a:r>
              <a:rPr lang="en-US" sz="1300" dirty="0">
                <a:solidFill>
                  <a:srgbClr val="000000"/>
                </a:solidFill>
                <a:latin typeface="Montserrat" pitchFamily="34" charset="0"/>
                <a:ea typeface="Montserrat" pitchFamily="34" charset="-122"/>
                <a:cs typeface="Montserrat" pitchFamily="34" charset="-120"/>
              </a:rPr>
              <a:t>Không bật node gửi thật (email, ticket thật) khi </a:t>
            </a:r>
            <a:r>
              <a:rPr lang="en-US" sz="1300" b="1" dirty="0">
                <a:solidFill>
                  <a:srgbClr val="000000"/>
                </a:solidFill>
                <a:latin typeface="Montserrat Bold" pitchFamily="34" charset="0"/>
                <a:ea typeface="Montserrat Bold" pitchFamily="34" charset="-122"/>
                <a:cs typeface="Montserrat Bold" pitchFamily="34" charset="-120"/>
              </a:rPr>
              <a:t>đang test</a:t>
            </a:r>
            <a:r>
              <a:rPr lang="en-US" sz="1300" dirty="0">
                <a:solidFill>
                  <a:srgbClr val="000000"/>
                </a:solidFill>
                <a:latin typeface="Montserrat" pitchFamily="34" charset="0"/>
                <a:ea typeface="Montserrat" pitchFamily="34" charset="-122"/>
                <a:cs typeface="Montserrat" pitchFamily="34" charset="-120"/>
              </a:rPr>
              <a:t>.</a:t>
            </a:r>
            <a:endParaRPr lang="en-US" sz="1300" dirty="0"/>
          </a:p>
          <a:p>
            <a:pPr marL="264160" indent="-264160" algn="l">
              <a:lnSpc>
                <a:spcPct val="133000"/>
              </a:lnSpc>
              <a:buSzPct val="100000"/>
              <a:buChar char="•"/>
            </a:pPr>
            <a:r>
              <a:rPr lang="en-US" sz="1300" dirty="0">
                <a:solidFill>
                  <a:srgbClr val="000000"/>
                </a:solidFill>
                <a:latin typeface="Montserrat" pitchFamily="34" charset="0"/>
                <a:ea typeface="Montserrat" pitchFamily="34" charset="-122"/>
                <a:cs typeface="Montserrat" pitchFamily="34" charset="-120"/>
              </a:rPr>
              <a:t>Không để một LLM vừa trả lời vừa </a:t>
            </a:r>
            <a:r>
              <a:rPr lang="en-US" sz="1300" b="1" dirty="0">
                <a:solidFill>
                  <a:srgbClr val="000000"/>
                </a:solidFill>
                <a:latin typeface="Montserrat Bold" pitchFamily="34" charset="0"/>
                <a:ea typeface="Montserrat Bold" pitchFamily="34" charset="-122"/>
                <a:cs typeface="Montserrat Bold" pitchFamily="34" charset="-120"/>
              </a:rPr>
              <a:t>tự chấm điểm</a:t>
            </a:r>
            <a:r>
              <a:rPr lang="en-US" sz="1300" dirty="0">
                <a:solidFill>
                  <a:srgbClr val="000000"/>
                </a:solidFill>
                <a:latin typeface="Montserrat" pitchFamily="34" charset="0"/>
                <a:ea typeface="Montserrat" pitchFamily="34" charset="-122"/>
                <a:cs typeface="Montserrat" pitchFamily="34" charset="-120"/>
              </a:rPr>
              <a:t> tin cậy.</a:t>
            </a:r>
            <a:endParaRPr lang="en-US" sz="1300" dirty="0"/>
          </a:p>
          <a:p>
            <a:pPr marL="264160" indent="-264160" algn="l">
              <a:lnSpc>
                <a:spcPct val="133000"/>
              </a:lnSpc>
              <a:buSzPct val="100000"/>
              <a:buChar char="•"/>
            </a:pPr>
            <a:r>
              <a:rPr lang="en-US" sz="1300" dirty="0">
                <a:solidFill>
                  <a:srgbClr val="000000"/>
                </a:solidFill>
                <a:latin typeface="Montserrat" pitchFamily="34" charset="0"/>
                <a:ea typeface="Montserrat" pitchFamily="34" charset="-122"/>
                <a:cs typeface="Montserrat" pitchFamily="34" charset="-120"/>
              </a:rPr>
              <a:t>Không </a:t>
            </a:r>
            <a:r>
              <a:rPr lang="en-US" sz="1300" b="1" dirty="0">
                <a:solidFill>
                  <a:srgbClr val="000000"/>
                </a:solidFill>
                <a:latin typeface="Montserrat Bold" pitchFamily="34" charset="0"/>
                <a:ea typeface="Montserrat Bold" pitchFamily="34" charset="-122"/>
                <a:cs typeface="Montserrat Bold" pitchFamily="34" charset="-120"/>
              </a:rPr>
              <a:t>tự động phê duyệt</a:t>
            </a:r>
            <a:r>
              <a:rPr lang="en-US" sz="1300" dirty="0">
                <a:solidFill>
                  <a:srgbClr val="000000"/>
                </a:solidFill>
                <a:latin typeface="Montserrat" pitchFamily="34" charset="0"/>
                <a:ea typeface="Montserrat" pitchFamily="34" charset="-122"/>
                <a:cs typeface="Montserrat" pitchFamily="34" charset="-120"/>
              </a:rPr>
              <a:t> hoàn tiền hay khiếu nại.</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661475" y="770136"/>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Tiêu chí nghiệm thu (đạt từ 70/100 trở lên)</a:t>
            </a:r>
            <a:endParaRPr lang="en-US" sz="3250" dirty="0"/>
          </a:p>
        </p:txBody>
      </p:sp>
      <p:sp>
        <p:nvSpPr>
          <p:cNvPr id="3" name="Text 1"/>
          <p:cNvSpPr/>
          <p:nvPr/>
        </p:nvSpPr>
        <p:spPr>
          <a:xfrm>
            <a:off x="661475" y="1352947"/>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Grading rubric · 100 điểm</a:t>
            </a:r>
            <a:endParaRPr lang="en-US" sz="1600" dirty="0"/>
          </a:p>
        </p:txBody>
      </p:sp>
      <p:sp>
        <p:nvSpPr>
          <p:cNvPr id="4" name="Shape 2"/>
          <p:cNvSpPr/>
          <p:nvPr/>
        </p:nvSpPr>
        <p:spPr>
          <a:xfrm>
            <a:off x="661475" y="1859459"/>
            <a:ext cx="10868745" cy="3381077"/>
          </a:xfrm>
          <a:prstGeom prst="roundRect">
            <a:avLst>
              <a:gd name="adj" fmla="val 2055"/>
            </a:avLst>
          </a:prstGeom>
          <a:noFill/>
          <a:ln w="6350">
            <a:solidFill>
              <a:srgbClr val="000000">
                <a:alpha val="8000"/>
              </a:srgbClr>
            </a:solidFill>
            <a:prstDash val="solid"/>
          </a:ln>
        </p:spPr>
      </p:sp>
      <p:sp>
        <p:nvSpPr>
          <p:cNvPr id="5" name="Shape 3"/>
          <p:cNvSpPr/>
          <p:nvPr/>
        </p:nvSpPr>
        <p:spPr>
          <a:xfrm>
            <a:off x="661475" y="2344738"/>
            <a:ext cx="10868745" cy="10337"/>
          </a:xfrm>
          <a:prstGeom prst="rect">
            <a:avLst/>
          </a:prstGeom>
          <a:solidFill>
            <a:srgbClr val="000000">
              <a:alpha val="8000"/>
            </a:srgbClr>
          </a:solidFill>
          <a:ln/>
        </p:spPr>
      </p:sp>
      <p:sp>
        <p:nvSpPr>
          <p:cNvPr id="6" name="Shape 4"/>
          <p:cNvSpPr/>
          <p:nvPr/>
        </p:nvSpPr>
        <p:spPr>
          <a:xfrm>
            <a:off x="661475" y="2826841"/>
            <a:ext cx="10868745" cy="10337"/>
          </a:xfrm>
          <a:prstGeom prst="rect">
            <a:avLst/>
          </a:prstGeom>
          <a:solidFill>
            <a:srgbClr val="000000">
              <a:alpha val="8000"/>
            </a:srgbClr>
          </a:solidFill>
          <a:ln/>
        </p:spPr>
      </p:sp>
      <p:sp>
        <p:nvSpPr>
          <p:cNvPr id="7" name="Shape 5"/>
          <p:cNvSpPr/>
          <p:nvPr/>
        </p:nvSpPr>
        <p:spPr>
          <a:xfrm>
            <a:off x="661475" y="3308945"/>
            <a:ext cx="10868745" cy="10337"/>
          </a:xfrm>
          <a:prstGeom prst="rect">
            <a:avLst/>
          </a:prstGeom>
          <a:solidFill>
            <a:srgbClr val="000000">
              <a:alpha val="8000"/>
            </a:srgbClr>
          </a:solidFill>
          <a:ln/>
        </p:spPr>
      </p:sp>
      <p:sp>
        <p:nvSpPr>
          <p:cNvPr id="8" name="Shape 6"/>
          <p:cNvSpPr/>
          <p:nvPr/>
        </p:nvSpPr>
        <p:spPr>
          <a:xfrm>
            <a:off x="661475" y="3791049"/>
            <a:ext cx="10868745" cy="10337"/>
          </a:xfrm>
          <a:prstGeom prst="rect">
            <a:avLst/>
          </a:prstGeom>
          <a:solidFill>
            <a:srgbClr val="000000">
              <a:alpha val="8000"/>
            </a:srgbClr>
          </a:solidFill>
          <a:ln/>
        </p:spPr>
      </p:sp>
      <p:sp>
        <p:nvSpPr>
          <p:cNvPr id="9" name="Shape 7"/>
          <p:cNvSpPr/>
          <p:nvPr/>
        </p:nvSpPr>
        <p:spPr>
          <a:xfrm>
            <a:off x="661475" y="4273153"/>
            <a:ext cx="10868745" cy="10337"/>
          </a:xfrm>
          <a:prstGeom prst="rect">
            <a:avLst/>
          </a:prstGeom>
          <a:solidFill>
            <a:srgbClr val="000000">
              <a:alpha val="8000"/>
            </a:srgbClr>
          </a:solidFill>
          <a:ln/>
        </p:spPr>
      </p:sp>
      <p:sp>
        <p:nvSpPr>
          <p:cNvPr id="10" name="Shape 8"/>
          <p:cNvSpPr/>
          <p:nvPr/>
        </p:nvSpPr>
        <p:spPr>
          <a:xfrm>
            <a:off x="661475" y="4755257"/>
            <a:ext cx="10868745" cy="10337"/>
          </a:xfrm>
          <a:prstGeom prst="rect">
            <a:avLst/>
          </a:prstGeom>
          <a:solidFill>
            <a:srgbClr val="000000">
              <a:alpha val="8000"/>
            </a:srgbClr>
          </a:solidFill>
          <a:ln/>
        </p:spPr>
      </p:sp>
      <p:sp>
        <p:nvSpPr>
          <p:cNvPr id="11" name="Shape 9"/>
          <p:cNvSpPr/>
          <p:nvPr/>
        </p:nvSpPr>
        <p:spPr>
          <a:xfrm>
            <a:off x="667924" y="1865809"/>
            <a:ext cx="6513548" cy="478929"/>
          </a:xfrm>
          <a:custGeom>
            <a:avLst/>
            <a:gdLst/>
            <a:ahLst/>
            <a:cxnLst/>
            <a:rect l="l" t="t" r="r" b="b"/>
            <a:pathLst>
              <a:path w="6513548" h="478929">
                <a:moveTo>
                  <a:pt x="57887" y="0"/>
                </a:moveTo>
                <a:lnTo>
                  <a:pt x="6513548" y="0"/>
                </a:lnTo>
                <a:lnTo>
                  <a:pt x="6513548" y="478929"/>
                </a:lnTo>
                <a:lnTo>
                  <a:pt x="0" y="478929"/>
                </a:lnTo>
                <a:lnTo>
                  <a:pt x="0" y="57888"/>
                </a:lnTo>
                <a:arcTo wR="57887" hR="57888" stAng="10800000" swAng="5400000"/>
                <a:close/>
              </a:path>
            </a:pathLst>
          </a:custGeom>
          <a:solidFill>
            <a:srgbClr val="004AAD"/>
          </a:solidFill>
          <a:ln/>
        </p:spPr>
      </p:sp>
      <p:sp>
        <p:nvSpPr>
          <p:cNvPr id="12" name="Text 10"/>
          <p:cNvSpPr/>
          <p:nvPr/>
        </p:nvSpPr>
        <p:spPr>
          <a:xfrm>
            <a:off x="833218" y="1971377"/>
            <a:ext cx="6792544" cy="264616"/>
          </a:xfrm>
          <a:prstGeom prst="rect">
            <a:avLst/>
          </a:prstGeom>
          <a:noFill/>
          <a:ln/>
        </p:spPr>
        <p:txBody>
          <a:bodyPr wrap="none" lIns="0" tIns="0" rIns="0" bIns="0" rtlCol="0" anchor="t"/>
          <a:lstStyle/>
          <a:p>
            <a:pPr marL="0" indent="0" algn="l">
              <a:lnSpc>
                <a:spcPct val="133000"/>
              </a:lnSpc>
              <a:buNone/>
            </a:pPr>
            <a:r>
              <a:rPr lang="en-US" sz="1300" b="1" dirty="0">
                <a:solidFill>
                  <a:srgbClr val="FFFFFF"/>
                </a:solidFill>
                <a:latin typeface="Montserrat Bold" pitchFamily="34" charset="0"/>
                <a:ea typeface="Montserrat Bold" pitchFamily="34" charset="-122"/>
                <a:cs typeface="Montserrat Bold" pitchFamily="34" charset="-120"/>
              </a:rPr>
              <a:t>Hạng mục nghiệm thu</a:t>
            </a:r>
            <a:endParaRPr lang="en-US" sz="1300" dirty="0"/>
          </a:p>
        </p:txBody>
      </p:sp>
      <p:sp>
        <p:nvSpPr>
          <p:cNvPr id="13" name="Shape 11"/>
          <p:cNvSpPr/>
          <p:nvPr/>
        </p:nvSpPr>
        <p:spPr>
          <a:xfrm>
            <a:off x="7181472" y="1865809"/>
            <a:ext cx="4342398" cy="478929"/>
          </a:xfrm>
          <a:custGeom>
            <a:avLst/>
            <a:gdLst/>
            <a:ahLst/>
            <a:cxnLst/>
            <a:rect l="l" t="t" r="r" b="b"/>
            <a:pathLst>
              <a:path w="4342398" h="478929">
                <a:moveTo>
                  <a:pt x="0" y="0"/>
                </a:moveTo>
                <a:lnTo>
                  <a:pt x="4284511" y="0"/>
                </a:lnTo>
                <a:arcTo wR="57887" hR="57888" stAng="16200000" swAng="5400000"/>
                <a:lnTo>
                  <a:pt x="4342398" y="478929"/>
                </a:lnTo>
                <a:lnTo>
                  <a:pt x="0" y="478929"/>
                </a:lnTo>
                <a:lnTo>
                  <a:pt x="0" y="0"/>
                </a:lnTo>
                <a:close/>
              </a:path>
            </a:pathLst>
          </a:custGeom>
          <a:solidFill>
            <a:srgbClr val="004AAD"/>
          </a:solidFill>
          <a:ln/>
        </p:spPr>
      </p:sp>
      <p:sp>
        <p:nvSpPr>
          <p:cNvPr id="14" name="Text 12"/>
          <p:cNvSpPr/>
          <p:nvPr/>
        </p:nvSpPr>
        <p:spPr>
          <a:xfrm>
            <a:off x="7346766" y="1971377"/>
            <a:ext cx="4621395" cy="264616"/>
          </a:xfrm>
          <a:prstGeom prst="rect">
            <a:avLst/>
          </a:prstGeom>
          <a:noFill/>
          <a:ln/>
        </p:spPr>
        <p:txBody>
          <a:bodyPr wrap="none" lIns="0" tIns="0" rIns="0" bIns="0" rtlCol="0" anchor="t"/>
          <a:lstStyle/>
          <a:p>
            <a:pPr marL="0" indent="0" algn="l">
              <a:lnSpc>
                <a:spcPct val="133000"/>
              </a:lnSpc>
              <a:buNone/>
            </a:pPr>
            <a:r>
              <a:rPr lang="en-US" sz="1300" b="1" dirty="0">
                <a:solidFill>
                  <a:srgbClr val="FFFFFF"/>
                </a:solidFill>
                <a:latin typeface="Montserrat Bold" pitchFamily="34" charset="0"/>
                <a:ea typeface="Montserrat Bold" pitchFamily="34" charset="-122"/>
                <a:cs typeface="Montserrat Bold" pitchFamily="34" charset="-120"/>
              </a:rPr>
              <a:t>Điểm</a:t>
            </a:r>
            <a:endParaRPr lang="en-US" sz="1300" dirty="0"/>
          </a:p>
        </p:txBody>
      </p:sp>
      <p:sp>
        <p:nvSpPr>
          <p:cNvPr id="15" name="Text 13"/>
          <p:cNvSpPr/>
          <p:nvPr/>
        </p:nvSpPr>
        <p:spPr>
          <a:xfrm>
            <a:off x="833218" y="2453481"/>
            <a:ext cx="6792544"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Thực hành 1: vector knowledge DB (15 vector đủ faq_id và nhóm)</a:t>
            </a:r>
            <a:endParaRPr lang="en-US" sz="1300" dirty="0"/>
          </a:p>
        </p:txBody>
      </p:sp>
      <p:sp>
        <p:nvSpPr>
          <p:cNvPr id="16" name="Text 14"/>
          <p:cNvSpPr/>
          <p:nvPr/>
        </p:nvSpPr>
        <p:spPr>
          <a:xfrm>
            <a:off x="7041974" y="2453481"/>
            <a:ext cx="4621395" cy="264616"/>
          </a:xfrm>
          <a:prstGeom prst="rect">
            <a:avLst/>
          </a:prstGeom>
          <a:noFill/>
          <a:ln/>
        </p:spPr>
        <p:txBody>
          <a:bodyPr wrap="none" lIns="0" tIns="0" rIns="0" bIns="0" rtlCol="0" anchor="t"/>
          <a:lstStyle/>
          <a:p>
            <a:pPr marL="0" indent="0" algn="ctr">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15</a:t>
            </a:r>
            <a:endParaRPr lang="en-US" sz="1300" dirty="0"/>
          </a:p>
        </p:txBody>
      </p:sp>
      <p:sp>
        <p:nvSpPr>
          <p:cNvPr id="17" name="Text 15"/>
          <p:cNvSpPr/>
          <p:nvPr/>
        </p:nvSpPr>
        <p:spPr>
          <a:xfrm>
            <a:off x="833218" y="2935585"/>
            <a:ext cx="6792544"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Thực hành 2: guardrail, router và FAQ cache (5/5 route đúng)</a:t>
            </a:r>
            <a:endParaRPr lang="en-US" sz="1300" dirty="0"/>
          </a:p>
        </p:txBody>
      </p:sp>
      <p:sp>
        <p:nvSpPr>
          <p:cNvPr id="18" name="Text 16"/>
          <p:cNvSpPr/>
          <p:nvPr/>
        </p:nvSpPr>
        <p:spPr>
          <a:xfrm>
            <a:off x="7041974" y="2935585"/>
            <a:ext cx="4621395" cy="264616"/>
          </a:xfrm>
          <a:prstGeom prst="rect">
            <a:avLst/>
          </a:prstGeom>
          <a:noFill/>
          <a:ln/>
        </p:spPr>
        <p:txBody>
          <a:bodyPr wrap="none" lIns="0" tIns="0" rIns="0" bIns="0" rtlCol="0" anchor="t"/>
          <a:lstStyle/>
          <a:p>
            <a:pPr marL="0" indent="0" algn="ctr">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20</a:t>
            </a:r>
            <a:endParaRPr lang="en-US" sz="1300" dirty="0"/>
          </a:p>
        </p:txBody>
      </p:sp>
      <p:sp>
        <p:nvSpPr>
          <p:cNvPr id="19" name="Text 17"/>
          <p:cNvSpPr/>
          <p:nvPr/>
        </p:nvSpPr>
        <p:spPr>
          <a:xfrm>
            <a:off x="833218" y="3417689"/>
            <a:ext cx="6792544"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Thực hành 3: LLM fallback có nguồn (cache miss mới gọi LLM)</a:t>
            </a:r>
            <a:endParaRPr lang="en-US" sz="1300" dirty="0"/>
          </a:p>
        </p:txBody>
      </p:sp>
      <p:sp>
        <p:nvSpPr>
          <p:cNvPr id="20" name="Text 18"/>
          <p:cNvSpPr/>
          <p:nvPr/>
        </p:nvSpPr>
        <p:spPr>
          <a:xfrm>
            <a:off x="7041974" y="3417689"/>
            <a:ext cx="4621395" cy="264616"/>
          </a:xfrm>
          <a:prstGeom prst="rect">
            <a:avLst/>
          </a:prstGeom>
          <a:noFill/>
          <a:ln/>
        </p:spPr>
        <p:txBody>
          <a:bodyPr wrap="none" lIns="0" tIns="0" rIns="0" bIns="0" rtlCol="0" anchor="t"/>
          <a:lstStyle/>
          <a:p>
            <a:pPr marL="0" indent="0" algn="ctr">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15</a:t>
            </a:r>
            <a:endParaRPr lang="en-US" sz="1300" dirty="0"/>
          </a:p>
        </p:txBody>
      </p:sp>
      <p:sp>
        <p:nvSpPr>
          <p:cNvPr id="21" name="Text 19"/>
          <p:cNvSpPr/>
          <p:nvPr/>
        </p:nvSpPr>
        <p:spPr>
          <a:xfrm>
            <a:off x="833218" y="3899793"/>
            <a:ext cx="6792544"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Thực hành 3: LLM-as-Judge và HITL ticket (đúng TC2 và TC4)</a:t>
            </a:r>
            <a:endParaRPr lang="en-US" sz="1300" dirty="0"/>
          </a:p>
        </p:txBody>
      </p:sp>
      <p:sp>
        <p:nvSpPr>
          <p:cNvPr id="22" name="Text 20"/>
          <p:cNvSpPr/>
          <p:nvPr/>
        </p:nvSpPr>
        <p:spPr>
          <a:xfrm>
            <a:off x="7041974" y="3899793"/>
            <a:ext cx="4621395" cy="264616"/>
          </a:xfrm>
          <a:prstGeom prst="rect">
            <a:avLst/>
          </a:prstGeom>
          <a:noFill/>
          <a:ln/>
        </p:spPr>
        <p:txBody>
          <a:bodyPr wrap="none" lIns="0" tIns="0" rIns="0" bIns="0" rtlCol="0" anchor="t"/>
          <a:lstStyle/>
          <a:p>
            <a:pPr marL="0" indent="0" algn="ctr">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20</a:t>
            </a:r>
            <a:endParaRPr lang="en-US" sz="1300" dirty="0"/>
          </a:p>
        </p:txBody>
      </p:sp>
      <p:sp>
        <p:nvSpPr>
          <p:cNvPr id="23" name="Text 21"/>
          <p:cNvSpPr/>
          <p:nvPr/>
        </p:nvSpPr>
        <p:spPr>
          <a:xfrm>
            <a:off x="833218" y="4381897"/>
            <a:ext cx="6792544"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Thực hành 4: landing page và chatbot end-to-end (log 5 case)</a:t>
            </a:r>
            <a:endParaRPr lang="en-US" sz="1300" dirty="0"/>
          </a:p>
        </p:txBody>
      </p:sp>
      <p:sp>
        <p:nvSpPr>
          <p:cNvPr id="24" name="Text 22"/>
          <p:cNvSpPr/>
          <p:nvPr/>
        </p:nvSpPr>
        <p:spPr>
          <a:xfrm>
            <a:off x="7041974" y="4381897"/>
            <a:ext cx="4621395" cy="264616"/>
          </a:xfrm>
          <a:prstGeom prst="rect">
            <a:avLst/>
          </a:prstGeom>
          <a:noFill/>
          <a:ln/>
        </p:spPr>
        <p:txBody>
          <a:bodyPr wrap="none" lIns="0" tIns="0" rIns="0" bIns="0" rtlCol="0" anchor="t"/>
          <a:lstStyle/>
          <a:p>
            <a:pPr marL="0" indent="0" algn="ctr">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20</a:t>
            </a:r>
            <a:endParaRPr lang="en-US" sz="1300" dirty="0"/>
          </a:p>
        </p:txBody>
      </p:sp>
      <p:sp>
        <p:nvSpPr>
          <p:cNvPr id="25" name="Text 23"/>
          <p:cNvSpPr/>
          <p:nvPr/>
        </p:nvSpPr>
        <p:spPr>
          <a:xfrm>
            <a:off x="833218" y="4864001"/>
            <a:ext cx="6792544"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Safety &amp; Control (rule injection, test mode, tách judge)</a:t>
            </a:r>
            <a:endParaRPr lang="en-US" sz="1300" dirty="0"/>
          </a:p>
        </p:txBody>
      </p:sp>
      <p:sp>
        <p:nvSpPr>
          <p:cNvPr id="26" name="Text 24"/>
          <p:cNvSpPr/>
          <p:nvPr/>
        </p:nvSpPr>
        <p:spPr>
          <a:xfrm>
            <a:off x="7041974" y="4864001"/>
            <a:ext cx="4621395" cy="264616"/>
          </a:xfrm>
          <a:prstGeom prst="rect">
            <a:avLst/>
          </a:prstGeom>
          <a:noFill/>
          <a:ln/>
        </p:spPr>
        <p:txBody>
          <a:bodyPr wrap="none" lIns="0" tIns="0" rIns="0" bIns="0" rtlCol="0" anchor="t"/>
          <a:lstStyle/>
          <a:p>
            <a:pPr marL="0" indent="0" algn="ctr">
              <a:lnSpc>
                <a:spcPct val="133000"/>
              </a:lnSpc>
              <a:buNone/>
            </a:pPr>
            <a:r>
              <a:rPr lang="en-US" sz="1300" b="1" dirty="0">
                <a:solidFill>
                  <a:srgbClr val="000000"/>
                </a:solidFill>
                <a:latin typeface="Montserrat Bold" pitchFamily="34" charset="0"/>
                <a:ea typeface="Montserrat Bold" pitchFamily="34" charset="-122"/>
                <a:cs typeface="Montserrat Bold" pitchFamily="34" charset="-120"/>
              </a:rPr>
              <a:t>10</a:t>
            </a:r>
            <a:endParaRPr lang="en-US" sz="1300" dirty="0"/>
          </a:p>
        </p:txBody>
      </p:sp>
      <p:sp>
        <p:nvSpPr>
          <p:cNvPr id="27" name="Shape 25"/>
          <p:cNvSpPr/>
          <p:nvPr/>
        </p:nvSpPr>
        <p:spPr>
          <a:xfrm>
            <a:off x="661475" y="5426571"/>
            <a:ext cx="10868745" cy="661293"/>
          </a:xfrm>
          <a:prstGeom prst="roundRect">
            <a:avLst>
              <a:gd name="adj" fmla="val 10504"/>
            </a:avLst>
          </a:prstGeom>
          <a:solidFill>
            <a:srgbClr val="CCE2FF"/>
          </a:solidFill>
          <a:ln/>
        </p:spPr>
      </p:sp>
      <p:pic>
        <p:nvPicPr>
          <p:cNvPr id="28" name="Image 0" descr="preencoded.png"/>
          <p:cNvPicPr>
            <a:picLocks noChangeAspect="1"/>
          </p:cNvPicPr>
          <p:nvPr/>
        </p:nvPicPr>
        <p:blipFill>
          <a:blip r:embed="rId3"/>
          <a:stretch>
            <a:fillRect/>
          </a:stretch>
        </p:blipFill>
        <p:spPr>
          <a:xfrm>
            <a:off x="826769" y="5666284"/>
            <a:ext cx="206667" cy="165298"/>
          </a:xfrm>
          <a:prstGeom prst="rect">
            <a:avLst/>
          </a:prstGeom>
        </p:spPr>
      </p:pic>
      <p:sp>
        <p:nvSpPr>
          <p:cNvPr id="29" name="Text 26"/>
          <p:cNvSpPr/>
          <p:nvPr/>
        </p:nvSpPr>
        <p:spPr>
          <a:xfrm>
            <a:off x="1198731" y="5633145"/>
            <a:ext cx="10775780"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Đạt tối thiểu </a:t>
            </a:r>
            <a:r>
              <a:rPr lang="en-US" sz="1300" b="1" dirty="0">
                <a:solidFill>
                  <a:srgbClr val="000000"/>
                </a:solidFill>
                <a:latin typeface="Montserrat Bold" pitchFamily="34" charset="0"/>
                <a:ea typeface="Montserrat Bold" pitchFamily="34" charset="-122"/>
                <a:cs typeface="Montserrat Bold" pitchFamily="34" charset="-120"/>
              </a:rPr>
              <a:t>70/100</a:t>
            </a:r>
            <a:r>
              <a:rPr lang="en-US" sz="1300" dirty="0">
                <a:solidFill>
                  <a:srgbClr val="000000"/>
                </a:solidFill>
                <a:latin typeface="Montserrat" pitchFamily="34" charset="0"/>
                <a:ea typeface="Montserrat" pitchFamily="34" charset="-122"/>
                <a:cs typeface="Montserrat" pitchFamily="34" charset="-120"/>
              </a:rPr>
              <a:t> để hoàn thành buổi 5. Điểm an toàn là 10 điểm bắt buộc — không có exception.</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661475" y="1030982"/>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Tổng kết buổi 5: bốn sản phẩm mang về</a:t>
            </a:r>
            <a:endParaRPr lang="en-US" sz="3250" dirty="0"/>
          </a:p>
        </p:txBody>
      </p:sp>
      <p:sp>
        <p:nvSpPr>
          <p:cNvPr id="3" name="Shape 1"/>
          <p:cNvSpPr/>
          <p:nvPr/>
        </p:nvSpPr>
        <p:spPr>
          <a:xfrm>
            <a:off x="661475" y="1878409"/>
            <a:ext cx="5351725" cy="1891605"/>
          </a:xfrm>
          <a:prstGeom prst="roundRect">
            <a:avLst>
              <a:gd name="adj" fmla="val 3672"/>
            </a:avLst>
          </a:prstGeom>
          <a:solidFill>
            <a:srgbClr val="CCE2FF"/>
          </a:solidFill>
          <a:ln w="6350">
            <a:solidFill>
              <a:srgbClr val="B2C8E5"/>
            </a:solidFill>
            <a:prstDash val="solid"/>
          </a:ln>
        </p:spPr>
      </p:sp>
      <p:sp>
        <p:nvSpPr>
          <p:cNvPr id="4" name="Shape 2"/>
          <p:cNvSpPr/>
          <p:nvPr/>
        </p:nvSpPr>
        <p:spPr>
          <a:xfrm>
            <a:off x="833119" y="2050058"/>
            <a:ext cx="496081" cy="496094"/>
          </a:xfrm>
          <a:prstGeom prst="ellipse">
            <a:avLst/>
          </a:prstGeom>
          <a:solidFill>
            <a:srgbClr val="004AAD"/>
          </a:solidFill>
          <a:ln/>
        </p:spPr>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9541" y="2186384"/>
            <a:ext cx="223237" cy="223242"/>
          </a:xfrm>
          <a:prstGeom prst="rect">
            <a:avLst/>
          </a:prstGeom>
        </p:spPr>
      </p:pic>
      <p:sp>
        <p:nvSpPr>
          <p:cNvPr id="6" name="Text 3"/>
          <p:cNvSpPr/>
          <p:nvPr/>
        </p:nvSpPr>
        <p:spPr>
          <a:xfrm>
            <a:off x="833119" y="2711450"/>
            <a:ext cx="5008437"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vector-store.json</a:t>
            </a:r>
            <a:endParaRPr lang="en-US" sz="1600" dirty="0"/>
          </a:p>
        </p:txBody>
      </p:sp>
      <p:sp>
        <p:nvSpPr>
          <p:cNvPr id="7" name="Text 4"/>
          <p:cNvSpPr/>
          <p:nvPr/>
        </p:nvSpPr>
        <p:spPr>
          <a:xfrm>
            <a:off x="833119" y="3069134"/>
            <a:ext cx="5008437"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15 FAQ đã embed, sẵn sàng truy hồi semantic theo ý nghĩa.</a:t>
            </a:r>
            <a:endParaRPr lang="en-US" sz="1300" dirty="0"/>
          </a:p>
        </p:txBody>
      </p:sp>
      <p:sp>
        <p:nvSpPr>
          <p:cNvPr id="8" name="Shape 5"/>
          <p:cNvSpPr/>
          <p:nvPr/>
        </p:nvSpPr>
        <p:spPr>
          <a:xfrm>
            <a:off x="6178495" y="1878409"/>
            <a:ext cx="5351725" cy="1891605"/>
          </a:xfrm>
          <a:prstGeom prst="roundRect">
            <a:avLst>
              <a:gd name="adj" fmla="val 3672"/>
            </a:avLst>
          </a:prstGeom>
          <a:solidFill>
            <a:srgbClr val="CCE2FF"/>
          </a:solidFill>
          <a:ln w="6350">
            <a:solidFill>
              <a:srgbClr val="B2C8E5"/>
            </a:solidFill>
            <a:prstDash val="solid"/>
          </a:ln>
        </p:spPr>
      </p:sp>
      <p:sp>
        <p:nvSpPr>
          <p:cNvPr id="9" name="Shape 6"/>
          <p:cNvSpPr/>
          <p:nvPr/>
        </p:nvSpPr>
        <p:spPr>
          <a:xfrm>
            <a:off x="6350139" y="2050058"/>
            <a:ext cx="496081" cy="496094"/>
          </a:xfrm>
          <a:prstGeom prst="ellipse">
            <a:avLst/>
          </a:prstGeom>
          <a:solidFill>
            <a:srgbClr val="004AAD"/>
          </a:solidFill>
          <a:ln/>
        </p:spPr>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86561" y="2186384"/>
            <a:ext cx="223237" cy="223242"/>
          </a:xfrm>
          <a:prstGeom prst="rect">
            <a:avLst/>
          </a:prstGeom>
        </p:spPr>
      </p:pic>
      <p:sp>
        <p:nvSpPr>
          <p:cNvPr id="11" name="Text 7"/>
          <p:cNvSpPr/>
          <p:nvPr/>
        </p:nvSpPr>
        <p:spPr>
          <a:xfrm>
            <a:off x="6350139" y="2711450"/>
            <a:ext cx="5008437"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Guardrail + Router + Cache</a:t>
            </a:r>
            <a:endParaRPr lang="en-US" sz="1600" dirty="0"/>
          </a:p>
        </p:txBody>
      </p:sp>
      <p:sp>
        <p:nvSpPr>
          <p:cNvPr id="12" name="Text 8"/>
          <p:cNvSpPr/>
          <p:nvPr/>
        </p:nvSpPr>
        <p:spPr>
          <a:xfrm>
            <a:off x="6350139" y="3069134"/>
            <a:ext cx="5008437"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5/5 route đúng, ngoài scope chặn trước LLM, fast path tiết kiệm chi phí.</a:t>
            </a:r>
            <a:endParaRPr lang="en-US" sz="1300" dirty="0"/>
          </a:p>
        </p:txBody>
      </p:sp>
      <p:sp>
        <p:nvSpPr>
          <p:cNvPr id="13" name="Shape 9"/>
          <p:cNvSpPr/>
          <p:nvPr/>
        </p:nvSpPr>
        <p:spPr>
          <a:xfrm>
            <a:off x="661475" y="3935313"/>
            <a:ext cx="5351725" cy="1891605"/>
          </a:xfrm>
          <a:prstGeom prst="roundRect">
            <a:avLst>
              <a:gd name="adj" fmla="val 3672"/>
            </a:avLst>
          </a:prstGeom>
          <a:solidFill>
            <a:srgbClr val="CCE2FF"/>
          </a:solidFill>
          <a:ln w="6350">
            <a:solidFill>
              <a:srgbClr val="B2C8E5"/>
            </a:solidFill>
            <a:prstDash val="solid"/>
          </a:ln>
        </p:spPr>
      </p:sp>
      <p:sp>
        <p:nvSpPr>
          <p:cNvPr id="14" name="Shape 10"/>
          <p:cNvSpPr/>
          <p:nvPr/>
        </p:nvSpPr>
        <p:spPr>
          <a:xfrm>
            <a:off x="833119" y="4106962"/>
            <a:ext cx="496081" cy="496094"/>
          </a:xfrm>
          <a:prstGeom prst="ellipse">
            <a:avLst/>
          </a:prstGeom>
          <a:solidFill>
            <a:srgbClr val="004AAD"/>
          </a:solidFill>
          <a:ln/>
        </p:spPr>
      </p:sp>
      <p:pic>
        <p:nvPicPr>
          <p:cNvPr id="15"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69541" y="4243288"/>
            <a:ext cx="223237" cy="223242"/>
          </a:xfrm>
          <a:prstGeom prst="rect">
            <a:avLst/>
          </a:prstGeom>
        </p:spPr>
      </p:pic>
      <p:sp>
        <p:nvSpPr>
          <p:cNvPr id="16" name="Text 11"/>
          <p:cNvSpPr/>
          <p:nvPr/>
        </p:nvSpPr>
        <p:spPr>
          <a:xfrm>
            <a:off x="833119" y="4768354"/>
            <a:ext cx="5008437"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LLM-as-Judge + HITL</a:t>
            </a:r>
            <a:endParaRPr lang="en-US" sz="1600" dirty="0"/>
          </a:p>
        </p:txBody>
      </p:sp>
      <p:sp>
        <p:nvSpPr>
          <p:cNvPr id="17" name="Text 12"/>
          <p:cNvSpPr/>
          <p:nvPr/>
        </p:nvSpPr>
        <p:spPr>
          <a:xfrm>
            <a:off x="833119" y="5126038"/>
            <a:ext cx="5008437"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Đúng 2 case nhạy cảm được chuyển người (TC2 hoàn tiền, TC4 ngoài scope).</a:t>
            </a:r>
            <a:endParaRPr lang="en-US" sz="1300" dirty="0"/>
          </a:p>
        </p:txBody>
      </p:sp>
      <p:sp>
        <p:nvSpPr>
          <p:cNvPr id="18" name="Shape 13"/>
          <p:cNvSpPr/>
          <p:nvPr/>
        </p:nvSpPr>
        <p:spPr>
          <a:xfrm>
            <a:off x="6178495" y="3935313"/>
            <a:ext cx="5351725" cy="1891605"/>
          </a:xfrm>
          <a:prstGeom prst="roundRect">
            <a:avLst>
              <a:gd name="adj" fmla="val 3672"/>
            </a:avLst>
          </a:prstGeom>
          <a:solidFill>
            <a:srgbClr val="CCE2FF"/>
          </a:solidFill>
          <a:ln w="6350">
            <a:solidFill>
              <a:srgbClr val="B2C8E5"/>
            </a:solidFill>
            <a:prstDash val="solid"/>
          </a:ln>
        </p:spPr>
      </p:sp>
      <p:sp>
        <p:nvSpPr>
          <p:cNvPr id="19" name="Shape 14"/>
          <p:cNvSpPr/>
          <p:nvPr/>
        </p:nvSpPr>
        <p:spPr>
          <a:xfrm>
            <a:off x="6350139" y="4106962"/>
            <a:ext cx="496081" cy="496094"/>
          </a:xfrm>
          <a:prstGeom prst="ellipse">
            <a:avLst/>
          </a:prstGeom>
          <a:solidFill>
            <a:srgbClr val="004AAD"/>
          </a:solidFill>
          <a:ln/>
        </p:spPr>
      </p:sp>
      <p:pic>
        <p:nvPicPr>
          <p:cNvPr id="20"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486561" y="4243288"/>
            <a:ext cx="223237" cy="223242"/>
          </a:xfrm>
          <a:prstGeom prst="rect">
            <a:avLst/>
          </a:prstGeom>
        </p:spPr>
      </p:pic>
      <p:sp>
        <p:nvSpPr>
          <p:cNvPr id="21" name="Text 15"/>
          <p:cNvSpPr/>
          <p:nvPr/>
        </p:nvSpPr>
        <p:spPr>
          <a:xfrm>
            <a:off x="6350139" y="4768354"/>
            <a:ext cx="5008437"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Montserrat Bold" pitchFamily="34" charset="0"/>
                <a:ea typeface="Montserrat Bold" pitchFamily="34" charset="-122"/>
                <a:cs typeface="Montserrat Bold" pitchFamily="34" charset="-120"/>
              </a:rPr>
              <a:t>landing-chatbot.html</a:t>
            </a:r>
            <a:endParaRPr lang="en-US" sz="1600" dirty="0"/>
          </a:p>
        </p:txBody>
      </p:sp>
      <p:sp>
        <p:nvSpPr>
          <p:cNvPr id="22" name="Text 16"/>
          <p:cNvSpPr/>
          <p:nvPr/>
        </p:nvSpPr>
        <p:spPr>
          <a:xfrm>
            <a:off x="6350139" y="5126038"/>
            <a:ext cx="5008437"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Chatbot live gọi webhook end-to-end, conversation log đủ 5 case với source_q_id.</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661475" y="1579066"/>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4AAD"/>
                </a:solidFill>
                <a:latin typeface="Montserrat Bold" pitchFamily="34" charset="0"/>
                <a:ea typeface="Montserrat Bold" pitchFamily="34" charset="-122"/>
                <a:cs typeface="Montserrat Bold" pitchFamily="34" charset="-120"/>
              </a:rPr>
              <a:t>Chuẩn bị cho buổi 6</a:t>
            </a:r>
            <a:endParaRPr lang="en-US" sz="3250" dirty="0"/>
          </a:p>
        </p:txBody>
      </p:sp>
      <p:sp>
        <p:nvSpPr>
          <p:cNvPr id="3" name="Text 1"/>
          <p:cNvSpPr/>
          <p:nvPr/>
        </p:nvSpPr>
        <p:spPr>
          <a:xfrm>
            <a:off x="661475" y="2161877"/>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Content engine: sản xuất nội dung có kiểm soát</a:t>
            </a:r>
            <a:endParaRPr lang="en-US" sz="1600" dirty="0"/>
          </a:p>
        </p:txBody>
      </p:sp>
      <p:sp>
        <p:nvSpPr>
          <p:cNvPr id="4" name="Text 2"/>
          <p:cNvSpPr/>
          <p:nvPr/>
        </p:nvSpPr>
        <p:spPr>
          <a:xfrm>
            <a:off x="661475" y="2833688"/>
            <a:ext cx="5232666"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Mang từ buổi 5 sang</a:t>
            </a:r>
            <a:endParaRPr lang="en-US" sz="1600" dirty="0"/>
          </a:p>
        </p:txBody>
      </p:sp>
      <p:sp>
        <p:nvSpPr>
          <p:cNvPr id="5" name="Text 3"/>
          <p:cNvSpPr/>
          <p:nvPr/>
        </p:nvSpPr>
        <p:spPr>
          <a:xfrm>
            <a:off x="661475" y="3257451"/>
            <a:ext cx="5232666" cy="858044"/>
          </a:xfrm>
          <a:prstGeom prst="rect">
            <a:avLst/>
          </a:prstGeom>
          <a:noFill/>
          <a:ln/>
        </p:spPr>
        <p:txBody>
          <a:bodyPr wrap="square" lIns="0" tIns="0" rIns="0" bIns="0" rtlCol="0" anchor="t">
            <a:normAutofit/>
          </a:bodyPr>
          <a:lstStyle/>
          <a:p>
            <a:pPr marL="264160" indent="-264160" algn="l">
              <a:lnSpc>
                <a:spcPct val="133000"/>
              </a:lnSpc>
              <a:buSzPct val="100000"/>
              <a:buChar char="•"/>
            </a:pPr>
            <a:r>
              <a:rPr lang="en-US" sz="1300" dirty="0">
                <a:solidFill>
                  <a:srgbClr val="000000"/>
                </a:solidFill>
                <a:latin typeface="Montserrat" pitchFamily="34" charset="0"/>
                <a:ea typeface="Montserrat" pitchFamily="34" charset="-122"/>
                <a:cs typeface="Montserrat" pitchFamily="34" charset="-120"/>
              </a:rPr>
              <a:t>Giữ lại </a:t>
            </a:r>
            <a:r>
              <a:rPr lang="en-US" sz="1300" b="1" dirty="0">
                <a:solidFill>
                  <a:srgbClr val="000000"/>
                </a:solidFill>
                <a:latin typeface="Montserrat Bold" pitchFamily="34" charset="0"/>
                <a:ea typeface="Montserrat Bold" pitchFamily="34" charset="-122"/>
                <a:cs typeface="Montserrat Bold" pitchFamily="34" charset="-120"/>
              </a:rPr>
              <a:t>workflow CSKH</a:t>
            </a:r>
            <a:r>
              <a:rPr lang="en-US" sz="1300" dirty="0">
                <a:solidFill>
                  <a:srgbClr val="000000"/>
                </a:solidFill>
                <a:latin typeface="Montserrat" pitchFamily="34" charset="0"/>
                <a:ea typeface="Montserrat" pitchFamily="34" charset="-122"/>
                <a:cs typeface="Montserrat" pitchFamily="34" charset="-120"/>
              </a:rPr>
              <a:t> và </a:t>
            </a:r>
            <a:r>
              <a:rPr lang="en-US" sz="1300" dirty="0">
                <a:solidFill>
                  <a:srgbClr val="000000"/>
                </a:solidFill>
                <a:highlight>
                  <a:srgbClr val="F2F2F2"/>
                </a:highlight>
                <a:latin typeface="Consolas" pitchFamily="34" charset="0"/>
                <a:ea typeface="Consolas" pitchFamily="34" charset="-122"/>
                <a:cs typeface="Consolas" pitchFamily="34" charset="-120"/>
              </a:rPr>
              <a:t>vector-store.json</a:t>
            </a:r>
            <a:r>
              <a:rPr lang="en-US" sz="1300" dirty="0">
                <a:solidFill>
                  <a:srgbClr val="000000"/>
                </a:solidFill>
                <a:latin typeface="Montserrat" pitchFamily="34" charset="0"/>
                <a:ea typeface="Montserrat" pitchFamily="34" charset="-122"/>
                <a:cs typeface="Montserrat" pitchFamily="34" charset="-120"/>
              </a:rPr>
              <a:t> của buổi 5.</a:t>
            </a:r>
            <a:endParaRPr lang="en-US" sz="1300" dirty="0"/>
          </a:p>
          <a:p>
            <a:pPr marL="264160" indent="-264160" algn="l">
              <a:lnSpc>
                <a:spcPct val="133000"/>
              </a:lnSpc>
              <a:buSzPct val="100000"/>
              <a:buChar char="•"/>
            </a:pPr>
            <a:r>
              <a:rPr lang="en-US" sz="1300" dirty="0">
                <a:solidFill>
                  <a:srgbClr val="000000"/>
                </a:solidFill>
                <a:latin typeface="Montserrat" pitchFamily="34" charset="0"/>
                <a:ea typeface="Montserrat" pitchFamily="34" charset="-122"/>
                <a:cs typeface="Montserrat" pitchFamily="34" charset="-120"/>
              </a:rPr>
              <a:t>Ôn lại tư duy </a:t>
            </a:r>
            <a:r>
              <a:rPr lang="en-US" sz="1300" b="1" dirty="0">
                <a:solidFill>
                  <a:srgbClr val="000000"/>
                </a:solidFill>
                <a:latin typeface="Montserrat Bold" pitchFamily="34" charset="0"/>
                <a:ea typeface="Montserrat Bold" pitchFamily="34" charset="-122"/>
                <a:cs typeface="Montserrat Bold" pitchFamily="34" charset="-120"/>
              </a:rPr>
              <a:t>fast path và judge</a:t>
            </a:r>
            <a:r>
              <a:rPr lang="en-US" sz="1300" dirty="0">
                <a:solidFill>
                  <a:srgbClr val="000000"/>
                </a:solidFill>
                <a:latin typeface="Montserrat" pitchFamily="34" charset="0"/>
                <a:ea typeface="Montserrat" pitchFamily="34" charset="-122"/>
                <a:cs typeface="Montserrat" pitchFamily="34" charset="-120"/>
              </a:rPr>
              <a:t> — sẽ tái dụng ở chuỗi sản xuất nội dung.</a:t>
            </a:r>
            <a:endParaRPr lang="en-US" sz="1300" dirty="0"/>
          </a:p>
        </p:txBody>
      </p:sp>
      <p:sp>
        <p:nvSpPr>
          <p:cNvPr id="6" name="Text 4"/>
          <p:cNvSpPr/>
          <p:nvPr/>
        </p:nvSpPr>
        <p:spPr>
          <a:xfrm>
            <a:off x="6303904" y="2833688"/>
            <a:ext cx="5232666" cy="258465"/>
          </a:xfrm>
          <a:prstGeom prst="rect">
            <a:avLst/>
          </a:prstGeom>
          <a:noFill/>
          <a:ln/>
        </p:spPr>
        <p:txBody>
          <a:bodyPr wrap="none" lIns="0" tIns="0" rIns="0" bIns="0" rtlCol="0" anchor="t"/>
          <a:lstStyle/>
          <a:p>
            <a:pPr marL="0" indent="0" algn="l">
              <a:lnSpc>
                <a:spcPct val="104000"/>
              </a:lnSpc>
              <a:buNone/>
            </a:pPr>
            <a:r>
              <a:rPr lang="en-US" sz="1600" b="1" dirty="0">
                <a:solidFill>
                  <a:srgbClr val="004AAD"/>
                </a:solidFill>
                <a:latin typeface="Montserrat Bold" pitchFamily="34" charset="0"/>
                <a:ea typeface="Montserrat Bold" pitchFamily="34" charset="-122"/>
                <a:cs typeface="Montserrat Bold" pitchFamily="34" charset="-120"/>
              </a:rPr>
              <a:t>Chuẩn bị thêm</a:t>
            </a:r>
            <a:endParaRPr lang="en-US" sz="1600" dirty="0"/>
          </a:p>
        </p:txBody>
      </p:sp>
      <p:sp>
        <p:nvSpPr>
          <p:cNvPr id="7" name="Text 5"/>
          <p:cNvSpPr/>
          <p:nvPr/>
        </p:nvSpPr>
        <p:spPr>
          <a:xfrm>
            <a:off x="6303904" y="3257451"/>
            <a:ext cx="5232666" cy="1116310"/>
          </a:xfrm>
          <a:prstGeom prst="rect">
            <a:avLst/>
          </a:prstGeom>
          <a:noFill/>
          <a:ln/>
        </p:spPr>
        <p:txBody>
          <a:bodyPr wrap="square" lIns="0" tIns="0" rIns="0" bIns="0" rtlCol="0" anchor="t">
            <a:normAutofit/>
          </a:bodyPr>
          <a:lstStyle/>
          <a:p>
            <a:pPr marL="264160" indent="-264160" algn="l">
              <a:lnSpc>
                <a:spcPct val="133000"/>
              </a:lnSpc>
              <a:buSzPct val="100000"/>
              <a:buChar char="•"/>
            </a:pPr>
            <a:r>
              <a:rPr lang="en-US" sz="1300" dirty="0">
                <a:solidFill>
                  <a:srgbClr val="000000"/>
                </a:solidFill>
                <a:latin typeface="Montserrat" pitchFamily="34" charset="0"/>
                <a:ea typeface="Montserrat" pitchFamily="34" charset="-122"/>
                <a:cs typeface="Montserrat" pitchFamily="34" charset="-120"/>
              </a:rPr>
              <a:t>Chuẩn bị sẵn một </a:t>
            </a:r>
            <a:r>
              <a:rPr lang="en-US" sz="1300" b="1" dirty="0">
                <a:solidFill>
                  <a:srgbClr val="000000"/>
                </a:solidFill>
                <a:latin typeface="Montserrat Bold" pitchFamily="34" charset="0"/>
                <a:ea typeface="Montserrat Bold" pitchFamily="34" charset="-122"/>
                <a:cs typeface="Montserrat Bold" pitchFamily="34" charset="-120"/>
              </a:rPr>
              <a:t>chủ đề content</a:t>
            </a:r>
            <a:r>
              <a:rPr lang="en-US" sz="1300" dirty="0">
                <a:solidFill>
                  <a:srgbClr val="000000"/>
                </a:solidFill>
                <a:latin typeface="Montserrat" pitchFamily="34" charset="0"/>
                <a:ea typeface="Montserrat" pitchFamily="34" charset="-122"/>
                <a:cs typeface="Montserrat" pitchFamily="34" charset="-120"/>
              </a:rPr>
              <a:t> muốn sản xuất hàng loạt (bài blog, mô tả sản phẩm, v.v.)</a:t>
            </a:r>
            <a:endParaRPr lang="en-US" sz="1300" dirty="0"/>
          </a:p>
          <a:p>
            <a:pPr marL="264160" indent="-264160" algn="l">
              <a:lnSpc>
                <a:spcPct val="133000"/>
              </a:lnSpc>
              <a:buSzPct val="100000"/>
              <a:buChar char="•"/>
            </a:pPr>
            <a:r>
              <a:rPr lang="en-US" sz="1300" dirty="0">
                <a:solidFill>
                  <a:srgbClr val="000000"/>
                </a:solidFill>
                <a:latin typeface="Montserrat" pitchFamily="34" charset="0"/>
                <a:ea typeface="Montserrat" pitchFamily="34" charset="-122"/>
                <a:cs typeface="Montserrat" pitchFamily="34" charset="-120"/>
              </a:rPr>
              <a:t>Buổi 6 mở rộng: từ trả lời khách sang </a:t>
            </a:r>
            <a:r>
              <a:rPr lang="en-US" sz="1300" b="1" dirty="0">
                <a:solidFill>
                  <a:srgbClr val="000000"/>
                </a:solidFill>
                <a:latin typeface="Montserrat Bold" pitchFamily="34" charset="0"/>
                <a:ea typeface="Montserrat Bold" pitchFamily="34" charset="-122"/>
                <a:cs typeface="Montserrat Bold" pitchFamily="34" charset="-120"/>
              </a:rPr>
              <a:t>tạo nội dung có nguồn và có duyệt</a:t>
            </a:r>
            <a:r>
              <a:rPr lang="en-US" sz="1300" dirty="0">
                <a:solidFill>
                  <a:srgbClr val="000000"/>
                </a:solidFill>
                <a:latin typeface="Montserrat" pitchFamily="34" charset="0"/>
                <a:ea typeface="Montserrat" pitchFamily="34" charset="-122"/>
                <a:cs typeface="Montserrat" pitchFamily="34" charset="-120"/>
              </a:rPr>
              <a:t>.</a:t>
            </a:r>
            <a:endParaRPr lang="en-US" sz="1300" dirty="0"/>
          </a:p>
        </p:txBody>
      </p:sp>
      <p:sp>
        <p:nvSpPr>
          <p:cNvPr id="8" name="Shape 6"/>
          <p:cNvSpPr/>
          <p:nvPr/>
        </p:nvSpPr>
        <p:spPr>
          <a:xfrm>
            <a:off x="661475" y="4617641"/>
            <a:ext cx="10868745" cy="661293"/>
          </a:xfrm>
          <a:prstGeom prst="roundRect">
            <a:avLst>
              <a:gd name="adj" fmla="val 10504"/>
            </a:avLst>
          </a:prstGeom>
          <a:solidFill>
            <a:srgbClr val="B6D6FC"/>
          </a:solidFill>
          <a:ln/>
        </p:spPr>
      </p:sp>
      <p:pic>
        <p:nvPicPr>
          <p:cNvPr id="9" name="Image 0" descr="preencoded.png"/>
          <p:cNvPicPr>
            <a:picLocks noChangeAspect="1"/>
          </p:cNvPicPr>
          <p:nvPr/>
        </p:nvPicPr>
        <p:blipFill>
          <a:blip r:embed="rId3"/>
          <a:stretch>
            <a:fillRect/>
          </a:stretch>
        </p:blipFill>
        <p:spPr>
          <a:xfrm>
            <a:off x="826769" y="4857353"/>
            <a:ext cx="206667" cy="165298"/>
          </a:xfrm>
          <a:prstGeom prst="rect">
            <a:avLst/>
          </a:prstGeom>
        </p:spPr>
      </p:pic>
      <p:sp>
        <p:nvSpPr>
          <p:cNvPr id="10" name="Text 7"/>
          <p:cNvSpPr/>
          <p:nvPr/>
        </p:nvSpPr>
        <p:spPr>
          <a:xfrm>
            <a:off x="1198731" y="4824214"/>
            <a:ext cx="10775780"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Montserrat" pitchFamily="34" charset="0"/>
                <a:ea typeface="Montserrat" pitchFamily="34" charset="-122"/>
                <a:cs typeface="Montserrat" pitchFamily="34" charset="-120"/>
              </a:rPr>
              <a:t>Buổi 6 áp dụng cùng nguyên tắc kiểm soát, nhưng trên bài toán </a:t>
            </a:r>
            <a:r>
              <a:rPr lang="en-US" sz="1300" b="1" dirty="0">
                <a:solidFill>
                  <a:srgbClr val="000000"/>
                </a:solidFill>
                <a:latin typeface="Montserrat Bold" pitchFamily="34" charset="0"/>
                <a:ea typeface="Montserrat Bold" pitchFamily="34" charset="-122"/>
                <a:cs typeface="Montserrat Bold" pitchFamily="34" charset="-120"/>
              </a:rPr>
              <a:t>content production</a:t>
            </a:r>
            <a:r>
              <a:rPr lang="en-US" sz="1300" dirty="0">
                <a:solidFill>
                  <a:srgbClr val="000000"/>
                </a:solidFill>
                <a:latin typeface="Montserrat" pitchFamily="34" charset="0"/>
                <a:ea typeface="Montserrat" pitchFamily="34" charset="-122"/>
                <a:cs typeface="Montserrat" pitchFamily="34" charset="-120"/>
              </a:rPr>
              <a:t> thay vì customer service.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Text 0"/>
          <p:cNvSpPr/>
          <p:nvPr/>
        </p:nvSpPr>
        <p:spPr>
          <a:xfrm>
            <a:off x="5233360" y="1383705"/>
            <a:ext cx="6296860" cy="2852737"/>
          </a:xfrm>
          <a:prstGeom prst="rect">
            <a:avLst/>
          </a:prstGeom>
          <a:noFill/>
          <a:ln/>
        </p:spPr>
        <p:txBody>
          <a:bodyPr wrap="square" lIns="0" tIns="0" rIns="0" bIns="0" rtlCol="0" anchor="t">
            <a:normAutofit/>
          </a:bodyPr>
          <a:lstStyle/>
          <a:p>
            <a:pPr marL="0" indent="0" algn="l">
              <a:lnSpc>
                <a:spcPct val="104000"/>
              </a:lnSpc>
              <a:buNone/>
            </a:pPr>
            <a:r>
              <a:rPr lang="en-US" sz="4450" b="1" dirty="0">
                <a:solidFill>
                  <a:srgbClr val="004AAD"/>
                </a:solidFill>
                <a:latin typeface="Montserrat Bold" pitchFamily="34" charset="0"/>
                <a:ea typeface="Montserrat Bold" pitchFamily="34" charset="-122"/>
                <a:cs typeface="Montserrat Bold" pitchFamily="34" charset="-120"/>
              </a:rPr>
              <a:t>Bot giỏi không phải trả lời được mọi thứ — mà biết khi nào không trả lời.</a:t>
            </a:r>
            <a:endParaRPr lang="en-US" sz="4450" dirty="0"/>
          </a:p>
        </p:txBody>
      </p:sp>
      <p:sp>
        <p:nvSpPr>
          <p:cNvPr id="4" name="Shape 1"/>
          <p:cNvSpPr/>
          <p:nvPr/>
        </p:nvSpPr>
        <p:spPr>
          <a:xfrm>
            <a:off x="5233360" y="4525764"/>
            <a:ext cx="6296860" cy="19050"/>
          </a:xfrm>
          <a:prstGeom prst="roundRect">
            <a:avLst>
              <a:gd name="adj" fmla="val 49999"/>
            </a:avLst>
          </a:prstGeom>
          <a:solidFill>
            <a:srgbClr val="000000">
              <a:alpha val="50000"/>
            </a:srgbClr>
          </a:solidFill>
          <a:ln/>
        </p:spPr>
      </p:sp>
      <p:sp>
        <p:nvSpPr>
          <p:cNvPr id="5" name="Text 2"/>
          <p:cNvSpPr/>
          <p:nvPr/>
        </p:nvSpPr>
        <p:spPr>
          <a:xfrm>
            <a:off x="4928568" y="4772124"/>
            <a:ext cx="6906444" cy="264616"/>
          </a:xfrm>
          <a:prstGeom prst="rect">
            <a:avLst/>
          </a:prstGeom>
          <a:noFill/>
          <a:ln/>
        </p:spPr>
        <p:txBody>
          <a:bodyPr wrap="none" lIns="0" tIns="0" rIns="0" bIns="0" rtlCol="0" anchor="t"/>
          <a:lstStyle/>
          <a:p>
            <a:pPr marL="0" indent="0" algn="ctr">
              <a:lnSpc>
                <a:spcPct val="133000"/>
              </a:lnSpc>
              <a:buNone/>
            </a:pPr>
            <a:r>
              <a:rPr lang="en-US" sz="1300" dirty="0">
                <a:solidFill>
                  <a:srgbClr val="000000"/>
                </a:solidFill>
                <a:latin typeface="Montserrat" pitchFamily="34" charset="0"/>
                <a:ea typeface="Montserrat" pitchFamily="34" charset="-122"/>
                <a:cs typeface="Montserrat" pitchFamily="34" charset="-120"/>
              </a:rPr>
              <a:t>Hẹn gặp lại ở buổi 6! 🚀</a:t>
            </a:r>
            <a:endParaRPr lang="en-US" sz="1300" dirty="0"/>
          </a:p>
        </p:txBody>
      </p:sp>
      <p:sp>
        <p:nvSpPr>
          <p:cNvPr id="6" name="Shape 3"/>
          <p:cNvSpPr/>
          <p:nvPr/>
        </p:nvSpPr>
        <p:spPr>
          <a:xfrm>
            <a:off x="5233360" y="5222776"/>
            <a:ext cx="1713465" cy="251420"/>
          </a:xfrm>
          <a:prstGeom prst="roundRect">
            <a:avLst>
              <a:gd name="adj" fmla="val 22103"/>
            </a:avLst>
          </a:prstGeom>
          <a:solidFill>
            <a:srgbClr val="CCE2FF"/>
          </a:solidFill>
          <a:ln/>
        </p:spPr>
      </p:sp>
      <p:sp>
        <p:nvSpPr>
          <p:cNvPr id="7" name="Text 4"/>
          <p:cNvSpPr/>
          <p:nvPr/>
        </p:nvSpPr>
        <p:spPr>
          <a:xfrm>
            <a:off x="5332577" y="5272385"/>
            <a:ext cx="2124617" cy="152202"/>
          </a:xfrm>
          <a:prstGeom prst="rect">
            <a:avLst/>
          </a:prstGeom>
          <a:noFill/>
          <a:ln/>
        </p:spPr>
        <p:txBody>
          <a:bodyPr wrap="none" lIns="0" tIns="0" rIns="0" bIns="0" rtlCol="0" anchor="t"/>
          <a:lstStyle/>
          <a:p>
            <a:pPr marL="0" indent="0" algn="l">
              <a:lnSpc>
                <a:spcPct val="96000"/>
              </a:lnSpc>
              <a:buNone/>
            </a:pPr>
            <a:r>
              <a:rPr lang="en-US" sz="1000" dirty="0">
                <a:solidFill>
                  <a:srgbClr val="000000"/>
                </a:solidFill>
                <a:latin typeface="Montserrat" pitchFamily="34" charset="0"/>
                <a:ea typeface="Montserrat" pitchFamily="34" charset="-122"/>
                <a:cs typeface="Montserrat" pitchFamily="34" charset="-120"/>
              </a:rPr>
              <a:t>BUỔI 5 · HOÀN THÀNH</a:t>
            </a:r>
            <a:endParaRPr lang="en-US" sz="1000" dirty="0"/>
          </a:p>
        </p:txBody>
      </p:sp>
      <p:sp>
        <p:nvSpPr>
          <p:cNvPr id="8" name="Shape 5"/>
          <p:cNvSpPr/>
          <p:nvPr/>
        </p:nvSpPr>
        <p:spPr>
          <a:xfrm>
            <a:off x="7029473" y="5222776"/>
            <a:ext cx="2521978" cy="251420"/>
          </a:xfrm>
          <a:prstGeom prst="roundRect">
            <a:avLst>
              <a:gd name="adj" fmla="val 22103"/>
            </a:avLst>
          </a:prstGeom>
          <a:noFill/>
          <a:ln w="6350">
            <a:solidFill>
              <a:srgbClr val="004AAD"/>
            </a:solidFill>
            <a:prstDash val="solid"/>
          </a:ln>
        </p:spPr>
      </p:sp>
      <p:sp>
        <p:nvSpPr>
          <p:cNvPr id="9" name="Text 6"/>
          <p:cNvSpPr/>
          <p:nvPr/>
        </p:nvSpPr>
        <p:spPr>
          <a:xfrm>
            <a:off x="7128689" y="5272385"/>
            <a:ext cx="2933131" cy="152202"/>
          </a:xfrm>
          <a:prstGeom prst="rect">
            <a:avLst/>
          </a:prstGeom>
          <a:noFill/>
          <a:ln/>
        </p:spPr>
        <p:txBody>
          <a:bodyPr wrap="none" lIns="0" tIns="0" rIns="0" bIns="0" rtlCol="0" anchor="t"/>
          <a:lstStyle/>
          <a:p>
            <a:pPr marL="0" indent="0" algn="l">
              <a:lnSpc>
                <a:spcPct val="96000"/>
              </a:lnSpc>
              <a:buNone/>
            </a:pPr>
            <a:r>
              <a:rPr lang="en-US" sz="1000" dirty="0">
                <a:solidFill>
                  <a:srgbClr val="004AAD"/>
                </a:solidFill>
                <a:latin typeface="Montserrat" pitchFamily="34" charset="0"/>
                <a:ea typeface="Montserrat" pitchFamily="34" charset="-122"/>
                <a:cs typeface="Montserrat" pitchFamily="34" charset="-120"/>
              </a:rPr>
              <a:t>BUỔI 6 SẮP TỚI: CONTENT ENGINE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TotalTime>
  <Words>3358</Words>
  <Application>Microsoft Macintosh PowerPoint</Application>
  <PresentationFormat>Widescreen</PresentationFormat>
  <Paragraphs>362</Paragraphs>
  <Slides>39</Slides>
  <Notes>39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Twemoji Mozilla</vt:lpstr>
      <vt:lpstr>Montserrat Bold</vt:lpstr>
      <vt:lpstr>Montserrat Light</vt:lpstr>
      <vt:lpstr>Montserrat</vt:lpstr>
      <vt:lpstr>Consolas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Lộc Đặng</cp:lastModifiedBy>
  <cp:revision>2</cp:revision>
  <dcterms:created xsi:type="dcterms:W3CDTF">2026-08-03T09:26:21Z</dcterms:created>
  <dcterms:modified xsi:type="dcterms:W3CDTF">2026-08-06T09:02:26Z</dcterms:modified>
</cp:coreProperties>
</file>