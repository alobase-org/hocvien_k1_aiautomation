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Lst>
  <p:notesMasterIdLst>
    <p:notesMasterId r:id="rId42"/>
  </p:notesMasterIdLst>
  <p:sldSz cx="12191695" cy="6858000"/>
  <p:notesSz cx="6858000" cy="12191695"/>
  <p:embeddedFontLst>
    <p:embeddedFont>
      <p:font typeface="Montserrat"/>
      <p:regular r:id="rId201314"/>
    </p:embeddedFont>
    <p:embeddedFont>
      <p:font typeface="Montserrat Bold"/>
      <p:regular r:id="rId201315"/>
    </p:embeddedFont>
    <p:embeddedFont>
      <p:font typeface="Montserrat Black"/>
      <p:regular r:id="rId201316"/>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notesMaster" Target="notesMasters/notesMaster1.xml"/><Relationship Id="rId43" Type="http://schemas.openxmlformats.org/officeDocument/2006/relationships/presProps" Target="presProps.xml"/><Relationship Id="rId44" Type="http://schemas.openxmlformats.org/officeDocument/2006/relationships/viewProps" Target="viewProps.xml"/><Relationship Id="rId45" Type="http://schemas.openxmlformats.org/officeDocument/2006/relationships/theme" Target="theme/theme1.xml"/><Relationship Id="rId46" Type="http://schemas.openxmlformats.org/officeDocument/2006/relationships/tableStyles" Target="tableStyles.xml"/><Relationship Id="rId201314" Target="fonts/201314.fntdata" Type="http://schemas.openxmlformats.org/officeDocument/2006/relationships/font"/><Relationship Id="rId201315" Target="fonts/201315.fntdata" Type="http://schemas.openxmlformats.org/officeDocument/2006/relationships/font"/><Relationship Id="rId201316" Target="fonts/201316.fntdata" Type="http://schemas.openxmlformats.org/officeDocument/2006/relationships/font"/><Relationship Id="rId201317" Target="fonts/201317.fntdata" Type="http://schemas.openxmlformats.org/officeDocument/2006/relationships/font"/><Relationship Id="rId201318" Target="fonts/201318.fntdata" Type="http://schemas.openxmlformats.org/officeDocument/2006/relationships/font"/><Relationship Id="rId201319" Target="fonts/201319.fntdata" Type="http://schemas.openxmlformats.org/officeDocument/2006/relationships/font"/></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E6E6E6"/>
          </a:solidFill>
          <a:ln/>
        </p:spPr>
      </p:sp>
      <p:sp>
        <p:nvSpPr>
          <p:cNvPr id="3" name="Shape 1"/>
          <p:cNvSpPr/>
          <p:nvPr/>
        </p:nvSpPr>
        <p:spPr>
          <a:xfrm>
            <a:off x="0" y="0"/>
            <a:ext cx="12191695" cy="6858000"/>
          </a:xfrm>
          <a:prstGeom prst="rect">
            <a:avLst/>
          </a:prstGeom>
          <a:solidFill>
            <a:srgbClr val="FFFFFF"/>
          </a:solidFill>
          <a:ln/>
        </p:spPr>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e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svg"/><Relationship Id="rId3" Type="http://schemas.openxmlformats.org/officeDocument/2006/relationships/image" Target="../media/image-6-1.png"/><Relationship Id="rId4" Type="http://schemas.openxmlformats.org/officeDocument/2006/relationships/image" Target="../media/image-6-2.svg"/><Relationship Id="rId5" Type="http://schemas.openxmlformats.org/officeDocument/2006/relationships/image" Target="../media/image-6-1.png"/><Relationship Id="rId6" Type="http://schemas.openxmlformats.org/officeDocument/2006/relationships/image" Target="../media/image-6-2.svg"/><Relationship Id="rId7" Type="http://schemas.openxmlformats.org/officeDocument/2006/relationships/slideLayout" Target="../slideLayouts/slideLayout2.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svg"/><Relationship Id="rId3" Type="http://schemas.openxmlformats.org/officeDocument/2006/relationships/image" Target="../media/image-8-3.png"/><Relationship Id="rId4" Type="http://schemas.openxmlformats.org/officeDocument/2006/relationships/image" Target="../media/image-8-4.svg"/><Relationship Id="rId5" Type="http://schemas.openxmlformats.org/officeDocument/2006/relationships/image" Target="../media/image-8-5.png"/><Relationship Id="rId6" Type="http://schemas.openxmlformats.org/officeDocument/2006/relationships/image" Target="../media/image-8-6.svg"/><Relationship Id="rId7" Type="http://schemas.openxmlformats.org/officeDocument/2006/relationships/image" Target="../media/image-8-7.png"/><Relationship Id="rId8" Type="http://schemas.openxmlformats.org/officeDocument/2006/relationships/image" Target="../media/image-8-8.svg"/><Relationship Id="rId9" Type="http://schemas.openxmlformats.org/officeDocument/2006/relationships/image" Target="../media/image-8-9.png"/><Relationship Id="rId10" Type="http://schemas.openxmlformats.org/officeDocument/2006/relationships/image" Target="../media/image-8-10.svg"/><Relationship Id="rId11" Type="http://schemas.openxmlformats.org/officeDocument/2006/relationships/slideLayout" Target="../slideLayouts/slideLayout2.xml"/><Relationship Id="rId1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e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e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jpeg"/><Relationship Id="rId3" Type="http://schemas.openxmlformats.org/officeDocument/2006/relationships/slideLayout" Target="../slideLayouts/slideLayout2.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18-2.png"/><Relationship Id="rId3" Type="http://schemas.openxmlformats.org/officeDocument/2006/relationships/image" Target="../media/image-18-3.svg"/><Relationship Id="rId4" Type="http://schemas.openxmlformats.org/officeDocument/2006/relationships/image" Target="../media/image-18-2.png"/><Relationship Id="rId5" Type="http://schemas.openxmlformats.org/officeDocument/2006/relationships/image" Target="../media/image-18-3.svg"/><Relationship Id="rId6" Type="http://schemas.openxmlformats.org/officeDocument/2006/relationships/image" Target="../media/image-18-2.png"/><Relationship Id="rId7" Type="http://schemas.openxmlformats.org/officeDocument/2006/relationships/image" Target="../media/image-18-3.svg"/><Relationship Id="rId8" Type="http://schemas.openxmlformats.org/officeDocument/2006/relationships/image" Target="../media/image-18-2.png"/><Relationship Id="rId9" Type="http://schemas.openxmlformats.org/officeDocument/2006/relationships/image" Target="../media/image-18-3.svg"/><Relationship Id="rId10" Type="http://schemas.openxmlformats.org/officeDocument/2006/relationships/slideLayout" Target="../slideLayouts/slideLayout2.xml"/><Relationship Id="rId11"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e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e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slideLayout" Target="../slideLayouts/slideLayout2.xml"/><Relationship Id="rId5"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e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1.png"/><Relationship Id="rId3" Type="http://schemas.openxmlformats.org/officeDocument/2006/relationships/image" Target="../media/image-25-1.png"/><Relationship Id="rId4" Type="http://schemas.openxmlformats.org/officeDocument/2006/relationships/image" Target="../media/image-25-4.png"/><Relationship Id="rId5" Type="http://schemas.openxmlformats.org/officeDocument/2006/relationships/slideLayout" Target="../slideLayouts/slideLayout2.xml"/><Relationship Id="rId6"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jpe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18-2.png"/><Relationship Id="rId3" Type="http://schemas.openxmlformats.org/officeDocument/2006/relationships/image" Target="../media/image-18-3.svg"/><Relationship Id="rId4" Type="http://schemas.openxmlformats.org/officeDocument/2006/relationships/image" Target="../media/image-18-2.png"/><Relationship Id="rId5" Type="http://schemas.openxmlformats.org/officeDocument/2006/relationships/image" Target="../media/image-18-3.svg"/><Relationship Id="rId6" Type="http://schemas.openxmlformats.org/officeDocument/2006/relationships/image" Target="../media/image-28-6.png"/><Relationship Id="rId7" Type="http://schemas.openxmlformats.org/officeDocument/2006/relationships/image" Target="../media/image-28-7.svg"/><Relationship Id="rId8" Type="http://schemas.openxmlformats.org/officeDocument/2006/relationships/image" Target="../media/image-28-6.png"/><Relationship Id="rId9" Type="http://schemas.openxmlformats.org/officeDocument/2006/relationships/image" Target="../media/image-28-7.svg"/><Relationship Id="rId10" Type="http://schemas.openxmlformats.org/officeDocument/2006/relationships/slideLayout" Target="../slideLayouts/slideLayout2.xml"/><Relationship Id="rId11"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jpe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jpe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jpe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jpe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image" Target="../media/image-35-2.svg"/><Relationship Id="rId3" Type="http://schemas.openxmlformats.org/officeDocument/2006/relationships/image" Target="../media/image-35-3.png"/><Relationship Id="rId4" Type="http://schemas.openxmlformats.org/officeDocument/2006/relationships/image" Target="../media/image-35-4.svg"/><Relationship Id="rId5" Type="http://schemas.openxmlformats.org/officeDocument/2006/relationships/image" Target="../media/image-35-5.png"/><Relationship Id="rId6" Type="http://schemas.openxmlformats.org/officeDocument/2006/relationships/image" Target="../media/image-35-6.svg"/><Relationship Id="rId7" Type="http://schemas.openxmlformats.org/officeDocument/2006/relationships/image" Target="../media/image-20-1.png"/><Relationship Id="rId8" Type="http://schemas.openxmlformats.org/officeDocument/2006/relationships/slideLayout" Target="../slideLayouts/slideLayout2.xml"/><Relationship Id="rId9"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image" Target="../media/image-38-2.svg"/><Relationship Id="rId3" Type="http://schemas.openxmlformats.org/officeDocument/2006/relationships/image" Target="../media/image-38-3.png"/><Relationship Id="rId4" Type="http://schemas.openxmlformats.org/officeDocument/2006/relationships/image" Target="../media/image-38-4.svg"/><Relationship Id="rId5" Type="http://schemas.openxmlformats.org/officeDocument/2006/relationships/image" Target="../media/image-38-5.png"/><Relationship Id="rId6" Type="http://schemas.openxmlformats.org/officeDocument/2006/relationships/image" Target="../media/image-38-6.svg"/><Relationship Id="rId7" Type="http://schemas.openxmlformats.org/officeDocument/2006/relationships/image" Target="../media/image-38-7.png"/><Relationship Id="rId8" Type="http://schemas.openxmlformats.org/officeDocument/2006/relationships/image" Target="../media/image-38-8.svg"/><Relationship Id="rId9" Type="http://schemas.openxmlformats.org/officeDocument/2006/relationships/slideLayout" Target="../slideLayouts/slideLayout2.xml"/><Relationship Id="rId10"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jpe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33360" y="2695575"/>
            <a:ext cx="6296860" cy="516731"/>
          </a:xfrm>
          <a:prstGeom prst="rect">
            <a:avLst/>
          </a:prstGeom>
          <a:noFill/>
          <a:ln/>
        </p:spPr>
        <p:txBody>
          <a:bodyPr wrap="none" lIns="0" tIns="0" rIns="0" bIns="0" rtlCol="0" anchor="t"/>
          <a:lstStyle/>
          <a:p>
            <a:pPr algn="l" indent="0" marL="0">
              <a:lnSpc>
                <a:spcPct val="104000"/>
              </a:lnSpc>
              <a:buNone/>
            </a:pPr>
            <a:r>
              <a:rPr lang="en-US" sz="3250" b="1" dirty="0">
                <a:solidFill>
                  <a:srgbClr val="004AAD"/>
                </a:solidFill>
                <a:latin typeface="Montserrat Bold" pitchFamily="34" charset="0"/>
                <a:ea typeface="Montserrat Bold" pitchFamily="34" charset="-122"/>
                <a:cs typeface="Montserrat Bold" pitchFamily="34" charset="-120"/>
              </a:rPr>
              <a:t>Chatbot CSKH có kiểm soát</a:t>
            </a:r>
            <a:endParaRPr lang="en-US" sz="3250" dirty="0"/>
          </a:p>
        </p:txBody>
      </p:sp>
      <p:sp>
        <p:nvSpPr>
          <p:cNvPr id="4" name="Text 1"/>
          <p:cNvSpPr/>
          <p:nvPr/>
        </p:nvSpPr>
        <p:spPr>
          <a:xfrm>
            <a:off x="5233360" y="3460353"/>
            <a:ext cx="6906444" cy="264616"/>
          </a:xfrm>
          <a:prstGeom prst="rect">
            <a:avLst/>
          </a:prstGeom>
          <a:noFill/>
          <a:ln/>
        </p:spPr>
        <p:txBody>
          <a:bodyPr wrap="none" lIns="0" tIns="0" rIns="0" bIns="0" rtlCol="0" anchor="t"/>
          <a:lstStyle/>
          <a:p>
            <a:pPr algn="l" indent="0" marL="0">
              <a:lnSpc>
                <a:spcPct val="133000"/>
              </a:lnSpc>
              <a:buNone/>
            </a:pPr>
            <a:r>
              <a:rPr lang="en-US" sz="1300" b="1" dirty="0">
                <a:solidFill>
                  <a:srgbClr val="000000"/>
                </a:solidFill>
                <a:latin typeface="Montserrat Bold" pitchFamily="34" charset="0"/>
                <a:ea typeface="Montserrat Bold" pitchFamily="34" charset="-122"/>
                <a:cs typeface="Montserrat Bold" pitchFamily="34" charset="-120"/>
              </a:rPr>
              <a:t>Buổi 5 · Semantic Search, LLM-as-Judge và HITL</a:t>
            </a:r>
            <a:endParaRPr lang="en-US" sz="1300" dirty="0"/>
          </a:p>
        </p:txBody>
      </p:sp>
      <p:sp>
        <p:nvSpPr>
          <p:cNvPr id="5" name="Shape 2"/>
          <p:cNvSpPr/>
          <p:nvPr/>
        </p:nvSpPr>
        <p:spPr>
          <a:xfrm>
            <a:off x="5233360" y="3911005"/>
            <a:ext cx="733605" cy="251420"/>
          </a:xfrm>
          <a:prstGeom prst="roundRect">
            <a:avLst>
              <a:gd name="adj" fmla="val 22103"/>
            </a:avLst>
          </a:prstGeom>
          <a:solidFill>
            <a:srgbClr val="CCE2FF"/>
          </a:solidFill>
          <a:ln/>
        </p:spPr>
      </p:sp>
      <p:sp>
        <p:nvSpPr>
          <p:cNvPr id="6" name="Text 3"/>
          <p:cNvSpPr/>
          <p:nvPr/>
        </p:nvSpPr>
        <p:spPr>
          <a:xfrm>
            <a:off x="5332577" y="3960614"/>
            <a:ext cx="1144757" cy="152202"/>
          </a:xfrm>
          <a:prstGeom prst="rect">
            <a:avLst/>
          </a:prstGeom>
          <a:noFill/>
          <a:ln/>
        </p:spPr>
        <p:txBody>
          <a:bodyPr wrap="none" lIns="0" tIns="0" rIns="0" bIns="0" rtlCol="0" anchor="t"/>
          <a:lstStyle/>
          <a:p>
            <a:pPr algn="l" indent="0" marL="0">
              <a:lnSpc>
                <a:spcPct val="96000"/>
              </a:lnSpc>
              <a:buNone/>
            </a:pPr>
            <a:r>
              <a:rPr lang="en-US" sz="1000" dirty="0">
                <a:solidFill>
                  <a:srgbClr val="000000"/>
                </a:solidFill>
                <a:latin typeface="Montserrat" pitchFamily="34" charset="0"/>
                <a:ea typeface="Montserrat" pitchFamily="34" charset="-122"/>
                <a:cs typeface="Montserrat" pitchFamily="34" charset="-120"/>
              </a:rPr>
              <a:t>GV: LỘC</a:t>
            </a:r>
            <a:endParaRPr lang="en-US" sz="1000" dirty="0"/>
          </a:p>
        </p:txBody>
      </p:sp>
      <p:sp>
        <p:nvSpPr>
          <p:cNvPr id="7" name="Shape 4"/>
          <p:cNvSpPr/>
          <p:nvPr/>
        </p:nvSpPr>
        <p:spPr>
          <a:xfrm>
            <a:off x="6049613" y="3911005"/>
            <a:ext cx="823297" cy="251420"/>
          </a:xfrm>
          <a:prstGeom prst="roundRect">
            <a:avLst>
              <a:gd name="adj" fmla="val 22103"/>
            </a:avLst>
          </a:prstGeom>
          <a:noFill/>
          <a:ln w="6350">
            <a:solidFill>
              <a:srgbClr val="004AAD"/>
            </a:solidFill>
            <a:prstDash val="solid"/>
          </a:ln>
        </p:spPr>
      </p:sp>
      <p:sp>
        <p:nvSpPr>
          <p:cNvPr id="8" name="Text 5"/>
          <p:cNvSpPr/>
          <p:nvPr/>
        </p:nvSpPr>
        <p:spPr>
          <a:xfrm>
            <a:off x="6148829" y="3960614"/>
            <a:ext cx="1234449" cy="152202"/>
          </a:xfrm>
          <a:prstGeom prst="rect">
            <a:avLst/>
          </a:prstGeom>
          <a:noFill/>
          <a:ln/>
        </p:spPr>
        <p:txBody>
          <a:bodyPr wrap="none" lIns="0" tIns="0" rIns="0" bIns="0" rtlCol="0" anchor="t"/>
          <a:lstStyle/>
          <a:p>
            <a:pPr algn="l" indent="0" marL="0">
              <a:lnSpc>
                <a:spcPct val="96000"/>
              </a:lnSpc>
              <a:buNone/>
            </a:pPr>
            <a:r>
              <a:rPr lang="en-US" sz="1000" dirty="0">
                <a:solidFill>
                  <a:srgbClr val="004AAD"/>
                </a:solidFill>
                <a:latin typeface="Montserrat" pitchFamily="34" charset="0"/>
                <a:ea typeface="Montserrat" pitchFamily="34" charset="-122"/>
                <a:cs typeface="Montserrat" pitchFamily="34" charset="-120"/>
              </a:rPr>
              <a:t>120 PHÚT</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661475" y="1406128"/>
            <a:ext cx="10868745" cy="516731"/>
          </a:xfrm>
          <a:prstGeom prst="rect">
            <a:avLst/>
          </a:prstGeom>
          <a:noFill/>
          <a:ln/>
        </p:spPr>
        <p:txBody>
          <a:bodyPr wrap="none" lIns="0" tIns="0" rIns="0" bIns="0" rtlCol="0" anchor="t"/>
          <a:lstStyle/>
          <a:p>
            <a:pPr algn="l" indent="0" marL="0">
              <a:lnSpc>
                <a:spcPct val="104000"/>
              </a:lnSpc>
              <a:buNone/>
            </a:pPr>
            <a:r>
              <a:rPr lang="en-US" sz="3250" b="1" dirty="0">
                <a:solidFill>
                  <a:srgbClr val="004AAD"/>
                </a:solidFill>
                <a:latin typeface="Montserrat Bold" pitchFamily="34" charset="0"/>
                <a:ea typeface="Montserrat Bold" pitchFamily="34" charset="-122"/>
                <a:cs typeface="Montserrat Bold" pitchFamily="34" charset="-120"/>
              </a:rPr>
              <a:t>Chuẩn bị trước buổi</a:t>
            </a:r>
            <a:endParaRPr lang="en-US" sz="3250" dirty="0"/>
          </a:p>
        </p:txBody>
      </p:sp>
      <p:sp>
        <p:nvSpPr>
          <p:cNvPr id="3" name="Text 1"/>
          <p:cNvSpPr/>
          <p:nvPr/>
        </p:nvSpPr>
        <p:spPr>
          <a:xfrm>
            <a:off x="661475" y="1988939"/>
            <a:ext cx="10868745" cy="258465"/>
          </a:xfrm>
          <a:prstGeom prst="rect">
            <a:avLst/>
          </a:prstGeom>
          <a:noFill/>
          <a:ln/>
        </p:spPr>
        <p:txBody>
          <a:bodyPr wrap="none" lIns="0" tIns="0" rIns="0" bIns="0" rtlCol="0" anchor="t"/>
          <a:lstStyle/>
          <a:p>
            <a:pPr algn="l" indent="0" marL="0">
              <a:lnSpc>
                <a:spcPct val="104000"/>
              </a:lnSpc>
              <a:buNone/>
            </a:pPr>
            <a:r>
              <a:rPr lang="en-US" sz="1600" b="1" dirty="0">
                <a:solidFill>
                  <a:srgbClr val="004AAD"/>
                </a:solidFill>
                <a:latin typeface="Montserrat Bold" pitchFamily="34" charset="0"/>
                <a:ea typeface="Montserrat Bold" pitchFamily="34" charset="-122"/>
                <a:cs typeface="Montserrat Bold" pitchFamily="34" charset="-120"/>
              </a:rPr>
              <a:t>Mang theo gì, và không mang theo gì</a:t>
            </a:r>
            <a:endParaRPr lang="en-US" sz="1600" dirty="0"/>
          </a:p>
        </p:txBody>
      </p:sp>
      <p:sp>
        <p:nvSpPr>
          <p:cNvPr id="4" name="Shape 2"/>
          <p:cNvSpPr/>
          <p:nvPr/>
        </p:nvSpPr>
        <p:spPr>
          <a:xfrm>
            <a:off x="542415" y="2495451"/>
            <a:ext cx="5470785" cy="2956421"/>
          </a:xfrm>
          <a:prstGeom prst="roundRect">
            <a:avLst>
              <a:gd name="adj" fmla="val 4028"/>
            </a:avLst>
          </a:prstGeom>
          <a:solidFill>
            <a:srgbClr val="004AAD"/>
          </a:solidFill>
          <a:ln/>
        </p:spPr>
      </p:sp>
      <p:sp>
        <p:nvSpPr>
          <p:cNvPr id="5" name="Text 3"/>
          <p:cNvSpPr/>
          <p:nvPr/>
        </p:nvSpPr>
        <p:spPr>
          <a:xfrm>
            <a:off x="707710" y="2660749"/>
            <a:ext cx="5140196" cy="264815"/>
          </a:xfrm>
          <a:prstGeom prst="rect">
            <a:avLst/>
          </a:prstGeom>
          <a:noFill/>
          <a:ln/>
        </p:spPr>
        <p:txBody>
          <a:bodyPr wrap="none" lIns="0" tIns="0" rIns="0" bIns="0" rtlCol="0" anchor="t"/>
          <a:lstStyle/>
          <a:p>
            <a:pPr algn="l" indent="0" marL="0">
              <a:lnSpc>
                <a:spcPct val="104000"/>
              </a:lnSpc>
              <a:buNone/>
            </a:pPr>
            <a:r>
              <a:rPr lang="en-US" sz="1600" b="1" dirty="0">
                <a:solidFill>
                  <a:srgbClr val="000000"/>
                </a:solidFill>
                <a:latin typeface="Twemoji Mozilla" pitchFamily="34" charset="0"/>
                <a:ea typeface="Twemoji Mozilla" pitchFamily="34" charset="-122"/>
                <a:cs typeface="Twemoji Mozilla" pitchFamily="34" charset="-120"/>
              </a:rPr>
              <a:t>✅</a:t>
            </a:r>
            <a:pPr algn="l" indent="0" marL="0">
              <a:lnSpc>
                <a:spcPct val="104000"/>
              </a:lnSpc>
              <a:buNone/>
            </a:pPr>
            <a:r>
              <a:rPr lang="en-US" sz="1600" b="1" dirty="0">
                <a:solidFill>
                  <a:srgbClr val="FFFFFF"/>
                </a:solidFill>
                <a:latin typeface="Montserrat Bold" pitchFamily="34" charset="0"/>
                <a:ea typeface="Montserrat Bold" pitchFamily="34" charset="-122"/>
                <a:cs typeface="Montserrat Bold" pitchFamily="34" charset="-120"/>
              </a:rPr>
              <a:t> Cần chuẩn bị</a:t>
            </a:r>
            <a:endParaRPr lang="en-US" sz="1600" dirty="0"/>
          </a:p>
        </p:txBody>
      </p:sp>
      <p:sp>
        <p:nvSpPr>
          <p:cNvPr id="6" name="Text 4"/>
          <p:cNvSpPr/>
          <p:nvPr/>
        </p:nvSpPr>
        <p:spPr>
          <a:xfrm>
            <a:off x="707710" y="3090863"/>
            <a:ext cx="5140196" cy="2303165"/>
          </a:xfrm>
          <a:prstGeom prst="rect">
            <a:avLst/>
          </a:prstGeom>
          <a:noFill/>
          <a:ln/>
        </p:spPr>
        <p:txBody>
          <a:bodyPr wrap="square" lIns="0" tIns="0" rIns="0" bIns="0" rtlCol="0" anchor="t">
            <a:normAutofit/>
          </a:bodyPr>
          <a:lstStyle/>
          <a:p>
            <a:pPr algn="l" marL="264160" indent="-264160">
              <a:lnSpc>
                <a:spcPct val="133000"/>
              </a:lnSpc>
              <a:buSzPct val="100000"/>
              <a:buChar char="•"/>
            </a:pPr>
            <a:r>
              <a:rPr lang="en-US" sz="1300" dirty="0">
                <a:solidFill>
                  <a:srgbClr val="FFFFFF"/>
                </a:solidFill>
                <a:latin typeface="Montserrat" pitchFamily="34" charset="0"/>
                <a:ea typeface="Montserrat" pitchFamily="34" charset="-122"/>
                <a:cs typeface="Montserrat" pitchFamily="34" charset="-120"/>
              </a:rPr>
              <a:t>Máy đã cài </a:t>
            </a:r>
            <a:pPr algn="l" marL="264160" indent="-264160">
              <a:lnSpc>
                <a:spcPct val="133000"/>
              </a:lnSpc>
              <a:buSzPct val="100000"/>
              <a:buChar char="•"/>
            </a:pPr>
            <a:r>
              <a:rPr lang="en-US" sz="1300" b="1" dirty="0">
                <a:solidFill>
                  <a:srgbClr val="FFFFFF"/>
                </a:solidFill>
                <a:latin typeface="Montserrat Bold" pitchFamily="34" charset="0"/>
                <a:ea typeface="Montserrat Bold" pitchFamily="34" charset="-122"/>
                <a:cs typeface="Montserrat Bold" pitchFamily="34" charset="-120"/>
              </a:rPr>
              <a:t>Node.js 20+</a:t>
            </a:r>
            <a:pPr algn="l" marL="264160" indent="-264160">
              <a:lnSpc>
                <a:spcPct val="133000"/>
              </a:lnSpc>
              <a:buSzPct val="100000"/>
              <a:buChar char="•"/>
            </a:pPr>
            <a:r>
              <a:rPr lang="en-US" sz="1300" dirty="0">
                <a:solidFill>
                  <a:srgbClr val="FFFFFF"/>
                </a:solidFill>
                <a:latin typeface="Montserrat" pitchFamily="34" charset="0"/>
                <a:ea typeface="Montserrat" pitchFamily="34" charset="-122"/>
                <a:cs typeface="Montserrat" pitchFamily="34" charset="-120"/>
              </a:rPr>
              <a:t> (kèm npx). npx tự tải n8n về chạy trong buổi.</a:t>
            </a:r>
            <a:endParaRPr lang="en-US" sz="1300" dirty="0"/>
          </a:p>
          <a:p>
            <a:pPr algn="l" marL="264160" indent="-264160">
              <a:lnSpc>
                <a:spcPct val="133000"/>
              </a:lnSpc>
              <a:buSzPct val="100000"/>
              <a:buChar char="•"/>
            </a:pPr>
            <a:r>
              <a:rPr lang="en-US" sz="1300" b="1" dirty="0">
                <a:solidFill>
                  <a:srgbClr val="FFFFFF"/>
                </a:solidFill>
                <a:latin typeface="Montserrat Bold" pitchFamily="34" charset="0"/>
                <a:ea typeface="Montserrat Bold" pitchFamily="34" charset="-122"/>
                <a:cs typeface="Montserrat Bold" pitchFamily="34" charset="-120"/>
              </a:rPr>
              <a:t>Jupyter trên VS Code</a:t>
            </a:r>
            <a:pPr algn="l" marL="264160" indent="-264160">
              <a:lnSpc>
                <a:spcPct val="133000"/>
              </a:lnSpc>
              <a:buSzPct val="100000"/>
              <a:buChar char="•"/>
            </a:pPr>
            <a:r>
              <a:rPr lang="en-US" sz="1300" dirty="0">
                <a:solidFill>
                  <a:srgbClr val="FFFFFF"/>
                </a:solidFill>
                <a:latin typeface="Montserrat" pitchFamily="34" charset="0"/>
                <a:ea typeface="Montserrat" pitchFamily="34" charset="-122"/>
                <a:cs typeface="Montserrat" pitchFamily="34" charset="-120"/>
              </a:rPr>
              <a:t> hoặc Jupyter Lab để chạy notebook demo.</a:t>
            </a:r>
            <a:endParaRPr lang="en-US" sz="1300" dirty="0"/>
          </a:p>
          <a:p>
            <a:pPr algn="l" marL="264160" indent="-264160">
              <a:lnSpc>
                <a:spcPct val="133000"/>
              </a:lnSpc>
              <a:buSzPct val="100000"/>
              <a:buChar char="•"/>
            </a:pPr>
            <a:r>
              <a:rPr lang="en-US" sz="1300" dirty="0">
                <a:solidFill>
                  <a:srgbClr val="FFFFFF"/>
                </a:solidFill>
                <a:latin typeface="Montserrat" pitchFamily="34" charset="0"/>
                <a:ea typeface="Montserrat" pitchFamily="34" charset="-122"/>
                <a:cs typeface="Montserrat" pitchFamily="34" charset="-120"/>
              </a:rPr>
              <a:t>Hai file dữ liệu: </a:t>
            </a:r>
            <a:pPr algn="l" marL="264160" indent="-264160">
              <a:lnSpc>
                <a:spcPct val="133000"/>
              </a:lnSpc>
              <a:buSzPct val="100000"/>
              <a:buChar char="•"/>
            </a:pPr>
            <a:r>
              <a:rPr lang="en-US" sz="1300" dirty="0">
                <a:solidFill>
                  <a:srgbClr val="FFFFFF"/>
                </a:solidFill>
                <a:highlight>
                  <a:srgbClr val="0D57BA"/>
                </a:highlight>
                <a:latin typeface="Consolas" pitchFamily="34" charset="0"/>
                <a:ea typeface="Consolas" pitchFamily="34" charset="-122"/>
                <a:cs typeface="Consolas" pitchFamily="34" charset="-120"/>
              </a:rPr>
              <a:t>faq-khoa-hoc.json</a:t>
            </a:r>
            <a:pPr algn="l" marL="264160" indent="-264160">
              <a:lnSpc>
                <a:spcPct val="133000"/>
              </a:lnSpc>
              <a:buSzPct val="100000"/>
              <a:buChar char="•"/>
            </a:pPr>
            <a:r>
              <a:rPr lang="en-US" sz="1300" dirty="0">
                <a:solidFill>
                  <a:srgbClr val="FFFFFF"/>
                </a:solidFill>
                <a:latin typeface="Montserrat" pitchFamily="34" charset="0"/>
                <a:ea typeface="Montserrat" pitchFamily="34" charset="-122"/>
                <a:cs typeface="Montserrat" pitchFamily="34" charset="-120"/>
              </a:rPr>
              <a:t> (15 FAQ bán lẻ) và </a:t>
            </a:r>
            <a:pPr algn="l" marL="264160" indent="-264160">
              <a:lnSpc>
                <a:spcPct val="133000"/>
              </a:lnSpc>
              <a:buSzPct val="100000"/>
              <a:buChar char="•"/>
            </a:pPr>
            <a:r>
              <a:rPr lang="en-US" sz="1300" dirty="0">
                <a:solidFill>
                  <a:srgbClr val="FFFFFF"/>
                </a:solidFill>
                <a:highlight>
                  <a:srgbClr val="0D57BA"/>
                </a:highlight>
                <a:latin typeface="Consolas" pitchFamily="34" charset="0"/>
                <a:ea typeface="Consolas" pitchFamily="34" charset="-122"/>
                <a:cs typeface="Consolas" pitchFamily="34" charset="-120"/>
              </a:rPr>
              <a:t>chinh-sach-ho-tro.md</a:t>
            </a:r>
            <a:pPr algn="l" marL="264160" indent="-264160">
              <a:lnSpc>
                <a:spcPct val="133000"/>
              </a:lnSpc>
              <a:buSzPct val="100000"/>
              <a:buChar char="•"/>
            </a:pPr>
            <a:r>
              <a:rPr lang="en-US" sz="1300" dirty="0">
                <a:solidFill>
                  <a:srgbClr val="FFFFFF"/>
                </a:solidFill>
                <a:latin typeface="Montserrat" pitchFamily="34" charset="0"/>
                <a:ea typeface="Montserrat" pitchFamily="34" charset="-122"/>
                <a:cs typeface="Montserrat" pitchFamily="34" charset="-120"/>
              </a:rPr>
              <a:t>.</a:t>
            </a:r>
            <a:endParaRPr lang="en-US" sz="1300" dirty="0"/>
          </a:p>
          <a:p>
            <a:pPr algn="l" marL="264160" indent="-264160">
              <a:lnSpc>
                <a:spcPct val="133000"/>
              </a:lnSpc>
              <a:buSzPct val="100000"/>
              <a:buChar char="•"/>
            </a:pPr>
            <a:r>
              <a:rPr lang="en-US" sz="1300" dirty="0">
                <a:solidFill>
                  <a:srgbClr val="FFFFFF"/>
                </a:solidFill>
                <a:latin typeface="Montserrat" pitchFamily="34" charset="0"/>
                <a:ea typeface="Montserrat" pitchFamily="34" charset="-122"/>
                <a:cs typeface="Montserrat" pitchFamily="34" charset="-120"/>
              </a:rPr>
              <a:t>Một công cụ </a:t>
            </a:r>
            <a:pPr algn="l" marL="264160" indent="-264160">
              <a:lnSpc>
                <a:spcPct val="133000"/>
              </a:lnSpc>
              <a:buSzPct val="100000"/>
              <a:buChar char="•"/>
            </a:pPr>
            <a:r>
              <a:rPr lang="en-US" sz="1300" b="1" dirty="0">
                <a:solidFill>
                  <a:srgbClr val="FFFFFF"/>
                </a:solidFill>
                <a:latin typeface="Montserrat Bold" pitchFamily="34" charset="0"/>
                <a:ea typeface="Montserrat Bold" pitchFamily="34" charset="-122"/>
                <a:cs typeface="Montserrat Bold" pitchFamily="34" charset="-120"/>
              </a:rPr>
              <a:t>vibe coding</a:t>
            </a:r>
            <a:pPr algn="l" marL="264160" indent="-264160">
              <a:lnSpc>
                <a:spcPct val="133000"/>
              </a:lnSpc>
              <a:buSzPct val="100000"/>
              <a:buChar char="•"/>
            </a:pPr>
            <a:r>
              <a:rPr lang="en-US" sz="1300" dirty="0">
                <a:solidFill>
                  <a:srgbClr val="FFFFFF"/>
                </a:solidFill>
                <a:latin typeface="Montserrat" pitchFamily="34" charset="0"/>
                <a:ea typeface="Montserrat" pitchFamily="34" charset="-122"/>
                <a:cs typeface="Montserrat" pitchFamily="34" charset="-120"/>
              </a:rPr>
              <a:t> (Cursor hay Antigravity) để làm landing page ở thực hành 4.</a:t>
            </a:r>
            <a:endParaRPr lang="en-US" sz="1300" dirty="0"/>
          </a:p>
        </p:txBody>
      </p:sp>
      <p:sp>
        <p:nvSpPr>
          <p:cNvPr id="7" name="Text 5"/>
          <p:cNvSpPr/>
          <p:nvPr/>
        </p:nvSpPr>
        <p:spPr>
          <a:xfrm>
            <a:off x="6303904" y="2660749"/>
            <a:ext cx="5232666" cy="264815"/>
          </a:xfrm>
          <a:prstGeom prst="rect">
            <a:avLst/>
          </a:prstGeom>
          <a:noFill/>
          <a:ln/>
        </p:spPr>
        <p:txBody>
          <a:bodyPr wrap="none" lIns="0" tIns="0" rIns="0" bIns="0" rtlCol="0" anchor="t"/>
          <a:lstStyle/>
          <a:p>
            <a:pPr algn="l" indent="0" marL="0">
              <a:lnSpc>
                <a:spcPct val="104000"/>
              </a:lnSpc>
              <a:buNone/>
            </a:pPr>
            <a:r>
              <a:rPr lang="en-US" sz="1600" b="1" dirty="0">
                <a:solidFill>
                  <a:srgbClr val="000000"/>
                </a:solidFill>
                <a:latin typeface="Twemoji Mozilla" pitchFamily="34" charset="0"/>
                <a:ea typeface="Twemoji Mozilla" pitchFamily="34" charset="-122"/>
                <a:cs typeface="Twemoji Mozilla" pitchFamily="34" charset="-120"/>
              </a:rPr>
              <a:t>🚫</a:t>
            </a:r>
            <a:pPr algn="l" indent="0" marL="0">
              <a:lnSpc>
                <a:spcPct val="104000"/>
              </a:lnSpc>
              <a:buNone/>
            </a:pPr>
            <a:r>
              <a:rPr lang="en-US" sz="1600" b="1" dirty="0">
                <a:solidFill>
                  <a:srgbClr val="004AAD"/>
                </a:solidFill>
                <a:latin typeface="Montserrat Bold" pitchFamily="34" charset="0"/>
                <a:ea typeface="Montserrat Bold" pitchFamily="34" charset="-122"/>
                <a:cs typeface="Montserrat Bold" pitchFamily="34" charset="-120"/>
              </a:rPr>
              <a:t> Không cần – không làm</a:t>
            </a:r>
            <a:endParaRPr lang="en-US" sz="1600" dirty="0"/>
          </a:p>
        </p:txBody>
      </p:sp>
      <p:sp>
        <p:nvSpPr>
          <p:cNvPr id="8" name="Text 6"/>
          <p:cNvSpPr/>
          <p:nvPr/>
        </p:nvSpPr>
        <p:spPr>
          <a:xfrm>
            <a:off x="6303904" y="3090863"/>
            <a:ext cx="5232666" cy="1761232"/>
          </a:xfrm>
          <a:prstGeom prst="rect">
            <a:avLst/>
          </a:prstGeom>
          <a:noFill/>
          <a:ln/>
        </p:spPr>
        <p:txBody>
          <a:bodyPr wrap="square" lIns="0" tIns="0" rIns="0" bIns="0" rtlCol="0" anchor="t">
            <a:normAutofit/>
          </a:bodyPr>
          <a:lstStyle/>
          <a:p>
            <a:pPr algn="l" marL="264160" indent="-264160">
              <a:lnSpc>
                <a:spcPct val="133000"/>
              </a:lnSpc>
              <a:buSzPct val="100000"/>
              <a:buChar char="•"/>
            </a:pPr>
            <a:r>
              <a:rPr lang="en-US" sz="1300" dirty="0">
                <a:solidFill>
                  <a:srgbClr val="000000"/>
                </a:solidFill>
                <a:latin typeface="Montserrat" pitchFamily="34" charset="0"/>
                <a:ea typeface="Montserrat" pitchFamily="34" charset="-122"/>
                <a:cs typeface="Montserrat" pitchFamily="34" charset="-120"/>
              </a:rPr>
              <a:t>Đừng để bot tự trả lời khi chưa có knowledge base. </a:t>
            </a:r>
            <a:pPr algn="l" marL="264160" indent="-264160">
              <a:lnSpc>
                <a:spcPct val="133000"/>
              </a:lnSpc>
              <a:buSzPct val="100000"/>
              <a:buChar char="•"/>
            </a:pPr>
            <a:r>
              <a:rPr lang="en-US" sz="1300" b="1" dirty="0">
                <a:solidFill>
                  <a:srgbClr val="000000"/>
                </a:solidFill>
                <a:latin typeface="Montserrat Bold" pitchFamily="34" charset="0"/>
                <a:ea typeface="Montserrat Bold" pitchFamily="34" charset="-122"/>
                <a:cs typeface="Montserrat Bold" pitchFamily="34" charset="-120"/>
              </a:rPr>
              <a:t>Bot không nguồn sẽ bịa.</a:t>
            </a:r>
            <a:endParaRPr lang="en-US" sz="1300" dirty="0"/>
          </a:p>
          <a:p>
            <a:pPr algn="l" marL="264160" indent="-264160">
              <a:lnSpc>
                <a:spcPct val="133000"/>
              </a:lnSpc>
              <a:buSzPct val="100000"/>
              <a:buChar char="•"/>
            </a:pPr>
            <a:r>
              <a:rPr lang="en-US" sz="1300" dirty="0">
                <a:solidFill>
                  <a:srgbClr val="000000"/>
                </a:solidFill>
                <a:latin typeface="Montserrat" pitchFamily="34" charset="0"/>
                <a:ea typeface="Montserrat" pitchFamily="34" charset="-122"/>
                <a:cs typeface="Montserrat" pitchFamily="34" charset="-120"/>
              </a:rPr>
              <a:t>Không cần cài Docker. Buổi này chạy bằng npx cho gọn.</a:t>
            </a:r>
            <a:endParaRPr lang="en-US" sz="1300" dirty="0"/>
          </a:p>
          <a:p>
            <a:pPr algn="l" marL="264160" indent="-264160">
              <a:lnSpc>
                <a:spcPct val="133000"/>
              </a:lnSpc>
              <a:buSzPct val="100000"/>
              <a:buChar char="•"/>
            </a:pPr>
            <a:r>
              <a:rPr lang="en-US" sz="1300" dirty="0">
                <a:solidFill>
                  <a:srgbClr val="000000"/>
                </a:solidFill>
                <a:latin typeface="Montserrat" pitchFamily="34" charset="0"/>
                <a:ea typeface="Montserrat" pitchFamily="34" charset="-122"/>
                <a:cs typeface="Montserrat" pitchFamily="34" charset="-120"/>
              </a:rPr>
              <a:t>Không phải kéo-thả từng Node. Notebook đã nạp sẵn workflow.</a:t>
            </a:r>
            <a:endParaRPr lang="en-US" sz="1300" dirty="0"/>
          </a:p>
          <a:p>
            <a:pPr algn="l" marL="264160" indent="-264160">
              <a:lnSpc>
                <a:spcPct val="133000"/>
              </a:lnSpc>
              <a:buSzPct val="100000"/>
              <a:buChar char="•"/>
            </a:pPr>
            <a:r>
              <a:rPr lang="en-US" sz="1300" dirty="0">
                <a:solidFill>
                  <a:srgbClr val="000000"/>
                </a:solidFill>
                <a:latin typeface="Montserrat" pitchFamily="34" charset="0"/>
                <a:ea typeface="Montserrat" pitchFamily="34" charset="-122"/>
                <a:cs typeface="Montserrat" pitchFamily="34" charset="-120"/>
              </a:rPr>
              <a:t>Không bật node gửi thật (email, ticket thật) khi đang test.</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61475" y="587177"/>
            <a:ext cx="10868745" cy="439241"/>
          </a:xfrm>
          <a:prstGeom prst="rect">
            <a:avLst/>
          </a:prstGeom>
          <a:noFill/>
          <a:ln/>
        </p:spPr>
        <p:txBody>
          <a:bodyPr wrap="none" lIns="0" tIns="0" rIns="0" bIns="0" rtlCol="0" anchor="t"/>
          <a:lstStyle/>
          <a:p>
            <a:pPr algn="l" indent="0" marL="0">
              <a:lnSpc>
                <a:spcPct val="104000"/>
              </a:lnSpc>
              <a:buNone/>
            </a:pPr>
            <a:r>
              <a:rPr lang="en-US" sz="2750" b="1" dirty="0">
                <a:solidFill>
                  <a:srgbClr val="004AAD"/>
                </a:solidFill>
                <a:latin typeface="Montserrat Bold" pitchFamily="34" charset="0"/>
                <a:ea typeface="Montserrat Bold" pitchFamily="34" charset="-122"/>
                <a:cs typeface="Montserrat Bold" pitchFamily="34" charset="-120"/>
              </a:rPr>
              <a:t>Buổi 5 · 120 phút</a:t>
            </a:r>
            <a:endParaRPr lang="en-US" sz="2750" dirty="0"/>
          </a:p>
        </p:txBody>
      </p:sp>
      <p:sp>
        <p:nvSpPr>
          <p:cNvPr id="3" name="Text 1"/>
          <p:cNvSpPr/>
          <p:nvPr/>
        </p:nvSpPr>
        <p:spPr>
          <a:xfrm>
            <a:off x="661475" y="1074142"/>
            <a:ext cx="10868745" cy="219571"/>
          </a:xfrm>
          <a:prstGeom prst="rect">
            <a:avLst/>
          </a:prstGeom>
          <a:noFill/>
          <a:ln/>
        </p:spPr>
        <p:txBody>
          <a:bodyPr wrap="none" lIns="0" tIns="0" rIns="0" bIns="0" rtlCol="0" anchor="t"/>
          <a:lstStyle/>
          <a:p>
            <a:pPr algn="l" indent="0" marL="0">
              <a:lnSpc>
                <a:spcPct val="104000"/>
              </a:lnSpc>
              <a:buNone/>
            </a:pPr>
            <a:r>
              <a:rPr lang="en-US" sz="1350" b="1" dirty="0">
                <a:solidFill>
                  <a:srgbClr val="004AAD"/>
                </a:solidFill>
                <a:latin typeface="Montserrat Bold" pitchFamily="34" charset="0"/>
                <a:ea typeface="Montserrat Bold" pitchFamily="34" charset="-122"/>
                <a:cs typeface="Montserrat Bold" pitchFamily="34" charset="-120"/>
              </a:rPr>
              <a:t>Chương trình chi tiết</a:t>
            </a:r>
            <a:endParaRPr lang="en-US" sz="1350" dirty="0"/>
          </a:p>
        </p:txBody>
      </p:sp>
      <p:sp>
        <p:nvSpPr>
          <p:cNvPr id="4" name="Shape 2"/>
          <p:cNvSpPr/>
          <p:nvPr/>
        </p:nvSpPr>
        <p:spPr>
          <a:xfrm>
            <a:off x="6086323" y="1472902"/>
            <a:ext cx="19050" cy="4797921"/>
          </a:xfrm>
          <a:prstGeom prst="roundRect">
            <a:avLst>
              <a:gd name="adj" fmla="val 49999"/>
            </a:avLst>
          </a:prstGeom>
          <a:solidFill>
            <a:srgbClr val="B2C8E5"/>
          </a:solidFill>
          <a:ln/>
        </p:spPr>
      </p:sp>
      <p:sp>
        <p:nvSpPr>
          <p:cNvPr id="5" name="Shape 3"/>
          <p:cNvSpPr/>
          <p:nvPr/>
        </p:nvSpPr>
        <p:spPr>
          <a:xfrm>
            <a:off x="5535077" y="1621532"/>
            <a:ext cx="421669" cy="19050"/>
          </a:xfrm>
          <a:prstGeom prst="roundRect">
            <a:avLst>
              <a:gd name="adj" fmla="val 49999"/>
            </a:avLst>
          </a:prstGeom>
          <a:solidFill>
            <a:srgbClr val="B2C8E5"/>
          </a:solidFill>
          <a:ln/>
        </p:spPr>
      </p:sp>
      <p:sp>
        <p:nvSpPr>
          <p:cNvPr id="6" name="Shape 4"/>
          <p:cNvSpPr/>
          <p:nvPr/>
        </p:nvSpPr>
        <p:spPr>
          <a:xfrm>
            <a:off x="5937697" y="1472902"/>
            <a:ext cx="316301" cy="316309"/>
          </a:xfrm>
          <a:prstGeom prst="roundRect">
            <a:avLst>
              <a:gd name="adj" fmla="val 18667"/>
            </a:avLst>
          </a:prstGeom>
          <a:solidFill>
            <a:srgbClr val="CCE2FF"/>
          </a:solidFill>
          <a:ln w="6350">
            <a:solidFill>
              <a:srgbClr val="B2C8E5"/>
            </a:solidFill>
            <a:prstDash val="solid"/>
          </a:ln>
        </p:spPr>
      </p:sp>
      <p:sp>
        <p:nvSpPr>
          <p:cNvPr id="7" name="Text 5"/>
          <p:cNvSpPr/>
          <p:nvPr/>
        </p:nvSpPr>
        <p:spPr>
          <a:xfrm>
            <a:off x="5990430" y="1499295"/>
            <a:ext cx="210835" cy="263525"/>
          </a:xfrm>
          <a:prstGeom prst="rect">
            <a:avLst/>
          </a:prstGeom>
          <a:noFill/>
          <a:ln/>
        </p:spPr>
        <p:txBody>
          <a:bodyPr wrap="none" lIns="0" tIns="0" rIns="0" bIns="0" rtlCol="0" anchor="ctr"/>
          <a:lstStyle/>
          <a:p>
            <a:pPr algn="ctr" indent="0" marL="0">
              <a:lnSpc>
                <a:spcPct val="100000"/>
              </a:lnSpc>
              <a:buNone/>
            </a:pPr>
            <a:r>
              <a:rPr lang="en-US" sz="1650" b="1" dirty="0">
                <a:solidFill>
                  <a:srgbClr val="000000"/>
                </a:solidFill>
                <a:latin typeface="Montserrat Bold" pitchFamily="34" charset="0"/>
                <a:ea typeface="Montserrat Bold" pitchFamily="34" charset="-122"/>
                <a:cs typeface="Montserrat Bold" pitchFamily="34" charset="-120"/>
              </a:rPr>
              <a:t>1</a:t>
            </a:r>
            <a:endParaRPr lang="en-US" sz="1650" dirty="0"/>
          </a:p>
        </p:txBody>
      </p:sp>
      <p:sp>
        <p:nvSpPr>
          <p:cNvPr id="8" name="Text 6"/>
          <p:cNvSpPr/>
          <p:nvPr/>
        </p:nvSpPr>
        <p:spPr>
          <a:xfrm>
            <a:off x="661475" y="1521222"/>
            <a:ext cx="4731525" cy="219571"/>
          </a:xfrm>
          <a:prstGeom prst="rect">
            <a:avLst/>
          </a:prstGeom>
          <a:noFill/>
          <a:ln/>
        </p:spPr>
        <p:txBody>
          <a:bodyPr wrap="none" lIns="0" tIns="0" rIns="0" bIns="0" rtlCol="0" anchor="t"/>
          <a:lstStyle/>
          <a:p>
            <a:pPr algn="r" indent="0" marL="0">
              <a:lnSpc>
                <a:spcPct val="104000"/>
              </a:lnSpc>
              <a:buNone/>
            </a:pPr>
            <a:r>
              <a:rPr lang="en-US" sz="1350" b="1" dirty="0">
                <a:solidFill>
                  <a:srgbClr val="000000"/>
                </a:solidFill>
                <a:latin typeface="Montserrat Bold" pitchFamily="34" charset="0"/>
                <a:ea typeface="Montserrat Bold" pitchFamily="34" charset="-122"/>
                <a:cs typeface="Montserrat Bold" pitchFamily="34" charset="-120"/>
              </a:rPr>
              <a:t>Mở đầu và 5 trụ tư duy</a:t>
            </a:r>
            <a:endParaRPr lang="en-US" sz="1350" dirty="0"/>
          </a:p>
        </p:txBody>
      </p:sp>
      <p:sp>
        <p:nvSpPr>
          <p:cNvPr id="9" name="Text 7"/>
          <p:cNvSpPr/>
          <p:nvPr/>
        </p:nvSpPr>
        <p:spPr>
          <a:xfrm>
            <a:off x="661475" y="1812429"/>
            <a:ext cx="4731525" cy="208062"/>
          </a:xfrm>
          <a:prstGeom prst="rect">
            <a:avLst/>
          </a:prstGeom>
          <a:noFill/>
          <a:ln/>
        </p:spPr>
        <p:txBody>
          <a:bodyPr wrap="none" lIns="0" tIns="0" rIns="0" bIns="0" rtlCol="0" anchor="t"/>
          <a:lstStyle/>
          <a:p>
            <a:pPr algn="r" indent="0" marL="0">
              <a:lnSpc>
                <a:spcPct val="123000"/>
              </a:lnSpc>
              <a:buNone/>
            </a:pPr>
            <a:r>
              <a:rPr lang="en-US" sz="1100" dirty="0">
                <a:solidFill>
                  <a:srgbClr val="000000"/>
                </a:solidFill>
                <a:latin typeface="Montserrat" pitchFamily="34" charset="0"/>
                <a:ea typeface="Montserrat" pitchFamily="34" charset="-122"/>
                <a:cs typeface="Montserrat" pitchFamily="34" charset="-120"/>
              </a:rPr>
              <a:t>15 phút · Khung tư duy cho toàn buổi</a:t>
            </a:r>
            <a:endParaRPr lang="en-US" sz="1100" dirty="0"/>
          </a:p>
        </p:txBody>
      </p:sp>
      <p:sp>
        <p:nvSpPr>
          <p:cNvPr id="10" name="Shape 8"/>
          <p:cNvSpPr/>
          <p:nvPr/>
        </p:nvSpPr>
        <p:spPr>
          <a:xfrm>
            <a:off x="6234949" y="2422723"/>
            <a:ext cx="421669" cy="19050"/>
          </a:xfrm>
          <a:prstGeom prst="roundRect">
            <a:avLst>
              <a:gd name="adj" fmla="val 49999"/>
            </a:avLst>
          </a:prstGeom>
          <a:solidFill>
            <a:srgbClr val="B2C8E5"/>
          </a:solidFill>
          <a:ln/>
        </p:spPr>
      </p:sp>
      <p:sp>
        <p:nvSpPr>
          <p:cNvPr id="11" name="Shape 9"/>
          <p:cNvSpPr/>
          <p:nvPr/>
        </p:nvSpPr>
        <p:spPr>
          <a:xfrm>
            <a:off x="5937697" y="2274094"/>
            <a:ext cx="316301" cy="316309"/>
          </a:xfrm>
          <a:prstGeom prst="roundRect">
            <a:avLst>
              <a:gd name="adj" fmla="val 18667"/>
            </a:avLst>
          </a:prstGeom>
          <a:solidFill>
            <a:srgbClr val="CCE2FF"/>
          </a:solidFill>
          <a:ln w="6350">
            <a:solidFill>
              <a:srgbClr val="B2C8E5"/>
            </a:solidFill>
            <a:prstDash val="solid"/>
          </a:ln>
        </p:spPr>
      </p:sp>
      <p:sp>
        <p:nvSpPr>
          <p:cNvPr id="12" name="Text 10"/>
          <p:cNvSpPr/>
          <p:nvPr/>
        </p:nvSpPr>
        <p:spPr>
          <a:xfrm>
            <a:off x="5990430" y="2300486"/>
            <a:ext cx="210835" cy="263525"/>
          </a:xfrm>
          <a:prstGeom prst="rect">
            <a:avLst/>
          </a:prstGeom>
          <a:noFill/>
          <a:ln/>
        </p:spPr>
        <p:txBody>
          <a:bodyPr wrap="none" lIns="0" tIns="0" rIns="0" bIns="0" rtlCol="0" anchor="ctr"/>
          <a:lstStyle/>
          <a:p>
            <a:pPr algn="ctr" indent="0" marL="0">
              <a:lnSpc>
                <a:spcPct val="100000"/>
              </a:lnSpc>
              <a:buNone/>
            </a:pPr>
            <a:r>
              <a:rPr lang="en-US" sz="1650" b="1" dirty="0">
                <a:solidFill>
                  <a:srgbClr val="000000"/>
                </a:solidFill>
                <a:latin typeface="Montserrat Bold" pitchFamily="34" charset="0"/>
                <a:ea typeface="Montserrat Bold" pitchFamily="34" charset="-122"/>
                <a:cs typeface="Montserrat Bold" pitchFamily="34" charset="-120"/>
              </a:rPr>
              <a:t>2</a:t>
            </a:r>
            <a:endParaRPr lang="en-US" sz="1650" dirty="0"/>
          </a:p>
        </p:txBody>
      </p:sp>
      <p:sp>
        <p:nvSpPr>
          <p:cNvPr id="13" name="Text 11"/>
          <p:cNvSpPr/>
          <p:nvPr/>
        </p:nvSpPr>
        <p:spPr>
          <a:xfrm>
            <a:off x="6798696" y="2322413"/>
            <a:ext cx="4731525" cy="219571"/>
          </a:xfrm>
          <a:prstGeom prst="rect">
            <a:avLst/>
          </a:prstGeom>
          <a:noFill/>
          <a:ln/>
        </p:spPr>
        <p:txBody>
          <a:bodyPr wrap="none" lIns="0" tIns="0" rIns="0" bIns="0" rtlCol="0" anchor="t"/>
          <a:lstStyle/>
          <a:p>
            <a:pPr algn="l" indent="0" marL="0">
              <a:lnSpc>
                <a:spcPct val="104000"/>
              </a:lnSpc>
              <a:buNone/>
            </a:pPr>
            <a:r>
              <a:rPr lang="en-US" sz="1350" b="1" dirty="0">
                <a:solidFill>
                  <a:srgbClr val="000000"/>
                </a:solidFill>
                <a:latin typeface="Montserrat Bold" pitchFamily="34" charset="0"/>
                <a:ea typeface="Montserrat Bold" pitchFamily="34" charset="-122"/>
                <a:cs typeface="Montserrat Bold" pitchFamily="34" charset="-120"/>
              </a:rPr>
              <a:t>Demo qua notebook</a:t>
            </a:r>
            <a:endParaRPr lang="en-US" sz="1350" dirty="0"/>
          </a:p>
        </p:txBody>
      </p:sp>
      <p:sp>
        <p:nvSpPr>
          <p:cNvPr id="14" name="Text 12"/>
          <p:cNvSpPr/>
          <p:nvPr/>
        </p:nvSpPr>
        <p:spPr>
          <a:xfrm>
            <a:off x="6798696" y="2613620"/>
            <a:ext cx="4731525" cy="208062"/>
          </a:xfrm>
          <a:prstGeom prst="rect">
            <a:avLst/>
          </a:prstGeom>
          <a:noFill/>
          <a:ln/>
        </p:spPr>
        <p:txBody>
          <a:bodyPr wrap="none" lIns="0" tIns="0" rIns="0" bIns="0" rtlCol="0" anchor="t"/>
          <a:lstStyle/>
          <a:p>
            <a:pPr algn="l" indent="0" marL="0">
              <a:lnSpc>
                <a:spcPct val="123000"/>
              </a:lnSpc>
              <a:buNone/>
            </a:pPr>
            <a:r>
              <a:rPr lang="en-US" sz="1100" dirty="0">
                <a:solidFill>
                  <a:srgbClr val="000000"/>
                </a:solidFill>
                <a:latin typeface="Montserrat" pitchFamily="34" charset="0"/>
                <a:ea typeface="Montserrat" pitchFamily="34" charset="-122"/>
                <a:cs typeface="Montserrat" pitchFamily="34" charset="-120"/>
              </a:rPr>
              <a:t>15 phút · Webhook /cskh chạy thật</a:t>
            </a:r>
            <a:endParaRPr lang="en-US" sz="1100" dirty="0"/>
          </a:p>
        </p:txBody>
      </p:sp>
      <p:sp>
        <p:nvSpPr>
          <p:cNvPr id="15" name="Shape 13"/>
          <p:cNvSpPr/>
          <p:nvPr/>
        </p:nvSpPr>
        <p:spPr>
          <a:xfrm>
            <a:off x="5535077" y="3128665"/>
            <a:ext cx="421669" cy="19050"/>
          </a:xfrm>
          <a:prstGeom prst="roundRect">
            <a:avLst>
              <a:gd name="adj" fmla="val 49999"/>
            </a:avLst>
          </a:prstGeom>
          <a:solidFill>
            <a:srgbClr val="B2C8E5"/>
          </a:solidFill>
          <a:ln/>
        </p:spPr>
      </p:sp>
      <p:sp>
        <p:nvSpPr>
          <p:cNvPr id="16" name="Shape 14"/>
          <p:cNvSpPr/>
          <p:nvPr/>
        </p:nvSpPr>
        <p:spPr>
          <a:xfrm>
            <a:off x="5937697" y="2980035"/>
            <a:ext cx="316301" cy="316309"/>
          </a:xfrm>
          <a:prstGeom prst="roundRect">
            <a:avLst>
              <a:gd name="adj" fmla="val 18667"/>
            </a:avLst>
          </a:prstGeom>
          <a:solidFill>
            <a:srgbClr val="CCE2FF"/>
          </a:solidFill>
          <a:ln w="6350">
            <a:solidFill>
              <a:srgbClr val="B2C8E5"/>
            </a:solidFill>
            <a:prstDash val="solid"/>
          </a:ln>
        </p:spPr>
      </p:sp>
      <p:sp>
        <p:nvSpPr>
          <p:cNvPr id="17" name="Text 15"/>
          <p:cNvSpPr/>
          <p:nvPr/>
        </p:nvSpPr>
        <p:spPr>
          <a:xfrm>
            <a:off x="5990430" y="3006427"/>
            <a:ext cx="210835" cy="263525"/>
          </a:xfrm>
          <a:prstGeom prst="rect">
            <a:avLst/>
          </a:prstGeom>
          <a:noFill/>
          <a:ln/>
        </p:spPr>
        <p:txBody>
          <a:bodyPr wrap="none" lIns="0" tIns="0" rIns="0" bIns="0" rtlCol="0" anchor="ctr"/>
          <a:lstStyle/>
          <a:p>
            <a:pPr algn="ctr" indent="0" marL="0">
              <a:lnSpc>
                <a:spcPct val="100000"/>
              </a:lnSpc>
              <a:buNone/>
            </a:pPr>
            <a:r>
              <a:rPr lang="en-US" sz="1650" b="1" dirty="0">
                <a:solidFill>
                  <a:srgbClr val="000000"/>
                </a:solidFill>
                <a:latin typeface="Montserrat Bold" pitchFamily="34" charset="0"/>
                <a:ea typeface="Montserrat Bold" pitchFamily="34" charset="-122"/>
                <a:cs typeface="Montserrat Bold" pitchFamily="34" charset="-120"/>
              </a:rPr>
              <a:t>3</a:t>
            </a:r>
            <a:endParaRPr lang="en-US" sz="1650" dirty="0"/>
          </a:p>
        </p:txBody>
      </p:sp>
      <p:sp>
        <p:nvSpPr>
          <p:cNvPr id="18" name="Text 16"/>
          <p:cNvSpPr/>
          <p:nvPr/>
        </p:nvSpPr>
        <p:spPr>
          <a:xfrm>
            <a:off x="661475" y="3028355"/>
            <a:ext cx="4731525" cy="219571"/>
          </a:xfrm>
          <a:prstGeom prst="rect">
            <a:avLst/>
          </a:prstGeom>
          <a:noFill/>
          <a:ln/>
        </p:spPr>
        <p:txBody>
          <a:bodyPr wrap="none" lIns="0" tIns="0" rIns="0" bIns="0" rtlCol="0" anchor="t"/>
          <a:lstStyle/>
          <a:p>
            <a:pPr algn="r" indent="0" marL="0">
              <a:lnSpc>
                <a:spcPct val="104000"/>
              </a:lnSpc>
              <a:buNone/>
            </a:pPr>
            <a:r>
              <a:rPr lang="en-US" sz="1350" b="1" dirty="0">
                <a:solidFill>
                  <a:srgbClr val="000000"/>
                </a:solidFill>
                <a:latin typeface="Montserrat Bold" pitchFamily="34" charset="0"/>
                <a:ea typeface="Montserrat Bold" pitchFamily="34" charset="-122"/>
                <a:cs typeface="Montserrat Bold" pitchFamily="34" charset="-120"/>
              </a:rPr>
              <a:t>Thực hành 1 &amp; 2</a:t>
            </a:r>
            <a:endParaRPr lang="en-US" sz="1350" dirty="0"/>
          </a:p>
        </p:txBody>
      </p:sp>
      <p:sp>
        <p:nvSpPr>
          <p:cNvPr id="19" name="Text 17"/>
          <p:cNvSpPr/>
          <p:nvPr/>
        </p:nvSpPr>
        <p:spPr>
          <a:xfrm>
            <a:off x="661475" y="3319562"/>
            <a:ext cx="4731525" cy="208062"/>
          </a:xfrm>
          <a:prstGeom prst="rect">
            <a:avLst/>
          </a:prstGeom>
          <a:noFill/>
          <a:ln/>
        </p:spPr>
        <p:txBody>
          <a:bodyPr wrap="none" lIns="0" tIns="0" rIns="0" bIns="0" rtlCol="0" anchor="t"/>
          <a:lstStyle/>
          <a:p>
            <a:pPr algn="r" indent="0" marL="0">
              <a:lnSpc>
                <a:spcPct val="123000"/>
              </a:lnSpc>
              <a:buNone/>
            </a:pPr>
            <a:r>
              <a:rPr lang="en-US" sz="1100" dirty="0">
                <a:solidFill>
                  <a:srgbClr val="000000"/>
                </a:solidFill>
                <a:latin typeface="Montserrat" pitchFamily="34" charset="0"/>
                <a:ea typeface="Montserrat" pitchFamily="34" charset="-122"/>
                <a:cs typeface="Montserrat" pitchFamily="34" charset="-120"/>
              </a:rPr>
              <a:t>45 phút · Vector KB, guardrail, router, cache</a:t>
            </a:r>
            <a:endParaRPr lang="en-US" sz="1100" dirty="0"/>
          </a:p>
        </p:txBody>
      </p:sp>
      <p:sp>
        <p:nvSpPr>
          <p:cNvPr id="20" name="Shape 18"/>
          <p:cNvSpPr/>
          <p:nvPr/>
        </p:nvSpPr>
        <p:spPr>
          <a:xfrm>
            <a:off x="6234949" y="3834606"/>
            <a:ext cx="421669" cy="19050"/>
          </a:xfrm>
          <a:prstGeom prst="roundRect">
            <a:avLst>
              <a:gd name="adj" fmla="val 49999"/>
            </a:avLst>
          </a:prstGeom>
          <a:solidFill>
            <a:srgbClr val="B2C8E5"/>
          </a:solidFill>
          <a:ln/>
        </p:spPr>
      </p:sp>
      <p:sp>
        <p:nvSpPr>
          <p:cNvPr id="21" name="Shape 19"/>
          <p:cNvSpPr/>
          <p:nvPr/>
        </p:nvSpPr>
        <p:spPr>
          <a:xfrm>
            <a:off x="5937697" y="3685977"/>
            <a:ext cx="316301" cy="316309"/>
          </a:xfrm>
          <a:prstGeom prst="roundRect">
            <a:avLst>
              <a:gd name="adj" fmla="val 18667"/>
            </a:avLst>
          </a:prstGeom>
          <a:solidFill>
            <a:srgbClr val="CCE2FF"/>
          </a:solidFill>
          <a:ln w="6350">
            <a:solidFill>
              <a:srgbClr val="B2C8E5"/>
            </a:solidFill>
            <a:prstDash val="solid"/>
          </a:ln>
        </p:spPr>
      </p:sp>
      <p:sp>
        <p:nvSpPr>
          <p:cNvPr id="22" name="Text 20"/>
          <p:cNvSpPr/>
          <p:nvPr/>
        </p:nvSpPr>
        <p:spPr>
          <a:xfrm>
            <a:off x="5990430" y="3712369"/>
            <a:ext cx="210835" cy="263525"/>
          </a:xfrm>
          <a:prstGeom prst="rect">
            <a:avLst/>
          </a:prstGeom>
          <a:noFill/>
          <a:ln/>
        </p:spPr>
        <p:txBody>
          <a:bodyPr wrap="none" lIns="0" tIns="0" rIns="0" bIns="0" rtlCol="0" anchor="ctr"/>
          <a:lstStyle/>
          <a:p>
            <a:pPr algn="ctr" indent="0" marL="0">
              <a:lnSpc>
                <a:spcPct val="100000"/>
              </a:lnSpc>
              <a:buNone/>
            </a:pPr>
            <a:r>
              <a:rPr lang="en-US" sz="1650" b="1" dirty="0">
                <a:solidFill>
                  <a:srgbClr val="000000"/>
                </a:solidFill>
                <a:latin typeface="Montserrat Bold" pitchFamily="34" charset="0"/>
                <a:ea typeface="Montserrat Bold" pitchFamily="34" charset="-122"/>
                <a:cs typeface="Montserrat Bold" pitchFamily="34" charset="-120"/>
              </a:rPr>
              <a:t>4</a:t>
            </a:r>
            <a:endParaRPr lang="en-US" sz="1650" dirty="0"/>
          </a:p>
        </p:txBody>
      </p:sp>
      <p:sp>
        <p:nvSpPr>
          <p:cNvPr id="23" name="Text 21"/>
          <p:cNvSpPr/>
          <p:nvPr/>
        </p:nvSpPr>
        <p:spPr>
          <a:xfrm>
            <a:off x="6798696" y="3734296"/>
            <a:ext cx="4731525" cy="219571"/>
          </a:xfrm>
          <a:prstGeom prst="rect">
            <a:avLst/>
          </a:prstGeom>
          <a:noFill/>
          <a:ln/>
        </p:spPr>
        <p:txBody>
          <a:bodyPr wrap="none" lIns="0" tIns="0" rIns="0" bIns="0" rtlCol="0" anchor="t"/>
          <a:lstStyle/>
          <a:p>
            <a:pPr algn="l" indent="0" marL="0">
              <a:lnSpc>
                <a:spcPct val="104000"/>
              </a:lnSpc>
              <a:buNone/>
            </a:pPr>
            <a:r>
              <a:rPr lang="en-US" sz="1350" b="1" dirty="0">
                <a:solidFill>
                  <a:srgbClr val="000000"/>
                </a:solidFill>
                <a:latin typeface="Montserrat Bold" pitchFamily="34" charset="0"/>
                <a:ea typeface="Montserrat Bold" pitchFamily="34" charset="-122"/>
                <a:cs typeface="Montserrat Bold" pitchFamily="34" charset="-120"/>
              </a:rPr>
              <a:t>Thực hành 3</a:t>
            </a:r>
            <a:endParaRPr lang="en-US" sz="1350" dirty="0"/>
          </a:p>
        </p:txBody>
      </p:sp>
      <p:sp>
        <p:nvSpPr>
          <p:cNvPr id="24" name="Text 22"/>
          <p:cNvSpPr/>
          <p:nvPr/>
        </p:nvSpPr>
        <p:spPr>
          <a:xfrm>
            <a:off x="6798696" y="4025503"/>
            <a:ext cx="4731525" cy="208062"/>
          </a:xfrm>
          <a:prstGeom prst="rect">
            <a:avLst/>
          </a:prstGeom>
          <a:noFill/>
          <a:ln/>
        </p:spPr>
        <p:txBody>
          <a:bodyPr wrap="none" lIns="0" tIns="0" rIns="0" bIns="0" rtlCol="0" anchor="t"/>
          <a:lstStyle/>
          <a:p>
            <a:pPr algn="l" indent="0" marL="0">
              <a:lnSpc>
                <a:spcPct val="123000"/>
              </a:lnSpc>
              <a:buNone/>
            </a:pPr>
            <a:r>
              <a:rPr lang="en-US" sz="1100" dirty="0">
                <a:solidFill>
                  <a:srgbClr val="000000"/>
                </a:solidFill>
                <a:latin typeface="Montserrat" pitchFamily="34" charset="0"/>
                <a:ea typeface="Montserrat" pitchFamily="34" charset="-122"/>
                <a:cs typeface="Montserrat" pitchFamily="34" charset="-120"/>
              </a:rPr>
              <a:t>20 phút · LLM Fallback, LLM-as-Judge, HITL ticket</a:t>
            </a:r>
            <a:endParaRPr lang="en-US" sz="1100" dirty="0"/>
          </a:p>
        </p:txBody>
      </p:sp>
      <p:sp>
        <p:nvSpPr>
          <p:cNvPr id="25" name="Shape 23"/>
          <p:cNvSpPr/>
          <p:nvPr/>
        </p:nvSpPr>
        <p:spPr>
          <a:xfrm>
            <a:off x="5535077" y="4540548"/>
            <a:ext cx="421669" cy="19050"/>
          </a:xfrm>
          <a:prstGeom prst="roundRect">
            <a:avLst>
              <a:gd name="adj" fmla="val 49999"/>
            </a:avLst>
          </a:prstGeom>
          <a:solidFill>
            <a:srgbClr val="B2C8E5"/>
          </a:solidFill>
          <a:ln/>
        </p:spPr>
      </p:sp>
      <p:sp>
        <p:nvSpPr>
          <p:cNvPr id="26" name="Shape 24"/>
          <p:cNvSpPr/>
          <p:nvPr/>
        </p:nvSpPr>
        <p:spPr>
          <a:xfrm>
            <a:off x="5937697" y="4391918"/>
            <a:ext cx="316301" cy="316309"/>
          </a:xfrm>
          <a:prstGeom prst="roundRect">
            <a:avLst>
              <a:gd name="adj" fmla="val 18667"/>
            </a:avLst>
          </a:prstGeom>
          <a:solidFill>
            <a:srgbClr val="CCE2FF"/>
          </a:solidFill>
          <a:ln w="6350">
            <a:solidFill>
              <a:srgbClr val="B2C8E5"/>
            </a:solidFill>
            <a:prstDash val="solid"/>
          </a:ln>
        </p:spPr>
      </p:sp>
      <p:sp>
        <p:nvSpPr>
          <p:cNvPr id="27" name="Text 25"/>
          <p:cNvSpPr/>
          <p:nvPr/>
        </p:nvSpPr>
        <p:spPr>
          <a:xfrm>
            <a:off x="5990430" y="4418310"/>
            <a:ext cx="210835" cy="263525"/>
          </a:xfrm>
          <a:prstGeom prst="rect">
            <a:avLst/>
          </a:prstGeom>
          <a:noFill/>
          <a:ln/>
        </p:spPr>
        <p:txBody>
          <a:bodyPr wrap="none" lIns="0" tIns="0" rIns="0" bIns="0" rtlCol="0" anchor="ctr"/>
          <a:lstStyle/>
          <a:p>
            <a:pPr algn="ctr" indent="0" marL="0">
              <a:lnSpc>
                <a:spcPct val="100000"/>
              </a:lnSpc>
              <a:buNone/>
            </a:pPr>
            <a:r>
              <a:rPr lang="en-US" sz="1650" b="1" dirty="0">
                <a:solidFill>
                  <a:srgbClr val="000000"/>
                </a:solidFill>
                <a:latin typeface="Montserrat Bold" pitchFamily="34" charset="0"/>
                <a:ea typeface="Montserrat Bold" pitchFamily="34" charset="-122"/>
                <a:cs typeface="Montserrat Bold" pitchFamily="34" charset="-120"/>
              </a:rPr>
              <a:t>5</a:t>
            </a:r>
            <a:endParaRPr lang="en-US" sz="1650" dirty="0"/>
          </a:p>
        </p:txBody>
      </p:sp>
      <p:sp>
        <p:nvSpPr>
          <p:cNvPr id="28" name="Text 26"/>
          <p:cNvSpPr/>
          <p:nvPr/>
        </p:nvSpPr>
        <p:spPr>
          <a:xfrm>
            <a:off x="661475" y="4440238"/>
            <a:ext cx="4731525" cy="219571"/>
          </a:xfrm>
          <a:prstGeom prst="rect">
            <a:avLst/>
          </a:prstGeom>
          <a:noFill/>
          <a:ln/>
        </p:spPr>
        <p:txBody>
          <a:bodyPr wrap="none" lIns="0" tIns="0" rIns="0" bIns="0" rtlCol="0" anchor="t"/>
          <a:lstStyle/>
          <a:p>
            <a:pPr algn="r" indent="0" marL="0">
              <a:lnSpc>
                <a:spcPct val="104000"/>
              </a:lnSpc>
              <a:buNone/>
            </a:pPr>
            <a:r>
              <a:rPr lang="en-US" sz="1350" b="1" dirty="0">
                <a:solidFill>
                  <a:srgbClr val="000000"/>
                </a:solidFill>
                <a:latin typeface="Montserrat Bold" pitchFamily="34" charset="0"/>
                <a:ea typeface="Montserrat Bold" pitchFamily="34" charset="-122"/>
                <a:cs typeface="Montserrat Bold" pitchFamily="34" charset="-120"/>
              </a:rPr>
              <a:t>Thực hành 4</a:t>
            </a:r>
            <a:endParaRPr lang="en-US" sz="1350" dirty="0"/>
          </a:p>
        </p:txBody>
      </p:sp>
      <p:sp>
        <p:nvSpPr>
          <p:cNvPr id="29" name="Text 27"/>
          <p:cNvSpPr/>
          <p:nvPr/>
        </p:nvSpPr>
        <p:spPr>
          <a:xfrm>
            <a:off x="661475" y="4731445"/>
            <a:ext cx="4731525" cy="208062"/>
          </a:xfrm>
          <a:prstGeom prst="rect">
            <a:avLst/>
          </a:prstGeom>
          <a:noFill/>
          <a:ln/>
        </p:spPr>
        <p:txBody>
          <a:bodyPr wrap="none" lIns="0" tIns="0" rIns="0" bIns="0" rtlCol="0" anchor="t"/>
          <a:lstStyle/>
          <a:p>
            <a:pPr algn="r" indent="0" marL="0">
              <a:lnSpc>
                <a:spcPct val="123000"/>
              </a:lnSpc>
              <a:buNone/>
            </a:pPr>
            <a:r>
              <a:rPr lang="en-US" sz="1100" dirty="0">
                <a:solidFill>
                  <a:srgbClr val="000000"/>
                </a:solidFill>
                <a:latin typeface="Montserrat" pitchFamily="34" charset="0"/>
                <a:ea typeface="Montserrat" pitchFamily="34" charset="-122"/>
                <a:cs typeface="Montserrat" pitchFamily="34" charset="-120"/>
              </a:rPr>
              <a:t>20 phút · Landing page có chatbot gọi webhook</a:t>
            </a:r>
            <a:endParaRPr lang="en-US" sz="1100" dirty="0"/>
          </a:p>
        </p:txBody>
      </p:sp>
      <p:sp>
        <p:nvSpPr>
          <p:cNvPr id="30" name="Shape 28"/>
          <p:cNvSpPr/>
          <p:nvPr/>
        </p:nvSpPr>
        <p:spPr>
          <a:xfrm>
            <a:off x="6234949" y="5246489"/>
            <a:ext cx="421669" cy="19050"/>
          </a:xfrm>
          <a:prstGeom prst="roundRect">
            <a:avLst>
              <a:gd name="adj" fmla="val 49999"/>
            </a:avLst>
          </a:prstGeom>
          <a:solidFill>
            <a:srgbClr val="B2C8E5"/>
          </a:solidFill>
          <a:ln/>
        </p:spPr>
      </p:sp>
      <p:sp>
        <p:nvSpPr>
          <p:cNvPr id="31" name="Shape 29"/>
          <p:cNvSpPr/>
          <p:nvPr/>
        </p:nvSpPr>
        <p:spPr>
          <a:xfrm>
            <a:off x="5937697" y="5097859"/>
            <a:ext cx="316301" cy="316309"/>
          </a:xfrm>
          <a:prstGeom prst="roundRect">
            <a:avLst>
              <a:gd name="adj" fmla="val 18667"/>
            </a:avLst>
          </a:prstGeom>
          <a:solidFill>
            <a:srgbClr val="CCE2FF"/>
          </a:solidFill>
          <a:ln w="6350">
            <a:solidFill>
              <a:srgbClr val="B2C8E5"/>
            </a:solidFill>
            <a:prstDash val="solid"/>
          </a:ln>
        </p:spPr>
      </p:sp>
      <p:sp>
        <p:nvSpPr>
          <p:cNvPr id="32" name="Text 30"/>
          <p:cNvSpPr/>
          <p:nvPr/>
        </p:nvSpPr>
        <p:spPr>
          <a:xfrm>
            <a:off x="5990430" y="5124252"/>
            <a:ext cx="210835" cy="263525"/>
          </a:xfrm>
          <a:prstGeom prst="rect">
            <a:avLst/>
          </a:prstGeom>
          <a:noFill/>
          <a:ln/>
        </p:spPr>
        <p:txBody>
          <a:bodyPr wrap="none" lIns="0" tIns="0" rIns="0" bIns="0" rtlCol="0" anchor="ctr"/>
          <a:lstStyle/>
          <a:p>
            <a:pPr algn="ctr" indent="0" marL="0">
              <a:lnSpc>
                <a:spcPct val="100000"/>
              </a:lnSpc>
              <a:buNone/>
            </a:pPr>
            <a:r>
              <a:rPr lang="en-US" sz="1650" b="1" dirty="0">
                <a:solidFill>
                  <a:srgbClr val="000000"/>
                </a:solidFill>
                <a:latin typeface="Montserrat Bold" pitchFamily="34" charset="0"/>
                <a:ea typeface="Montserrat Bold" pitchFamily="34" charset="-122"/>
                <a:cs typeface="Montserrat Bold" pitchFamily="34" charset="-120"/>
              </a:rPr>
              <a:t>6</a:t>
            </a:r>
            <a:endParaRPr lang="en-US" sz="1650" dirty="0"/>
          </a:p>
        </p:txBody>
      </p:sp>
      <p:sp>
        <p:nvSpPr>
          <p:cNvPr id="33" name="Text 31"/>
          <p:cNvSpPr/>
          <p:nvPr/>
        </p:nvSpPr>
        <p:spPr>
          <a:xfrm>
            <a:off x="6798696" y="5146179"/>
            <a:ext cx="4731525" cy="219571"/>
          </a:xfrm>
          <a:prstGeom prst="rect">
            <a:avLst/>
          </a:prstGeom>
          <a:noFill/>
          <a:ln/>
        </p:spPr>
        <p:txBody>
          <a:bodyPr wrap="none" lIns="0" tIns="0" rIns="0" bIns="0" rtlCol="0" anchor="t"/>
          <a:lstStyle/>
          <a:p>
            <a:pPr algn="l" indent="0" marL="0">
              <a:lnSpc>
                <a:spcPct val="104000"/>
              </a:lnSpc>
              <a:buNone/>
            </a:pPr>
            <a:r>
              <a:rPr lang="en-US" sz="1350" b="1" dirty="0">
                <a:solidFill>
                  <a:srgbClr val="000000"/>
                </a:solidFill>
                <a:latin typeface="Montserrat Bold" pitchFamily="34" charset="0"/>
                <a:ea typeface="Montserrat Bold" pitchFamily="34" charset="-122"/>
                <a:cs typeface="Montserrat Bold" pitchFamily="34" charset="-120"/>
              </a:rPr>
              <a:t>Tổng kết và hỏi đáp</a:t>
            </a:r>
            <a:endParaRPr lang="en-US" sz="1350" dirty="0"/>
          </a:p>
        </p:txBody>
      </p:sp>
      <p:sp>
        <p:nvSpPr>
          <p:cNvPr id="34" name="Text 32"/>
          <p:cNvSpPr/>
          <p:nvPr/>
        </p:nvSpPr>
        <p:spPr>
          <a:xfrm>
            <a:off x="6798696" y="5437386"/>
            <a:ext cx="4731525" cy="208062"/>
          </a:xfrm>
          <a:prstGeom prst="rect">
            <a:avLst/>
          </a:prstGeom>
          <a:noFill/>
          <a:ln/>
        </p:spPr>
        <p:txBody>
          <a:bodyPr wrap="none" lIns="0" tIns="0" rIns="0" bIns="0" rtlCol="0" anchor="t"/>
          <a:lstStyle/>
          <a:p>
            <a:pPr algn="l" indent="0" marL="0">
              <a:lnSpc>
                <a:spcPct val="123000"/>
              </a:lnSpc>
              <a:buNone/>
            </a:pPr>
            <a:r>
              <a:rPr lang="en-US" sz="1100" dirty="0">
                <a:solidFill>
                  <a:srgbClr val="000000"/>
                </a:solidFill>
                <a:latin typeface="Montserrat" pitchFamily="34" charset="0"/>
                <a:ea typeface="Montserrat" pitchFamily="34" charset="-122"/>
                <a:cs typeface="Montserrat" pitchFamily="34" charset="-120"/>
              </a:rPr>
              <a:t>5 phút · Kiểm tra sản phẩm mang về</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61475" y="2715816"/>
            <a:ext cx="6296860" cy="1426369"/>
          </a:xfrm>
          <a:prstGeom prst="rect">
            <a:avLst/>
          </a:prstGeom>
          <a:noFill/>
          <a:ln/>
        </p:spPr>
        <p:txBody>
          <a:bodyPr wrap="square" lIns="0" tIns="0" rIns="0" bIns="0" rtlCol="0" anchor="t">
            <a:normAutofit/>
          </a:bodyPr>
          <a:lstStyle/>
          <a:p>
            <a:pPr algn="l" indent="0" marL="0">
              <a:lnSpc>
                <a:spcPct val="104000"/>
              </a:lnSpc>
              <a:buNone/>
            </a:pPr>
            <a:r>
              <a:rPr lang="en-US" sz="4450" b="1" dirty="0">
                <a:solidFill>
                  <a:srgbClr val="004AAD"/>
                </a:solidFill>
                <a:latin typeface="Montserrat Bold" pitchFamily="34" charset="0"/>
                <a:ea typeface="Montserrat Bold" pitchFamily="34" charset="-122"/>
                <a:cs typeface="Montserrat Bold" pitchFamily="34" charset="-120"/>
              </a:rPr>
              <a:t>Phần mở: bot trả lời, hay bot bịa?</a:t>
            </a:r>
            <a:endParaRPr lang="en-US" sz="44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61475" y="1717477"/>
            <a:ext cx="10868745" cy="516731"/>
          </a:xfrm>
          <a:prstGeom prst="rect">
            <a:avLst/>
          </a:prstGeom>
          <a:noFill/>
          <a:ln/>
        </p:spPr>
        <p:txBody>
          <a:bodyPr wrap="none" lIns="0" tIns="0" rIns="0" bIns="0" rtlCol="0" anchor="t"/>
          <a:lstStyle/>
          <a:p>
            <a:pPr algn="l" indent="0" marL="0">
              <a:lnSpc>
                <a:spcPct val="104000"/>
              </a:lnSpc>
              <a:buNone/>
            </a:pPr>
            <a:r>
              <a:rPr lang="en-US" sz="3250" b="1" dirty="0">
                <a:solidFill>
                  <a:srgbClr val="004AAD"/>
                </a:solidFill>
                <a:latin typeface="Montserrat Bold" pitchFamily="34" charset="0"/>
                <a:ea typeface="Montserrat Bold" pitchFamily="34" charset="-122"/>
                <a:cs typeface="Montserrat Bold" pitchFamily="34" charset="-120"/>
              </a:rPr>
              <a:t>Câu hỏi mở xuyên suốt buổi 5</a:t>
            </a:r>
            <a:endParaRPr lang="en-US" sz="3250" dirty="0"/>
          </a:p>
        </p:txBody>
      </p:sp>
      <p:sp>
        <p:nvSpPr>
          <p:cNvPr id="3" name="Text 1"/>
          <p:cNvSpPr/>
          <p:nvPr/>
        </p:nvSpPr>
        <p:spPr>
          <a:xfrm>
            <a:off x="909516" y="2812951"/>
            <a:ext cx="10620705" cy="516930"/>
          </a:xfrm>
          <a:prstGeom prst="rect">
            <a:avLst/>
          </a:prstGeom>
          <a:noFill/>
          <a:ln/>
        </p:spPr>
        <p:txBody>
          <a:bodyPr wrap="square" lIns="0" tIns="0" rIns="0" bIns="0" rtlCol="0" anchor="t">
            <a:normAutofit/>
          </a:bodyPr>
          <a:lstStyle/>
          <a:p>
            <a:pPr algn="l" indent="0" marL="0">
              <a:lnSpc>
                <a:spcPct val="104000"/>
              </a:lnSpc>
              <a:buNone/>
            </a:pPr>
            <a:r>
              <a:rPr lang="en-US" sz="1600" b="1" dirty="0">
                <a:solidFill>
                  <a:srgbClr val="004AAD"/>
                </a:solidFill>
                <a:latin typeface="Montserrat Bold" pitchFamily="34" charset="0"/>
                <a:ea typeface="Montserrat Bold" pitchFamily="34" charset="-122"/>
                <a:cs typeface="Montserrat Bold" pitchFamily="34" charset="-120"/>
              </a:rPr>
              <a:t>Một con bot trả lời nhanh mọi câu hỏi nghe rất hấp dẫn. Nhưng nếu nó tự bịa ra ưu đãi, thời hạn đổi trả hay cam kết giao hàng không tồn tại, thì hậu quả lớn hơn nhiều so với việc không trả lời.</a:t>
            </a:r>
            <a:endParaRPr lang="en-US" sz="1600" dirty="0"/>
          </a:p>
        </p:txBody>
      </p:sp>
      <p:sp>
        <p:nvSpPr>
          <p:cNvPr id="4" name="Shape 2"/>
          <p:cNvSpPr/>
          <p:nvPr/>
        </p:nvSpPr>
        <p:spPr>
          <a:xfrm>
            <a:off x="661475" y="2564904"/>
            <a:ext cx="19050" cy="1013023"/>
          </a:xfrm>
          <a:prstGeom prst="roundRect">
            <a:avLst>
              <a:gd name="adj" fmla="val 49999"/>
            </a:avLst>
          </a:prstGeom>
          <a:solidFill>
            <a:srgbClr val="004AAD"/>
          </a:solidFill>
          <a:ln/>
        </p:spPr>
      </p:sp>
      <p:sp>
        <p:nvSpPr>
          <p:cNvPr id="5" name="Text 3"/>
          <p:cNvSpPr/>
          <p:nvPr/>
        </p:nvSpPr>
        <p:spPr>
          <a:xfrm>
            <a:off x="661475" y="3763963"/>
            <a:ext cx="10868745" cy="529233"/>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000000"/>
                </a:solidFill>
                <a:latin typeface="Montserrat" pitchFamily="34" charset="0"/>
                <a:ea typeface="Montserrat" pitchFamily="34" charset="-122"/>
                <a:cs typeface="Montserrat" pitchFamily="34" charset="-120"/>
              </a:rPr>
              <a:t>Đây là câu hỏi xuyên buổi 5. Vậy làm sao để bot trả lời nhanh mà </a:t>
            </a:r>
            <a:pPr algn="l" indent="0" marL="0">
              <a:lnSpc>
                <a:spcPct val="133000"/>
              </a:lnSpc>
              <a:buNone/>
            </a:pPr>
            <a:r>
              <a:rPr lang="en-US" sz="1300" b="1" dirty="0">
                <a:solidFill>
                  <a:srgbClr val="000000"/>
                </a:solidFill>
                <a:latin typeface="Montserrat Bold" pitchFamily="34" charset="0"/>
                <a:ea typeface="Montserrat Bold" pitchFamily="34" charset="-122"/>
                <a:cs typeface="Montserrat Bold" pitchFamily="34" charset="-120"/>
              </a:rPr>
              <a:t>vẫn an toàn</a:t>
            </a:r>
            <a:pPr algn="l" indent="0" marL="0">
              <a:lnSpc>
                <a:spcPct val="133000"/>
              </a:lnSpc>
              <a:buNone/>
            </a:pPr>
            <a:r>
              <a:rPr lang="en-US" sz="1300" dirty="0">
                <a:solidFill>
                  <a:srgbClr val="000000"/>
                </a:solidFill>
                <a:latin typeface="Montserrat" pitchFamily="34" charset="0"/>
                <a:ea typeface="Montserrat" pitchFamily="34" charset="-122"/>
                <a:cs typeface="Montserrat" pitchFamily="34" charset="-120"/>
              </a:rPr>
              <a:t>: bám nguồn, biết từ chối, và biết khi nào phải chuyển người?</a:t>
            </a:r>
            <a:endParaRPr lang="en-US" sz="1300" dirty="0"/>
          </a:p>
        </p:txBody>
      </p:sp>
      <p:sp>
        <p:nvSpPr>
          <p:cNvPr id="6" name="Shape 4"/>
          <p:cNvSpPr/>
          <p:nvPr/>
        </p:nvSpPr>
        <p:spPr>
          <a:xfrm>
            <a:off x="661475" y="4479230"/>
            <a:ext cx="10868745" cy="661293"/>
          </a:xfrm>
          <a:prstGeom prst="roundRect">
            <a:avLst>
              <a:gd name="adj" fmla="val 10504"/>
            </a:avLst>
          </a:prstGeom>
          <a:solidFill>
            <a:srgbClr val="CCE2FF"/>
          </a:solidFill>
          <a:ln/>
        </p:spPr>
      </p:sp>
      <p:pic>
        <p:nvPicPr>
          <p:cNvPr id="7" name="Image 0" descr="preencoded.png">    </p:cNvPr>
          <p:cNvPicPr>
            <a:picLocks noChangeAspect="1"/>
          </p:cNvPicPr>
          <p:nvPr/>
        </p:nvPicPr>
        <p:blipFill>
          <a:blip r:embed="rId1"/>
          <a:stretch>
            <a:fillRect/>
          </a:stretch>
        </p:blipFill>
        <p:spPr>
          <a:xfrm>
            <a:off x="826769" y="4718943"/>
            <a:ext cx="206667" cy="165298"/>
          </a:xfrm>
          <a:prstGeom prst="rect">
            <a:avLst/>
          </a:prstGeom>
        </p:spPr>
      </p:pic>
      <p:sp>
        <p:nvSpPr>
          <p:cNvPr id="8" name="Text 5"/>
          <p:cNvSpPr/>
          <p:nvPr/>
        </p:nvSpPr>
        <p:spPr>
          <a:xfrm>
            <a:off x="1198731" y="4685804"/>
            <a:ext cx="10775780" cy="264616"/>
          </a:xfrm>
          <a:prstGeom prst="rect">
            <a:avLst/>
          </a:prstGeom>
          <a:noFill/>
          <a:ln/>
        </p:spPr>
        <p:txBody>
          <a:bodyPr wrap="none" lIns="0" tIns="0" rIns="0" bIns="0" rtlCol="0" anchor="t"/>
          <a:lstStyle/>
          <a:p>
            <a:pPr algn="l" indent="0" marL="0">
              <a:lnSpc>
                <a:spcPct val="133000"/>
              </a:lnSpc>
              <a:buNone/>
            </a:pPr>
            <a:r>
              <a:rPr lang="en-US" sz="1300" dirty="0">
                <a:solidFill>
                  <a:srgbClr val="000000"/>
                </a:solidFill>
                <a:latin typeface="Montserrat" pitchFamily="34" charset="0"/>
                <a:ea typeface="Montserrat" pitchFamily="34" charset="-122"/>
                <a:cs typeface="Montserrat" pitchFamily="34" charset="-120"/>
              </a:rPr>
              <a:t>Câu trả lời là </a:t>
            </a:r>
            <a:pPr algn="l" indent="0" marL="0">
              <a:lnSpc>
                <a:spcPct val="133000"/>
              </a:lnSpc>
              <a:buNone/>
            </a:pPr>
            <a:r>
              <a:rPr lang="en-US" sz="1300" b="1" dirty="0">
                <a:solidFill>
                  <a:srgbClr val="000000"/>
                </a:solidFill>
                <a:latin typeface="Montserrat Bold" pitchFamily="34" charset="0"/>
                <a:ea typeface="Montserrat Bold" pitchFamily="34" charset="-122"/>
                <a:cs typeface="Montserrat Bold" pitchFamily="34" charset="-120"/>
              </a:rPr>
              <a:t>năm lớp kiểm soát chồng lên nhau</a:t>
            </a:r>
            <a:pPr algn="l" indent="0" marL="0">
              <a:lnSpc>
                <a:spcPct val="133000"/>
              </a:lnSpc>
              <a:buNone/>
            </a:pPr>
            <a:r>
              <a:rPr lang="en-US" sz="1300" dirty="0">
                <a:solidFill>
                  <a:srgbClr val="000000"/>
                </a:solidFill>
                <a:latin typeface="Montserrat" pitchFamily="34" charset="0"/>
                <a:ea typeface="Montserrat" pitchFamily="34" charset="-122"/>
                <a:cs typeface="Montserrat" pitchFamily="34" charset="-120"/>
              </a:rPr>
              <a:t> — đây là hành trình của cả buổi học hôm nay.</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61475" y="1856383"/>
            <a:ext cx="10868745" cy="516731"/>
          </a:xfrm>
          <a:prstGeom prst="rect">
            <a:avLst/>
          </a:prstGeom>
          <a:noFill/>
          <a:ln/>
        </p:spPr>
        <p:txBody>
          <a:bodyPr wrap="none" lIns="0" tIns="0" rIns="0" bIns="0" rtlCol="0" anchor="t"/>
          <a:lstStyle/>
          <a:p>
            <a:pPr algn="l" indent="0" marL="0">
              <a:lnSpc>
                <a:spcPct val="104000"/>
              </a:lnSpc>
              <a:buNone/>
            </a:pPr>
            <a:r>
              <a:rPr lang="en-US" sz="3250" b="1" dirty="0">
                <a:solidFill>
                  <a:srgbClr val="004AAD"/>
                </a:solidFill>
                <a:latin typeface="Montserrat Bold" pitchFamily="34" charset="0"/>
                <a:ea typeface="Montserrat Bold" pitchFamily="34" charset="-122"/>
                <a:cs typeface="Montserrat Bold" pitchFamily="34" charset="-120"/>
              </a:rPr>
              <a:t>Vì sao chăm sóc khách hàng bán lẻ lại khó</a:t>
            </a:r>
            <a:endParaRPr lang="en-US" sz="3250" dirty="0"/>
          </a:p>
        </p:txBody>
      </p:sp>
      <p:sp>
        <p:nvSpPr>
          <p:cNvPr id="3" name="Text 1"/>
          <p:cNvSpPr/>
          <p:nvPr/>
        </p:nvSpPr>
        <p:spPr>
          <a:xfrm>
            <a:off x="661475" y="2439194"/>
            <a:ext cx="10868745" cy="258465"/>
          </a:xfrm>
          <a:prstGeom prst="rect">
            <a:avLst/>
          </a:prstGeom>
          <a:noFill/>
          <a:ln/>
        </p:spPr>
        <p:txBody>
          <a:bodyPr wrap="none" lIns="0" tIns="0" rIns="0" bIns="0" rtlCol="0" anchor="t"/>
          <a:lstStyle/>
          <a:p>
            <a:pPr algn="l" indent="0" marL="0">
              <a:lnSpc>
                <a:spcPct val="104000"/>
              </a:lnSpc>
              <a:buNone/>
            </a:pPr>
            <a:r>
              <a:rPr lang="en-US" sz="1600" b="1" dirty="0">
                <a:solidFill>
                  <a:srgbClr val="004AAD"/>
                </a:solidFill>
                <a:latin typeface="Montserrat Bold" pitchFamily="34" charset="0"/>
                <a:ea typeface="Montserrat Bold" pitchFamily="34" charset="-122"/>
                <a:cs typeface="Montserrat Bold" pitchFamily="34" charset="-120"/>
              </a:rPr>
              <a:t>Bối cảnh bán lẻ</a:t>
            </a:r>
            <a:endParaRPr lang="en-US" sz="1600" dirty="0"/>
          </a:p>
        </p:txBody>
      </p:sp>
      <p:pic>
        <p:nvPicPr>
          <p:cNvPr id="4"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61475" y="2945705"/>
            <a:ext cx="3512653" cy="2055812"/>
          </a:xfrm>
          <a:prstGeom prst="rect">
            <a:avLst/>
          </a:prstGeom>
        </p:spPr>
      </p:pic>
      <p:sp>
        <p:nvSpPr>
          <p:cNvPr id="5" name="Text 2"/>
          <p:cNvSpPr/>
          <p:nvPr/>
        </p:nvSpPr>
        <p:spPr>
          <a:xfrm>
            <a:off x="922017" y="3130054"/>
            <a:ext cx="3067767" cy="264815"/>
          </a:xfrm>
          <a:prstGeom prst="rect">
            <a:avLst/>
          </a:prstGeom>
          <a:noFill/>
          <a:ln/>
        </p:spPr>
        <p:txBody>
          <a:bodyPr wrap="none" lIns="0" tIns="0" rIns="0" bIns="0" rtlCol="0" anchor="t"/>
          <a:lstStyle/>
          <a:p>
            <a:pPr algn="l" indent="0" marL="0">
              <a:lnSpc>
                <a:spcPct val="104000"/>
              </a:lnSpc>
              <a:buNone/>
            </a:pPr>
            <a:r>
              <a:rPr lang="en-US" sz="1600" b="1" dirty="0">
                <a:solidFill>
                  <a:srgbClr val="000000"/>
                </a:solidFill>
                <a:latin typeface="Twemoji Mozilla" pitchFamily="34" charset="0"/>
                <a:ea typeface="Twemoji Mozilla" pitchFamily="34" charset="-122"/>
                <a:cs typeface="Twemoji Mozilla" pitchFamily="34" charset="-120"/>
              </a:rPr>
              <a:t>🔄</a:t>
            </a:r>
            <a:pPr algn="l" indent="0" marL="0">
              <a:lnSpc>
                <a:spcPct val="104000"/>
              </a:lnSpc>
              <a:buNone/>
            </a:pPr>
            <a:r>
              <a:rPr lang="en-US" sz="1600" b="1" dirty="0">
                <a:solidFill>
                  <a:srgbClr val="000000"/>
                </a:solidFill>
                <a:latin typeface="Montserrat Bold" pitchFamily="34" charset="0"/>
                <a:ea typeface="Montserrat Bold" pitchFamily="34" charset="-122"/>
                <a:cs typeface="Montserrat Bold" pitchFamily="34" charset="-120"/>
              </a:rPr>
              <a:t> Nút thắt cổ chai</a:t>
            </a:r>
            <a:endParaRPr lang="en-US" sz="1600" dirty="0"/>
          </a:p>
        </p:txBody>
      </p:sp>
      <p:sp>
        <p:nvSpPr>
          <p:cNvPr id="6" name="Text 3"/>
          <p:cNvSpPr/>
          <p:nvPr/>
        </p:nvSpPr>
        <p:spPr>
          <a:xfrm>
            <a:off x="922017" y="3494088"/>
            <a:ext cx="3067767" cy="1323082"/>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000000"/>
                </a:solidFill>
                <a:latin typeface="Montserrat" pitchFamily="34" charset="0"/>
                <a:ea typeface="Montserrat" pitchFamily="34" charset="-122"/>
                <a:cs typeface="Montserrat" pitchFamily="34" charset="-120"/>
              </a:rPr>
              <a:t>Đội CSKH trả đi trả lại mỗi ngày những câu </a:t>
            </a:r>
            <a:pPr algn="l" indent="0" marL="0">
              <a:lnSpc>
                <a:spcPct val="133000"/>
              </a:lnSpc>
              <a:buNone/>
            </a:pPr>
            <a:r>
              <a:rPr lang="en-US" sz="1300" b="1" dirty="0">
                <a:solidFill>
                  <a:srgbClr val="000000"/>
                </a:solidFill>
                <a:latin typeface="Montserrat Bold" pitchFamily="34" charset="0"/>
                <a:ea typeface="Montserrat Bold" pitchFamily="34" charset="-122"/>
                <a:cs typeface="Montserrat Bold" pitchFamily="34" charset="-120"/>
              </a:rPr>
              <a:t>giống hệt nhau</a:t>
            </a:r>
            <a:pPr algn="l" indent="0" marL="0">
              <a:lnSpc>
                <a:spcPct val="133000"/>
              </a:lnSpc>
              <a:buNone/>
            </a:pPr>
            <a:r>
              <a:rPr lang="en-US" sz="1300" dirty="0">
                <a:solidFill>
                  <a:srgbClr val="000000"/>
                </a:solidFill>
                <a:latin typeface="Montserrat" pitchFamily="34" charset="0"/>
                <a:ea typeface="Montserrat" pitchFamily="34" charset="-122"/>
                <a:cs typeface="Montserrat" pitchFamily="34" charset="-120"/>
              </a:rPr>
              <a:t> về đơn hàng, phí giao hàng, đổi trả, bảo hành và hóa đơn. Lãng phí nguồn lực con người cho công việc lặp lặp.</a:t>
            </a:r>
            <a:endParaRPr lang="en-US" sz="1300" dirty="0"/>
          </a:p>
        </p:txBody>
      </p:sp>
      <p:pic>
        <p:nvPicPr>
          <p:cNvPr id="7"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339422" y="2945705"/>
            <a:ext cx="3512752" cy="2055812"/>
          </a:xfrm>
          <a:prstGeom prst="rect">
            <a:avLst/>
          </a:prstGeom>
        </p:spPr>
      </p:pic>
      <p:sp>
        <p:nvSpPr>
          <p:cNvPr id="8" name="Text 4"/>
          <p:cNvSpPr/>
          <p:nvPr/>
        </p:nvSpPr>
        <p:spPr>
          <a:xfrm>
            <a:off x="4599964" y="3130054"/>
            <a:ext cx="3067866" cy="264815"/>
          </a:xfrm>
          <a:prstGeom prst="rect">
            <a:avLst/>
          </a:prstGeom>
          <a:noFill/>
          <a:ln/>
        </p:spPr>
        <p:txBody>
          <a:bodyPr wrap="none" lIns="0" tIns="0" rIns="0" bIns="0" rtlCol="0" anchor="t"/>
          <a:lstStyle/>
          <a:p>
            <a:pPr algn="l" indent="0" marL="0">
              <a:lnSpc>
                <a:spcPct val="104000"/>
              </a:lnSpc>
              <a:buNone/>
            </a:pPr>
            <a:r>
              <a:rPr lang="en-US" sz="1600" b="1" dirty="0">
                <a:solidFill>
                  <a:srgbClr val="000000"/>
                </a:solidFill>
                <a:latin typeface="Twemoji Mozilla" pitchFamily="34" charset="0"/>
                <a:ea typeface="Twemoji Mozilla" pitchFamily="34" charset="-122"/>
                <a:cs typeface="Twemoji Mozilla" pitchFamily="34" charset="-120"/>
              </a:rPr>
              <a:t>⚠️</a:t>
            </a:r>
            <a:pPr algn="l" indent="0" marL="0">
              <a:lnSpc>
                <a:spcPct val="104000"/>
              </a:lnSpc>
              <a:buNone/>
            </a:pPr>
            <a:r>
              <a:rPr lang="en-US" sz="1600" b="1" dirty="0">
                <a:solidFill>
                  <a:srgbClr val="000000"/>
                </a:solidFill>
                <a:latin typeface="Montserrat Bold" pitchFamily="34" charset="0"/>
                <a:ea typeface="Montserrat Bold" pitchFamily="34" charset="-122"/>
                <a:cs typeface="Montserrat Bold" pitchFamily="34" charset="-120"/>
              </a:rPr>
              <a:t> Rủi ro bịa chính sách</a:t>
            </a:r>
            <a:endParaRPr lang="en-US" sz="1600" dirty="0"/>
          </a:p>
        </p:txBody>
      </p:sp>
      <p:sp>
        <p:nvSpPr>
          <p:cNvPr id="9" name="Text 5"/>
          <p:cNvSpPr/>
          <p:nvPr/>
        </p:nvSpPr>
        <p:spPr>
          <a:xfrm>
            <a:off x="4599964" y="3494088"/>
            <a:ext cx="3067866" cy="1058466"/>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000000"/>
                </a:solidFill>
                <a:latin typeface="Montserrat" pitchFamily="34" charset="0"/>
                <a:ea typeface="Montserrat" pitchFamily="34" charset="-122"/>
                <a:cs typeface="Montserrat" pitchFamily="34" charset="-120"/>
              </a:rPr>
              <a:t>Nếu bot không bám nguồn, nó dễ </a:t>
            </a:r>
            <a:pPr algn="l" indent="0" marL="0">
              <a:lnSpc>
                <a:spcPct val="133000"/>
              </a:lnSpc>
              <a:buNone/>
            </a:pPr>
            <a:r>
              <a:rPr lang="en-US" sz="1300" b="1" dirty="0">
                <a:solidFill>
                  <a:srgbClr val="000000"/>
                </a:solidFill>
                <a:latin typeface="Montserrat Bold" pitchFamily="34" charset="0"/>
                <a:ea typeface="Montserrat Bold" pitchFamily="34" charset="-122"/>
                <a:cs typeface="Montserrat Bold" pitchFamily="34" charset="-120"/>
              </a:rPr>
              <a:t>tự sáng tác ưu đãi</a:t>
            </a:r>
            <a:pPr algn="l" indent="0" marL="0">
              <a:lnSpc>
                <a:spcPct val="133000"/>
              </a:lnSpc>
              <a:buNone/>
            </a:pPr>
            <a:r>
              <a:rPr lang="en-US" sz="1300" dirty="0">
                <a:solidFill>
                  <a:srgbClr val="000000"/>
                </a:solidFill>
                <a:latin typeface="Montserrat" pitchFamily="34" charset="0"/>
                <a:ea typeface="Montserrat" pitchFamily="34" charset="-122"/>
                <a:cs typeface="Montserrat" pitchFamily="34" charset="-120"/>
              </a:rPr>
              <a:t> hay điều kiện bảo hành không có thật — gây thiệt hại pháp lý và mất lòng tin khách hàng.</a:t>
            </a:r>
            <a:endParaRPr lang="en-US" sz="1300" dirty="0"/>
          </a:p>
        </p:txBody>
      </p:sp>
      <p:pic>
        <p:nvPicPr>
          <p:cNvPr id="10"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017468" y="2945705"/>
            <a:ext cx="3512653" cy="2055812"/>
          </a:xfrm>
          <a:prstGeom prst="rect">
            <a:avLst/>
          </a:prstGeom>
        </p:spPr>
      </p:pic>
      <p:sp>
        <p:nvSpPr>
          <p:cNvPr id="11" name="Text 6"/>
          <p:cNvSpPr/>
          <p:nvPr/>
        </p:nvSpPr>
        <p:spPr>
          <a:xfrm>
            <a:off x="8278010" y="3130054"/>
            <a:ext cx="3067767" cy="264815"/>
          </a:xfrm>
          <a:prstGeom prst="rect">
            <a:avLst/>
          </a:prstGeom>
          <a:noFill/>
          <a:ln/>
        </p:spPr>
        <p:txBody>
          <a:bodyPr wrap="none" lIns="0" tIns="0" rIns="0" bIns="0" rtlCol="0" anchor="t"/>
          <a:lstStyle/>
          <a:p>
            <a:pPr algn="l" indent="0" marL="0">
              <a:lnSpc>
                <a:spcPct val="104000"/>
              </a:lnSpc>
              <a:buNone/>
            </a:pPr>
            <a:r>
              <a:rPr lang="en-US" sz="1600" b="1" dirty="0">
                <a:solidFill>
                  <a:srgbClr val="000000"/>
                </a:solidFill>
                <a:latin typeface="Twemoji Mozilla" pitchFamily="34" charset="0"/>
                <a:ea typeface="Twemoji Mozilla" pitchFamily="34" charset="-122"/>
                <a:cs typeface="Twemoji Mozilla" pitchFamily="34" charset="-120"/>
              </a:rPr>
              <a:t>🚨</a:t>
            </a:r>
            <a:pPr algn="l" indent="0" marL="0">
              <a:lnSpc>
                <a:spcPct val="104000"/>
              </a:lnSpc>
              <a:buNone/>
            </a:pPr>
            <a:r>
              <a:rPr lang="en-US" sz="1600" b="1" dirty="0">
                <a:solidFill>
                  <a:srgbClr val="000000"/>
                </a:solidFill>
                <a:latin typeface="Montserrat Bold" pitchFamily="34" charset="0"/>
                <a:ea typeface="Montserrat Bold" pitchFamily="34" charset="-122"/>
                <a:cs typeface="Montserrat Bold" pitchFamily="34" charset="-120"/>
              </a:rPr>
              <a:t> Rủi ro xử lý nhạy cảm</a:t>
            </a:r>
            <a:endParaRPr lang="en-US" sz="1600" dirty="0"/>
          </a:p>
        </p:txBody>
      </p:sp>
      <p:sp>
        <p:nvSpPr>
          <p:cNvPr id="12" name="Text 7"/>
          <p:cNvSpPr/>
          <p:nvPr/>
        </p:nvSpPr>
        <p:spPr>
          <a:xfrm>
            <a:off x="8278010" y="3494088"/>
            <a:ext cx="3067767" cy="1058466"/>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000000"/>
                </a:solidFill>
                <a:latin typeface="Montserrat" pitchFamily="34" charset="0"/>
                <a:ea typeface="Montserrat" pitchFamily="34" charset="-122"/>
                <a:cs typeface="Montserrat" pitchFamily="34" charset="-120"/>
              </a:rPr>
              <a:t>Khiếu nại, hoàn tiền, đổi trả phức tạp </a:t>
            </a:r>
            <a:pPr algn="l" indent="0" marL="0">
              <a:lnSpc>
                <a:spcPct val="133000"/>
              </a:lnSpc>
              <a:buNone/>
            </a:pPr>
            <a:r>
              <a:rPr lang="en-US" sz="1300" b="1" dirty="0">
                <a:solidFill>
                  <a:srgbClr val="000000"/>
                </a:solidFill>
                <a:latin typeface="Montserrat Bold" pitchFamily="34" charset="0"/>
                <a:ea typeface="Montserrat Bold" pitchFamily="34" charset="-122"/>
                <a:cs typeface="Montserrat Bold" pitchFamily="34" charset="-120"/>
              </a:rPr>
              <a:t>cần người phụ trách</a:t>
            </a:r>
            <a:pPr algn="l" indent="0" marL="0">
              <a:lnSpc>
                <a:spcPct val="133000"/>
              </a:lnSpc>
              <a:buNone/>
            </a:pPr>
            <a:r>
              <a:rPr lang="en-US" sz="1300" dirty="0">
                <a:solidFill>
                  <a:srgbClr val="000000"/>
                </a:solidFill>
                <a:latin typeface="Montserrat" pitchFamily="34" charset="0"/>
                <a:ea typeface="Montserrat" pitchFamily="34" charset="-122"/>
                <a:cs typeface="Montserrat" pitchFamily="34" charset="-120"/>
              </a:rPr>
              <a:t>, không nên để bot tự quyết định — dù bot có tự tin đến đâu.</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61475" y="1424087"/>
            <a:ext cx="10868745" cy="1033463"/>
          </a:xfrm>
          <a:prstGeom prst="rect">
            <a:avLst/>
          </a:prstGeom>
          <a:noFill/>
          <a:ln/>
        </p:spPr>
        <p:txBody>
          <a:bodyPr wrap="square" lIns="0" tIns="0" rIns="0" bIns="0" rtlCol="0" anchor="t">
            <a:normAutofit/>
          </a:bodyPr>
          <a:lstStyle/>
          <a:p>
            <a:pPr algn="l" indent="0" marL="0">
              <a:lnSpc>
                <a:spcPct val="104000"/>
              </a:lnSpc>
              <a:buNone/>
            </a:pPr>
            <a:r>
              <a:rPr lang="en-US" sz="3250" b="1" dirty="0">
                <a:solidFill>
                  <a:srgbClr val="004AAD"/>
                </a:solidFill>
                <a:latin typeface="Montserrat Bold" pitchFamily="34" charset="0"/>
                <a:ea typeface="Montserrat Bold" pitchFamily="34" charset="-122"/>
                <a:cs typeface="Montserrat Bold" pitchFamily="34" charset="-120"/>
              </a:rPr>
              <a:t>Từ kiểm chứng văn bản sang kiểm chứng hội thoại</a:t>
            </a:r>
            <a:endParaRPr lang="en-US" sz="3250" dirty="0"/>
          </a:p>
        </p:txBody>
      </p:sp>
      <p:sp>
        <p:nvSpPr>
          <p:cNvPr id="3" name="Text 1"/>
          <p:cNvSpPr/>
          <p:nvPr/>
        </p:nvSpPr>
        <p:spPr>
          <a:xfrm>
            <a:off x="661475" y="2523629"/>
            <a:ext cx="10868745" cy="258465"/>
          </a:xfrm>
          <a:prstGeom prst="rect">
            <a:avLst/>
          </a:prstGeom>
          <a:noFill/>
          <a:ln/>
        </p:spPr>
        <p:txBody>
          <a:bodyPr wrap="none" lIns="0" tIns="0" rIns="0" bIns="0" rtlCol="0" anchor="t"/>
          <a:lstStyle/>
          <a:p>
            <a:pPr algn="l" indent="0" marL="0">
              <a:lnSpc>
                <a:spcPct val="104000"/>
              </a:lnSpc>
              <a:buNone/>
            </a:pPr>
            <a:r>
              <a:rPr lang="en-US" sz="1600" b="1" dirty="0">
                <a:solidFill>
                  <a:srgbClr val="004AAD"/>
                </a:solidFill>
                <a:latin typeface="Montserrat Bold" pitchFamily="34" charset="0"/>
                <a:ea typeface="Montserrat Bold" pitchFamily="34" charset="-122"/>
                <a:cs typeface="Montserrat Bold" pitchFamily="34" charset="-120"/>
              </a:rPr>
              <a:t>Tư duy: Buổi 4 sang Buổi 5</a:t>
            </a:r>
            <a:endParaRPr lang="en-US" sz="1600" dirty="0"/>
          </a:p>
        </p:txBody>
      </p:sp>
      <p:sp>
        <p:nvSpPr>
          <p:cNvPr id="4" name="Shape 2"/>
          <p:cNvSpPr/>
          <p:nvPr/>
        </p:nvSpPr>
        <p:spPr>
          <a:xfrm>
            <a:off x="542415" y="3030141"/>
            <a:ext cx="5470785" cy="1556445"/>
          </a:xfrm>
          <a:prstGeom prst="roundRect">
            <a:avLst>
              <a:gd name="adj" fmla="val 7651"/>
            </a:avLst>
          </a:prstGeom>
          <a:solidFill>
            <a:srgbClr val="004AAD"/>
          </a:solidFill>
          <a:ln/>
        </p:spPr>
      </p:sp>
      <p:sp>
        <p:nvSpPr>
          <p:cNvPr id="5" name="Text 3"/>
          <p:cNvSpPr/>
          <p:nvPr/>
        </p:nvSpPr>
        <p:spPr>
          <a:xfrm>
            <a:off x="707710" y="3195439"/>
            <a:ext cx="5140196" cy="258465"/>
          </a:xfrm>
          <a:prstGeom prst="rect">
            <a:avLst/>
          </a:prstGeom>
          <a:noFill/>
          <a:ln/>
        </p:spPr>
        <p:txBody>
          <a:bodyPr wrap="none" lIns="0" tIns="0" rIns="0" bIns="0" rtlCol="0" anchor="t"/>
          <a:lstStyle/>
          <a:p>
            <a:pPr algn="l" indent="0" marL="0">
              <a:lnSpc>
                <a:spcPct val="104000"/>
              </a:lnSpc>
              <a:buNone/>
            </a:pPr>
            <a:r>
              <a:rPr lang="en-US" sz="1600" b="1" dirty="0">
                <a:solidFill>
                  <a:srgbClr val="FFFFFF"/>
                </a:solidFill>
                <a:latin typeface="Montserrat Bold" pitchFamily="34" charset="0"/>
                <a:ea typeface="Montserrat Bold" pitchFamily="34" charset="-122"/>
                <a:cs typeface="Montserrat Bold" pitchFamily="34" charset="-120"/>
              </a:rPr>
              <a:t>Buổi 4 · Kiểm chứng văn bản</a:t>
            </a:r>
            <a:endParaRPr lang="en-US" sz="1600" dirty="0"/>
          </a:p>
        </p:txBody>
      </p:sp>
      <p:sp>
        <p:nvSpPr>
          <p:cNvPr id="6" name="Text 4"/>
          <p:cNvSpPr/>
          <p:nvPr/>
        </p:nvSpPr>
        <p:spPr>
          <a:xfrm>
            <a:off x="707710" y="3619202"/>
            <a:ext cx="5140196" cy="909538"/>
          </a:xfrm>
          <a:prstGeom prst="rect">
            <a:avLst/>
          </a:prstGeom>
          <a:noFill/>
          <a:ln/>
        </p:spPr>
        <p:txBody>
          <a:bodyPr wrap="square" lIns="0" tIns="0" rIns="0" bIns="0" rtlCol="0" anchor="t">
            <a:normAutofit/>
          </a:bodyPr>
          <a:lstStyle/>
          <a:p>
            <a:pPr algn="l" marL="264160" indent="-264160">
              <a:lnSpc>
                <a:spcPct val="133000"/>
              </a:lnSpc>
              <a:buSzPct val="100000"/>
              <a:buChar char="•"/>
            </a:pPr>
            <a:r>
              <a:rPr lang="en-US" sz="1300" dirty="0">
                <a:solidFill>
                  <a:srgbClr val="FFFFFF"/>
                </a:solidFill>
                <a:latin typeface="Montserrat" pitchFamily="34" charset="0"/>
                <a:ea typeface="Montserrat" pitchFamily="34" charset="-122"/>
                <a:cs typeface="Montserrat" pitchFamily="34" charset="-120"/>
              </a:rPr>
              <a:t>Harness (schema và evidence) đứng </a:t>
            </a:r>
            <a:pPr algn="l" marL="264160" indent="-264160">
              <a:lnSpc>
                <a:spcPct val="133000"/>
              </a:lnSpc>
              <a:buSzPct val="100000"/>
              <a:buChar char="•"/>
            </a:pPr>
            <a:r>
              <a:rPr lang="en-US" sz="1300" b="1" dirty="0">
                <a:solidFill>
                  <a:srgbClr val="FFFFFF"/>
                </a:solidFill>
                <a:latin typeface="Montserrat Bold" pitchFamily="34" charset="0"/>
                <a:ea typeface="Montserrat Bold" pitchFamily="34" charset="-122"/>
                <a:cs typeface="Montserrat Bold" pitchFamily="34" charset="-120"/>
              </a:rPr>
              <a:t>sau</a:t>
            </a:r>
            <a:pPr algn="l" marL="264160" indent="-264160">
              <a:lnSpc>
                <a:spcPct val="133000"/>
              </a:lnSpc>
              <a:buSzPct val="100000"/>
              <a:buChar char="•"/>
            </a:pPr>
            <a:r>
              <a:rPr lang="en-US" sz="1300" dirty="0">
                <a:solidFill>
                  <a:srgbClr val="FFFFFF"/>
                </a:solidFill>
                <a:latin typeface="Montserrat" pitchFamily="34" charset="0"/>
                <a:ea typeface="Montserrat" pitchFamily="34" charset="-122"/>
                <a:cs typeface="Montserrat" pitchFamily="34" charset="-120"/>
              </a:rPr>
              <a:t> AI extract.</a:t>
            </a:r>
            <a:endParaRPr lang="en-US" sz="1300" dirty="0"/>
          </a:p>
          <a:p>
            <a:pPr algn="l" marL="264160" indent="-264160">
              <a:lnSpc>
                <a:spcPct val="133000"/>
              </a:lnSpc>
              <a:buSzPct val="100000"/>
              <a:buChar char="•"/>
            </a:pPr>
            <a:r>
              <a:rPr lang="en-US" sz="1300" dirty="0">
                <a:solidFill>
                  <a:srgbClr val="FFFFFF"/>
                </a:solidFill>
                <a:latin typeface="Montserrat" pitchFamily="34" charset="0"/>
                <a:ea typeface="Montserrat" pitchFamily="34" charset="-122"/>
                <a:cs typeface="Montserrat" pitchFamily="34" charset="-120"/>
              </a:rPr>
              <a:t>Phù hợp với hợp đồng: đầu vào tĩnh, xử lý theo mẻ.</a:t>
            </a:r>
            <a:endParaRPr lang="en-US" sz="1300" dirty="0"/>
          </a:p>
          <a:p>
            <a:pPr algn="l" marL="264160" indent="-264160">
              <a:lnSpc>
                <a:spcPct val="133000"/>
              </a:lnSpc>
              <a:buSzPct val="100000"/>
              <a:buChar char="•"/>
            </a:pPr>
            <a:r>
              <a:rPr lang="en-US" sz="1300" dirty="0">
                <a:solidFill>
                  <a:srgbClr val="FFFFFF"/>
                </a:solidFill>
                <a:latin typeface="Montserrat" pitchFamily="34" charset="0"/>
                <a:ea typeface="Montserrat" pitchFamily="34" charset="-122"/>
                <a:cs typeface="Montserrat" pitchFamily="34" charset="-120"/>
              </a:rPr>
              <a:t>Quyết định cuối do Pháp chế (HITL).</a:t>
            </a:r>
            <a:endParaRPr lang="en-US" sz="1300" dirty="0"/>
          </a:p>
        </p:txBody>
      </p:sp>
      <p:sp>
        <p:nvSpPr>
          <p:cNvPr id="7" name="Text 5"/>
          <p:cNvSpPr/>
          <p:nvPr/>
        </p:nvSpPr>
        <p:spPr>
          <a:xfrm>
            <a:off x="6303904" y="3195439"/>
            <a:ext cx="5232666" cy="258465"/>
          </a:xfrm>
          <a:prstGeom prst="rect">
            <a:avLst/>
          </a:prstGeom>
          <a:noFill/>
          <a:ln/>
        </p:spPr>
        <p:txBody>
          <a:bodyPr wrap="none" lIns="0" tIns="0" rIns="0" bIns="0" rtlCol="0" anchor="t"/>
          <a:lstStyle/>
          <a:p>
            <a:pPr algn="l" indent="0" marL="0">
              <a:lnSpc>
                <a:spcPct val="104000"/>
              </a:lnSpc>
              <a:buNone/>
            </a:pPr>
            <a:r>
              <a:rPr lang="en-US" sz="1600" b="1" dirty="0">
                <a:solidFill>
                  <a:srgbClr val="004AAD"/>
                </a:solidFill>
                <a:latin typeface="Montserrat Bold" pitchFamily="34" charset="0"/>
                <a:ea typeface="Montserrat Bold" pitchFamily="34" charset="-122"/>
                <a:cs typeface="Montserrat Bold" pitchFamily="34" charset="-120"/>
              </a:rPr>
              <a:t>Buổi 5 · Kiểm chứng hội thoại</a:t>
            </a:r>
            <a:endParaRPr lang="en-US" sz="1600" dirty="0"/>
          </a:p>
        </p:txBody>
      </p:sp>
      <p:sp>
        <p:nvSpPr>
          <p:cNvPr id="8" name="Text 6"/>
          <p:cNvSpPr/>
          <p:nvPr/>
        </p:nvSpPr>
        <p:spPr>
          <a:xfrm>
            <a:off x="6303904" y="3619202"/>
            <a:ext cx="5232666" cy="909538"/>
          </a:xfrm>
          <a:prstGeom prst="rect">
            <a:avLst/>
          </a:prstGeom>
          <a:noFill/>
          <a:ln/>
        </p:spPr>
        <p:txBody>
          <a:bodyPr wrap="square" lIns="0" tIns="0" rIns="0" bIns="0" rtlCol="0" anchor="t">
            <a:normAutofit/>
          </a:bodyPr>
          <a:lstStyle/>
          <a:p>
            <a:pPr algn="l" marL="264160" indent="-264160">
              <a:lnSpc>
                <a:spcPct val="133000"/>
              </a:lnSpc>
              <a:buSzPct val="100000"/>
              <a:buChar char="•"/>
            </a:pPr>
            <a:r>
              <a:rPr lang="en-US" sz="1300" dirty="0">
                <a:solidFill>
                  <a:srgbClr val="000000"/>
                </a:solidFill>
                <a:latin typeface="Montserrat" pitchFamily="34" charset="0"/>
                <a:ea typeface="Montserrat" pitchFamily="34" charset="-122"/>
                <a:cs typeface="Montserrat" pitchFamily="34" charset="-120"/>
              </a:rPr>
              <a:t>Guardrail, Cache, LLM-as-Judge đứng </a:t>
            </a:r>
            <a:pPr algn="l" marL="264160" indent="-264160">
              <a:lnSpc>
                <a:spcPct val="133000"/>
              </a:lnSpc>
              <a:buSzPct val="100000"/>
              <a:buChar char="•"/>
            </a:pPr>
            <a:r>
              <a:rPr lang="en-US" sz="1300" b="1" dirty="0">
                <a:solidFill>
                  <a:srgbClr val="000000"/>
                </a:solidFill>
                <a:latin typeface="Montserrat Bold" pitchFamily="34" charset="0"/>
                <a:ea typeface="Montserrat Bold" pitchFamily="34" charset="-122"/>
                <a:cs typeface="Montserrat Bold" pitchFamily="34" charset="-120"/>
              </a:rPr>
              <a:t>trước và sau</a:t>
            </a:r>
            <a:pPr algn="l" marL="264160" indent="-264160">
              <a:lnSpc>
                <a:spcPct val="133000"/>
              </a:lnSpc>
              <a:buSzPct val="100000"/>
              <a:buChar char="•"/>
            </a:pPr>
            <a:r>
              <a:rPr lang="en-US" sz="1300" dirty="0">
                <a:solidFill>
                  <a:srgbClr val="000000"/>
                </a:solidFill>
                <a:latin typeface="Montserrat" pitchFamily="34" charset="0"/>
                <a:ea typeface="Montserrat" pitchFamily="34" charset="-122"/>
                <a:cs typeface="Montserrat" pitchFamily="34" charset="-120"/>
              </a:rPr>
              <a:t> AI trả lời.</a:t>
            </a:r>
            <a:endParaRPr lang="en-US" sz="1300" dirty="0"/>
          </a:p>
          <a:p>
            <a:pPr algn="l" marL="264160" indent="-264160">
              <a:lnSpc>
                <a:spcPct val="133000"/>
              </a:lnSpc>
              <a:buSzPct val="100000"/>
              <a:buChar char="•"/>
            </a:pPr>
            <a:r>
              <a:rPr lang="en-US" sz="1300" dirty="0">
                <a:solidFill>
                  <a:srgbClr val="000000"/>
                </a:solidFill>
                <a:latin typeface="Montserrat" pitchFamily="34" charset="0"/>
                <a:ea typeface="Montserrat" pitchFamily="34" charset="-122"/>
                <a:cs typeface="Montserrat" pitchFamily="34" charset="-120"/>
              </a:rPr>
              <a:t>Phù hợp với CSKH: đầu vào thay đổi từng giây, real-time.</a:t>
            </a:r>
            <a:endParaRPr lang="en-US" sz="1300" dirty="0"/>
          </a:p>
          <a:p>
            <a:pPr algn="l" marL="264160" indent="-264160">
              <a:lnSpc>
                <a:spcPct val="133000"/>
              </a:lnSpc>
              <a:buSzPct val="100000"/>
              <a:buChar char="•"/>
            </a:pPr>
            <a:r>
              <a:rPr lang="en-US" sz="1300" dirty="0">
                <a:solidFill>
                  <a:srgbClr val="000000"/>
                </a:solidFill>
                <a:latin typeface="Montserrat" pitchFamily="34" charset="0"/>
                <a:ea typeface="Montserrat" pitchFamily="34" charset="-122"/>
                <a:cs typeface="Montserrat" pitchFamily="34" charset="-120"/>
              </a:rPr>
              <a:t>Quyết định nhạy cảm được chuyển người qua ticket (HITL).</a:t>
            </a:r>
            <a:endParaRPr lang="en-US" sz="1300" dirty="0"/>
          </a:p>
        </p:txBody>
      </p:sp>
      <p:sp>
        <p:nvSpPr>
          <p:cNvPr id="9" name="Shape 7"/>
          <p:cNvSpPr/>
          <p:nvPr/>
        </p:nvSpPr>
        <p:spPr>
          <a:xfrm>
            <a:off x="661475" y="4772620"/>
            <a:ext cx="10868745" cy="661293"/>
          </a:xfrm>
          <a:prstGeom prst="roundRect">
            <a:avLst>
              <a:gd name="adj" fmla="val 10504"/>
            </a:avLst>
          </a:prstGeom>
          <a:solidFill>
            <a:srgbClr val="B6D6FC"/>
          </a:solidFill>
          <a:ln/>
        </p:spPr>
      </p:sp>
      <p:pic>
        <p:nvPicPr>
          <p:cNvPr id="10" name="Image 0" descr="preencoded.png">    </p:cNvPr>
          <p:cNvPicPr>
            <a:picLocks noChangeAspect="1"/>
          </p:cNvPicPr>
          <p:nvPr/>
        </p:nvPicPr>
        <p:blipFill>
          <a:blip r:embed="rId1"/>
          <a:stretch>
            <a:fillRect/>
          </a:stretch>
        </p:blipFill>
        <p:spPr>
          <a:xfrm>
            <a:off x="826769" y="5012333"/>
            <a:ext cx="206667" cy="165298"/>
          </a:xfrm>
          <a:prstGeom prst="rect">
            <a:avLst/>
          </a:prstGeom>
        </p:spPr>
      </p:pic>
      <p:sp>
        <p:nvSpPr>
          <p:cNvPr id="11" name="Text 8"/>
          <p:cNvSpPr/>
          <p:nvPr/>
        </p:nvSpPr>
        <p:spPr>
          <a:xfrm>
            <a:off x="1198731" y="4979194"/>
            <a:ext cx="10775780" cy="264616"/>
          </a:xfrm>
          <a:prstGeom prst="rect">
            <a:avLst/>
          </a:prstGeom>
          <a:noFill/>
          <a:ln/>
        </p:spPr>
        <p:txBody>
          <a:bodyPr wrap="none" lIns="0" tIns="0" rIns="0" bIns="0" rtlCol="0" anchor="t"/>
          <a:lstStyle/>
          <a:p>
            <a:pPr algn="l" indent="0" marL="0">
              <a:lnSpc>
                <a:spcPct val="133000"/>
              </a:lnSpc>
              <a:buNone/>
            </a:pPr>
            <a:r>
              <a:rPr lang="en-US" sz="1300" dirty="0">
                <a:solidFill>
                  <a:srgbClr val="000000"/>
                </a:solidFill>
                <a:latin typeface="Montserrat" pitchFamily="34" charset="0"/>
                <a:ea typeface="Montserrat" pitchFamily="34" charset="-122"/>
                <a:cs typeface="Montserrat" pitchFamily="34" charset="-120"/>
              </a:rPr>
              <a:t>Nguyên tắc giống nhau, nhưng vị trí đặt lớp kiểm soát và tốc độ xử lý hoàn toàn khác nhau.</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61475" y="504825"/>
            <a:ext cx="10868745" cy="457895"/>
          </a:xfrm>
          <a:prstGeom prst="rect">
            <a:avLst/>
          </a:prstGeom>
          <a:noFill/>
          <a:ln/>
        </p:spPr>
        <p:txBody>
          <a:bodyPr wrap="none" lIns="0" tIns="0" rIns="0" bIns="0" rtlCol="0" anchor="t"/>
          <a:lstStyle/>
          <a:p>
            <a:pPr algn="l" indent="0" marL="0">
              <a:lnSpc>
                <a:spcPct val="104000"/>
              </a:lnSpc>
              <a:buNone/>
            </a:pPr>
            <a:r>
              <a:rPr lang="en-US" sz="2850" b="1" dirty="0">
                <a:solidFill>
                  <a:srgbClr val="004AAD"/>
                </a:solidFill>
                <a:latin typeface="Montserrat Bold" pitchFamily="34" charset="0"/>
                <a:ea typeface="Montserrat Bold" pitchFamily="34" charset="-122"/>
                <a:cs typeface="Montserrat Bold" pitchFamily="34" charset="-120"/>
              </a:rPr>
              <a:t>5 trụ tư duy của buổi 5</a:t>
            </a:r>
            <a:endParaRPr lang="en-US" sz="2850" dirty="0"/>
          </a:p>
        </p:txBody>
      </p:sp>
      <p:sp>
        <p:nvSpPr>
          <p:cNvPr id="3" name="Text 1"/>
          <p:cNvSpPr/>
          <p:nvPr/>
        </p:nvSpPr>
        <p:spPr>
          <a:xfrm>
            <a:off x="661475" y="1014611"/>
            <a:ext cx="10868745" cy="228898"/>
          </a:xfrm>
          <a:prstGeom prst="rect">
            <a:avLst/>
          </a:prstGeom>
          <a:noFill/>
          <a:ln/>
        </p:spPr>
        <p:txBody>
          <a:bodyPr wrap="none" lIns="0" tIns="0" rIns="0" bIns="0" rtlCol="0" anchor="t"/>
          <a:lstStyle/>
          <a:p>
            <a:pPr algn="l" indent="0" marL="0">
              <a:lnSpc>
                <a:spcPct val="104000"/>
              </a:lnSpc>
              <a:buNone/>
            </a:pPr>
            <a:r>
              <a:rPr lang="en-US" sz="1400" b="1" dirty="0">
                <a:solidFill>
                  <a:srgbClr val="004AAD"/>
                </a:solidFill>
                <a:latin typeface="Montserrat Bold" pitchFamily="34" charset="0"/>
                <a:ea typeface="Montserrat Bold" pitchFamily="34" charset="-122"/>
                <a:cs typeface="Montserrat Bold" pitchFamily="34" charset="-120"/>
              </a:rPr>
              <a:t>Nền tảng cho một chatbot CSKH đáng tin</a:t>
            </a:r>
            <a:endParaRPr lang="en-US" sz="1400" dirty="0"/>
          </a:p>
        </p:txBody>
      </p:sp>
      <p:sp>
        <p:nvSpPr>
          <p:cNvPr id="4" name="Shape 2"/>
          <p:cNvSpPr/>
          <p:nvPr/>
        </p:nvSpPr>
        <p:spPr>
          <a:xfrm>
            <a:off x="808017" y="1657945"/>
            <a:ext cx="146443" cy="659309"/>
          </a:xfrm>
          <a:prstGeom prst="roundRect">
            <a:avLst>
              <a:gd name="adj" fmla="val 42024"/>
            </a:avLst>
          </a:prstGeom>
          <a:solidFill>
            <a:srgbClr val="CCE2FF"/>
          </a:solidFill>
          <a:ln w="6350">
            <a:solidFill>
              <a:srgbClr val="B2C8E5"/>
            </a:solidFill>
            <a:prstDash val="solid"/>
          </a:ln>
        </p:spPr>
      </p:sp>
      <p:sp>
        <p:nvSpPr>
          <p:cNvPr id="5" name="Shape 3"/>
          <p:cNvSpPr/>
          <p:nvPr/>
        </p:nvSpPr>
        <p:spPr>
          <a:xfrm>
            <a:off x="661475" y="1561802"/>
            <a:ext cx="439528" cy="439539"/>
          </a:xfrm>
          <a:prstGeom prst="ellipse">
            <a:avLst/>
          </a:prstGeom>
          <a:solidFill>
            <a:srgbClr val="CCE2FF"/>
          </a:solidFill>
          <a:ln w="6350">
            <a:solidFill>
              <a:srgbClr val="B2C8E5"/>
            </a:solidFill>
            <a:prstDash val="solid"/>
          </a:ln>
        </p:spPr>
      </p:sp>
      <p:pic>
        <p:nvPicPr>
          <p:cNvPr id="6"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71307" y="1671737"/>
            <a:ext cx="219764" cy="219770"/>
          </a:xfrm>
          <a:prstGeom prst="rect">
            <a:avLst/>
          </a:prstGeom>
        </p:spPr>
      </p:pic>
      <p:sp>
        <p:nvSpPr>
          <p:cNvPr id="7" name="Text 4"/>
          <p:cNvSpPr/>
          <p:nvPr/>
        </p:nvSpPr>
        <p:spPr>
          <a:xfrm>
            <a:off x="1230778" y="1584623"/>
            <a:ext cx="10299442" cy="228898"/>
          </a:xfrm>
          <a:prstGeom prst="rect">
            <a:avLst/>
          </a:prstGeom>
          <a:noFill/>
          <a:ln/>
        </p:spPr>
        <p:txBody>
          <a:bodyPr wrap="none" lIns="0" tIns="0" rIns="0" bIns="0" rtlCol="0" anchor="t"/>
          <a:lstStyle/>
          <a:p>
            <a:pPr algn="l" indent="0" marL="0">
              <a:lnSpc>
                <a:spcPct val="104000"/>
              </a:lnSpc>
              <a:buNone/>
            </a:pPr>
            <a:r>
              <a:rPr lang="en-US" sz="1400" b="1" dirty="0">
                <a:solidFill>
                  <a:srgbClr val="000000"/>
                </a:solidFill>
                <a:latin typeface="Montserrat Bold" pitchFamily="34" charset="0"/>
                <a:ea typeface="Montserrat Bold" pitchFamily="34" charset="-122"/>
                <a:cs typeface="Montserrat Bold" pitchFamily="34" charset="-120"/>
              </a:rPr>
              <a:t>Knowledge Base First</a:t>
            </a:r>
            <a:endParaRPr lang="en-US" sz="1400" dirty="0"/>
          </a:p>
        </p:txBody>
      </p:sp>
      <p:sp>
        <p:nvSpPr>
          <p:cNvPr id="8" name="Text 5"/>
          <p:cNvSpPr/>
          <p:nvPr/>
        </p:nvSpPr>
        <p:spPr>
          <a:xfrm>
            <a:off x="1230778" y="1891407"/>
            <a:ext cx="10299442" cy="221059"/>
          </a:xfrm>
          <a:prstGeom prst="rect">
            <a:avLst/>
          </a:prstGeom>
          <a:noFill/>
          <a:ln/>
        </p:spPr>
        <p:txBody>
          <a:bodyPr wrap="none" lIns="0" tIns="0" rIns="0" bIns="0" rtlCol="0" anchor="t"/>
          <a:lstStyle/>
          <a:p>
            <a:pPr algn="l" indent="0" marL="0">
              <a:lnSpc>
                <a:spcPct val="126000"/>
              </a:lnSpc>
              <a:buNone/>
            </a:pPr>
            <a:r>
              <a:rPr lang="en-US" sz="1150" dirty="0">
                <a:solidFill>
                  <a:srgbClr val="000000"/>
                </a:solidFill>
                <a:latin typeface="Montserrat" pitchFamily="34" charset="0"/>
                <a:ea typeface="Montserrat" pitchFamily="34" charset="-122"/>
                <a:cs typeface="Montserrat" pitchFamily="34" charset="-120"/>
              </a:rPr>
              <a:t>Trước khi có bot, phải có kho FAQ chuẩn từ chính sách, để bot </a:t>
            </a:r>
            <a:pPr algn="l" indent="0" marL="0">
              <a:lnSpc>
                <a:spcPct val="126000"/>
              </a:lnSpc>
              <a:buNone/>
            </a:pPr>
            <a:r>
              <a:rPr lang="en-US" sz="1150" b="1" dirty="0">
                <a:solidFill>
                  <a:srgbClr val="000000"/>
                </a:solidFill>
                <a:latin typeface="Montserrat Bold" pitchFamily="34" charset="0"/>
                <a:ea typeface="Montserrat Bold" pitchFamily="34" charset="-122"/>
                <a:cs typeface="Montserrat Bold" pitchFamily="34" charset="-120"/>
              </a:rPr>
              <a:t>bám nguồn</a:t>
            </a:r>
            <a:pPr algn="l" indent="0" marL="0">
              <a:lnSpc>
                <a:spcPct val="126000"/>
              </a:lnSpc>
              <a:buNone/>
            </a:pPr>
            <a:r>
              <a:rPr lang="en-US" sz="1150" dirty="0">
                <a:solidFill>
                  <a:srgbClr val="000000"/>
                </a:solidFill>
                <a:latin typeface="Montserrat" pitchFamily="34" charset="0"/>
                <a:ea typeface="Montserrat" pitchFamily="34" charset="-122"/>
                <a:cs typeface="Montserrat" pitchFamily="34" charset="-120"/>
              </a:rPr>
              <a:t> thay vì đoán mò.</a:t>
            </a:r>
            <a:endParaRPr lang="en-US" sz="1150" dirty="0"/>
          </a:p>
        </p:txBody>
      </p:sp>
      <p:sp>
        <p:nvSpPr>
          <p:cNvPr id="9" name="Shape 6"/>
          <p:cNvSpPr/>
          <p:nvPr/>
        </p:nvSpPr>
        <p:spPr>
          <a:xfrm>
            <a:off x="1027781" y="2666901"/>
            <a:ext cx="146443" cy="659309"/>
          </a:xfrm>
          <a:prstGeom prst="roundRect">
            <a:avLst>
              <a:gd name="adj" fmla="val 42024"/>
            </a:avLst>
          </a:prstGeom>
          <a:solidFill>
            <a:srgbClr val="CCE2FF"/>
          </a:solidFill>
          <a:ln w="6350">
            <a:solidFill>
              <a:srgbClr val="B2C8E5"/>
            </a:solidFill>
            <a:prstDash val="solid"/>
          </a:ln>
        </p:spPr>
      </p:sp>
      <p:sp>
        <p:nvSpPr>
          <p:cNvPr id="10" name="Shape 7"/>
          <p:cNvSpPr/>
          <p:nvPr/>
        </p:nvSpPr>
        <p:spPr>
          <a:xfrm>
            <a:off x="881239" y="2570758"/>
            <a:ext cx="439528" cy="439539"/>
          </a:xfrm>
          <a:prstGeom prst="ellipse">
            <a:avLst/>
          </a:prstGeom>
          <a:solidFill>
            <a:srgbClr val="CCE2FF"/>
          </a:solidFill>
          <a:ln w="6350">
            <a:solidFill>
              <a:srgbClr val="B2C8E5"/>
            </a:solidFill>
            <a:prstDash val="solid"/>
          </a:ln>
        </p:spPr>
      </p:sp>
      <p:pic>
        <p:nvPicPr>
          <p:cNvPr id="11"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91071" y="2680692"/>
            <a:ext cx="219764" cy="219770"/>
          </a:xfrm>
          <a:prstGeom prst="rect">
            <a:avLst/>
          </a:prstGeom>
        </p:spPr>
      </p:pic>
      <p:sp>
        <p:nvSpPr>
          <p:cNvPr id="12" name="Text 8"/>
          <p:cNvSpPr/>
          <p:nvPr/>
        </p:nvSpPr>
        <p:spPr>
          <a:xfrm>
            <a:off x="1450542" y="2593578"/>
            <a:ext cx="10079678" cy="228898"/>
          </a:xfrm>
          <a:prstGeom prst="rect">
            <a:avLst/>
          </a:prstGeom>
          <a:noFill/>
          <a:ln/>
        </p:spPr>
        <p:txBody>
          <a:bodyPr wrap="none" lIns="0" tIns="0" rIns="0" bIns="0" rtlCol="0" anchor="t"/>
          <a:lstStyle/>
          <a:p>
            <a:pPr algn="l" indent="0" marL="0">
              <a:lnSpc>
                <a:spcPct val="104000"/>
              </a:lnSpc>
              <a:buNone/>
            </a:pPr>
            <a:r>
              <a:rPr lang="en-US" sz="1400" b="1" dirty="0">
                <a:solidFill>
                  <a:srgbClr val="000000"/>
                </a:solidFill>
                <a:latin typeface="Montserrat Bold" pitchFamily="34" charset="0"/>
                <a:ea typeface="Montserrat Bold" pitchFamily="34" charset="-122"/>
                <a:cs typeface="Montserrat Bold" pitchFamily="34" charset="-120"/>
              </a:rPr>
              <a:t>Guardrail First</a:t>
            </a:r>
            <a:endParaRPr lang="en-US" sz="1400" dirty="0"/>
          </a:p>
        </p:txBody>
      </p:sp>
      <p:sp>
        <p:nvSpPr>
          <p:cNvPr id="13" name="Text 9"/>
          <p:cNvSpPr/>
          <p:nvPr/>
        </p:nvSpPr>
        <p:spPr>
          <a:xfrm>
            <a:off x="1450542" y="2900363"/>
            <a:ext cx="10079678" cy="221059"/>
          </a:xfrm>
          <a:prstGeom prst="rect">
            <a:avLst/>
          </a:prstGeom>
          <a:noFill/>
          <a:ln/>
        </p:spPr>
        <p:txBody>
          <a:bodyPr wrap="none" lIns="0" tIns="0" rIns="0" bIns="0" rtlCol="0" anchor="t"/>
          <a:lstStyle/>
          <a:p>
            <a:pPr algn="l" indent="0" marL="0">
              <a:lnSpc>
                <a:spcPct val="126000"/>
              </a:lnSpc>
              <a:buNone/>
            </a:pPr>
            <a:r>
              <a:rPr lang="en-US" sz="1150" dirty="0">
                <a:solidFill>
                  <a:srgbClr val="000000"/>
                </a:solidFill>
                <a:latin typeface="Montserrat" pitchFamily="34" charset="0"/>
                <a:ea typeface="Montserrat" pitchFamily="34" charset="-122"/>
                <a:cs typeface="Montserrat" pitchFamily="34" charset="-120"/>
              </a:rPr>
              <a:t>Ngay khi nhận câu hỏi, chống </a:t>
            </a:r>
            <a:pPr algn="l" indent="0" marL="0">
              <a:lnSpc>
                <a:spcPct val="126000"/>
              </a:lnSpc>
              <a:buNone/>
            </a:pPr>
            <a:r>
              <a:rPr lang="en-US" sz="1150" b="1" dirty="0">
                <a:solidFill>
                  <a:srgbClr val="000000"/>
                </a:solidFill>
                <a:latin typeface="Montserrat Bold" pitchFamily="34" charset="0"/>
                <a:ea typeface="Montserrat Bold" pitchFamily="34" charset="-122"/>
                <a:cs typeface="Montserrat Bold" pitchFamily="34" charset="-120"/>
              </a:rPr>
              <a:t>prompt injection</a:t>
            </a:r>
            <a:pPr algn="l" indent="0" marL="0">
              <a:lnSpc>
                <a:spcPct val="126000"/>
              </a:lnSpc>
              <a:buNone/>
            </a:pPr>
            <a:r>
              <a:rPr lang="en-US" sz="1150" dirty="0">
                <a:solidFill>
                  <a:srgbClr val="000000"/>
                </a:solidFill>
                <a:latin typeface="Montserrat" pitchFamily="34" charset="0"/>
                <a:ea typeface="Montserrat" pitchFamily="34" charset="-122"/>
                <a:cs typeface="Montserrat" pitchFamily="34" charset="-120"/>
              </a:rPr>
              <a:t> và từ chối chủ đề ngoài phạm vi trước khi trả lời.</a:t>
            </a:r>
            <a:endParaRPr lang="en-US" sz="1150" dirty="0"/>
          </a:p>
        </p:txBody>
      </p:sp>
      <p:sp>
        <p:nvSpPr>
          <p:cNvPr id="14" name="Shape 10"/>
          <p:cNvSpPr/>
          <p:nvPr/>
        </p:nvSpPr>
        <p:spPr>
          <a:xfrm>
            <a:off x="1247545" y="3675856"/>
            <a:ext cx="146443" cy="659309"/>
          </a:xfrm>
          <a:prstGeom prst="roundRect">
            <a:avLst>
              <a:gd name="adj" fmla="val 42024"/>
            </a:avLst>
          </a:prstGeom>
          <a:solidFill>
            <a:srgbClr val="CCE2FF"/>
          </a:solidFill>
          <a:ln w="6350">
            <a:solidFill>
              <a:srgbClr val="B2C8E5"/>
            </a:solidFill>
            <a:prstDash val="solid"/>
          </a:ln>
        </p:spPr>
      </p:sp>
      <p:sp>
        <p:nvSpPr>
          <p:cNvPr id="15" name="Shape 11"/>
          <p:cNvSpPr/>
          <p:nvPr/>
        </p:nvSpPr>
        <p:spPr>
          <a:xfrm>
            <a:off x="1101003" y="3579713"/>
            <a:ext cx="439528" cy="439539"/>
          </a:xfrm>
          <a:prstGeom prst="ellipse">
            <a:avLst/>
          </a:prstGeom>
          <a:solidFill>
            <a:srgbClr val="CCE2FF"/>
          </a:solidFill>
          <a:ln w="6350">
            <a:solidFill>
              <a:srgbClr val="B2C8E5"/>
            </a:solidFill>
            <a:prstDash val="solid"/>
          </a:ln>
        </p:spPr>
      </p:sp>
      <p:pic>
        <p:nvPicPr>
          <p:cNvPr id="16"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210835" y="3689648"/>
            <a:ext cx="219764" cy="219770"/>
          </a:xfrm>
          <a:prstGeom prst="rect">
            <a:avLst/>
          </a:prstGeom>
        </p:spPr>
      </p:pic>
      <p:sp>
        <p:nvSpPr>
          <p:cNvPr id="17" name="Text 12"/>
          <p:cNvSpPr/>
          <p:nvPr/>
        </p:nvSpPr>
        <p:spPr>
          <a:xfrm>
            <a:off x="1670306" y="3602534"/>
            <a:ext cx="9859914" cy="228898"/>
          </a:xfrm>
          <a:prstGeom prst="rect">
            <a:avLst/>
          </a:prstGeom>
          <a:noFill/>
          <a:ln/>
        </p:spPr>
        <p:txBody>
          <a:bodyPr wrap="none" lIns="0" tIns="0" rIns="0" bIns="0" rtlCol="0" anchor="t"/>
          <a:lstStyle/>
          <a:p>
            <a:pPr algn="l" indent="0" marL="0">
              <a:lnSpc>
                <a:spcPct val="104000"/>
              </a:lnSpc>
              <a:buNone/>
            </a:pPr>
            <a:r>
              <a:rPr lang="en-US" sz="1400" b="1" dirty="0">
                <a:solidFill>
                  <a:srgbClr val="000000"/>
                </a:solidFill>
                <a:latin typeface="Montserrat Bold" pitchFamily="34" charset="0"/>
                <a:ea typeface="Montserrat Bold" pitchFamily="34" charset="-122"/>
                <a:cs typeface="Montserrat Bold" pitchFamily="34" charset="-120"/>
              </a:rPr>
              <a:t>Fast Path trước LLM</a:t>
            </a:r>
            <a:endParaRPr lang="en-US" sz="1400" dirty="0"/>
          </a:p>
        </p:txBody>
      </p:sp>
      <p:sp>
        <p:nvSpPr>
          <p:cNvPr id="18" name="Text 13"/>
          <p:cNvSpPr/>
          <p:nvPr/>
        </p:nvSpPr>
        <p:spPr>
          <a:xfrm>
            <a:off x="1670306" y="3909318"/>
            <a:ext cx="9859914" cy="221059"/>
          </a:xfrm>
          <a:prstGeom prst="rect">
            <a:avLst/>
          </a:prstGeom>
          <a:noFill/>
          <a:ln/>
        </p:spPr>
        <p:txBody>
          <a:bodyPr wrap="none" lIns="0" tIns="0" rIns="0" bIns="0" rtlCol="0" anchor="t"/>
          <a:lstStyle/>
          <a:p>
            <a:pPr algn="l" indent="0" marL="0">
              <a:lnSpc>
                <a:spcPct val="126000"/>
              </a:lnSpc>
              <a:buNone/>
            </a:pPr>
            <a:r>
              <a:rPr lang="en-US" sz="1150" dirty="0">
                <a:solidFill>
                  <a:srgbClr val="000000"/>
                </a:solidFill>
                <a:latin typeface="Montserrat" pitchFamily="34" charset="0"/>
                <a:ea typeface="Montserrat" pitchFamily="34" charset="-122"/>
                <a:cs typeface="Montserrat" pitchFamily="34" charset="-120"/>
              </a:rPr>
              <a:t>Câu trùng hoặc rất giống FAQ cũ trả lời ngay từ </a:t>
            </a:r>
            <a:pPr algn="l" indent="0" marL="0">
              <a:lnSpc>
                <a:spcPct val="126000"/>
              </a:lnSpc>
              <a:buNone/>
            </a:pPr>
            <a:r>
              <a:rPr lang="en-US" sz="1150" b="1" dirty="0">
                <a:solidFill>
                  <a:srgbClr val="000000"/>
                </a:solidFill>
                <a:latin typeface="Montserrat Bold" pitchFamily="34" charset="0"/>
                <a:ea typeface="Montserrat Bold" pitchFamily="34" charset="-122"/>
                <a:cs typeface="Montserrat Bold" pitchFamily="34" charset="-120"/>
              </a:rPr>
              <a:t>cache</a:t>
            </a:r>
            <a:pPr algn="l" indent="0" marL="0">
              <a:lnSpc>
                <a:spcPct val="126000"/>
              </a:lnSpc>
              <a:buNone/>
            </a:pPr>
            <a:r>
              <a:rPr lang="en-US" sz="1150" dirty="0">
                <a:solidFill>
                  <a:srgbClr val="000000"/>
                </a:solidFill>
                <a:latin typeface="Montserrat" pitchFamily="34" charset="0"/>
                <a:ea typeface="Montserrat" pitchFamily="34" charset="-122"/>
                <a:cs typeface="Montserrat" pitchFamily="34" charset="-120"/>
              </a:rPr>
              <a:t>, chỉ gọi LLM khi cache miss.</a:t>
            </a:r>
            <a:endParaRPr lang="en-US" sz="1150" dirty="0"/>
          </a:p>
        </p:txBody>
      </p:sp>
      <p:sp>
        <p:nvSpPr>
          <p:cNvPr id="19" name="Shape 14"/>
          <p:cNvSpPr/>
          <p:nvPr/>
        </p:nvSpPr>
        <p:spPr>
          <a:xfrm>
            <a:off x="1467309" y="4684812"/>
            <a:ext cx="146443" cy="659309"/>
          </a:xfrm>
          <a:prstGeom prst="roundRect">
            <a:avLst>
              <a:gd name="adj" fmla="val 42024"/>
            </a:avLst>
          </a:prstGeom>
          <a:solidFill>
            <a:srgbClr val="CCE2FF"/>
          </a:solidFill>
          <a:ln w="6350">
            <a:solidFill>
              <a:srgbClr val="B2C8E5"/>
            </a:solidFill>
            <a:prstDash val="solid"/>
          </a:ln>
        </p:spPr>
      </p:sp>
      <p:sp>
        <p:nvSpPr>
          <p:cNvPr id="20" name="Shape 15"/>
          <p:cNvSpPr/>
          <p:nvPr/>
        </p:nvSpPr>
        <p:spPr>
          <a:xfrm>
            <a:off x="1320767" y="4588669"/>
            <a:ext cx="439528" cy="439539"/>
          </a:xfrm>
          <a:prstGeom prst="ellipse">
            <a:avLst/>
          </a:prstGeom>
          <a:solidFill>
            <a:srgbClr val="CCE2FF"/>
          </a:solidFill>
          <a:ln w="6350">
            <a:solidFill>
              <a:srgbClr val="B2C8E5"/>
            </a:solidFill>
            <a:prstDash val="solid"/>
          </a:ln>
        </p:spPr>
      </p:sp>
      <p:pic>
        <p:nvPicPr>
          <p:cNvPr id="21"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430599" y="4698603"/>
            <a:ext cx="219764" cy="219770"/>
          </a:xfrm>
          <a:prstGeom prst="rect">
            <a:avLst/>
          </a:prstGeom>
        </p:spPr>
      </p:pic>
      <p:sp>
        <p:nvSpPr>
          <p:cNvPr id="22" name="Text 16"/>
          <p:cNvSpPr/>
          <p:nvPr/>
        </p:nvSpPr>
        <p:spPr>
          <a:xfrm>
            <a:off x="1890070" y="4611489"/>
            <a:ext cx="9640150" cy="228898"/>
          </a:xfrm>
          <a:prstGeom prst="rect">
            <a:avLst/>
          </a:prstGeom>
          <a:noFill/>
          <a:ln/>
        </p:spPr>
        <p:txBody>
          <a:bodyPr wrap="none" lIns="0" tIns="0" rIns="0" bIns="0" rtlCol="0" anchor="t"/>
          <a:lstStyle/>
          <a:p>
            <a:pPr algn="l" indent="0" marL="0">
              <a:lnSpc>
                <a:spcPct val="104000"/>
              </a:lnSpc>
              <a:buNone/>
            </a:pPr>
            <a:r>
              <a:rPr lang="en-US" sz="1400" b="1" dirty="0">
                <a:solidFill>
                  <a:srgbClr val="000000"/>
                </a:solidFill>
                <a:latin typeface="Montserrat Bold" pitchFamily="34" charset="0"/>
                <a:ea typeface="Montserrat Bold" pitchFamily="34" charset="-122"/>
                <a:cs typeface="Montserrat Bold" pitchFamily="34" charset="-120"/>
              </a:rPr>
              <a:t>LLM-as-Judge</a:t>
            </a:r>
            <a:endParaRPr lang="en-US" sz="1400" dirty="0"/>
          </a:p>
        </p:txBody>
      </p:sp>
      <p:sp>
        <p:nvSpPr>
          <p:cNvPr id="23" name="Text 17"/>
          <p:cNvSpPr/>
          <p:nvPr/>
        </p:nvSpPr>
        <p:spPr>
          <a:xfrm>
            <a:off x="1890070" y="4918273"/>
            <a:ext cx="9640150" cy="221059"/>
          </a:xfrm>
          <a:prstGeom prst="rect">
            <a:avLst/>
          </a:prstGeom>
          <a:noFill/>
          <a:ln/>
        </p:spPr>
        <p:txBody>
          <a:bodyPr wrap="none" lIns="0" tIns="0" rIns="0" bIns="0" rtlCol="0" anchor="t"/>
          <a:lstStyle/>
          <a:p>
            <a:pPr algn="l" indent="0" marL="0">
              <a:lnSpc>
                <a:spcPct val="126000"/>
              </a:lnSpc>
              <a:buNone/>
            </a:pPr>
            <a:r>
              <a:rPr lang="en-US" sz="1150" dirty="0">
                <a:solidFill>
                  <a:srgbClr val="000000"/>
                </a:solidFill>
                <a:latin typeface="Montserrat" pitchFamily="34" charset="0"/>
                <a:ea typeface="Montserrat" pitchFamily="34" charset="-122"/>
                <a:cs typeface="Montserrat" pitchFamily="34" charset="-120"/>
              </a:rPr>
              <a:t>Tách hai vai: một LLM trả lời, một LLM khác chấm </a:t>
            </a:r>
            <a:pPr algn="l" indent="0" marL="0">
              <a:lnSpc>
                <a:spcPct val="126000"/>
              </a:lnSpc>
              <a:buNone/>
            </a:pPr>
            <a:r>
              <a:rPr lang="en-US" sz="1150" b="1" dirty="0">
                <a:solidFill>
                  <a:srgbClr val="000000"/>
                </a:solidFill>
                <a:latin typeface="Montserrat Bold" pitchFamily="34" charset="0"/>
                <a:ea typeface="Montserrat Bold" pitchFamily="34" charset="-122"/>
                <a:cs typeface="Montserrat Bold" pitchFamily="34" charset="-120"/>
              </a:rPr>
              <a:t>confidence</a:t>
            </a:r>
            <a:pPr algn="l" indent="0" marL="0">
              <a:lnSpc>
                <a:spcPct val="126000"/>
              </a:lnSpc>
              <a:buNone/>
            </a:pPr>
            <a:r>
              <a:rPr lang="en-US" sz="1150" dirty="0">
                <a:solidFill>
                  <a:srgbClr val="000000"/>
                </a:solidFill>
                <a:latin typeface="Montserrat" pitchFamily="34" charset="0"/>
                <a:ea typeface="Montserrat" pitchFamily="34" charset="-122"/>
                <a:cs typeface="Montserrat" pitchFamily="34" charset="-120"/>
              </a:rPr>
              <a:t> độc lập — model không vừa trả lời vừa tự tin.</a:t>
            </a:r>
            <a:endParaRPr lang="en-US" sz="1150" dirty="0"/>
          </a:p>
        </p:txBody>
      </p:sp>
      <p:sp>
        <p:nvSpPr>
          <p:cNvPr id="24" name="Shape 18"/>
          <p:cNvSpPr/>
          <p:nvPr/>
        </p:nvSpPr>
        <p:spPr>
          <a:xfrm>
            <a:off x="1247545" y="5693767"/>
            <a:ext cx="146443" cy="659309"/>
          </a:xfrm>
          <a:prstGeom prst="roundRect">
            <a:avLst>
              <a:gd name="adj" fmla="val 42024"/>
            </a:avLst>
          </a:prstGeom>
          <a:solidFill>
            <a:srgbClr val="CCE2FF"/>
          </a:solidFill>
          <a:ln w="6350">
            <a:solidFill>
              <a:srgbClr val="B2C8E5"/>
            </a:solidFill>
            <a:prstDash val="solid"/>
          </a:ln>
        </p:spPr>
      </p:sp>
      <p:sp>
        <p:nvSpPr>
          <p:cNvPr id="25" name="Shape 19"/>
          <p:cNvSpPr/>
          <p:nvPr/>
        </p:nvSpPr>
        <p:spPr>
          <a:xfrm>
            <a:off x="1101003" y="5597624"/>
            <a:ext cx="439528" cy="439539"/>
          </a:xfrm>
          <a:prstGeom prst="ellipse">
            <a:avLst/>
          </a:prstGeom>
          <a:solidFill>
            <a:srgbClr val="CCE2FF"/>
          </a:solidFill>
          <a:ln w="6350">
            <a:solidFill>
              <a:srgbClr val="B2C8E5"/>
            </a:solidFill>
            <a:prstDash val="solid"/>
          </a:ln>
        </p:spPr>
      </p:sp>
      <p:pic>
        <p:nvPicPr>
          <p:cNvPr id="26"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210835" y="5707559"/>
            <a:ext cx="219764" cy="219770"/>
          </a:xfrm>
          <a:prstGeom prst="rect">
            <a:avLst/>
          </a:prstGeom>
        </p:spPr>
      </p:pic>
      <p:sp>
        <p:nvSpPr>
          <p:cNvPr id="27" name="Text 20"/>
          <p:cNvSpPr/>
          <p:nvPr/>
        </p:nvSpPr>
        <p:spPr>
          <a:xfrm>
            <a:off x="1670306" y="5620445"/>
            <a:ext cx="9859914" cy="228898"/>
          </a:xfrm>
          <a:prstGeom prst="rect">
            <a:avLst/>
          </a:prstGeom>
          <a:noFill/>
          <a:ln/>
        </p:spPr>
        <p:txBody>
          <a:bodyPr wrap="none" lIns="0" tIns="0" rIns="0" bIns="0" rtlCol="0" anchor="t"/>
          <a:lstStyle/>
          <a:p>
            <a:pPr algn="l" indent="0" marL="0">
              <a:lnSpc>
                <a:spcPct val="104000"/>
              </a:lnSpc>
              <a:buNone/>
            </a:pPr>
            <a:r>
              <a:rPr lang="en-US" sz="1400" b="1" dirty="0">
                <a:solidFill>
                  <a:srgbClr val="000000"/>
                </a:solidFill>
                <a:latin typeface="Montserrat Bold" pitchFamily="34" charset="0"/>
                <a:ea typeface="Montserrat Bold" pitchFamily="34" charset="-122"/>
                <a:cs typeface="Montserrat Bold" pitchFamily="34" charset="-120"/>
              </a:rPr>
              <a:t>HITL</a:t>
            </a:r>
            <a:endParaRPr lang="en-US" sz="1400" dirty="0"/>
          </a:p>
        </p:txBody>
      </p:sp>
      <p:sp>
        <p:nvSpPr>
          <p:cNvPr id="28" name="Text 21"/>
          <p:cNvSpPr/>
          <p:nvPr/>
        </p:nvSpPr>
        <p:spPr>
          <a:xfrm>
            <a:off x="1670306" y="5927229"/>
            <a:ext cx="9859914" cy="221059"/>
          </a:xfrm>
          <a:prstGeom prst="rect">
            <a:avLst/>
          </a:prstGeom>
          <a:noFill/>
          <a:ln/>
        </p:spPr>
        <p:txBody>
          <a:bodyPr wrap="none" lIns="0" tIns="0" rIns="0" bIns="0" rtlCol="0" anchor="t"/>
          <a:lstStyle/>
          <a:p>
            <a:pPr algn="l" indent="0" marL="0">
              <a:lnSpc>
                <a:spcPct val="126000"/>
              </a:lnSpc>
              <a:buNone/>
            </a:pPr>
            <a:r>
              <a:rPr lang="en-US" sz="1150" dirty="0">
                <a:solidFill>
                  <a:srgbClr val="000000"/>
                </a:solidFill>
                <a:latin typeface="Montserrat" pitchFamily="34" charset="0"/>
                <a:ea typeface="Montserrat" pitchFamily="34" charset="-122"/>
                <a:cs typeface="Montserrat" pitchFamily="34" charset="-120"/>
              </a:rPr>
              <a:t>Khi confidence thấp hoặc case nhạy cảm, bot </a:t>
            </a:r>
            <a:pPr algn="l" indent="0" marL="0">
              <a:lnSpc>
                <a:spcPct val="126000"/>
              </a:lnSpc>
              <a:buNone/>
            </a:pPr>
            <a:r>
              <a:rPr lang="en-US" sz="1150" b="1" dirty="0">
                <a:solidFill>
                  <a:srgbClr val="000000"/>
                </a:solidFill>
                <a:latin typeface="Montserrat Bold" pitchFamily="34" charset="0"/>
                <a:ea typeface="Montserrat Bold" pitchFamily="34" charset="-122"/>
                <a:cs typeface="Montserrat Bold" pitchFamily="34" charset="-120"/>
              </a:rPr>
              <a:t>tạo ticket chuyển người</a:t>
            </a:r>
            <a:pPr algn="l" indent="0" marL="0">
              <a:lnSpc>
                <a:spcPct val="126000"/>
              </a:lnSpc>
              <a:buNone/>
            </a:pPr>
            <a:r>
              <a:rPr lang="en-US" sz="1150" dirty="0">
                <a:solidFill>
                  <a:srgbClr val="000000"/>
                </a:solidFill>
                <a:latin typeface="Montserrat" pitchFamily="34" charset="0"/>
                <a:ea typeface="Montserrat" pitchFamily="34" charset="-122"/>
                <a:cs typeface="Montserrat" pitchFamily="34" charset="-120"/>
              </a:rPr>
              <a:t> thay vì tự xử lý.</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61475" y="537071"/>
            <a:ext cx="10868745" cy="413445"/>
          </a:xfrm>
          <a:prstGeom prst="rect">
            <a:avLst/>
          </a:prstGeom>
          <a:noFill/>
          <a:ln/>
        </p:spPr>
        <p:txBody>
          <a:bodyPr wrap="none" lIns="0" tIns="0" rIns="0" bIns="0" rtlCol="0" anchor="t"/>
          <a:lstStyle/>
          <a:p>
            <a:pPr algn="l" indent="0" marL="0">
              <a:lnSpc>
                <a:spcPct val="104000"/>
              </a:lnSpc>
              <a:buNone/>
            </a:pPr>
            <a:r>
              <a:rPr lang="en-US" sz="2600" b="1" dirty="0">
                <a:solidFill>
                  <a:srgbClr val="004AAD"/>
                </a:solidFill>
                <a:latin typeface="Montserrat Bold" pitchFamily="34" charset="0"/>
                <a:ea typeface="Montserrat Bold" pitchFamily="34" charset="-122"/>
                <a:cs typeface="Montserrat Bold" pitchFamily="34" charset="-120"/>
              </a:rPr>
              <a:t>Một câu hỏi khách đi qua sáu lớp</a:t>
            </a:r>
            <a:endParaRPr lang="en-US" sz="2600" dirty="0"/>
          </a:p>
        </p:txBody>
      </p:sp>
      <p:sp>
        <p:nvSpPr>
          <p:cNvPr id="3" name="Text 1"/>
          <p:cNvSpPr/>
          <p:nvPr/>
        </p:nvSpPr>
        <p:spPr>
          <a:xfrm>
            <a:off x="661475" y="992783"/>
            <a:ext cx="10868745" cy="206673"/>
          </a:xfrm>
          <a:prstGeom prst="rect">
            <a:avLst/>
          </a:prstGeom>
          <a:noFill/>
          <a:ln/>
        </p:spPr>
        <p:txBody>
          <a:bodyPr wrap="none" lIns="0" tIns="0" rIns="0" bIns="0" rtlCol="0" anchor="t"/>
          <a:lstStyle/>
          <a:p>
            <a:pPr algn="l" indent="0" marL="0">
              <a:lnSpc>
                <a:spcPct val="104000"/>
              </a:lnSpc>
              <a:buNone/>
            </a:pPr>
            <a:r>
              <a:rPr lang="en-US" sz="1300" b="1" dirty="0">
                <a:solidFill>
                  <a:srgbClr val="004AAD"/>
                </a:solidFill>
                <a:latin typeface="Montserrat Bold" pitchFamily="34" charset="0"/>
                <a:ea typeface="Montserrat Bold" pitchFamily="34" charset="-122"/>
                <a:cs typeface="Montserrat Bold" pitchFamily="34" charset="-120"/>
              </a:rPr>
              <a:t>Chain workflow</a:t>
            </a:r>
            <a:endParaRPr lang="en-US" sz="1300" dirty="0"/>
          </a:p>
        </p:txBody>
      </p:sp>
      <p:pic>
        <p:nvPicPr>
          <p:cNvPr id="4" name="Image 0" descr="preencoded.png">    </p:cNvPr>
          <p:cNvPicPr>
            <a:picLocks noChangeAspect="1"/>
          </p:cNvPicPr>
          <p:nvPr/>
        </p:nvPicPr>
        <p:blipFill>
          <a:blip r:embed="rId1"/>
          <a:stretch>
            <a:fillRect/>
          </a:stretch>
        </p:blipFill>
        <p:spPr>
          <a:xfrm>
            <a:off x="1894435" y="1358205"/>
            <a:ext cx="8402824" cy="4462562"/>
          </a:xfrm>
          <a:prstGeom prst="rect">
            <a:avLst/>
          </a:prstGeom>
        </p:spPr>
      </p:pic>
      <p:sp>
        <p:nvSpPr>
          <p:cNvPr id="5" name="Text 2"/>
          <p:cNvSpPr/>
          <p:nvPr/>
        </p:nvSpPr>
        <p:spPr>
          <a:xfrm>
            <a:off x="6235988" y="4789538"/>
            <a:ext cx="1956332" cy="244547"/>
          </a:xfrm>
          <a:prstGeom prst="rect">
            <a:avLst/>
          </a:prstGeom>
          <a:noFill/>
          <a:ln/>
        </p:spPr>
        <p:txBody>
          <a:bodyPr wrap="none" lIns="0" tIns="0" rIns="0" bIns="0" rtlCol="0" anchor="t"/>
          <a:lstStyle/>
          <a:p>
            <a:pPr algn="l" indent="0" marL="0">
              <a:lnSpc>
                <a:spcPct val="104000"/>
              </a:lnSpc>
              <a:buNone/>
            </a:pPr>
            <a:r>
              <a:rPr lang="en-US" sz="1500" b="1" dirty="0">
                <a:solidFill>
                  <a:srgbClr val="000000"/>
                </a:solidFill>
                <a:latin typeface="Montserrat Bold" pitchFamily="34" charset="0"/>
                <a:ea typeface="Montserrat Bold" pitchFamily="34" charset="-122"/>
                <a:cs typeface="Montserrat Bold" pitchFamily="34" charset="-120"/>
              </a:rPr>
              <a:t>Fast path</a:t>
            </a:r>
            <a:endParaRPr lang="en-US" sz="1500" dirty="0"/>
          </a:p>
        </p:txBody>
      </p:sp>
      <p:sp>
        <p:nvSpPr>
          <p:cNvPr id="6" name="Text 3"/>
          <p:cNvSpPr/>
          <p:nvPr/>
        </p:nvSpPr>
        <p:spPr>
          <a:xfrm>
            <a:off x="6235988" y="5103646"/>
            <a:ext cx="3182301" cy="176075"/>
          </a:xfrm>
          <a:prstGeom prst="rect">
            <a:avLst/>
          </a:prstGeom>
          <a:noFill/>
          <a:ln/>
        </p:spPr>
        <p:txBody>
          <a:bodyPr wrap="none" lIns="0" tIns="0" rIns="0" bIns="0" rtlCol="0" anchor="t"/>
          <a:lstStyle/>
          <a:p>
            <a:pPr algn="l" indent="0" marL="0">
              <a:lnSpc>
                <a:spcPct val="94000"/>
              </a:lnSpc>
              <a:buNone/>
            </a:pPr>
            <a:r>
              <a:rPr lang="en-US" sz="1200" dirty="0">
                <a:solidFill>
                  <a:srgbClr val="000000"/>
                </a:solidFill>
                <a:latin typeface="Montserrat" pitchFamily="34" charset="0"/>
                <a:ea typeface="Montserrat" pitchFamily="34" charset="-122"/>
                <a:cs typeface="Montserrat" pitchFamily="34" charset="-120"/>
              </a:rPr>
              <a:t>Cache với score ≥0.86.</a:t>
            </a:r>
            <a:endParaRPr lang="en-US" sz="1200" dirty="0"/>
          </a:p>
        </p:txBody>
      </p:sp>
      <p:sp>
        <p:nvSpPr>
          <p:cNvPr id="7" name="Text 4"/>
          <p:cNvSpPr/>
          <p:nvPr/>
        </p:nvSpPr>
        <p:spPr>
          <a:xfrm>
            <a:off x="6914183" y="3841780"/>
            <a:ext cx="1956332" cy="244547"/>
          </a:xfrm>
          <a:prstGeom prst="rect">
            <a:avLst/>
          </a:prstGeom>
          <a:noFill/>
          <a:ln/>
        </p:spPr>
        <p:txBody>
          <a:bodyPr wrap="none" lIns="0" tIns="0" rIns="0" bIns="0" rtlCol="0" anchor="t"/>
          <a:lstStyle/>
          <a:p>
            <a:pPr algn="l" indent="0" marL="0">
              <a:lnSpc>
                <a:spcPct val="104000"/>
              </a:lnSpc>
              <a:buNone/>
            </a:pPr>
            <a:r>
              <a:rPr lang="en-US" sz="1500" b="1" dirty="0">
                <a:solidFill>
                  <a:srgbClr val="000000"/>
                </a:solidFill>
                <a:latin typeface="Montserrat Bold" pitchFamily="34" charset="0"/>
                <a:ea typeface="Montserrat Bold" pitchFamily="34" charset="-122"/>
                <a:cs typeface="Montserrat Bold" pitchFamily="34" charset="-120"/>
              </a:rPr>
              <a:t>Định tuyến</a:t>
            </a:r>
            <a:endParaRPr lang="en-US" sz="1500" dirty="0"/>
          </a:p>
        </p:txBody>
      </p:sp>
      <p:sp>
        <p:nvSpPr>
          <p:cNvPr id="8" name="Text 5"/>
          <p:cNvSpPr/>
          <p:nvPr/>
        </p:nvSpPr>
        <p:spPr>
          <a:xfrm>
            <a:off x="6914183" y="4155888"/>
            <a:ext cx="3182301" cy="176074"/>
          </a:xfrm>
          <a:prstGeom prst="rect">
            <a:avLst/>
          </a:prstGeom>
          <a:noFill/>
          <a:ln/>
        </p:spPr>
        <p:txBody>
          <a:bodyPr wrap="none" lIns="0" tIns="0" rIns="0" bIns="0" rtlCol="0" anchor="t"/>
          <a:lstStyle/>
          <a:p>
            <a:pPr algn="l" indent="0" marL="0">
              <a:lnSpc>
                <a:spcPct val="94000"/>
              </a:lnSpc>
              <a:buNone/>
            </a:pPr>
            <a:r>
              <a:rPr lang="en-US" sz="1200" dirty="0">
                <a:solidFill>
                  <a:srgbClr val="000000"/>
                </a:solidFill>
                <a:latin typeface="Montserrat" pitchFamily="34" charset="0"/>
                <a:ea typeface="Montserrat" pitchFamily="34" charset="-122"/>
                <a:cs typeface="Montserrat" pitchFamily="34" charset="-120"/>
              </a:rPr>
              <a:t>Router phân 5 loại intent.</a:t>
            </a:r>
            <a:endParaRPr lang="en-US" sz="1200" dirty="0"/>
          </a:p>
        </p:txBody>
      </p:sp>
      <p:sp>
        <p:nvSpPr>
          <p:cNvPr id="9" name="Text 6"/>
          <p:cNvSpPr/>
          <p:nvPr/>
        </p:nvSpPr>
        <p:spPr>
          <a:xfrm>
            <a:off x="6844625" y="2676646"/>
            <a:ext cx="1956332" cy="244548"/>
          </a:xfrm>
          <a:prstGeom prst="rect">
            <a:avLst/>
          </a:prstGeom>
          <a:noFill/>
          <a:ln/>
        </p:spPr>
        <p:txBody>
          <a:bodyPr wrap="none" lIns="0" tIns="0" rIns="0" bIns="0" rtlCol="0" anchor="t"/>
          <a:lstStyle/>
          <a:p>
            <a:pPr algn="l" indent="0" marL="0">
              <a:lnSpc>
                <a:spcPct val="104000"/>
              </a:lnSpc>
              <a:buNone/>
            </a:pPr>
            <a:r>
              <a:rPr lang="en-US" sz="1500" b="1" dirty="0">
                <a:solidFill>
                  <a:srgbClr val="000000"/>
                </a:solidFill>
                <a:latin typeface="Montserrat Bold" pitchFamily="34" charset="0"/>
                <a:ea typeface="Montserrat Bold" pitchFamily="34" charset="-122"/>
                <a:cs typeface="Montserrat Bold" pitchFamily="34" charset="-120"/>
              </a:rPr>
              <a:t>Biên an toàn</a:t>
            </a:r>
            <a:endParaRPr lang="en-US" sz="1500" dirty="0"/>
          </a:p>
        </p:txBody>
      </p:sp>
      <p:sp>
        <p:nvSpPr>
          <p:cNvPr id="10" name="Text 7"/>
          <p:cNvSpPr/>
          <p:nvPr/>
        </p:nvSpPr>
        <p:spPr>
          <a:xfrm>
            <a:off x="6844625" y="2990754"/>
            <a:ext cx="3182301" cy="176074"/>
          </a:xfrm>
          <a:prstGeom prst="rect">
            <a:avLst/>
          </a:prstGeom>
          <a:noFill/>
          <a:ln/>
        </p:spPr>
        <p:txBody>
          <a:bodyPr wrap="none" lIns="0" tIns="0" rIns="0" bIns="0" rtlCol="0" anchor="t"/>
          <a:lstStyle/>
          <a:p>
            <a:pPr algn="l" indent="0" marL="0">
              <a:lnSpc>
                <a:spcPct val="94000"/>
              </a:lnSpc>
              <a:buNone/>
            </a:pPr>
            <a:r>
              <a:rPr lang="en-US" sz="1200" dirty="0">
                <a:solidFill>
                  <a:srgbClr val="000000"/>
                </a:solidFill>
                <a:latin typeface="Montserrat" pitchFamily="34" charset="0"/>
                <a:ea typeface="Montserrat" pitchFamily="34" charset="-122"/>
                <a:cs typeface="Montserrat" pitchFamily="34" charset="-120"/>
              </a:rPr>
              <a:t>Guardrail chặn injection.</a:t>
            </a:r>
            <a:endParaRPr lang="en-US" sz="1200" dirty="0"/>
          </a:p>
        </p:txBody>
      </p:sp>
      <p:sp>
        <p:nvSpPr>
          <p:cNvPr id="11" name="Text 8"/>
          <p:cNvSpPr/>
          <p:nvPr/>
        </p:nvSpPr>
        <p:spPr>
          <a:xfrm>
            <a:off x="6096871" y="1624548"/>
            <a:ext cx="1956332" cy="244548"/>
          </a:xfrm>
          <a:prstGeom prst="rect">
            <a:avLst/>
          </a:prstGeom>
          <a:noFill/>
          <a:ln/>
        </p:spPr>
        <p:txBody>
          <a:bodyPr wrap="none" lIns="0" tIns="0" rIns="0" bIns="0" rtlCol="0" anchor="t"/>
          <a:lstStyle/>
          <a:p>
            <a:pPr algn="l" indent="0" marL="0">
              <a:lnSpc>
                <a:spcPct val="104000"/>
              </a:lnSpc>
              <a:buNone/>
            </a:pPr>
            <a:r>
              <a:rPr lang="en-US" sz="1500" b="1" dirty="0">
                <a:solidFill>
                  <a:srgbClr val="000000"/>
                </a:solidFill>
                <a:latin typeface="Montserrat Bold" pitchFamily="34" charset="0"/>
                <a:ea typeface="Montserrat Bold" pitchFamily="34" charset="-122"/>
                <a:cs typeface="Montserrat Bold" pitchFamily="34" charset="-120"/>
              </a:rPr>
              <a:t>Tri thức</a:t>
            </a:r>
            <a:endParaRPr lang="en-US" sz="1500" dirty="0"/>
          </a:p>
        </p:txBody>
      </p:sp>
      <p:sp>
        <p:nvSpPr>
          <p:cNvPr id="12" name="Text 9"/>
          <p:cNvSpPr/>
          <p:nvPr/>
        </p:nvSpPr>
        <p:spPr>
          <a:xfrm>
            <a:off x="6096871" y="1938656"/>
            <a:ext cx="3182301" cy="176074"/>
          </a:xfrm>
          <a:prstGeom prst="rect">
            <a:avLst/>
          </a:prstGeom>
          <a:noFill/>
          <a:ln/>
        </p:spPr>
        <p:txBody>
          <a:bodyPr wrap="none" lIns="0" tIns="0" rIns="0" bIns="0" rtlCol="0" anchor="t"/>
          <a:lstStyle/>
          <a:p>
            <a:pPr algn="l" indent="0" marL="0">
              <a:lnSpc>
                <a:spcPct val="94000"/>
              </a:lnSpc>
              <a:buNone/>
            </a:pPr>
            <a:r>
              <a:rPr lang="en-US" sz="1200" dirty="0">
                <a:solidFill>
                  <a:srgbClr val="000000"/>
                </a:solidFill>
                <a:latin typeface="Montserrat" pitchFamily="34" charset="0"/>
                <a:ea typeface="Montserrat" pitchFamily="34" charset="-122"/>
                <a:cs typeface="Montserrat" pitchFamily="34" charset="-120"/>
              </a:rPr>
              <a:t>FAQ embed vào vector-store.</a:t>
            </a:r>
            <a:endParaRPr lang="en-US" sz="1200" dirty="0"/>
          </a:p>
        </p:txBody>
      </p:sp>
      <p:sp>
        <p:nvSpPr>
          <p:cNvPr id="13" name="Text 10"/>
          <p:cNvSpPr/>
          <p:nvPr/>
        </p:nvSpPr>
        <p:spPr>
          <a:xfrm>
            <a:off x="661475" y="5939830"/>
            <a:ext cx="10868745" cy="381000"/>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000000"/>
                </a:solidFill>
                <a:latin typeface="Montserrat" pitchFamily="34" charset="0"/>
                <a:ea typeface="Montserrat" pitchFamily="34" charset="-122"/>
                <a:cs typeface="Montserrat" pitchFamily="34" charset="-120"/>
              </a:rPr>
              <a:t>Mỗi câu hỏi của khách đi qua đủ sáu lớp — từ kho tri thức, biên an toàn, định tuyến, bộ nhớ đệm, dự phòng có kiểm soát, đến giao diện người dùng. Không lớp nào có thể bỏ qua.</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661475" y="1300460"/>
            <a:ext cx="10868745" cy="516731"/>
          </a:xfrm>
          <a:prstGeom prst="rect">
            <a:avLst/>
          </a:prstGeom>
          <a:noFill/>
          <a:ln/>
        </p:spPr>
        <p:txBody>
          <a:bodyPr wrap="none" lIns="0" tIns="0" rIns="0" bIns="0" rtlCol="0" anchor="t"/>
          <a:lstStyle/>
          <a:p>
            <a:pPr algn="l" indent="0" marL="0">
              <a:lnSpc>
                <a:spcPct val="104000"/>
              </a:lnSpc>
              <a:buNone/>
            </a:pPr>
            <a:r>
              <a:rPr lang="en-US" sz="3250" b="1" dirty="0">
                <a:solidFill>
                  <a:srgbClr val="004AAD"/>
                </a:solidFill>
                <a:latin typeface="Montserrat Bold" pitchFamily="34" charset="0"/>
                <a:ea typeface="Montserrat Bold" pitchFamily="34" charset="-122"/>
                <a:cs typeface="Montserrat Bold" pitchFamily="34" charset="-120"/>
              </a:rPr>
              <a:t>Bốn rủi ro cần kiểm soát</a:t>
            </a:r>
            <a:endParaRPr lang="en-US" sz="3250" dirty="0"/>
          </a:p>
        </p:txBody>
      </p:sp>
      <p:sp>
        <p:nvSpPr>
          <p:cNvPr id="3" name="Text 1"/>
          <p:cNvSpPr/>
          <p:nvPr/>
        </p:nvSpPr>
        <p:spPr>
          <a:xfrm>
            <a:off x="661475" y="1883271"/>
            <a:ext cx="10868745" cy="258465"/>
          </a:xfrm>
          <a:prstGeom prst="rect">
            <a:avLst/>
          </a:prstGeom>
          <a:noFill/>
          <a:ln/>
        </p:spPr>
        <p:txBody>
          <a:bodyPr wrap="none" lIns="0" tIns="0" rIns="0" bIns="0" rtlCol="0" anchor="t"/>
          <a:lstStyle/>
          <a:p>
            <a:pPr algn="l" indent="0" marL="0">
              <a:lnSpc>
                <a:spcPct val="104000"/>
              </a:lnSpc>
              <a:buNone/>
            </a:pPr>
            <a:r>
              <a:rPr lang="en-US" sz="1600" b="1" dirty="0">
                <a:solidFill>
                  <a:srgbClr val="004AAD"/>
                </a:solidFill>
                <a:latin typeface="Montserrat Bold" pitchFamily="34" charset="0"/>
                <a:ea typeface="Montserrat Bold" pitchFamily="34" charset="-122"/>
                <a:cs typeface="Montserrat Bold" pitchFamily="34" charset="-120"/>
              </a:rPr>
              <a:t>Những thứ bot dễ làm sai nếu không có guardrail</a:t>
            </a:r>
            <a:endParaRPr lang="en-US" sz="1600" dirty="0"/>
          </a:p>
        </p:txBody>
      </p:sp>
      <p:sp>
        <p:nvSpPr>
          <p:cNvPr id="4" name="Shape 2"/>
          <p:cNvSpPr/>
          <p:nvPr/>
        </p:nvSpPr>
        <p:spPr>
          <a:xfrm>
            <a:off x="661475" y="2389783"/>
            <a:ext cx="5351725" cy="1501180"/>
          </a:xfrm>
          <a:prstGeom prst="roundRect">
            <a:avLst>
              <a:gd name="adj" fmla="val 4627"/>
            </a:avLst>
          </a:prstGeom>
          <a:solidFill>
            <a:srgbClr val="CCE2FF"/>
          </a:solidFill>
          <a:ln w="6350">
            <a:solidFill>
              <a:srgbClr val="B2C8E5"/>
            </a:solidFill>
            <a:prstDash val="solid"/>
          </a:ln>
        </p:spPr>
      </p:sp>
      <p:sp>
        <p:nvSpPr>
          <p:cNvPr id="5" name="Text 3"/>
          <p:cNvSpPr/>
          <p:nvPr/>
        </p:nvSpPr>
        <p:spPr>
          <a:xfrm>
            <a:off x="833119" y="2561431"/>
            <a:ext cx="5008437" cy="264815"/>
          </a:xfrm>
          <a:prstGeom prst="rect">
            <a:avLst/>
          </a:prstGeom>
          <a:noFill/>
          <a:ln/>
        </p:spPr>
        <p:txBody>
          <a:bodyPr wrap="none" lIns="0" tIns="0" rIns="0" bIns="0" rtlCol="0" anchor="t"/>
          <a:lstStyle/>
          <a:p>
            <a:pPr algn="l" indent="0" marL="0">
              <a:lnSpc>
                <a:spcPct val="104000"/>
              </a:lnSpc>
              <a:buNone/>
            </a:pPr>
            <a:r>
              <a:rPr lang="en-US" sz="1600" b="1" dirty="0">
                <a:solidFill>
                  <a:srgbClr val="000000"/>
                </a:solidFill>
                <a:latin typeface="Twemoji Mozilla" pitchFamily="34" charset="0"/>
                <a:ea typeface="Twemoji Mozilla" pitchFamily="34" charset="-122"/>
                <a:cs typeface="Twemoji Mozilla" pitchFamily="34" charset="-120"/>
              </a:rPr>
              <a:t>📝</a:t>
            </a:r>
            <a:pPr algn="l" indent="0" marL="0">
              <a:lnSpc>
                <a:spcPct val="104000"/>
              </a:lnSpc>
              <a:buNone/>
            </a:pPr>
            <a:r>
              <a:rPr lang="en-US" sz="1600" b="1" dirty="0">
                <a:solidFill>
                  <a:srgbClr val="000000"/>
                </a:solidFill>
                <a:latin typeface="Montserrat Bold" pitchFamily="34" charset="0"/>
                <a:ea typeface="Montserrat Bold" pitchFamily="34" charset="-122"/>
                <a:cs typeface="Montserrat Bold" pitchFamily="34" charset="-120"/>
              </a:rPr>
              <a:t> Bịa chính sách</a:t>
            </a:r>
            <a:endParaRPr lang="en-US" sz="1600" dirty="0"/>
          </a:p>
        </p:txBody>
      </p:sp>
      <p:sp>
        <p:nvSpPr>
          <p:cNvPr id="6" name="Text 4"/>
          <p:cNvSpPr/>
          <p:nvPr/>
        </p:nvSpPr>
        <p:spPr>
          <a:xfrm>
            <a:off x="833119" y="2925465"/>
            <a:ext cx="5008437" cy="793849"/>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000000"/>
                </a:solidFill>
                <a:latin typeface="Montserrat" pitchFamily="34" charset="0"/>
                <a:ea typeface="Montserrat" pitchFamily="34" charset="-122"/>
                <a:cs typeface="Montserrat" pitchFamily="34" charset="-120"/>
              </a:rPr>
              <a:t>Tự đẻ ra ưu đãi, thời hạn đổi trả hay điều kiện bảo hành </a:t>
            </a:r>
            <a:pPr algn="l" indent="0" marL="0">
              <a:lnSpc>
                <a:spcPct val="133000"/>
              </a:lnSpc>
              <a:buNone/>
            </a:pPr>
            <a:r>
              <a:rPr lang="en-US" sz="1300" b="1" dirty="0">
                <a:solidFill>
                  <a:srgbClr val="000000"/>
                </a:solidFill>
                <a:latin typeface="Montserrat Bold" pitchFamily="34" charset="0"/>
                <a:ea typeface="Montserrat Bold" pitchFamily="34" charset="-122"/>
                <a:cs typeface="Montserrat Bold" pitchFamily="34" charset="-120"/>
              </a:rPr>
              <a:t>không có trong tài liệu</a:t>
            </a:r>
            <a:pPr algn="l" indent="0" marL="0">
              <a:lnSpc>
                <a:spcPct val="133000"/>
              </a:lnSpc>
              <a:buNone/>
            </a:pPr>
            <a:r>
              <a:rPr lang="en-US" sz="1300" dirty="0">
                <a:solidFill>
                  <a:srgbClr val="000000"/>
                </a:solidFill>
                <a:latin typeface="Montserrat" pitchFamily="34" charset="0"/>
                <a:ea typeface="Montserrat" pitchFamily="34" charset="-122"/>
                <a:cs typeface="Montserrat" pitchFamily="34" charset="-120"/>
              </a:rPr>
              <a:t>. Hậu quả: khiếu kiện và mất uy tín thương hiệu.</a:t>
            </a:r>
            <a:endParaRPr lang="en-US" sz="1300" dirty="0"/>
          </a:p>
        </p:txBody>
      </p:sp>
      <p:sp>
        <p:nvSpPr>
          <p:cNvPr id="7" name="Shape 5"/>
          <p:cNvSpPr/>
          <p:nvPr/>
        </p:nvSpPr>
        <p:spPr>
          <a:xfrm>
            <a:off x="6178495" y="2389783"/>
            <a:ext cx="5351725" cy="1501180"/>
          </a:xfrm>
          <a:prstGeom prst="roundRect">
            <a:avLst>
              <a:gd name="adj" fmla="val 4627"/>
            </a:avLst>
          </a:prstGeom>
          <a:solidFill>
            <a:srgbClr val="CCE2FF"/>
          </a:solidFill>
          <a:ln w="6350">
            <a:solidFill>
              <a:srgbClr val="B2C8E5"/>
            </a:solidFill>
            <a:prstDash val="solid"/>
          </a:ln>
        </p:spPr>
      </p:sp>
      <p:sp>
        <p:nvSpPr>
          <p:cNvPr id="8" name="Text 6"/>
          <p:cNvSpPr/>
          <p:nvPr/>
        </p:nvSpPr>
        <p:spPr>
          <a:xfrm>
            <a:off x="6350139" y="2561431"/>
            <a:ext cx="5008437" cy="264815"/>
          </a:xfrm>
          <a:prstGeom prst="rect">
            <a:avLst/>
          </a:prstGeom>
          <a:noFill/>
          <a:ln/>
        </p:spPr>
        <p:txBody>
          <a:bodyPr wrap="none" lIns="0" tIns="0" rIns="0" bIns="0" rtlCol="0" anchor="t"/>
          <a:lstStyle/>
          <a:p>
            <a:pPr algn="l" indent="0" marL="0">
              <a:lnSpc>
                <a:spcPct val="104000"/>
              </a:lnSpc>
              <a:buNone/>
            </a:pPr>
            <a:r>
              <a:rPr lang="en-US" sz="1600" b="1" dirty="0">
                <a:solidFill>
                  <a:srgbClr val="000000"/>
                </a:solidFill>
                <a:latin typeface="Twemoji Mozilla" pitchFamily="34" charset="0"/>
                <a:ea typeface="Twemoji Mozilla" pitchFamily="34" charset="-122"/>
                <a:cs typeface="Twemoji Mozilla" pitchFamily="34" charset="-120"/>
              </a:rPr>
              <a:t>💸</a:t>
            </a:r>
            <a:pPr algn="l" indent="0" marL="0">
              <a:lnSpc>
                <a:spcPct val="104000"/>
              </a:lnSpc>
              <a:buNone/>
            </a:pPr>
            <a:r>
              <a:rPr lang="en-US" sz="1600" b="1" dirty="0">
                <a:solidFill>
                  <a:srgbClr val="000000"/>
                </a:solidFill>
                <a:latin typeface="Montserrat Bold" pitchFamily="34" charset="0"/>
                <a:ea typeface="Montserrat Bold" pitchFamily="34" charset="-122"/>
                <a:cs typeface="Montserrat Bold" pitchFamily="34" charset="-120"/>
              </a:rPr>
              <a:t> Xử lý nhạy cảm</a:t>
            </a:r>
            <a:endParaRPr lang="en-US" sz="1600" dirty="0"/>
          </a:p>
        </p:txBody>
      </p:sp>
      <p:sp>
        <p:nvSpPr>
          <p:cNvPr id="9" name="Text 7"/>
          <p:cNvSpPr/>
          <p:nvPr/>
        </p:nvSpPr>
        <p:spPr>
          <a:xfrm>
            <a:off x="6350139" y="2925465"/>
            <a:ext cx="5008437" cy="793849"/>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000000"/>
                </a:solidFill>
                <a:latin typeface="Montserrat" pitchFamily="34" charset="0"/>
                <a:ea typeface="Montserrat" pitchFamily="34" charset="-122"/>
                <a:cs typeface="Montserrat" pitchFamily="34" charset="-120"/>
              </a:rPr>
              <a:t>Tự nhận giải quyết khiếu nại hay hoàn tiền thay vì chuyển người phụ trách. Bot không có thẩm quyền </a:t>
            </a:r>
            <a:pPr algn="l" indent="0" marL="0">
              <a:lnSpc>
                <a:spcPct val="133000"/>
              </a:lnSpc>
              <a:buNone/>
            </a:pPr>
            <a:r>
              <a:rPr lang="en-US" sz="1300" b="1" dirty="0">
                <a:solidFill>
                  <a:srgbClr val="000000"/>
                </a:solidFill>
                <a:latin typeface="Montserrat Bold" pitchFamily="34" charset="0"/>
                <a:ea typeface="Montserrat Bold" pitchFamily="34" charset="-122"/>
                <a:cs typeface="Montserrat Bold" pitchFamily="34" charset="-120"/>
              </a:rPr>
              <a:t>phê duyệt giao dịch tài chính</a:t>
            </a:r>
            <a:pPr algn="l" indent="0" marL="0">
              <a:lnSpc>
                <a:spcPct val="133000"/>
              </a:lnSpc>
              <a:buNone/>
            </a:pPr>
            <a:r>
              <a:rPr lang="en-US" sz="1300" dirty="0">
                <a:solidFill>
                  <a:srgbClr val="000000"/>
                </a:solidFill>
                <a:latin typeface="Montserrat" pitchFamily="34" charset="0"/>
                <a:ea typeface="Montserrat" pitchFamily="34" charset="-122"/>
                <a:cs typeface="Montserrat" pitchFamily="34" charset="-120"/>
              </a:rPr>
              <a:t>.</a:t>
            </a:r>
            <a:endParaRPr lang="en-US" sz="1300" dirty="0"/>
          </a:p>
        </p:txBody>
      </p:sp>
      <p:sp>
        <p:nvSpPr>
          <p:cNvPr id="10" name="Shape 8"/>
          <p:cNvSpPr/>
          <p:nvPr/>
        </p:nvSpPr>
        <p:spPr>
          <a:xfrm>
            <a:off x="661475" y="4056261"/>
            <a:ext cx="5351725" cy="1501180"/>
          </a:xfrm>
          <a:prstGeom prst="roundRect">
            <a:avLst>
              <a:gd name="adj" fmla="val 4627"/>
            </a:avLst>
          </a:prstGeom>
          <a:solidFill>
            <a:srgbClr val="CCE2FF"/>
          </a:solidFill>
          <a:ln w="6350">
            <a:solidFill>
              <a:srgbClr val="B2C8E5"/>
            </a:solidFill>
            <a:prstDash val="solid"/>
          </a:ln>
        </p:spPr>
      </p:sp>
      <p:sp>
        <p:nvSpPr>
          <p:cNvPr id="11" name="Text 9"/>
          <p:cNvSpPr/>
          <p:nvPr/>
        </p:nvSpPr>
        <p:spPr>
          <a:xfrm>
            <a:off x="833119" y="4227909"/>
            <a:ext cx="5008437" cy="264815"/>
          </a:xfrm>
          <a:prstGeom prst="rect">
            <a:avLst/>
          </a:prstGeom>
          <a:noFill/>
          <a:ln/>
        </p:spPr>
        <p:txBody>
          <a:bodyPr wrap="none" lIns="0" tIns="0" rIns="0" bIns="0" rtlCol="0" anchor="t"/>
          <a:lstStyle/>
          <a:p>
            <a:pPr algn="l" indent="0" marL="0">
              <a:lnSpc>
                <a:spcPct val="104000"/>
              </a:lnSpc>
              <a:buNone/>
            </a:pPr>
            <a:r>
              <a:rPr lang="en-US" sz="1600" b="1" dirty="0">
                <a:solidFill>
                  <a:srgbClr val="000000"/>
                </a:solidFill>
                <a:latin typeface="Twemoji Mozilla" pitchFamily="34" charset="0"/>
                <a:ea typeface="Twemoji Mozilla" pitchFamily="34" charset="-122"/>
                <a:cs typeface="Twemoji Mozilla" pitchFamily="34" charset="-120"/>
              </a:rPr>
              <a:t>💉</a:t>
            </a:r>
            <a:pPr algn="l" indent="0" marL="0">
              <a:lnSpc>
                <a:spcPct val="104000"/>
              </a:lnSpc>
              <a:buNone/>
            </a:pPr>
            <a:r>
              <a:rPr lang="en-US" sz="1600" b="1" dirty="0">
                <a:solidFill>
                  <a:srgbClr val="000000"/>
                </a:solidFill>
                <a:latin typeface="Montserrat Bold" pitchFamily="34" charset="0"/>
                <a:ea typeface="Montserrat Bold" pitchFamily="34" charset="-122"/>
                <a:cs typeface="Montserrat Bold" pitchFamily="34" charset="-120"/>
              </a:rPr>
              <a:t> Prompt Injection</a:t>
            </a:r>
            <a:endParaRPr lang="en-US" sz="1600" dirty="0"/>
          </a:p>
        </p:txBody>
      </p:sp>
      <p:sp>
        <p:nvSpPr>
          <p:cNvPr id="12" name="Text 10"/>
          <p:cNvSpPr/>
          <p:nvPr/>
        </p:nvSpPr>
        <p:spPr>
          <a:xfrm>
            <a:off x="833119" y="4591943"/>
            <a:ext cx="5008437" cy="793849"/>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000000"/>
                </a:solidFill>
                <a:latin typeface="Montserrat" pitchFamily="34" charset="0"/>
                <a:ea typeface="Montserrat" pitchFamily="34" charset="-122"/>
                <a:cs typeface="Montserrat" pitchFamily="34" charset="-120"/>
              </a:rPr>
              <a:t>Khách gửi câu chứa chỉ thị độc hại (kiểu </a:t>
            </a:r>
            <a:pPr algn="l" indent="0" marL="0">
              <a:lnSpc>
                <a:spcPct val="133000"/>
              </a:lnSpc>
              <a:buNone/>
            </a:pPr>
            <a:r>
              <a:rPr lang="en-US" sz="1300" i="1" dirty="0">
                <a:solidFill>
                  <a:srgbClr val="000000"/>
                </a:solidFill>
                <a:latin typeface="Montserrat" pitchFamily="34" charset="0"/>
                <a:ea typeface="Montserrat" pitchFamily="34" charset="-122"/>
                <a:cs typeface="Montserrat" pitchFamily="34" charset="-120"/>
              </a:rPr>
              <a:t>"bỏ qua quy định cũ"</a:t>
            </a:r>
            <a:pPr algn="l" indent="0" marL="0">
              <a:lnSpc>
                <a:spcPct val="133000"/>
              </a:lnSpc>
              <a:buNone/>
            </a:pPr>
            <a:r>
              <a:rPr lang="en-US" sz="1300" dirty="0">
                <a:solidFill>
                  <a:srgbClr val="000000"/>
                </a:solidFill>
                <a:latin typeface="Montserrat" pitchFamily="34" charset="0"/>
                <a:ea typeface="Montserrat" pitchFamily="34" charset="-122"/>
                <a:cs typeface="Montserrat" pitchFamily="34" charset="-120"/>
              </a:rPr>
              <a:t>). Hệ thống phải coi đó là </a:t>
            </a:r>
            <a:pPr algn="l" indent="0" marL="0">
              <a:lnSpc>
                <a:spcPct val="133000"/>
              </a:lnSpc>
              <a:buNone/>
            </a:pPr>
            <a:r>
              <a:rPr lang="en-US" sz="1300" b="1" dirty="0">
                <a:solidFill>
                  <a:srgbClr val="000000"/>
                </a:solidFill>
                <a:latin typeface="Montserrat Bold" pitchFamily="34" charset="0"/>
                <a:ea typeface="Montserrat Bold" pitchFamily="34" charset="-122"/>
                <a:cs typeface="Montserrat Bold" pitchFamily="34" charset="-120"/>
              </a:rPr>
              <a:t>dữ liệu</a:t>
            </a:r>
            <a:pPr algn="l" indent="0" marL="0">
              <a:lnSpc>
                <a:spcPct val="133000"/>
              </a:lnSpc>
              <a:buNone/>
            </a:pPr>
            <a:r>
              <a:rPr lang="en-US" sz="1300" dirty="0">
                <a:solidFill>
                  <a:srgbClr val="000000"/>
                </a:solidFill>
                <a:latin typeface="Montserrat" pitchFamily="34" charset="0"/>
                <a:ea typeface="Montserrat" pitchFamily="34" charset="-122"/>
                <a:cs typeface="Montserrat" pitchFamily="34" charset="-120"/>
              </a:rPr>
              <a:t>, không phải lệnh điều khiển.</a:t>
            </a:r>
            <a:endParaRPr lang="en-US" sz="1300" dirty="0"/>
          </a:p>
        </p:txBody>
      </p:sp>
      <p:sp>
        <p:nvSpPr>
          <p:cNvPr id="13" name="Shape 11"/>
          <p:cNvSpPr/>
          <p:nvPr/>
        </p:nvSpPr>
        <p:spPr>
          <a:xfrm>
            <a:off x="6178495" y="4056261"/>
            <a:ext cx="5351725" cy="1501180"/>
          </a:xfrm>
          <a:prstGeom prst="roundRect">
            <a:avLst>
              <a:gd name="adj" fmla="val 4627"/>
            </a:avLst>
          </a:prstGeom>
          <a:solidFill>
            <a:srgbClr val="CCE2FF"/>
          </a:solidFill>
          <a:ln w="6350">
            <a:solidFill>
              <a:srgbClr val="B2C8E5"/>
            </a:solidFill>
            <a:prstDash val="solid"/>
          </a:ln>
        </p:spPr>
      </p:sp>
      <p:sp>
        <p:nvSpPr>
          <p:cNvPr id="14" name="Text 12"/>
          <p:cNvSpPr/>
          <p:nvPr/>
        </p:nvSpPr>
        <p:spPr>
          <a:xfrm>
            <a:off x="6350139" y="4227909"/>
            <a:ext cx="5008437" cy="264815"/>
          </a:xfrm>
          <a:prstGeom prst="rect">
            <a:avLst/>
          </a:prstGeom>
          <a:noFill/>
          <a:ln/>
        </p:spPr>
        <p:txBody>
          <a:bodyPr wrap="none" lIns="0" tIns="0" rIns="0" bIns="0" rtlCol="0" anchor="t"/>
          <a:lstStyle/>
          <a:p>
            <a:pPr algn="l" indent="0" marL="0">
              <a:lnSpc>
                <a:spcPct val="104000"/>
              </a:lnSpc>
              <a:buNone/>
            </a:pPr>
            <a:r>
              <a:rPr lang="en-US" sz="1600" b="1" dirty="0">
                <a:solidFill>
                  <a:srgbClr val="000000"/>
                </a:solidFill>
                <a:latin typeface="Twemoji Mozilla" pitchFamily="34" charset="0"/>
                <a:ea typeface="Twemoji Mozilla" pitchFamily="34" charset="-122"/>
                <a:cs typeface="Twemoji Mozilla" pitchFamily="34" charset="-120"/>
              </a:rPr>
              <a:t>🔇</a:t>
            </a:r>
            <a:pPr algn="l" indent="0" marL="0">
              <a:lnSpc>
                <a:spcPct val="104000"/>
              </a:lnSpc>
              <a:buNone/>
            </a:pPr>
            <a:r>
              <a:rPr lang="en-US" sz="1600" b="1" dirty="0">
                <a:solidFill>
                  <a:srgbClr val="000000"/>
                </a:solidFill>
                <a:latin typeface="Montserrat Bold" pitchFamily="34" charset="0"/>
                <a:ea typeface="Montserrat Bold" pitchFamily="34" charset="-122"/>
                <a:cs typeface="Montserrat Bold" pitchFamily="34" charset="-120"/>
              </a:rPr>
              <a:t> Tự tin thái quá</a:t>
            </a:r>
            <a:endParaRPr lang="en-US" sz="1600" dirty="0"/>
          </a:p>
        </p:txBody>
      </p:sp>
      <p:sp>
        <p:nvSpPr>
          <p:cNvPr id="15" name="Text 13"/>
          <p:cNvSpPr/>
          <p:nvPr/>
        </p:nvSpPr>
        <p:spPr>
          <a:xfrm>
            <a:off x="6350139" y="4591943"/>
            <a:ext cx="5008437" cy="529233"/>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000000"/>
                </a:solidFill>
                <a:latin typeface="Montserrat" pitchFamily="34" charset="0"/>
                <a:ea typeface="Montserrat" pitchFamily="34" charset="-122"/>
                <a:cs typeface="Montserrat" pitchFamily="34" charset="-120"/>
              </a:rPr>
              <a:t>Một LLM vừa trả lời vừa tự chấm điểm tin cậy sẽ </a:t>
            </a:r>
            <a:pPr algn="l" indent="0" marL="0">
              <a:lnSpc>
                <a:spcPct val="133000"/>
              </a:lnSpc>
              <a:buNone/>
            </a:pPr>
            <a:r>
              <a:rPr lang="en-US" sz="1300" b="1" dirty="0">
                <a:solidFill>
                  <a:srgbClr val="000000"/>
                </a:solidFill>
                <a:latin typeface="Montserrat Bold" pitchFamily="34" charset="0"/>
                <a:ea typeface="Montserrat Bold" pitchFamily="34" charset="-122"/>
                <a:cs typeface="Montserrat Bold" pitchFamily="34" charset="-120"/>
              </a:rPr>
              <a:t>không khách quan</a:t>
            </a:r>
            <a:pPr algn="l" indent="0" marL="0">
              <a:lnSpc>
                <a:spcPct val="133000"/>
              </a:lnSpc>
              <a:buNone/>
            </a:pPr>
            <a:r>
              <a:rPr lang="en-US" sz="1300" dirty="0">
                <a:solidFill>
                  <a:srgbClr val="000000"/>
                </a:solidFill>
                <a:latin typeface="Montserrat" pitchFamily="34" charset="0"/>
                <a:ea typeface="Montserrat" pitchFamily="34" charset="-122"/>
                <a:cs typeface="Montserrat" pitchFamily="34" charset="-120"/>
              </a:rPr>
              <a:t>. Tách judge thành vai riêng biệt là bắt buộc.</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33360" y="2816027"/>
            <a:ext cx="6296860" cy="713184"/>
          </a:xfrm>
          <a:prstGeom prst="rect">
            <a:avLst/>
          </a:prstGeom>
          <a:noFill/>
          <a:ln/>
        </p:spPr>
        <p:txBody>
          <a:bodyPr wrap="none" lIns="0" tIns="0" rIns="0" bIns="0" rtlCol="0" anchor="t"/>
          <a:lstStyle/>
          <a:p>
            <a:pPr algn="l" indent="0" marL="0">
              <a:lnSpc>
                <a:spcPct val="104000"/>
              </a:lnSpc>
              <a:buNone/>
            </a:pPr>
            <a:r>
              <a:rPr lang="en-US" sz="4450" b="1" dirty="0">
                <a:solidFill>
                  <a:srgbClr val="004AAD"/>
                </a:solidFill>
                <a:latin typeface="Montserrat Bold" pitchFamily="34" charset="0"/>
                <a:ea typeface="Montserrat Bold" pitchFamily="34" charset="-122"/>
                <a:cs typeface="Montserrat Bold" pitchFamily="34" charset="-120"/>
              </a:rPr>
              <a:t>Demo qua notebook</a:t>
            </a:r>
            <a:endParaRPr lang="en-US" sz="4450" dirty="0"/>
          </a:p>
        </p:txBody>
      </p:sp>
      <p:sp>
        <p:nvSpPr>
          <p:cNvPr id="4" name="Text 1"/>
          <p:cNvSpPr/>
          <p:nvPr/>
        </p:nvSpPr>
        <p:spPr>
          <a:xfrm>
            <a:off x="5233360" y="3777258"/>
            <a:ext cx="6906444" cy="264616"/>
          </a:xfrm>
          <a:prstGeom prst="rect">
            <a:avLst/>
          </a:prstGeom>
          <a:noFill/>
          <a:ln/>
        </p:spPr>
        <p:txBody>
          <a:bodyPr wrap="none" lIns="0" tIns="0" rIns="0" bIns="0" rtlCol="0" anchor="t"/>
          <a:lstStyle/>
          <a:p>
            <a:pPr algn="l" indent="0" marL="0">
              <a:lnSpc>
                <a:spcPct val="133000"/>
              </a:lnSpc>
              <a:buNone/>
            </a:pPr>
            <a:r>
              <a:rPr lang="en-US" sz="1300" b="1" dirty="0">
                <a:solidFill>
                  <a:srgbClr val="000000"/>
                </a:solidFill>
                <a:latin typeface="Montserrat Bold" pitchFamily="34" charset="0"/>
                <a:ea typeface="Montserrat Bold" pitchFamily="34" charset="-122"/>
                <a:cs typeface="Montserrat Bold" pitchFamily="34" charset="-120"/>
              </a:rPr>
              <a:t>npx n8n và webhook /cskh</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661475" y="1562100"/>
            <a:ext cx="10868745" cy="516731"/>
          </a:xfrm>
          <a:prstGeom prst="rect">
            <a:avLst/>
          </a:prstGeom>
          <a:noFill/>
          <a:ln/>
        </p:spPr>
        <p:txBody>
          <a:bodyPr wrap="none" lIns="0" tIns="0" rIns="0" bIns="0" rtlCol="0" anchor="t"/>
          <a:lstStyle/>
          <a:p>
            <a:pPr algn="l" indent="0" marL="0">
              <a:lnSpc>
                <a:spcPct val="104000"/>
              </a:lnSpc>
              <a:buNone/>
            </a:pPr>
            <a:r>
              <a:rPr lang="en-US" sz="3250" b="1" dirty="0">
                <a:solidFill>
                  <a:srgbClr val="004AAD"/>
                </a:solidFill>
                <a:latin typeface="Montserrat Bold" pitchFamily="34" charset="0"/>
                <a:ea typeface="Montserrat Bold" pitchFamily="34" charset="-122"/>
                <a:cs typeface="Montserrat Bold" pitchFamily="34" charset="-120"/>
              </a:rPr>
              <a:t>Vì sao học qua notebook?</a:t>
            </a:r>
            <a:endParaRPr lang="en-US" sz="3250" dirty="0"/>
          </a:p>
        </p:txBody>
      </p:sp>
      <p:sp>
        <p:nvSpPr>
          <p:cNvPr id="3" name="Text 1"/>
          <p:cNvSpPr/>
          <p:nvPr/>
        </p:nvSpPr>
        <p:spPr>
          <a:xfrm>
            <a:off x="909516" y="2657574"/>
            <a:ext cx="10620705" cy="516930"/>
          </a:xfrm>
          <a:prstGeom prst="rect">
            <a:avLst/>
          </a:prstGeom>
          <a:noFill/>
          <a:ln/>
        </p:spPr>
        <p:txBody>
          <a:bodyPr wrap="square" lIns="0" tIns="0" rIns="0" bIns="0" rtlCol="0" anchor="t">
            <a:normAutofit/>
          </a:bodyPr>
          <a:lstStyle/>
          <a:p>
            <a:pPr algn="l" indent="0" marL="0">
              <a:lnSpc>
                <a:spcPct val="104000"/>
              </a:lnSpc>
              <a:buNone/>
            </a:pPr>
            <a:r>
              <a:rPr lang="en-US" sz="1600" b="1" dirty="0">
                <a:solidFill>
                  <a:srgbClr val="004AAD"/>
                </a:solidFill>
                <a:latin typeface="Montserrat Bold" pitchFamily="34" charset="0"/>
                <a:ea typeface="Montserrat Bold" pitchFamily="34" charset="-122"/>
                <a:cs typeface="Montserrat Bold" pitchFamily="34" charset="-120"/>
              </a:rPr>
              <a:t>Học viên không kéo-thả Node, cũng không cài đặt. Một lệnh </a:t>
            </a:r>
            <a:pPr algn="l" indent="0" marL="0">
              <a:lnSpc>
                <a:spcPct val="104000"/>
              </a:lnSpc>
              <a:buNone/>
            </a:pPr>
            <a:r>
              <a:rPr lang="en-US" sz="1600" b="1" dirty="0">
                <a:solidFill>
                  <a:srgbClr val="000000"/>
                </a:solidFill>
                <a:highlight>
                  <a:srgbClr val="F2F2F2"/>
                </a:highlight>
                <a:latin typeface="Consolas" pitchFamily="34" charset="0"/>
                <a:ea typeface="Consolas" pitchFamily="34" charset="-122"/>
                <a:cs typeface="Consolas" pitchFamily="34" charset="-120"/>
              </a:rPr>
              <a:t>npx n8n start</a:t>
            </a:r>
            <a:pPr algn="l" indent="0" marL="0">
              <a:lnSpc>
                <a:spcPct val="104000"/>
              </a:lnSpc>
              <a:buNone/>
            </a:pPr>
            <a:r>
              <a:rPr lang="en-US" sz="1600" b="1" dirty="0">
                <a:solidFill>
                  <a:srgbClr val="004AAD"/>
                </a:solidFill>
                <a:latin typeface="Montserrat Bold" pitchFamily="34" charset="0"/>
                <a:ea typeface="Montserrat Bold" pitchFamily="34" charset="-122"/>
                <a:cs typeface="Montserrat Bold" pitchFamily="34" charset="-120"/>
              </a:rPr>
              <a:t> bật n8n local, notebook tự nạp workflow và gọi webhook /cskh.</a:t>
            </a:r>
            <a:endParaRPr lang="en-US" sz="1600" dirty="0"/>
          </a:p>
        </p:txBody>
      </p:sp>
      <p:sp>
        <p:nvSpPr>
          <p:cNvPr id="4" name="Shape 2"/>
          <p:cNvSpPr/>
          <p:nvPr/>
        </p:nvSpPr>
        <p:spPr>
          <a:xfrm>
            <a:off x="661475" y="2409527"/>
            <a:ext cx="19050" cy="1013023"/>
          </a:xfrm>
          <a:prstGeom prst="roundRect">
            <a:avLst>
              <a:gd name="adj" fmla="val 49999"/>
            </a:avLst>
          </a:prstGeom>
          <a:solidFill>
            <a:srgbClr val="004AAD"/>
          </a:solidFill>
          <a:ln/>
        </p:spPr>
      </p:sp>
      <p:sp>
        <p:nvSpPr>
          <p:cNvPr id="5" name="Text 3"/>
          <p:cNvSpPr/>
          <p:nvPr/>
        </p:nvSpPr>
        <p:spPr>
          <a:xfrm>
            <a:off x="661475" y="3608586"/>
            <a:ext cx="10868745" cy="529233"/>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000000"/>
                </a:solidFill>
                <a:latin typeface="Montserrat" pitchFamily="34" charset="0"/>
                <a:ea typeface="Montserrat" pitchFamily="34" charset="-122"/>
                <a:cs typeface="Montserrat" pitchFamily="34" charset="-120"/>
              </a:rPr>
              <a:t>Thời gian buổi học dành hoàn toàn cho </a:t>
            </a:r>
            <a:pPr algn="l" indent="0" marL="0">
              <a:lnSpc>
                <a:spcPct val="133000"/>
              </a:lnSpc>
              <a:buNone/>
            </a:pPr>
            <a:r>
              <a:rPr lang="en-US" sz="1300" b="1" dirty="0">
                <a:solidFill>
                  <a:srgbClr val="000000"/>
                </a:solidFill>
                <a:latin typeface="Montserrat Bold" pitchFamily="34" charset="0"/>
                <a:ea typeface="Montserrat Bold" pitchFamily="34" charset="-122"/>
                <a:cs typeface="Montserrat Bold" pitchFamily="34" charset="-120"/>
              </a:rPr>
              <a:t>năm lớp kiểm soát</a:t>
            </a:r>
            <a:pPr algn="l" indent="0" marL="0">
              <a:lnSpc>
                <a:spcPct val="133000"/>
              </a:lnSpc>
              <a:buNone/>
            </a:pPr>
            <a:r>
              <a:rPr lang="en-US" sz="1300" dirty="0">
                <a:solidFill>
                  <a:srgbClr val="000000"/>
                </a:solidFill>
                <a:latin typeface="Montserrat" pitchFamily="34" charset="0"/>
                <a:ea typeface="Montserrat" pitchFamily="34" charset="-122"/>
                <a:cs typeface="Montserrat" pitchFamily="34" charset="-120"/>
              </a:rPr>
              <a:t> — đúng chỗ bot sống hay chết. Mỗi cell notebook gửi một test case thật và cho thấy ngay bot đi về đâu: trả lời nhanh, từ chối, hay tạo ticket chuyển người.</a:t>
            </a:r>
            <a:endParaRPr lang="en-US" sz="1300" dirty="0"/>
          </a:p>
        </p:txBody>
      </p:sp>
      <p:sp>
        <p:nvSpPr>
          <p:cNvPr id="6" name="Shape 4"/>
          <p:cNvSpPr/>
          <p:nvPr/>
        </p:nvSpPr>
        <p:spPr>
          <a:xfrm>
            <a:off x="661475" y="4323854"/>
            <a:ext cx="3512653" cy="971947"/>
          </a:xfrm>
          <a:prstGeom prst="roundRect">
            <a:avLst>
              <a:gd name="adj" fmla="val 7147"/>
            </a:avLst>
          </a:prstGeom>
          <a:solidFill>
            <a:srgbClr val="CCE2FF"/>
          </a:solidFill>
          <a:ln w="6350">
            <a:solidFill>
              <a:srgbClr val="B2C8E5"/>
            </a:solidFill>
            <a:prstDash val="solid"/>
          </a:ln>
        </p:spPr>
      </p:sp>
      <p:sp>
        <p:nvSpPr>
          <p:cNvPr id="7" name="Text 5"/>
          <p:cNvSpPr/>
          <p:nvPr/>
        </p:nvSpPr>
        <p:spPr>
          <a:xfrm>
            <a:off x="833119" y="4495502"/>
            <a:ext cx="3169364" cy="264815"/>
          </a:xfrm>
          <a:prstGeom prst="rect">
            <a:avLst/>
          </a:prstGeom>
          <a:noFill/>
          <a:ln/>
        </p:spPr>
        <p:txBody>
          <a:bodyPr wrap="none" lIns="0" tIns="0" rIns="0" bIns="0" rtlCol="0" anchor="t"/>
          <a:lstStyle/>
          <a:p>
            <a:pPr algn="l" indent="0" marL="0">
              <a:lnSpc>
                <a:spcPct val="104000"/>
              </a:lnSpc>
              <a:buNone/>
            </a:pPr>
            <a:r>
              <a:rPr lang="en-US" sz="1600" b="1" dirty="0">
                <a:solidFill>
                  <a:srgbClr val="000000"/>
                </a:solidFill>
                <a:latin typeface="Twemoji Mozilla" pitchFamily="34" charset="0"/>
                <a:ea typeface="Twemoji Mozilla" pitchFamily="34" charset="-122"/>
                <a:cs typeface="Twemoji Mozilla" pitchFamily="34" charset="-120"/>
              </a:rPr>
              <a:t>⚡</a:t>
            </a:r>
            <a:pPr algn="l" indent="0" marL="0">
              <a:lnSpc>
                <a:spcPct val="104000"/>
              </a:lnSpc>
              <a:buNone/>
            </a:pPr>
            <a:r>
              <a:rPr lang="en-US" sz="1600" b="1" dirty="0">
                <a:solidFill>
                  <a:srgbClr val="000000"/>
                </a:solidFill>
                <a:latin typeface="Montserrat Bold" pitchFamily="34" charset="0"/>
                <a:ea typeface="Montserrat Bold" pitchFamily="34" charset="-122"/>
                <a:cs typeface="Montserrat Bold" pitchFamily="34" charset="-120"/>
              </a:rPr>
              <a:t> Không cài đặt</a:t>
            </a:r>
            <a:endParaRPr lang="en-US" sz="1600" dirty="0"/>
          </a:p>
        </p:txBody>
      </p:sp>
      <p:sp>
        <p:nvSpPr>
          <p:cNvPr id="8" name="Text 6"/>
          <p:cNvSpPr/>
          <p:nvPr/>
        </p:nvSpPr>
        <p:spPr>
          <a:xfrm>
            <a:off x="833119" y="4859536"/>
            <a:ext cx="3169364" cy="264616"/>
          </a:xfrm>
          <a:prstGeom prst="rect">
            <a:avLst/>
          </a:prstGeom>
          <a:noFill/>
          <a:ln/>
        </p:spPr>
        <p:txBody>
          <a:bodyPr wrap="none" lIns="0" tIns="0" rIns="0" bIns="0" rtlCol="0" anchor="t"/>
          <a:lstStyle/>
          <a:p>
            <a:pPr algn="l" indent="0" marL="0">
              <a:lnSpc>
                <a:spcPct val="133000"/>
              </a:lnSpc>
              <a:buNone/>
            </a:pPr>
            <a:r>
              <a:rPr lang="en-US" sz="1300" dirty="0">
                <a:solidFill>
                  <a:srgbClr val="000000"/>
                </a:solidFill>
                <a:latin typeface="Montserrat" pitchFamily="34" charset="0"/>
                <a:ea typeface="Montserrat" pitchFamily="34" charset="-122"/>
                <a:cs typeface="Montserrat" pitchFamily="34" charset="-120"/>
              </a:rPr>
              <a:t>npx tự tải, không cần Docker</a:t>
            </a:r>
            <a:endParaRPr lang="en-US" sz="1300" dirty="0"/>
          </a:p>
        </p:txBody>
      </p:sp>
      <p:sp>
        <p:nvSpPr>
          <p:cNvPr id="9" name="Shape 7"/>
          <p:cNvSpPr/>
          <p:nvPr/>
        </p:nvSpPr>
        <p:spPr>
          <a:xfrm>
            <a:off x="4339422" y="4323854"/>
            <a:ext cx="3512752" cy="971947"/>
          </a:xfrm>
          <a:prstGeom prst="roundRect">
            <a:avLst>
              <a:gd name="adj" fmla="val 7147"/>
            </a:avLst>
          </a:prstGeom>
          <a:solidFill>
            <a:srgbClr val="CCE2FF"/>
          </a:solidFill>
          <a:ln w="6350">
            <a:solidFill>
              <a:srgbClr val="B2C8E5"/>
            </a:solidFill>
            <a:prstDash val="solid"/>
          </a:ln>
        </p:spPr>
      </p:sp>
      <p:sp>
        <p:nvSpPr>
          <p:cNvPr id="10" name="Text 8"/>
          <p:cNvSpPr/>
          <p:nvPr/>
        </p:nvSpPr>
        <p:spPr>
          <a:xfrm>
            <a:off x="4511066" y="4495502"/>
            <a:ext cx="3169464" cy="264815"/>
          </a:xfrm>
          <a:prstGeom prst="rect">
            <a:avLst/>
          </a:prstGeom>
          <a:noFill/>
          <a:ln/>
        </p:spPr>
        <p:txBody>
          <a:bodyPr wrap="none" lIns="0" tIns="0" rIns="0" bIns="0" rtlCol="0" anchor="t"/>
          <a:lstStyle/>
          <a:p>
            <a:pPr algn="l" indent="0" marL="0">
              <a:lnSpc>
                <a:spcPct val="104000"/>
              </a:lnSpc>
              <a:buNone/>
            </a:pPr>
            <a:r>
              <a:rPr lang="en-US" sz="1600" b="1" dirty="0">
                <a:solidFill>
                  <a:srgbClr val="000000"/>
                </a:solidFill>
                <a:latin typeface="Twemoji Mozilla" pitchFamily="34" charset="0"/>
                <a:ea typeface="Twemoji Mozilla" pitchFamily="34" charset="-122"/>
                <a:cs typeface="Twemoji Mozilla" pitchFamily="34" charset="-120"/>
              </a:rPr>
              <a:t>📓</a:t>
            </a:r>
            <a:pPr algn="l" indent="0" marL="0">
              <a:lnSpc>
                <a:spcPct val="104000"/>
              </a:lnSpc>
              <a:buNone/>
            </a:pPr>
            <a:r>
              <a:rPr lang="en-US" sz="1600" b="1" dirty="0">
                <a:solidFill>
                  <a:srgbClr val="000000"/>
                </a:solidFill>
                <a:latin typeface="Montserrat Bold" pitchFamily="34" charset="0"/>
                <a:ea typeface="Montserrat Bold" pitchFamily="34" charset="-122"/>
                <a:cs typeface="Montserrat Bold" pitchFamily="34" charset="-120"/>
              </a:rPr>
              <a:t> Notebook sẵn sàng</a:t>
            </a:r>
            <a:endParaRPr lang="en-US" sz="1600" dirty="0"/>
          </a:p>
        </p:txBody>
      </p:sp>
      <p:sp>
        <p:nvSpPr>
          <p:cNvPr id="11" name="Text 9"/>
          <p:cNvSpPr/>
          <p:nvPr/>
        </p:nvSpPr>
        <p:spPr>
          <a:xfrm>
            <a:off x="4511066" y="4859536"/>
            <a:ext cx="3169464" cy="264616"/>
          </a:xfrm>
          <a:prstGeom prst="rect">
            <a:avLst/>
          </a:prstGeom>
          <a:noFill/>
          <a:ln/>
        </p:spPr>
        <p:txBody>
          <a:bodyPr wrap="none" lIns="0" tIns="0" rIns="0" bIns="0" rtlCol="0" anchor="t"/>
          <a:lstStyle/>
          <a:p>
            <a:pPr algn="l" indent="0" marL="0">
              <a:lnSpc>
                <a:spcPct val="133000"/>
              </a:lnSpc>
              <a:buNone/>
            </a:pPr>
            <a:r>
              <a:rPr lang="en-US" sz="1300" dirty="0">
                <a:solidFill>
                  <a:srgbClr val="000000"/>
                </a:solidFill>
                <a:latin typeface="Montserrat" pitchFamily="34" charset="0"/>
                <a:ea typeface="Montserrat" pitchFamily="34" charset="-122"/>
                <a:cs typeface="Montserrat" pitchFamily="34" charset="-120"/>
              </a:rPr>
              <a:t>Workflow đã nạp sẵn, chỉ chạy cell</a:t>
            </a:r>
            <a:endParaRPr lang="en-US" sz="1300" dirty="0"/>
          </a:p>
        </p:txBody>
      </p:sp>
      <p:sp>
        <p:nvSpPr>
          <p:cNvPr id="12" name="Shape 10"/>
          <p:cNvSpPr/>
          <p:nvPr/>
        </p:nvSpPr>
        <p:spPr>
          <a:xfrm>
            <a:off x="8017468" y="4323854"/>
            <a:ext cx="3512653" cy="971947"/>
          </a:xfrm>
          <a:prstGeom prst="roundRect">
            <a:avLst>
              <a:gd name="adj" fmla="val 7147"/>
            </a:avLst>
          </a:prstGeom>
          <a:solidFill>
            <a:srgbClr val="CCE2FF"/>
          </a:solidFill>
          <a:ln w="6350">
            <a:solidFill>
              <a:srgbClr val="B2C8E5"/>
            </a:solidFill>
            <a:prstDash val="solid"/>
          </a:ln>
        </p:spPr>
      </p:sp>
      <p:sp>
        <p:nvSpPr>
          <p:cNvPr id="13" name="Text 11"/>
          <p:cNvSpPr/>
          <p:nvPr/>
        </p:nvSpPr>
        <p:spPr>
          <a:xfrm>
            <a:off x="8189112" y="4495502"/>
            <a:ext cx="3169364" cy="264815"/>
          </a:xfrm>
          <a:prstGeom prst="rect">
            <a:avLst/>
          </a:prstGeom>
          <a:noFill/>
          <a:ln/>
        </p:spPr>
        <p:txBody>
          <a:bodyPr wrap="none" lIns="0" tIns="0" rIns="0" bIns="0" rtlCol="0" anchor="t"/>
          <a:lstStyle/>
          <a:p>
            <a:pPr algn="l" indent="0" marL="0">
              <a:lnSpc>
                <a:spcPct val="104000"/>
              </a:lnSpc>
              <a:buNone/>
            </a:pPr>
            <a:r>
              <a:rPr lang="en-US" sz="1600" b="1" dirty="0">
                <a:solidFill>
                  <a:srgbClr val="000000"/>
                </a:solidFill>
                <a:latin typeface="Twemoji Mozilla" pitchFamily="34" charset="0"/>
                <a:ea typeface="Twemoji Mozilla" pitchFamily="34" charset="-122"/>
                <a:cs typeface="Twemoji Mozilla" pitchFamily="34" charset="-120"/>
              </a:rPr>
              <a:t>🔍</a:t>
            </a:r>
            <a:pPr algn="l" indent="0" marL="0">
              <a:lnSpc>
                <a:spcPct val="104000"/>
              </a:lnSpc>
              <a:buNone/>
            </a:pPr>
            <a:r>
              <a:rPr lang="en-US" sz="1600" b="1" dirty="0">
                <a:solidFill>
                  <a:srgbClr val="000000"/>
                </a:solidFill>
                <a:latin typeface="Montserrat Bold" pitchFamily="34" charset="0"/>
                <a:ea typeface="Montserrat Bold" pitchFamily="34" charset="-122"/>
                <a:cs typeface="Montserrat Bold" pitchFamily="34" charset="-120"/>
              </a:rPr>
              <a:t> Thấy ngay kết quả</a:t>
            </a:r>
            <a:endParaRPr lang="en-US" sz="1600" dirty="0"/>
          </a:p>
        </p:txBody>
      </p:sp>
      <p:sp>
        <p:nvSpPr>
          <p:cNvPr id="14" name="Text 12"/>
          <p:cNvSpPr/>
          <p:nvPr/>
        </p:nvSpPr>
        <p:spPr>
          <a:xfrm>
            <a:off x="8189112" y="4859536"/>
            <a:ext cx="3169364" cy="264616"/>
          </a:xfrm>
          <a:prstGeom prst="rect">
            <a:avLst/>
          </a:prstGeom>
          <a:noFill/>
          <a:ln/>
        </p:spPr>
        <p:txBody>
          <a:bodyPr wrap="none" lIns="0" tIns="0" rIns="0" bIns="0" rtlCol="0" anchor="t"/>
          <a:lstStyle/>
          <a:p>
            <a:pPr algn="l" indent="0" marL="0">
              <a:lnSpc>
                <a:spcPct val="133000"/>
              </a:lnSpc>
              <a:buNone/>
            </a:pPr>
            <a:r>
              <a:rPr lang="en-US" sz="1300" dirty="0">
                <a:solidFill>
                  <a:srgbClr val="000000"/>
                </a:solidFill>
                <a:latin typeface="Montserrat" pitchFamily="34" charset="0"/>
                <a:ea typeface="Montserrat" pitchFamily="34" charset="-122"/>
                <a:cs typeface="Montserrat" pitchFamily="34" charset="-120"/>
              </a:rPr>
              <a:t>Mỗi cell = một test case thật</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661475" y="1792883"/>
            <a:ext cx="10868745" cy="516731"/>
          </a:xfrm>
          <a:prstGeom prst="rect">
            <a:avLst/>
          </a:prstGeom>
          <a:noFill/>
          <a:ln/>
        </p:spPr>
        <p:txBody>
          <a:bodyPr wrap="none" lIns="0" tIns="0" rIns="0" bIns="0" rtlCol="0" anchor="t"/>
          <a:lstStyle/>
          <a:p>
            <a:pPr algn="l" indent="0" marL="0">
              <a:lnSpc>
                <a:spcPct val="104000"/>
              </a:lnSpc>
              <a:buNone/>
            </a:pPr>
            <a:r>
              <a:rPr lang="en-US" sz="3250" b="1" dirty="0">
                <a:solidFill>
                  <a:srgbClr val="004AAD"/>
                </a:solidFill>
                <a:latin typeface="Montserrat Bold" pitchFamily="34" charset="0"/>
                <a:ea typeface="Montserrat Bold" pitchFamily="34" charset="-122"/>
                <a:cs typeface="Montserrat Bold" pitchFamily="34" charset="-120"/>
              </a:rPr>
              <a:t>Demo bước 0: khởi động n8n và nạp workflow</a:t>
            </a:r>
            <a:endParaRPr lang="en-US" sz="3250" dirty="0"/>
          </a:p>
        </p:txBody>
      </p:sp>
      <p:sp>
        <p:nvSpPr>
          <p:cNvPr id="3" name="Text 1"/>
          <p:cNvSpPr/>
          <p:nvPr/>
        </p:nvSpPr>
        <p:spPr>
          <a:xfrm>
            <a:off x="661475" y="2375694"/>
            <a:ext cx="10868745" cy="258465"/>
          </a:xfrm>
          <a:prstGeom prst="rect">
            <a:avLst/>
          </a:prstGeom>
          <a:noFill/>
          <a:ln/>
        </p:spPr>
        <p:txBody>
          <a:bodyPr wrap="none" lIns="0" tIns="0" rIns="0" bIns="0" rtlCol="0" anchor="t"/>
          <a:lstStyle/>
          <a:p>
            <a:pPr algn="l" indent="0" marL="0">
              <a:lnSpc>
                <a:spcPct val="104000"/>
              </a:lnSpc>
              <a:buNone/>
            </a:pPr>
            <a:r>
              <a:rPr lang="en-US" sz="1600" b="1" dirty="0">
                <a:solidFill>
                  <a:srgbClr val="004AAD"/>
                </a:solidFill>
                <a:latin typeface="Montserrat Bold" pitchFamily="34" charset="0"/>
                <a:ea typeface="Montserrat Bold" pitchFamily="34" charset="-122"/>
                <a:cs typeface="Montserrat Bold" pitchFamily="34" charset="-120"/>
              </a:rPr>
              <a:t>Một lệnh bật n8n với webhook /cskh sẵn sàng</a:t>
            </a:r>
            <a:endParaRPr lang="en-US" sz="1600" dirty="0"/>
          </a:p>
        </p:txBody>
      </p:sp>
      <p:sp>
        <p:nvSpPr>
          <p:cNvPr id="4" name="Shape 2"/>
          <p:cNvSpPr/>
          <p:nvPr/>
        </p:nvSpPr>
        <p:spPr>
          <a:xfrm>
            <a:off x="661475" y="2882205"/>
            <a:ext cx="10868745" cy="2182912"/>
          </a:xfrm>
          <a:prstGeom prst="roundRect">
            <a:avLst>
              <a:gd name="adj" fmla="val 3182"/>
            </a:avLst>
          </a:prstGeom>
          <a:solidFill>
            <a:srgbClr val="F2F2F2"/>
          </a:solidFill>
          <a:ln/>
        </p:spPr>
      </p:sp>
      <p:sp>
        <p:nvSpPr>
          <p:cNvPr id="5" name="Text 3"/>
          <p:cNvSpPr/>
          <p:nvPr/>
        </p:nvSpPr>
        <p:spPr>
          <a:xfrm>
            <a:off x="859907" y="3047504"/>
            <a:ext cx="10471880" cy="1852315"/>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24292E"/>
                </a:solidFill>
                <a:latin typeface="Consolas" pitchFamily="34" charset="0"/>
                <a:ea typeface="Consolas" pitchFamily="34" charset="-122"/>
                <a:cs typeface="Consolas" pitchFamily="34" charset="-120"/>
              </a:rPr>
              <a:t>$ cd test</a:t>
            </a:r>
            <a:endParaRPr lang="en-US" sz="1300" dirty="0"/>
          </a:p>
          <a:p>
            <a:pPr algn="l" indent="0" marL="0">
              <a:lnSpc>
                <a:spcPct val="133000"/>
              </a:lnSpc>
              <a:buNone/>
            </a:pPr>
            <a:r>
              <a:rPr lang="en-US" sz="1300" dirty="0">
                <a:solidFill>
                  <a:srgbClr val="24292E"/>
                </a:solidFill>
                <a:latin typeface="Consolas" pitchFamily="34" charset="0"/>
                <a:ea typeface="Consolas" pitchFamily="34" charset="-122"/>
                <a:cs typeface="Consolas" pitchFamily="34" charset="-120"/>
              </a:rPr>
              <a:t>$ python3 auto_import_n8n.py</a:t>
            </a:r>
            <a:endParaRPr lang="en-US" sz="1300" dirty="0"/>
          </a:p>
          <a:p>
            <a:pPr algn="l" indent="0" marL="0">
              <a:lnSpc>
                <a:spcPct val="133000"/>
              </a:lnSpc>
              <a:buNone/>
            </a:pPr>
            <a:endParaRPr lang="en-US" sz="1300" dirty="0"/>
          </a:p>
          <a:p>
            <a:pPr algn="l" indent="0" marL="0">
              <a:lnSpc>
                <a:spcPct val="133000"/>
              </a:lnSpc>
              <a:buNone/>
            </a:pPr>
            <a:r>
              <a:rPr lang="en-US" sz="1300" dirty="0">
                <a:solidFill>
                  <a:srgbClr val="24292E"/>
                </a:solidFill>
                <a:latin typeface="Consolas" pitchFamily="34" charset="0"/>
                <a:ea typeface="Consolas" pitchFamily="34" charset="-122"/>
                <a:cs typeface="Consolas" pitchFamily="34" charset="-120"/>
              </a:rPr>
              <a:t>→ n8n chạy tại http://localhost:5678</a:t>
            </a:r>
            <a:endParaRPr lang="en-US" sz="1300" dirty="0"/>
          </a:p>
          <a:p>
            <a:pPr algn="l" indent="0" marL="0">
              <a:lnSpc>
                <a:spcPct val="133000"/>
              </a:lnSpc>
              <a:buNone/>
            </a:pPr>
            <a:r>
              <a:rPr lang="en-US" sz="1300" dirty="0">
                <a:solidFill>
                  <a:srgbClr val="24292E"/>
                </a:solidFill>
                <a:latin typeface="Consolas" pitchFamily="34" charset="0"/>
                <a:ea typeface="Consolas" pitchFamily="34" charset="-122"/>
                <a:cs typeface="Consolas" pitchFamily="34" charset="-120"/>
              </a:rPr>
              <a:t>→ Nạp workflow 'B5 K1 - Retail CSKH Bot'</a:t>
            </a:r>
            <a:endParaRPr lang="en-US" sz="1300" dirty="0"/>
          </a:p>
          <a:p>
            <a:pPr algn="l" indent="0" marL="0">
              <a:lnSpc>
                <a:spcPct val="133000"/>
              </a:lnSpc>
              <a:buNone/>
            </a:pPr>
            <a:r>
              <a:rPr lang="en-US" sz="1300" dirty="0">
                <a:solidFill>
                  <a:srgbClr val="24292E"/>
                </a:solidFill>
                <a:latin typeface="Consolas" pitchFamily="34" charset="0"/>
                <a:ea typeface="Consolas" pitchFamily="34" charset="-122"/>
                <a:cs typeface="Consolas" pitchFamily="34" charset="-120"/>
              </a:rPr>
              <a:t>→ Webhook sẵn sàng: POST http://localhost:5678/webhook/cskh</a:t>
            </a:r>
            <a:endParaRPr lang="en-US" sz="1300" dirty="0"/>
          </a:p>
          <a:p>
            <a:pPr algn="l" indent="0" marL="0">
              <a:lnSpc>
                <a:spcPct val="133000"/>
              </a:lnSpc>
              <a:buNone/>
            </a:pPr>
            <a:r>
              <a:rPr lang="en-US" sz="1300" dirty="0">
                <a:solidFill>
                  <a:srgbClr val="24292E"/>
                </a:solidFill>
                <a:latin typeface="Consolas" pitchFamily="34" charset="0"/>
                <a:ea typeface="Consolas" pitchFamily="34" charset="-122"/>
                <a:cs typeface="Consolas" pitchFamily="34" charset="-120"/>
              </a:rPr>
              <a:t>→</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661475" y="1691580"/>
            <a:ext cx="10868745" cy="516731"/>
          </a:xfrm>
          <a:prstGeom prst="rect">
            <a:avLst/>
          </a:prstGeom>
          <a:noFill/>
          <a:ln/>
        </p:spPr>
        <p:txBody>
          <a:bodyPr wrap="none" lIns="0" tIns="0" rIns="0" bIns="0" rtlCol="0" anchor="t"/>
          <a:lstStyle/>
          <a:p>
            <a:pPr algn="l" indent="0" marL="0">
              <a:lnSpc>
                <a:spcPct val="104000"/>
              </a:lnSpc>
              <a:buNone/>
            </a:pPr>
            <a:r>
              <a:rPr lang="en-US" sz="3250" b="1" dirty="0">
                <a:solidFill>
                  <a:srgbClr val="004AAD"/>
                </a:solidFill>
                <a:latin typeface="Montserrat Bold" pitchFamily="34" charset="0"/>
                <a:ea typeface="Montserrat Bold" pitchFamily="34" charset="-122"/>
                <a:cs typeface="Montserrat Bold" pitchFamily="34" charset="-120"/>
              </a:rPr>
              <a:t>Demo bước 2 &amp; 3: cache hit và guard chặn</a:t>
            </a:r>
            <a:endParaRPr lang="en-US" sz="3250" dirty="0"/>
          </a:p>
        </p:txBody>
      </p:sp>
      <p:sp>
        <p:nvSpPr>
          <p:cNvPr id="3" name="Text 1"/>
          <p:cNvSpPr/>
          <p:nvPr/>
        </p:nvSpPr>
        <p:spPr>
          <a:xfrm>
            <a:off x="661475" y="2274391"/>
            <a:ext cx="10868745" cy="258465"/>
          </a:xfrm>
          <a:prstGeom prst="rect">
            <a:avLst/>
          </a:prstGeom>
          <a:noFill/>
          <a:ln/>
        </p:spPr>
        <p:txBody>
          <a:bodyPr wrap="none" lIns="0" tIns="0" rIns="0" bIns="0" rtlCol="0" anchor="t"/>
          <a:lstStyle/>
          <a:p>
            <a:pPr algn="l" indent="0" marL="0">
              <a:lnSpc>
                <a:spcPct val="104000"/>
              </a:lnSpc>
              <a:buNone/>
            </a:pPr>
            <a:r>
              <a:rPr lang="en-US" sz="1600" b="1" dirty="0">
                <a:solidFill>
                  <a:srgbClr val="004AAD"/>
                </a:solidFill>
                <a:latin typeface="Montserrat Bold" pitchFamily="34" charset="0"/>
                <a:ea typeface="Montserrat Bold" pitchFamily="34" charset="-122"/>
                <a:cs typeface="Montserrat Bold" pitchFamily="34" charset="-120"/>
              </a:rPr>
              <a:t>Câu giống FAQ trả lời nhanh, câu độc bị chặn</a:t>
            </a:r>
            <a:endParaRPr lang="en-US" sz="1600" dirty="0"/>
          </a:p>
        </p:txBody>
      </p:sp>
      <p:sp>
        <p:nvSpPr>
          <p:cNvPr id="4" name="Shape 2"/>
          <p:cNvSpPr/>
          <p:nvPr/>
        </p:nvSpPr>
        <p:spPr>
          <a:xfrm>
            <a:off x="542415" y="2780903"/>
            <a:ext cx="5470785" cy="1538089"/>
          </a:xfrm>
          <a:prstGeom prst="roundRect">
            <a:avLst>
              <a:gd name="adj" fmla="val 7742"/>
            </a:avLst>
          </a:prstGeom>
          <a:solidFill>
            <a:srgbClr val="004AAD"/>
          </a:solidFill>
          <a:ln/>
        </p:spPr>
      </p:sp>
      <p:sp>
        <p:nvSpPr>
          <p:cNvPr id="5" name="Text 3"/>
          <p:cNvSpPr/>
          <p:nvPr/>
        </p:nvSpPr>
        <p:spPr>
          <a:xfrm>
            <a:off x="707710" y="2946202"/>
            <a:ext cx="5140196" cy="258465"/>
          </a:xfrm>
          <a:prstGeom prst="rect">
            <a:avLst/>
          </a:prstGeom>
          <a:noFill/>
          <a:ln/>
        </p:spPr>
        <p:txBody>
          <a:bodyPr wrap="none" lIns="0" tIns="0" rIns="0" bIns="0" rtlCol="0" anchor="t"/>
          <a:lstStyle/>
          <a:p>
            <a:pPr algn="l" indent="0" marL="0">
              <a:lnSpc>
                <a:spcPct val="104000"/>
              </a:lnSpc>
              <a:buNone/>
            </a:pPr>
            <a:r>
              <a:rPr lang="en-US" sz="1600" b="1" dirty="0">
                <a:solidFill>
                  <a:srgbClr val="FFFFFF"/>
                </a:solidFill>
                <a:latin typeface="Montserrat Bold" pitchFamily="34" charset="0"/>
                <a:ea typeface="Montserrat Bold" pitchFamily="34" charset="-122"/>
                <a:cs typeface="Montserrat Bold" pitchFamily="34" charset="-120"/>
              </a:rPr>
              <a:t>Cell Step 2 · Cache Hit</a:t>
            </a:r>
            <a:endParaRPr lang="en-US" sz="1600" dirty="0"/>
          </a:p>
        </p:txBody>
      </p:sp>
      <p:sp>
        <p:nvSpPr>
          <p:cNvPr id="6" name="Text 4"/>
          <p:cNvSpPr/>
          <p:nvPr/>
        </p:nvSpPr>
        <p:spPr>
          <a:xfrm>
            <a:off x="707710" y="3369965"/>
            <a:ext cx="5140196" cy="800199"/>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FFFFFF"/>
                </a:solidFill>
                <a:latin typeface="Montserrat" pitchFamily="34" charset="0"/>
                <a:ea typeface="Montserrat" pitchFamily="34" charset="-122"/>
                <a:cs typeface="Montserrat" pitchFamily="34" charset="-120"/>
              </a:rPr>
              <a:t>Gửi câu giao hàng từng có trong FAQ. Cache hit với </a:t>
            </a:r>
            <a:pPr algn="l" indent="0" marL="0">
              <a:lnSpc>
                <a:spcPct val="133000"/>
              </a:lnSpc>
              <a:buNone/>
            </a:pPr>
            <a:r>
              <a:rPr lang="en-US" sz="1300" b="1" dirty="0">
                <a:solidFill>
                  <a:srgbClr val="FFFFFF"/>
                </a:solidFill>
                <a:latin typeface="Montserrat Bold" pitchFamily="34" charset="0"/>
                <a:ea typeface="Montserrat Bold" pitchFamily="34" charset="-122"/>
                <a:cs typeface="Montserrat Bold" pitchFamily="34" charset="-120"/>
              </a:rPr>
              <a:t>score cao</a:t>
            </a:r>
            <a:pPr algn="l" indent="0" marL="0">
              <a:lnSpc>
                <a:spcPct val="133000"/>
              </a:lnSpc>
              <a:buNone/>
            </a:pPr>
            <a:r>
              <a:rPr lang="en-US" sz="1300" dirty="0">
                <a:solidFill>
                  <a:srgbClr val="FFFFFF"/>
                </a:solidFill>
                <a:latin typeface="Montserrat" pitchFamily="34" charset="0"/>
                <a:ea typeface="Montserrat" pitchFamily="34" charset="-122"/>
                <a:cs typeface="Montserrat" pitchFamily="34" charset="-120"/>
              </a:rPr>
              <a:t> — trả lời ngay, không gọi LLM. Quan sát trường </a:t>
            </a:r>
            <a:pPr algn="l" indent="0" marL="0">
              <a:lnSpc>
                <a:spcPct val="133000"/>
              </a:lnSpc>
              <a:buNone/>
            </a:pPr>
            <a:r>
              <a:rPr lang="en-US" sz="1300" dirty="0">
                <a:solidFill>
                  <a:srgbClr val="FFFFFF"/>
                </a:solidFill>
                <a:highlight>
                  <a:srgbClr val="0D57BA"/>
                </a:highlight>
                <a:latin typeface="Consolas" pitchFamily="34" charset="0"/>
                <a:ea typeface="Consolas" pitchFamily="34" charset="-122"/>
                <a:cs typeface="Consolas" pitchFamily="34" charset="-120"/>
              </a:rPr>
              <a:t>cache_hit: true</a:t>
            </a:r>
            <a:pPr algn="l" indent="0" marL="0">
              <a:lnSpc>
                <a:spcPct val="133000"/>
              </a:lnSpc>
              <a:buNone/>
            </a:pPr>
            <a:r>
              <a:rPr lang="en-US" sz="1300" dirty="0">
                <a:solidFill>
                  <a:srgbClr val="FFFFFF"/>
                </a:solidFill>
                <a:latin typeface="Montserrat" pitchFamily="34" charset="0"/>
                <a:ea typeface="Montserrat" pitchFamily="34" charset="-122"/>
                <a:cs typeface="Montserrat" pitchFamily="34" charset="-120"/>
              </a:rPr>
              <a:t> trong response.</a:t>
            </a:r>
            <a:endParaRPr lang="en-US" sz="1300" dirty="0"/>
          </a:p>
        </p:txBody>
      </p:sp>
      <p:sp>
        <p:nvSpPr>
          <p:cNvPr id="7" name="Text 5"/>
          <p:cNvSpPr/>
          <p:nvPr/>
        </p:nvSpPr>
        <p:spPr>
          <a:xfrm>
            <a:off x="6303904" y="2946202"/>
            <a:ext cx="5232666" cy="258465"/>
          </a:xfrm>
          <a:prstGeom prst="rect">
            <a:avLst/>
          </a:prstGeom>
          <a:noFill/>
          <a:ln/>
        </p:spPr>
        <p:txBody>
          <a:bodyPr wrap="none" lIns="0" tIns="0" rIns="0" bIns="0" rtlCol="0" anchor="t"/>
          <a:lstStyle/>
          <a:p>
            <a:pPr algn="l" indent="0" marL="0">
              <a:lnSpc>
                <a:spcPct val="104000"/>
              </a:lnSpc>
              <a:buNone/>
            </a:pPr>
            <a:r>
              <a:rPr lang="en-US" sz="1600" b="1" dirty="0">
                <a:solidFill>
                  <a:srgbClr val="004AAD"/>
                </a:solidFill>
                <a:latin typeface="Montserrat Bold" pitchFamily="34" charset="0"/>
                <a:ea typeface="Montserrat Bold" pitchFamily="34" charset="-122"/>
                <a:cs typeface="Montserrat Bold" pitchFamily="34" charset="-120"/>
              </a:rPr>
              <a:t>Cell Step 3 · Guard Chặn</a:t>
            </a:r>
            <a:endParaRPr lang="en-US" sz="1600" dirty="0"/>
          </a:p>
        </p:txBody>
      </p:sp>
      <p:sp>
        <p:nvSpPr>
          <p:cNvPr id="8" name="Text 6"/>
          <p:cNvSpPr/>
          <p:nvPr/>
        </p:nvSpPr>
        <p:spPr>
          <a:xfrm>
            <a:off x="6303904" y="3369965"/>
            <a:ext cx="5232666" cy="800199"/>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000000"/>
                </a:solidFill>
                <a:latin typeface="Montserrat" pitchFamily="34" charset="0"/>
                <a:ea typeface="Montserrat" pitchFamily="34" charset="-122"/>
                <a:cs typeface="Montserrat" pitchFamily="34" charset="-120"/>
              </a:rPr>
              <a:t>Gửi câu chứa </a:t>
            </a:r>
            <a:pPr algn="l" indent="0" marL="0">
              <a:lnSpc>
                <a:spcPct val="133000"/>
              </a:lnSpc>
              <a:buNone/>
            </a:pPr>
            <a:r>
              <a:rPr lang="en-US" sz="1300" b="1" dirty="0">
                <a:solidFill>
                  <a:srgbClr val="000000"/>
                </a:solidFill>
                <a:latin typeface="Montserrat Bold" pitchFamily="34" charset="0"/>
                <a:ea typeface="Montserrat Bold" pitchFamily="34" charset="-122"/>
                <a:cs typeface="Montserrat Bold" pitchFamily="34" charset="-120"/>
              </a:rPr>
              <a:t>prompt injection</a:t>
            </a:r>
            <a:pPr algn="l" indent="0" marL="0">
              <a:lnSpc>
                <a:spcPct val="133000"/>
              </a:lnSpc>
              <a:buNone/>
            </a:pPr>
            <a:r>
              <a:rPr lang="en-US" sz="1300" dirty="0">
                <a:solidFill>
                  <a:srgbClr val="000000"/>
                </a:solidFill>
                <a:latin typeface="Montserrat" pitchFamily="34" charset="0"/>
                <a:ea typeface="Montserrat" pitchFamily="34" charset="-122"/>
                <a:cs typeface="Montserrat" pitchFamily="34" charset="-120"/>
              </a:rPr>
              <a:t> hay ngoài phạm vi — guard chặn trước khi tới LLM. Quan sát trường </a:t>
            </a:r>
            <a:pPr algn="l" indent="0" marL="0">
              <a:lnSpc>
                <a:spcPct val="133000"/>
              </a:lnSpc>
              <a:buNone/>
            </a:pPr>
            <a:r>
              <a:rPr lang="en-US" sz="1300" dirty="0">
                <a:solidFill>
                  <a:srgbClr val="000000"/>
                </a:solidFill>
                <a:highlight>
                  <a:srgbClr val="F2F2F2"/>
                </a:highlight>
                <a:latin typeface="Consolas" pitchFamily="34" charset="0"/>
                <a:ea typeface="Consolas" pitchFamily="34" charset="-122"/>
                <a:cs typeface="Consolas" pitchFamily="34" charset="-120"/>
              </a:rPr>
              <a:t>route: ngoai_pham_vi</a:t>
            </a:r>
            <a:pPr algn="l" indent="0" marL="0">
              <a:lnSpc>
                <a:spcPct val="133000"/>
              </a:lnSpc>
              <a:buNone/>
            </a:pPr>
            <a:r>
              <a:rPr lang="en-US" sz="1300" dirty="0">
                <a:solidFill>
                  <a:srgbClr val="000000"/>
                </a:solidFill>
                <a:latin typeface="Montserrat" pitchFamily="34" charset="0"/>
                <a:ea typeface="Montserrat" pitchFamily="34" charset="-122"/>
                <a:cs typeface="Montserrat" pitchFamily="34" charset="-120"/>
              </a:rPr>
              <a:t> và refusal message.</a:t>
            </a:r>
            <a:endParaRPr lang="en-US" sz="1300" dirty="0"/>
          </a:p>
        </p:txBody>
      </p:sp>
      <p:sp>
        <p:nvSpPr>
          <p:cNvPr id="9" name="Shape 7"/>
          <p:cNvSpPr/>
          <p:nvPr/>
        </p:nvSpPr>
        <p:spPr>
          <a:xfrm>
            <a:off x="661475" y="4505027"/>
            <a:ext cx="10868745" cy="661293"/>
          </a:xfrm>
          <a:prstGeom prst="roundRect">
            <a:avLst>
              <a:gd name="adj" fmla="val 10504"/>
            </a:avLst>
          </a:prstGeom>
          <a:solidFill>
            <a:srgbClr val="B6D6FC"/>
          </a:solidFill>
          <a:ln/>
        </p:spPr>
      </p:sp>
      <p:pic>
        <p:nvPicPr>
          <p:cNvPr id="10" name="Image 0" descr="preencoded.png">    </p:cNvPr>
          <p:cNvPicPr>
            <a:picLocks noChangeAspect="1"/>
          </p:cNvPicPr>
          <p:nvPr/>
        </p:nvPicPr>
        <p:blipFill>
          <a:blip r:embed="rId1"/>
          <a:stretch>
            <a:fillRect/>
          </a:stretch>
        </p:blipFill>
        <p:spPr>
          <a:xfrm>
            <a:off x="826769" y="4744740"/>
            <a:ext cx="206667" cy="165298"/>
          </a:xfrm>
          <a:prstGeom prst="rect">
            <a:avLst/>
          </a:prstGeom>
        </p:spPr>
      </p:pic>
      <p:sp>
        <p:nvSpPr>
          <p:cNvPr id="11" name="Text 8"/>
          <p:cNvSpPr/>
          <p:nvPr/>
        </p:nvSpPr>
        <p:spPr>
          <a:xfrm>
            <a:off x="1198731" y="4711601"/>
            <a:ext cx="10775780" cy="264616"/>
          </a:xfrm>
          <a:prstGeom prst="rect">
            <a:avLst/>
          </a:prstGeom>
          <a:noFill/>
          <a:ln/>
        </p:spPr>
        <p:txBody>
          <a:bodyPr wrap="none" lIns="0" tIns="0" rIns="0" bIns="0" rtlCol="0" anchor="t"/>
          <a:lstStyle/>
          <a:p>
            <a:pPr algn="l" indent="0" marL="0">
              <a:lnSpc>
                <a:spcPct val="133000"/>
              </a:lnSpc>
              <a:buNone/>
            </a:pPr>
            <a:r>
              <a:rPr lang="en-US" sz="1300" dirty="0">
                <a:solidFill>
                  <a:srgbClr val="000000"/>
                </a:solidFill>
                <a:latin typeface="Montserrat" pitchFamily="34" charset="0"/>
                <a:ea typeface="Montserrat" pitchFamily="34" charset="-122"/>
                <a:cs typeface="Montserrat" pitchFamily="34" charset="-120"/>
              </a:rPr>
              <a:t>Ý chính: </a:t>
            </a:r>
            <a:pPr algn="l" indent="0" marL="0">
              <a:lnSpc>
                <a:spcPct val="133000"/>
              </a:lnSpc>
              <a:buNone/>
            </a:pPr>
            <a:r>
              <a:rPr lang="en-US" sz="1300" b="1" dirty="0">
                <a:solidFill>
                  <a:srgbClr val="000000"/>
                </a:solidFill>
                <a:latin typeface="Montserrat Bold" pitchFamily="34" charset="0"/>
                <a:ea typeface="Montserrat Bold" pitchFamily="34" charset="-122"/>
                <a:cs typeface="Montserrat Bold" pitchFamily="34" charset="-120"/>
              </a:rPr>
              <a:t>fast path tiết kiệm chi phí</a:t>
            </a:r>
            <a:pPr algn="l" indent="0" marL="0">
              <a:lnSpc>
                <a:spcPct val="133000"/>
              </a:lnSpc>
              <a:buNone/>
            </a:pPr>
            <a:r>
              <a:rPr lang="en-US" sz="1300" dirty="0">
                <a:solidFill>
                  <a:srgbClr val="000000"/>
                </a:solidFill>
                <a:latin typeface="Montserrat" pitchFamily="34" charset="0"/>
                <a:ea typeface="Montserrat" pitchFamily="34" charset="-122"/>
                <a:cs typeface="Montserrat" pitchFamily="34" charset="-120"/>
              </a:rPr>
              <a:t> (không gọi LLM không cần thiết), </a:t>
            </a:r>
            <a:pPr algn="l" indent="0" marL="0">
              <a:lnSpc>
                <a:spcPct val="133000"/>
              </a:lnSpc>
              <a:buNone/>
            </a:pPr>
            <a:r>
              <a:rPr lang="en-US" sz="1300" b="1" dirty="0">
                <a:solidFill>
                  <a:srgbClr val="000000"/>
                </a:solidFill>
                <a:latin typeface="Montserrat Bold" pitchFamily="34" charset="0"/>
                <a:ea typeface="Montserrat Bold" pitchFamily="34" charset="-122"/>
                <a:cs typeface="Montserrat Bold" pitchFamily="34" charset="-120"/>
              </a:rPr>
              <a:t>guardrail giữ an toàn</a:t>
            </a:r>
            <a:pPr algn="l" indent="0" marL="0">
              <a:lnSpc>
                <a:spcPct val="133000"/>
              </a:lnSpc>
              <a:buNone/>
            </a:pPr>
            <a:r>
              <a:rPr lang="en-US" sz="1300" dirty="0">
                <a:solidFill>
                  <a:srgbClr val="000000"/>
                </a:solidFill>
                <a:latin typeface="Montserrat" pitchFamily="34" charset="0"/>
                <a:ea typeface="Montserrat" pitchFamily="34" charset="-122"/>
                <a:cs typeface="Montserrat" pitchFamily="34" charset="-120"/>
              </a:rPr>
              <a:t> (chặn ngay từ đầu).</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661475" y="1631553"/>
            <a:ext cx="10868745" cy="516731"/>
          </a:xfrm>
          <a:prstGeom prst="rect">
            <a:avLst/>
          </a:prstGeom>
          <a:noFill/>
          <a:ln/>
        </p:spPr>
        <p:txBody>
          <a:bodyPr wrap="none" lIns="0" tIns="0" rIns="0" bIns="0" rtlCol="0" anchor="t"/>
          <a:lstStyle/>
          <a:p>
            <a:pPr algn="l" indent="0" marL="0">
              <a:lnSpc>
                <a:spcPct val="104000"/>
              </a:lnSpc>
              <a:buNone/>
            </a:pPr>
            <a:r>
              <a:rPr lang="en-US" sz="3250" b="1" dirty="0">
                <a:solidFill>
                  <a:srgbClr val="004AAD"/>
                </a:solidFill>
                <a:latin typeface="Montserrat Bold" pitchFamily="34" charset="0"/>
                <a:ea typeface="Montserrat Bold" pitchFamily="34" charset="-122"/>
                <a:cs typeface="Montserrat Bold" pitchFamily="34" charset="-120"/>
              </a:rPr>
              <a:t>Demo bước 4–6: ticket và landing chatbot</a:t>
            </a:r>
            <a:endParaRPr lang="en-US" sz="3250" dirty="0"/>
          </a:p>
        </p:txBody>
      </p:sp>
      <p:sp>
        <p:nvSpPr>
          <p:cNvPr id="3" name="Text 1"/>
          <p:cNvSpPr/>
          <p:nvPr/>
        </p:nvSpPr>
        <p:spPr>
          <a:xfrm>
            <a:off x="661475" y="2214364"/>
            <a:ext cx="10868745" cy="258465"/>
          </a:xfrm>
          <a:prstGeom prst="rect">
            <a:avLst/>
          </a:prstGeom>
          <a:noFill/>
          <a:ln/>
        </p:spPr>
        <p:txBody>
          <a:bodyPr wrap="none" lIns="0" tIns="0" rIns="0" bIns="0" rtlCol="0" anchor="t"/>
          <a:lstStyle/>
          <a:p>
            <a:pPr algn="l" indent="0" marL="0">
              <a:lnSpc>
                <a:spcPct val="104000"/>
              </a:lnSpc>
              <a:buNone/>
            </a:pPr>
            <a:r>
              <a:rPr lang="en-US" sz="1600" b="1" dirty="0">
                <a:solidFill>
                  <a:srgbClr val="004AAD"/>
                </a:solidFill>
                <a:latin typeface="Montserrat Bold" pitchFamily="34" charset="0"/>
                <a:ea typeface="Montserrat Bold" pitchFamily="34" charset="-122"/>
                <a:cs typeface="Montserrat Bold" pitchFamily="34" charset="-120"/>
              </a:rPr>
              <a:t>Case nhạy cảm chuyển người, landing chat live</a:t>
            </a:r>
            <a:endParaRPr lang="en-US" sz="1600" dirty="0"/>
          </a:p>
        </p:txBody>
      </p:sp>
      <p:sp>
        <p:nvSpPr>
          <p:cNvPr id="4" name="Text 2"/>
          <p:cNvSpPr/>
          <p:nvPr/>
        </p:nvSpPr>
        <p:spPr>
          <a:xfrm>
            <a:off x="661475" y="2720876"/>
            <a:ext cx="330688" cy="206673"/>
          </a:xfrm>
          <a:prstGeom prst="rect">
            <a:avLst/>
          </a:prstGeom>
          <a:noFill/>
          <a:ln/>
        </p:spPr>
        <p:txBody>
          <a:bodyPr wrap="none" lIns="0" tIns="0" rIns="0" bIns="0" rtlCol="0" anchor="ctr"/>
          <a:lstStyle/>
          <a:p>
            <a:pPr algn="l" indent="0" marL="0">
              <a:lnSpc>
                <a:spcPct val="100000"/>
              </a:lnSpc>
              <a:buNone/>
            </a:pPr>
            <a:r>
              <a:rPr lang="en-US" sz="1300" dirty="0">
                <a:solidFill>
                  <a:srgbClr val="000000"/>
                </a:solidFill>
                <a:latin typeface="Montserrat Light" pitchFamily="34" charset="0"/>
                <a:ea typeface="Montserrat Light" pitchFamily="34" charset="-122"/>
                <a:cs typeface="Montserrat Light" pitchFamily="34" charset="-120"/>
              </a:rPr>
              <a:t>01</a:t>
            </a:r>
            <a:endParaRPr lang="en-US" sz="1300" dirty="0"/>
          </a:p>
        </p:txBody>
      </p:sp>
      <p:sp>
        <p:nvSpPr>
          <p:cNvPr id="5" name="Shape 3"/>
          <p:cNvSpPr/>
          <p:nvPr/>
        </p:nvSpPr>
        <p:spPr>
          <a:xfrm>
            <a:off x="661475" y="2982813"/>
            <a:ext cx="3512653" cy="19050"/>
          </a:xfrm>
          <a:prstGeom prst="rect">
            <a:avLst/>
          </a:prstGeom>
          <a:solidFill>
            <a:srgbClr val="004AAD"/>
          </a:solidFill>
          <a:ln/>
        </p:spPr>
      </p:sp>
      <p:sp>
        <p:nvSpPr>
          <p:cNvPr id="6" name="Text 4"/>
          <p:cNvSpPr/>
          <p:nvPr/>
        </p:nvSpPr>
        <p:spPr>
          <a:xfrm>
            <a:off x="661475" y="3103563"/>
            <a:ext cx="3512653" cy="258465"/>
          </a:xfrm>
          <a:prstGeom prst="rect">
            <a:avLst/>
          </a:prstGeom>
          <a:noFill/>
          <a:ln/>
        </p:spPr>
        <p:txBody>
          <a:bodyPr wrap="none" lIns="0" tIns="0" rIns="0" bIns="0" rtlCol="0" anchor="t"/>
          <a:lstStyle/>
          <a:p>
            <a:pPr algn="l" indent="0" marL="0">
              <a:lnSpc>
                <a:spcPct val="104000"/>
              </a:lnSpc>
              <a:buNone/>
            </a:pPr>
            <a:r>
              <a:rPr lang="en-US" sz="1600" b="1" dirty="0">
                <a:solidFill>
                  <a:srgbClr val="000000"/>
                </a:solidFill>
                <a:latin typeface="Montserrat Bold" pitchFamily="34" charset="0"/>
                <a:ea typeface="Montserrat Bold" pitchFamily="34" charset="-122"/>
                <a:cs typeface="Montserrat Bold" pitchFamily="34" charset="-120"/>
              </a:rPr>
              <a:t>Cell Step 4 · HITL Ticket</a:t>
            </a:r>
            <a:endParaRPr lang="en-US" sz="1600" dirty="0"/>
          </a:p>
        </p:txBody>
      </p:sp>
      <p:sp>
        <p:nvSpPr>
          <p:cNvPr id="7" name="Text 5"/>
          <p:cNvSpPr/>
          <p:nvPr/>
        </p:nvSpPr>
        <p:spPr>
          <a:xfrm>
            <a:off x="661475" y="3461246"/>
            <a:ext cx="3512653" cy="793849"/>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000000"/>
                </a:solidFill>
                <a:latin typeface="Montserrat" pitchFamily="34" charset="0"/>
                <a:ea typeface="Montserrat" pitchFamily="34" charset="-122"/>
                <a:cs typeface="Montserrat" pitchFamily="34" charset="-120"/>
              </a:rPr>
              <a:t>Gửi case hoàn tiền, judge chấm </a:t>
            </a:r>
            <a:pPr algn="l" indent="0" marL="0">
              <a:lnSpc>
                <a:spcPct val="133000"/>
              </a:lnSpc>
              <a:buNone/>
            </a:pPr>
            <a:r>
              <a:rPr lang="en-US" sz="1300" b="1" dirty="0">
                <a:solidFill>
                  <a:srgbClr val="000000"/>
                </a:solidFill>
                <a:latin typeface="Montserrat Bold" pitchFamily="34" charset="0"/>
                <a:ea typeface="Montserrat Bold" pitchFamily="34" charset="-122"/>
                <a:cs typeface="Montserrat Bold" pitchFamily="34" charset="-120"/>
              </a:rPr>
              <a:t>confidence thấp</a:t>
            </a:r>
            <a:pPr algn="l" indent="0" marL="0">
              <a:lnSpc>
                <a:spcPct val="133000"/>
              </a:lnSpc>
              <a:buNone/>
            </a:pPr>
            <a:r>
              <a:rPr lang="en-US" sz="1300" dirty="0">
                <a:solidFill>
                  <a:srgbClr val="000000"/>
                </a:solidFill>
                <a:latin typeface="Montserrat" pitchFamily="34" charset="0"/>
                <a:ea typeface="Montserrat" pitchFamily="34" charset="-122"/>
                <a:cs typeface="Montserrat" pitchFamily="34" charset="-120"/>
              </a:rPr>
              <a:t>, bot tạo ticket HITL thay vì tự trả lời.</a:t>
            </a:r>
            <a:endParaRPr lang="en-US" sz="1300" dirty="0"/>
          </a:p>
        </p:txBody>
      </p:sp>
      <p:sp>
        <p:nvSpPr>
          <p:cNvPr id="8" name="Text 6"/>
          <p:cNvSpPr/>
          <p:nvPr/>
        </p:nvSpPr>
        <p:spPr>
          <a:xfrm>
            <a:off x="4339422" y="2720876"/>
            <a:ext cx="330688" cy="206673"/>
          </a:xfrm>
          <a:prstGeom prst="rect">
            <a:avLst/>
          </a:prstGeom>
          <a:noFill/>
          <a:ln/>
        </p:spPr>
        <p:txBody>
          <a:bodyPr wrap="none" lIns="0" tIns="0" rIns="0" bIns="0" rtlCol="0" anchor="ctr"/>
          <a:lstStyle/>
          <a:p>
            <a:pPr algn="l" indent="0" marL="0">
              <a:lnSpc>
                <a:spcPct val="100000"/>
              </a:lnSpc>
              <a:buNone/>
            </a:pPr>
            <a:r>
              <a:rPr lang="en-US" sz="1300" dirty="0">
                <a:solidFill>
                  <a:srgbClr val="000000"/>
                </a:solidFill>
                <a:latin typeface="Montserrat Light" pitchFamily="34" charset="0"/>
                <a:ea typeface="Montserrat Light" pitchFamily="34" charset="-122"/>
                <a:cs typeface="Montserrat Light" pitchFamily="34" charset="-120"/>
              </a:rPr>
              <a:t>02</a:t>
            </a:r>
            <a:endParaRPr lang="en-US" sz="1300" dirty="0"/>
          </a:p>
        </p:txBody>
      </p:sp>
      <p:sp>
        <p:nvSpPr>
          <p:cNvPr id="9" name="Shape 7"/>
          <p:cNvSpPr/>
          <p:nvPr/>
        </p:nvSpPr>
        <p:spPr>
          <a:xfrm>
            <a:off x="4339422" y="2982813"/>
            <a:ext cx="3512752" cy="19050"/>
          </a:xfrm>
          <a:prstGeom prst="rect">
            <a:avLst/>
          </a:prstGeom>
          <a:solidFill>
            <a:srgbClr val="004AAD"/>
          </a:solidFill>
          <a:ln/>
        </p:spPr>
      </p:sp>
      <p:sp>
        <p:nvSpPr>
          <p:cNvPr id="10" name="Text 8"/>
          <p:cNvSpPr/>
          <p:nvPr/>
        </p:nvSpPr>
        <p:spPr>
          <a:xfrm>
            <a:off x="4339422" y="3103563"/>
            <a:ext cx="3512752" cy="258465"/>
          </a:xfrm>
          <a:prstGeom prst="rect">
            <a:avLst/>
          </a:prstGeom>
          <a:noFill/>
          <a:ln/>
        </p:spPr>
        <p:txBody>
          <a:bodyPr wrap="none" lIns="0" tIns="0" rIns="0" bIns="0" rtlCol="0" anchor="t"/>
          <a:lstStyle/>
          <a:p>
            <a:pPr algn="l" indent="0" marL="0">
              <a:lnSpc>
                <a:spcPct val="104000"/>
              </a:lnSpc>
              <a:buNone/>
            </a:pPr>
            <a:r>
              <a:rPr lang="en-US" sz="1600" b="1" dirty="0">
                <a:solidFill>
                  <a:srgbClr val="000000"/>
                </a:solidFill>
                <a:latin typeface="Montserrat Bold" pitchFamily="34" charset="0"/>
                <a:ea typeface="Montserrat Bold" pitchFamily="34" charset="-122"/>
                <a:cs typeface="Montserrat Bold" pitchFamily="34" charset="-120"/>
              </a:rPr>
              <a:t>Cell Step 5 · Toàn bộ 5 test case</a:t>
            </a:r>
            <a:endParaRPr lang="en-US" sz="1600" dirty="0"/>
          </a:p>
        </p:txBody>
      </p:sp>
      <p:sp>
        <p:nvSpPr>
          <p:cNvPr id="11" name="Text 9"/>
          <p:cNvSpPr/>
          <p:nvPr/>
        </p:nvSpPr>
        <p:spPr>
          <a:xfrm>
            <a:off x="4339422" y="3461246"/>
            <a:ext cx="3512752" cy="529233"/>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000000"/>
                </a:solidFill>
                <a:latin typeface="Montserrat" pitchFamily="34" charset="0"/>
                <a:ea typeface="Montserrat" pitchFamily="34" charset="-122"/>
                <a:cs typeface="Montserrat" pitchFamily="34" charset="-120"/>
              </a:rPr>
              <a:t>Chạy đủ 5 test case qua webhook, ghi </a:t>
            </a:r>
            <a:pPr algn="l" indent="0" marL="0">
              <a:lnSpc>
                <a:spcPct val="133000"/>
              </a:lnSpc>
              <a:buNone/>
            </a:pPr>
            <a:r>
              <a:rPr lang="en-US" sz="1300" b="1" dirty="0">
                <a:solidFill>
                  <a:srgbClr val="000000"/>
                </a:solidFill>
                <a:latin typeface="Montserrat Bold" pitchFamily="34" charset="0"/>
                <a:ea typeface="Montserrat Bold" pitchFamily="34" charset="-122"/>
                <a:cs typeface="Montserrat Bold" pitchFamily="34" charset="-120"/>
              </a:rPr>
              <a:t>conversation log</a:t>
            </a:r>
            <a:pPr algn="l" indent="0" marL="0">
              <a:lnSpc>
                <a:spcPct val="133000"/>
              </a:lnSpc>
              <a:buNone/>
            </a:pPr>
            <a:r>
              <a:rPr lang="en-US" sz="1300" dirty="0">
                <a:solidFill>
                  <a:srgbClr val="000000"/>
                </a:solidFill>
                <a:latin typeface="Montserrat" pitchFamily="34" charset="0"/>
                <a:ea typeface="Montserrat" pitchFamily="34" charset="-122"/>
                <a:cs typeface="Montserrat" pitchFamily="34" charset="-120"/>
              </a:rPr>
              <a:t> đầy đủ.</a:t>
            </a:r>
            <a:endParaRPr lang="en-US" sz="1300" dirty="0"/>
          </a:p>
        </p:txBody>
      </p:sp>
      <p:sp>
        <p:nvSpPr>
          <p:cNvPr id="12" name="Text 10"/>
          <p:cNvSpPr/>
          <p:nvPr/>
        </p:nvSpPr>
        <p:spPr>
          <a:xfrm>
            <a:off x="8017468" y="2720876"/>
            <a:ext cx="330688" cy="206673"/>
          </a:xfrm>
          <a:prstGeom prst="rect">
            <a:avLst/>
          </a:prstGeom>
          <a:noFill/>
          <a:ln/>
        </p:spPr>
        <p:txBody>
          <a:bodyPr wrap="none" lIns="0" tIns="0" rIns="0" bIns="0" rtlCol="0" anchor="ctr"/>
          <a:lstStyle/>
          <a:p>
            <a:pPr algn="l" indent="0" marL="0">
              <a:lnSpc>
                <a:spcPct val="100000"/>
              </a:lnSpc>
              <a:buNone/>
            </a:pPr>
            <a:r>
              <a:rPr lang="en-US" sz="1300" dirty="0">
                <a:solidFill>
                  <a:srgbClr val="000000"/>
                </a:solidFill>
                <a:latin typeface="Montserrat Light" pitchFamily="34" charset="0"/>
                <a:ea typeface="Montserrat Light" pitchFamily="34" charset="-122"/>
                <a:cs typeface="Montserrat Light" pitchFamily="34" charset="-120"/>
              </a:rPr>
              <a:t>03</a:t>
            </a:r>
            <a:endParaRPr lang="en-US" sz="1300" dirty="0"/>
          </a:p>
        </p:txBody>
      </p:sp>
      <p:sp>
        <p:nvSpPr>
          <p:cNvPr id="13" name="Shape 11"/>
          <p:cNvSpPr/>
          <p:nvPr/>
        </p:nvSpPr>
        <p:spPr>
          <a:xfrm>
            <a:off x="8017468" y="2982813"/>
            <a:ext cx="3512653" cy="19050"/>
          </a:xfrm>
          <a:prstGeom prst="rect">
            <a:avLst/>
          </a:prstGeom>
          <a:solidFill>
            <a:srgbClr val="004AAD"/>
          </a:solidFill>
          <a:ln/>
        </p:spPr>
      </p:sp>
      <p:sp>
        <p:nvSpPr>
          <p:cNvPr id="14" name="Text 12"/>
          <p:cNvSpPr/>
          <p:nvPr/>
        </p:nvSpPr>
        <p:spPr>
          <a:xfrm>
            <a:off x="8017468" y="3103563"/>
            <a:ext cx="3512653" cy="258465"/>
          </a:xfrm>
          <a:prstGeom prst="rect">
            <a:avLst/>
          </a:prstGeom>
          <a:noFill/>
          <a:ln/>
        </p:spPr>
        <p:txBody>
          <a:bodyPr wrap="none" lIns="0" tIns="0" rIns="0" bIns="0" rtlCol="0" anchor="t"/>
          <a:lstStyle/>
          <a:p>
            <a:pPr algn="l" indent="0" marL="0">
              <a:lnSpc>
                <a:spcPct val="104000"/>
              </a:lnSpc>
              <a:buNone/>
            </a:pPr>
            <a:r>
              <a:rPr lang="en-US" sz="1600" b="1" dirty="0">
                <a:solidFill>
                  <a:srgbClr val="000000"/>
                </a:solidFill>
                <a:latin typeface="Montserrat Bold" pitchFamily="34" charset="0"/>
                <a:ea typeface="Montserrat Bold" pitchFamily="34" charset="-122"/>
                <a:cs typeface="Montserrat Bold" pitchFamily="34" charset="-120"/>
              </a:rPr>
              <a:t>Cell Step 6 · Landing Chat Live</a:t>
            </a:r>
            <a:endParaRPr lang="en-US" sz="1600" dirty="0"/>
          </a:p>
        </p:txBody>
      </p:sp>
      <p:sp>
        <p:nvSpPr>
          <p:cNvPr id="15" name="Text 13"/>
          <p:cNvSpPr/>
          <p:nvPr/>
        </p:nvSpPr>
        <p:spPr>
          <a:xfrm>
            <a:off x="8017468" y="3461246"/>
            <a:ext cx="3512653" cy="535583"/>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000000"/>
                </a:solidFill>
                <a:latin typeface="Montserrat" pitchFamily="34" charset="0"/>
                <a:ea typeface="Montserrat" pitchFamily="34" charset="-122"/>
                <a:cs typeface="Montserrat" pitchFamily="34" charset="-120"/>
              </a:rPr>
              <a:t>Mở </a:t>
            </a:r>
            <a:pPr algn="l" indent="0" marL="0">
              <a:lnSpc>
                <a:spcPct val="133000"/>
              </a:lnSpc>
              <a:buNone/>
            </a:pPr>
            <a:r>
              <a:rPr lang="en-US" sz="1300" dirty="0">
                <a:solidFill>
                  <a:srgbClr val="000000"/>
                </a:solidFill>
                <a:highlight>
                  <a:srgbClr val="F2F2F2"/>
                </a:highlight>
                <a:latin typeface="Consolas" pitchFamily="34" charset="0"/>
                <a:ea typeface="Consolas" pitchFamily="34" charset="-122"/>
                <a:cs typeface="Consolas" pitchFamily="34" charset="-120"/>
              </a:rPr>
              <a:t>landing-chatbot-demo.html</a:t>
            </a:r>
            <a:pPr algn="l" indent="0" marL="0">
              <a:lnSpc>
                <a:spcPct val="133000"/>
              </a:lnSpc>
              <a:buNone/>
            </a:pPr>
            <a:r>
              <a:rPr lang="en-US" sz="1300" dirty="0">
                <a:solidFill>
                  <a:srgbClr val="000000"/>
                </a:solidFill>
                <a:latin typeface="Montserrat" pitchFamily="34" charset="0"/>
                <a:ea typeface="Montserrat" pitchFamily="34" charset="-122"/>
                <a:cs typeface="Montserrat" pitchFamily="34" charset="-120"/>
              </a:rPr>
              <a:t>, chat trực tiếp với webhook /cskh.</a:t>
            </a:r>
            <a:endParaRPr lang="en-US" sz="1300" dirty="0"/>
          </a:p>
        </p:txBody>
      </p:sp>
      <p:sp>
        <p:nvSpPr>
          <p:cNvPr id="16" name="Shape 14"/>
          <p:cNvSpPr/>
          <p:nvPr/>
        </p:nvSpPr>
        <p:spPr>
          <a:xfrm>
            <a:off x="661475" y="4565154"/>
            <a:ext cx="10868745" cy="661293"/>
          </a:xfrm>
          <a:prstGeom prst="roundRect">
            <a:avLst>
              <a:gd name="adj" fmla="val 10504"/>
            </a:avLst>
          </a:prstGeom>
          <a:solidFill>
            <a:srgbClr val="CCE2FF"/>
          </a:solidFill>
          <a:ln/>
        </p:spPr>
      </p:sp>
      <p:pic>
        <p:nvPicPr>
          <p:cNvPr id="17" name="Image 0" descr="preencoded.png">    </p:cNvPr>
          <p:cNvPicPr>
            <a:picLocks noChangeAspect="1"/>
          </p:cNvPicPr>
          <p:nvPr/>
        </p:nvPicPr>
        <p:blipFill>
          <a:blip r:embed="rId1"/>
          <a:stretch>
            <a:fillRect/>
          </a:stretch>
        </p:blipFill>
        <p:spPr>
          <a:xfrm>
            <a:off x="826769" y="4804866"/>
            <a:ext cx="206667" cy="165298"/>
          </a:xfrm>
          <a:prstGeom prst="rect">
            <a:avLst/>
          </a:prstGeom>
        </p:spPr>
      </p:pic>
      <p:sp>
        <p:nvSpPr>
          <p:cNvPr id="18" name="Text 15"/>
          <p:cNvSpPr/>
          <p:nvPr/>
        </p:nvSpPr>
        <p:spPr>
          <a:xfrm>
            <a:off x="1198731" y="4771727"/>
            <a:ext cx="10775780" cy="264616"/>
          </a:xfrm>
          <a:prstGeom prst="rect">
            <a:avLst/>
          </a:prstGeom>
          <a:noFill/>
          <a:ln/>
        </p:spPr>
        <p:txBody>
          <a:bodyPr wrap="none" lIns="0" tIns="0" rIns="0" bIns="0" rtlCol="0" anchor="t"/>
          <a:lstStyle/>
          <a:p>
            <a:pPr algn="l" indent="0" marL="0">
              <a:lnSpc>
                <a:spcPct val="133000"/>
              </a:lnSpc>
              <a:buNone/>
            </a:pPr>
            <a:r>
              <a:rPr lang="en-US" sz="1300" dirty="0">
                <a:solidFill>
                  <a:srgbClr val="000000"/>
                </a:solidFill>
                <a:latin typeface="Montserrat" pitchFamily="34" charset="0"/>
                <a:ea typeface="Montserrat" pitchFamily="34" charset="-122"/>
                <a:cs typeface="Montserrat" pitchFamily="34" charset="-120"/>
              </a:rPr>
              <a:t>Kết quả mong muốn: </a:t>
            </a:r>
            <a:pPr algn="l" indent="0" marL="0">
              <a:lnSpc>
                <a:spcPct val="133000"/>
              </a:lnSpc>
              <a:buNone/>
            </a:pPr>
            <a:r>
              <a:rPr lang="en-US" sz="1300" b="1" dirty="0">
                <a:solidFill>
                  <a:srgbClr val="000000"/>
                </a:solidFill>
                <a:latin typeface="Montserrat Bold" pitchFamily="34" charset="0"/>
                <a:ea typeface="Montserrat Bold" pitchFamily="34" charset="-122"/>
                <a:cs typeface="Montserrat Bold" pitchFamily="34" charset="-120"/>
              </a:rPr>
              <a:t>3 case an toàn trả lời được, 2 case rủi ro chuyển người đúng.</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61475" y="2597348"/>
            <a:ext cx="6296860" cy="713184"/>
          </a:xfrm>
          <a:prstGeom prst="rect">
            <a:avLst/>
          </a:prstGeom>
          <a:noFill/>
          <a:ln/>
        </p:spPr>
        <p:txBody>
          <a:bodyPr wrap="none" lIns="0" tIns="0" rIns="0" bIns="0" rtlCol="0" anchor="t"/>
          <a:lstStyle/>
          <a:p>
            <a:pPr algn="l" indent="0" marL="0">
              <a:lnSpc>
                <a:spcPct val="104000"/>
              </a:lnSpc>
              <a:buNone/>
            </a:pPr>
            <a:r>
              <a:rPr lang="en-US" sz="4450" b="1" dirty="0">
                <a:solidFill>
                  <a:srgbClr val="004AAD"/>
                </a:solidFill>
                <a:latin typeface="Montserrat Bold" pitchFamily="34" charset="0"/>
                <a:ea typeface="Montserrat Bold" pitchFamily="34" charset="-122"/>
                <a:cs typeface="Montserrat Bold" pitchFamily="34" charset="-120"/>
              </a:rPr>
              <a:t>Thực hành 1</a:t>
            </a:r>
            <a:endParaRPr lang="en-US" sz="4450" dirty="0"/>
          </a:p>
        </p:txBody>
      </p:sp>
      <p:sp>
        <p:nvSpPr>
          <p:cNvPr id="4" name="Text 1"/>
          <p:cNvSpPr/>
          <p:nvPr/>
        </p:nvSpPr>
        <p:spPr>
          <a:xfrm>
            <a:off x="661475" y="3558580"/>
            <a:ext cx="6906444" cy="264616"/>
          </a:xfrm>
          <a:prstGeom prst="rect">
            <a:avLst/>
          </a:prstGeom>
          <a:noFill/>
          <a:ln/>
        </p:spPr>
        <p:txBody>
          <a:bodyPr wrap="none" lIns="0" tIns="0" rIns="0" bIns="0" rtlCol="0" anchor="t"/>
          <a:lstStyle/>
          <a:p>
            <a:pPr algn="l" indent="0" marL="0">
              <a:lnSpc>
                <a:spcPct val="133000"/>
              </a:lnSpc>
              <a:buNone/>
            </a:pPr>
            <a:r>
              <a:rPr lang="en-US" sz="1300" b="1" dirty="0">
                <a:solidFill>
                  <a:srgbClr val="000000"/>
                </a:solidFill>
                <a:latin typeface="Montserrat Bold" pitchFamily="34" charset="0"/>
                <a:ea typeface="Montserrat Bold" pitchFamily="34" charset="-122"/>
                <a:cs typeface="Montserrat Bold" pitchFamily="34" charset="-120"/>
              </a:rPr>
              <a:t>Vector Knowledge DB</a:t>
            </a:r>
            <a:endParaRPr lang="en-US" sz="1300" dirty="0"/>
          </a:p>
        </p:txBody>
      </p:sp>
      <p:sp>
        <p:nvSpPr>
          <p:cNvPr id="5" name="Shape 2"/>
          <p:cNvSpPr/>
          <p:nvPr/>
        </p:nvSpPr>
        <p:spPr>
          <a:xfrm>
            <a:off x="661475" y="4009231"/>
            <a:ext cx="553329" cy="251420"/>
          </a:xfrm>
          <a:prstGeom prst="roundRect">
            <a:avLst>
              <a:gd name="adj" fmla="val 22103"/>
            </a:avLst>
          </a:prstGeom>
          <a:solidFill>
            <a:srgbClr val="CCE2FF"/>
          </a:solidFill>
          <a:ln/>
        </p:spPr>
      </p:sp>
      <p:sp>
        <p:nvSpPr>
          <p:cNvPr id="6" name="Text 3"/>
          <p:cNvSpPr/>
          <p:nvPr/>
        </p:nvSpPr>
        <p:spPr>
          <a:xfrm>
            <a:off x="760691" y="4058841"/>
            <a:ext cx="964481" cy="152202"/>
          </a:xfrm>
          <a:prstGeom prst="rect">
            <a:avLst/>
          </a:prstGeom>
          <a:noFill/>
          <a:ln/>
        </p:spPr>
        <p:txBody>
          <a:bodyPr wrap="none" lIns="0" tIns="0" rIns="0" bIns="0" rtlCol="0" anchor="t"/>
          <a:lstStyle/>
          <a:p>
            <a:pPr algn="l" indent="0" marL="0">
              <a:lnSpc>
                <a:spcPct val="96000"/>
              </a:lnSpc>
              <a:buNone/>
            </a:pPr>
            <a:r>
              <a:rPr lang="en-US" sz="1000" dirty="0">
                <a:solidFill>
                  <a:srgbClr val="000000"/>
                </a:solidFill>
                <a:latin typeface="Montserrat" pitchFamily="34" charset="0"/>
                <a:ea typeface="Montserrat" pitchFamily="34" charset="-122"/>
                <a:cs typeface="Montserrat" pitchFamily="34" charset="-120"/>
              </a:rPr>
              <a:t>LAB 1</a:t>
            </a:r>
            <a:endParaRPr lang="en-US" sz="1000" dirty="0"/>
          </a:p>
        </p:txBody>
      </p:sp>
      <p:sp>
        <p:nvSpPr>
          <p:cNvPr id="7" name="Shape 4"/>
          <p:cNvSpPr/>
          <p:nvPr/>
        </p:nvSpPr>
        <p:spPr>
          <a:xfrm>
            <a:off x="1297451" y="4009231"/>
            <a:ext cx="1518009" cy="251420"/>
          </a:xfrm>
          <a:prstGeom prst="roundRect">
            <a:avLst>
              <a:gd name="adj" fmla="val 22103"/>
            </a:avLst>
          </a:prstGeom>
          <a:noFill/>
          <a:ln w="6350">
            <a:solidFill>
              <a:srgbClr val="004AAD"/>
            </a:solidFill>
            <a:prstDash val="solid"/>
          </a:ln>
        </p:spPr>
      </p:sp>
      <p:sp>
        <p:nvSpPr>
          <p:cNvPr id="8" name="Text 5"/>
          <p:cNvSpPr/>
          <p:nvPr/>
        </p:nvSpPr>
        <p:spPr>
          <a:xfrm>
            <a:off x="1396667" y="4058841"/>
            <a:ext cx="1929161" cy="152202"/>
          </a:xfrm>
          <a:prstGeom prst="rect">
            <a:avLst/>
          </a:prstGeom>
          <a:noFill/>
          <a:ln/>
        </p:spPr>
        <p:txBody>
          <a:bodyPr wrap="none" lIns="0" tIns="0" rIns="0" bIns="0" rtlCol="0" anchor="t"/>
          <a:lstStyle/>
          <a:p>
            <a:pPr algn="l" indent="0" marL="0">
              <a:lnSpc>
                <a:spcPct val="96000"/>
              </a:lnSpc>
              <a:buNone/>
            </a:pPr>
            <a:r>
              <a:rPr lang="en-US" sz="1000" dirty="0">
                <a:solidFill>
                  <a:srgbClr val="004AAD"/>
                </a:solidFill>
                <a:latin typeface="Montserrat" pitchFamily="34" charset="0"/>
                <a:ea typeface="Montserrat" pitchFamily="34" charset="-122"/>
                <a:cs typeface="Montserrat" pitchFamily="34" charset="-120"/>
              </a:rPr>
              <a:t>KNOWLEDGE BASE</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661475" y="463947"/>
            <a:ext cx="10868745" cy="450552"/>
          </a:xfrm>
          <a:prstGeom prst="rect">
            <a:avLst/>
          </a:prstGeom>
          <a:noFill/>
          <a:ln/>
        </p:spPr>
        <p:txBody>
          <a:bodyPr wrap="none" lIns="0" tIns="0" rIns="0" bIns="0" rtlCol="0" anchor="t"/>
          <a:lstStyle/>
          <a:p>
            <a:pPr algn="l" indent="0" marL="0">
              <a:lnSpc>
                <a:spcPct val="104000"/>
              </a:lnSpc>
              <a:buNone/>
            </a:pPr>
            <a:r>
              <a:rPr lang="en-US" sz="2800" b="1" dirty="0">
                <a:solidFill>
                  <a:srgbClr val="004AAD"/>
                </a:solidFill>
                <a:latin typeface="Montserrat Bold" pitchFamily="34" charset="0"/>
                <a:ea typeface="Montserrat Bold" pitchFamily="34" charset="-122"/>
                <a:cs typeface="Montserrat Bold" pitchFamily="34" charset="-120"/>
              </a:rPr>
              <a:t>Trước khi có bot, phải có kho tri thức</a:t>
            </a:r>
            <a:endParaRPr lang="en-US" sz="2800" dirty="0"/>
          </a:p>
        </p:txBody>
      </p:sp>
      <p:sp>
        <p:nvSpPr>
          <p:cNvPr id="3" name="Text 1"/>
          <p:cNvSpPr/>
          <p:nvPr/>
        </p:nvSpPr>
        <p:spPr>
          <a:xfrm>
            <a:off x="661475" y="964704"/>
            <a:ext cx="10868745" cy="225326"/>
          </a:xfrm>
          <a:prstGeom prst="rect">
            <a:avLst/>
          </a:prstGeom>
          <a:noFill/>
          <a:ln/>
        </p:spPr>
        <p:txBody>
          <a:bodyPr wrap="none" lIns="0" tIns="0" rIns="0" bIns="0" rtlCol="0" anchor="t"/>
          <a:lstStyle/>
          <a:p>
            <a:pPr algn="l" indent="0" marL="0">
              <a:lnSpc>
                <a:spcPct val="104000"/>
              </a:lnSpc>
              <a:buNone/>
            </a:pPr>
            <a:r>
              <a:rPr lang="en-US" sz="1400" b="1" dirty="0">
                <a:solidFill>
                  <a:srgbClr val="004AAD"/>
                </a:solidFill>
                <a:latin typeface="Montserrat Bold" pitchFamily="34" charset="0"/>
                <a:ea typeface="Montserrat Bold" pitchFamily="34" charset="-122"/>
                <a:cs typeface="Montserrat Bold" pitchFamily="34" charset="-120"/>
              </a:rPr>
              <a:t>JIT: Knowledge Base First</a:t>
            </a:r>
            <a:endParaRPr lang="en-US" sz="1400" dirty="0"/>
          </a:p>
        </p:txBody>
      </p:sp>
      <p:sp>
        <p:nvSpPr>
          <p:cNvPr id="4" name="Text 2"/>
          <p:cNvSpPr/>
          <p:nvPr/>
        </p:nvSpPr>
        <p:spPr>
          <a:xfrm>
            <a:off x="661475" y="1491655"/>
            <a:ext cx="5258462" cy="1204813"/>
          </a:xfrm>
          <a:prstGeom prst="rect">
            <a:avLst/>
          </a:prstGeom>
          <a:noFill/>
          <a:ln/>
        </p:spPr>
        <p:txBody>
          <a:bodyPr wrap="square" lIns="0" tIns="0" rIns="0" bIns="0" rtlCol="0" anchor="t">
            <a:normAutofit/>
          </a:bodyPr>
          <a:lstStyle/>
          <a:p>
            <a:pPr algn="l" indent="0" marL="0">
              <a:lnSpc>
                <a:spcPct val="125000"/>
              </a:lnSpc>
              <a:spcAft>
                <a:spcPts val="850"/>
              </a:spcAft>
              <a:buNone/>
            </a:pPr>
            <a:r>
              <a:rPr lang="en-US" sz="1100" dirty="0">
                <a:solidFill>
                  <a:srgbClr val="000000"/>
                </a:solidFill>
                <a:latin typeface="Montserrat" pitchFamily="34" charset="0"/>
                <a:ea typeface="Montserrat" pitchFamily="34" charset="-122"/>
                <a:cs typeface="Montserrat" pitchFamily="34" charset="-120"/>
              </a:rPr>
              <a:t>Bot không nên trả lời từ </a:t>
            </a:r>
            <a:pPr algn="l" indent="0" marL="0">
              <a:lnSpc>
                <a:spcPct val="125000"/>
              </a:lnSpc>
              <a:spcAft>
                <a:spcPts val="850"/>
              </a:spcAft>
              <a:buNone/>
            </a:pPr>
            <a:r>
              <a:rPr lang="en-US" sz="1100" b="1" dirty="0">
                <a:solidFill>
                  <a:srgbClr val="000000"/>
                </a:solidFill>
                <a:latin typeface="Montserrat Bold" pitchFamily="34" charset="0"/>
                <a:ea typeface="Montserrat Bold" pitchFamily="34" charset="-122"/>
                <a:cs typeface="Montserrat Bold" pitchFamily="34" charset="-120"/>
              </a:rPr>
              <a:t>trí nhớ của LLM</a:t>
            </a:r>
            <a:pPr algn="l" indent="0" marL="0">
              <a:lnSpc>
                <a:spcPct val="125000"/>
              </a:lnSpc>
              <a:spcAft>
                <a:spcPts val="850"/>
              </a:spcAft>
              <a:buNone/>
            </a:pPr>
            <a:r>
              <a:rPr lang="en-US" sz="1100" dirty="0">
                <a:solidFill>
                  <a:srgbClr val="000000"/>
                </a:solidFill>
                <a:latin typeface="Montserrat" pitchFamily="34" charset="0"/>
                <a:ea typeface="Montserrat" pitchFamily="34" charset="-122"/>
                <a:cs typeface="Montserrat" pitchFamily="34" charset="-120"/>
              </a:rPr>
              <a:t>, vì đó là nguồn của sự bịa. Thay vào đó, ta mã hóa vector (embed) </a:t>
            </a:r>
            <a:pPr algn="l" indent="0" marL="0">
              <a:lnSpc>
                <a:spcPct val="125000"/>
              </a:lnSpc>
              <a:spcAft>
                <a:spcPts val="850"/>
              </a:spcAft>
              <a:buNone/>
            </a:pPr>
            <a:r>
              <a:rPr lang="en-US" sz="1100" b="1" dirty="0">
                <a:solidFill>
                  <a:srgbClr val="000000"/>
                </a:solidFill>
                <a:latin typeface="Montserrat Bold" pitchFamily="34" charset="0"/>
                <a:ea typeface="Montserrat Bold" pitchFamily="34" charset="-122"/>
                <a:cs typeface="Montserrat Bold" pitchFamily="34" charset="-120"/>
              </a:rPr>
              <a:t>15 FAQ bán lẻ</a:t>
            </a:r>
            <a:pPr algn="l" indent="0" marL="0">
              <a:lnSpc>
                <a:spcPct val="125000"/>
              </a:lnSpc>
              <a:spcAft>
                <a:spcPts val="850"/>
              </a:spcAft>
              <a:buNone/>
            </a:pPr>
            <a:r>
              <a:rPr lang="en-US" sz="1100" dirty="0">
                <a:solidFill>
                  <a:srgbClr val="000000"/>
                </a:solidFill>
                <a:latin typeface="Montserrat" pitchFamily="34" charset="0"/>
                <a:ea typeface="Montserrat" pitchFamily="34" charset="-122"/>
                <a:cs typeface="Montserrat" pitchFamily="34" charset="-120"/>
              </a:rPr>
              <a:t> (chia 5 nhóm) thành </a:t>
            </a:r>
            <a:pPr algn="l" indent="0" marL="0">
              <a:lnSpc>
                <a:spcPct val="125000"/>
              </a:lnSpc>
              <a:spcAft>
                <a:spcPts val="850"/>
              </a:spcAft>
              <a:buNone/>
            </a:pPr>
            <a:r>
              <a:rPr lang="en-US" sz="1100" dirty="0">
                <a:solidFill>
                  <a:srgbClr val="000000"/>
                </a:solidFill>
                <a:highlight>
                  <a:srgbClr val="F2F2F2"/>
                </a:highlight>
                <a:latin typeface="Consolas" pitchFamily="34" charset="0"/>
                <a:ea typeface="Consolas" pitchFamily="34" charset="-122"/>
                <a:cs typeface="Consolas" pitchFamily="34" charset="-120"/>
              </a:rPr>
              <a:t>vector-store.json</a:t>
            </a:r>
            <a:pPr algn="l" indent="0" marL="0">
              <a:lnSpc>
                <a:spcPct val="125000"/>
              </a:lnSpc>
              <a:spcAft>
                <a:spcPts val="850"/>
              </a:spcAft>
              <a:buNone/>
            </a:pPr>
            <a:r>
              <a:rPr lang="en-US" sz="1100" dirty="0">
                <a:solidFill>
                  <a:srgbClr val="000000"/>
                </a:solidFill>
                <a:latin typeface="Montserrat" pitchFamily="34" charset="0"/>
                <a:ea typeface="Montserrat" pitchFamily="34" charset="-122"/>
                <a:cs typeface="Montserrat" pitchFamily="34" charset="-120"/>
              </a:rPr>
              <a:t>.</a:t>
            </a:r>
            <a:endParaRPr lang="en-US" sz="1100" dirty="0"/>
          </a:p>
          <a:p>
            <a:pPr algn="l" indent="0" marL="0">
              <a:lnSpc>
                <a:spcPct val="125000"/>
              </a:lnSpc>
              <a:buNone/>
            </a:pPr>
            <a:r>
              <a:rPr lang="en-US" sz="1100" dirty="0">
                <a:solidFill>
                  <a:srgbClr val="000000"/>
                </a:solidFill>
                <a:latin typeface="Montserrat" pitchFamily="34" charset="0"/>
                <a:ea typeface="Montserrat" pitchFamily="34" charset="-122"/>
                <a:cs typeface="Montserrat" pitchFamily="34" charset="-120"/>
              </a:rPr>
              <a:t>Mỗi FAQ có </a:t>
            </a:r>
            <a:pPr algn="l" indent="0" marL="0">
              <a:lnSpc>
                <a:spcPct val="125000"/>
              </a:lnSpc>
              <a:buNone/>
            </a:pPr>
            <a:r>
              <a:rPr lang="en-US" sz="1100" dirty="0">
                <a:solidFill>
                  <a:srgbClr val="000000"/>
                </a:solidFill>
                <a:highlight>
                  <a:srgbClr val="F2F2F2"/>
                </a:highlight>
                <a:latin typeface="Consolas" pitchFamily="34" charset="0"/>
                <a:ea typeface="Consolas" pitchFamily="34" charset="-122"/>
                <a:cs typeface="Consolas" pitchFamily="34" charset="-120"/>
              </a:rPr>
              <a:t>faq_id</a:t>
            </a:r>
            <a:pPr algn="l" indent="0" marL="0">
              <a:lnSpc>
                <a:spcPct val="125000"/>
              </a:lnSpc>
              <a:buNone/>
            </a:pPr>
            <a:r>
              <a:rPr lang="en-US" sz="1100" dirty="0">
                <a:solidFill>
                  <a:srgbClr val="000000"/>
                </a:solidFill>
                <a:latin typeface="Montserrat" pitchFamily="34" charset="0"/>
                <a:ea typeface="Montserrat" pitchFamily="34" charset="-122"/>
                <a:cs typeface="Montserrat" pitchFamily="34" charset="-120"/>
              </a:rPr>
              <a:t>, nhóm nội dung và vector embedding. Khi khách hỏi, hệ thống tìm theo </a:t>
            </a:r>
            <a:pPr algn="l" indent="0" marL="0">
              <a:lnSpc>
                <a:spcPct val="125000"/>
              </a:lnSpc>
              <a:buNone/>
            </a:pPr>
            <a:r>
              <a:rPr lang="en-US" sz="1100" b="1" dirty="0">
                <a:solidFill>
                  <a:srgbClr val="000000"/>
                </a:solidFill>
                <a:latin typeface="Montserrat Bold" pitchFamily="34" charset="0"/>
                <a:ea typeface="Montserrat Bold" pitchFamily="34" charset="-122"/>
                <a:cs typeface="Montserrat Bold" pitchFamily="34" charset="-120"/>
              </a:rPr>
              <a:t>ý nghĩa (semantic search)</a:t>
            </a:r>
            <a:pPr algn="l" indent="0" marL="0">
              <a:lnSpc>
                <a:spcPct val="125000"/>
              </a:lnSpc>
              <a:buNone/>
            </a:pPr>
            <a:r>
              <a:rPr lang="en-US" sz="1100" dirty="0">
                <a:solidFill>
                  <a:srgbClr val="000000"/>
                </a:solidFill>
                <a:latin typeface="Montserrat" pitchFamily="34" charset="0"/>
                <a:ea typeface="Montserrat" pitchFamily="34" charset="-122"/>
                <a:cs typeface="Montserrat" pitchFamily="34" charset="-120"/>
              </a:rPr>
              <a:t> thay vì khớp từ khóa cứng.</a:t>
            </a:r>
            <a:endParaRPr lang="en-US" sz="1100" dirty="0"/>
          </a:p>
        </p:txBody>
      </p:sp>
      <p:sp>
        <p:nvSpPr>
          <p:cNvPr id="5" name="Shape 3"/>
          <p:cNvSpPr/>
          <p:nvPr/>
        </p:nvSpPr>
        <p:spPr>
          <a:xfrm>
            <a:off x="661475" y="2837855"/>
            <a:ext cx="5258462" cy="514052"/>
          </a:xfrm>
          <a:prstGeom prst="roundRect">
            <a:avLst>
              <a:gd name="adj" fmla="val 11782"/>
            </a:avLst>
          </a:prstGeom>
          <a:solidFill>
            <a:srgbClr val="B6FCB8"/>
          </a:solidFill>
          <a:ln/>
        </p:spPr>
      </p:sp>
      <p:pic>
        <p:nvPicPr>
          <p:cNvPr id="6" name="Image 0" descr="preencoded.png">    </p:cNvPr>
          <p:cNvPicPr>
            <a:picLocks noChangeAspect="1"/>
          </p:cNvPicPr>
          <p:nvPr/>
        </p:nvPicPr>
        <p:blipFill>
          <a:blip r:embed="rId1"/>
          <a:stretch>
            <a:fillRect/>
          </a:stretch>
        </p:blipFill>
        <p:spPr>
          <a:xfrm>
            <a:off x="805636" y="3044230"/>
            <a:ext cx="180177" cy="144165"/>
          </a:xfrm>
          <a:prstGeom prst="rect">
            <a:avLst/>
          </a:prstGeom>
        </p:spPr>
      </p:pic>
      <p:sp>
        <p:nvSpPr>
          <p:cNvPr id="7" name="Text 4"/>
          <p:cNvSpPr/>
          <p:nvPr/>
        </p:nvSpPr>
        <p:spPr>
          <a:xfrm>
            <a:off x="1129974" y="2986980"/>
            <a:ext cx="5255386" cy="215801"/>
          </a:xfrm>
          <a:prstGeom prst="rect">
            <a:avLst/>
          </a:prstGeom>
          <a:noFill/>
          <a:ln/>
        </p:spPr>
        <p:txBody>
          <a:bodyPr wrap="none" lIns="0" tIns="0" rIns="0" bIns="0" rtlCol="0" anchor="t"/>
          <a:lstStyle/>
          <a:p>
            <a:pPr algn="l" indent="0" marL="0">
              <a:lnSpc>
                <a:spcPct val="125000"/>
              </a:lnSpc>
              <a:buNone/>
            </a:pPr>
            <a:r>
              <a:rPr lang="en-US" sz="1100" dirty="0">
                <a:solidFill>
                  <a:srgbClr val="000000"/>
                </a:solidFill>
                <a:latin typeface="Montserrat" pitchFamily="34" charset="0"/>
                <a:ea typeface="Montserrat" pitchFamily="34" charset="-122"/>
                <a:cs typeface="Montserrat" pitchFamily="34" charset="-120"/>
              </a:rPr>
              <a:t>Nhờ đó câu hỏi diễn đạt khác vẫn </a:t>
            </a:r>
            <a:pPr algn="l" indent="0" marL="0">
              <a:lnSpc>
                <a:spcPct val="125000"/>
              </a:lnSpc>
              <a:buNone/>
            </a:pPr>
            <a:r>
              <a:rPr lang="en-US" sz="1100" b="1" dirty="0">
                <a:solidFill>
                  <a:srgbClr val="000000"/>
                </a:solidFill>
                <a:latin typeface="Montserrat Bold" pitchFamily="34" charset="0"/>
                <a:ea typeface="Montserrat Bold" pitchFamily="34" charset="-122"/>
                <a:cs typeface="Montserrat Bold" pitchFamily="34" charset="-120"/>
              </a:rPr>
              <a:t>trúng FAQ đúng</a:t>
            </a:r>
            <a:pPr algn="l" indent="0" marL="0">
              <a:lnSpc>
                <a:spcPct val="125000"/>
              </a:lnSpc>
              <a:buNone/>
            </a:pPr>
            <a:r>
              <a:rPr lang="en-US" sz="1100" dirty="0">
                <a:solidFill>
                  <a:srgbClr val="000000"/>
                </a:solidFill>
                <a:latin typeface="Montserrat" pitchFamily="34" charset="0"/>
                <a:ea typeface="Montserrat" pitchFamily="34" charset="-122"/>
                <a:cs typeface="Montserrat" pitchFamily="34" charset="-120"/>
              </a:rPr>
              <a:t>.</a:t>
            </a:r>
            <a:endParaRPr lang="en-US" sz="1100" dirty="0"/>
          </a:p>
        </p:txBody>
      </p:sp>
      <p:pic>
        <p:nvPicPr>
          <p:cNvPr id="8" name="Image 1" descr="preencoded.png">    </p:cNvPr>
          <p:cNvPicPr>
            <a:picLocks noChangeAspect="1"/>
          </p:cNvPicPr>
          <p:nvPr/>
        </p:nvPicPr>
        <p:blipFill>
          <a:blip r:embed="rId2"/>
          <a:stretch>
            <a:fillRect/>
          </a:stretch>
        </p:blipFill>
        <p:spPr>
          <a:xfrm>
            <a:off x="6278108" y="1519932"/>
            <a:ext cx="4732616" cy="4732734"/>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661475" y="613569"/>
            <a:ext cx="10868745" cy="516731"/>
          </a:xfrm>
          <a:prstGeom prst="rect">
            <a:avLst/>
          </a:prstGeom>
          <a:noFill/>
          <a:ln/>
        </p:spPr>
        <p:txBody>
          <a:bodyPr wrap="none" lIns="0" tIns="0" rIns="0" bIns="0" rtlCol="0" anchor="t"/>
          <a:lstStyle/>
          <a:p>
            <a:pPr algn="l" indent="0" marL="0">
              <a:lnSpc>
                <a:spcPct val="104000"/>
              </a:lnSpc>
              <a:buNone/>
            </a:pPr>
            <a:r>
              <a:rPr lang="en-US" sz="3250" b="1" dirty="0">
                <a:solidFill>
                  <a:srgbClr val="004AAD"/>
                </a:solidFill>
                <a:latin typeface="Montserrat Bold" pitchFamily="34" charset="0"/>
                <a:ea typeface="Montserrat Bold" pitchFamily="34" charset="-122"/>
                <a:cs typeface="Montserrat Bold" pitchFamily="34" charset="-120"/>
              </a:rPr>
              <a:t>Thực hành 1: auto-config và vector knowledge DB</a:t>
            </a:r>
            <a:endParaRPr lang="en-US" sz="3250" dirty="0"/>
          </a:p>
        </p:txBody>
      </p:sp>
      <p:sp>
        <p:nvSpPr>
          <p:cNvPr id="3" name="Text 1"/>
          <p:cNvSpPr/>
          <p:nvPr/>
        </p:nvSpPr>
        <p:spPr>
          <a:xfrm>
            <a:off x="661475" y="1196380"/>
            <a:ext cx="10868745" cy="258465"/>
          </a:xfrm>
          <a:prstGeom prst="rect">
            <a:avLst/>
          </a:prstGeom>
          <a:noFill/>
          <a:ln/>
        </p:spPr>
        <p:txBody>
          <a:bodyPr wrap="none" lIns="0" tIns="0" rIns="0" bIns="0" rtlCol="0" anchor="t"/>
          <a:lstStyle/>
          <a:p>
            <a:pPr algn="l" indent="0" marL="0">
              <a:lnSpc>
                <a:spcPct val="104000"/>
              </a:lnSpc>
              <a:buNone/>
            </a:pPr>
            <a:r>
              <a:rPr lang="en-US" sz="1600" b="1" dirty="0">
                <a:solidFill>
                  <a:srgbClr val="004AAD"/>
                </a:solidFill>
                <a:latin typeface="Montserrat Bold" pitchFamily="34" charset="0"/>
                <a:ea typeface="Montserrat Bold" pitchFamily="34" charset="-122"/>
                <a:cs typeface="Montserrat Bold" pitchFamily="34" charset="-120"/>
              </a:rPr>
              <a:t>Lab · 15 phút</a:t>
            </a:r>
            <a:endParaRPr lang="en-US" sz="1600" dirty="0"/>
          </a:p>
        </p:txBody>
      </p:sp>
      <p:sp>
        <p:nvSpPr>
          <p:cNvPr id="4" name="Shape 2"/>
          <p:cNvSpPr/>
          <p:nvPr/>
        </p:nvSpPr>
        <p:spPr>
          <a:xfrm>
            <a:off x="661475" y="1702891"/>
            <a:ext cx="10868745" cy="661293"/>
          </a:xfrm>
          <a:prstGeom prst="roundRect">
            <a:avLst>
              <a:gd name="adj" fmla="val 10504"/>
            </a:avLst>
          </a:prstGeom>
          <a:solidFill>
            <a:srgbClr val="CCE2FF"/>
          </a:solidFill>
          <a:ln/>
        </p:spPr>
      </p:sp>
      <p:pic>
        <p:nvPicPr>
          <p:cNvPr id="5" name="Image 0" descr="preencoded.png">    </p:cNvPr>
          <p:cNvPicPr>
            <a:picLocks noChangeAspect="1"/>
          </p:cNvPicPr>
          <p:nvPr/>
        </p:nvPicPr>
        <p:blipFill>
          <a:blip r:embed="rId1"/>
          <a:stretch>
            <a:fillRect/>
          </a:stretch>
        </p:blipFill>
        <p:spPr>
          <a:xfrm>
            <a:off x="826769" y="1942604"/>
            <a:ext cx="206667" cy="165298"/>
          </a:xfrm>
          <a:prstGeom prst="rect">
            <a:avLst/>
          </a:prstGeom>
        </p:spPr>
      </p:pic>
      <p:sp>
        <p:nvSpPr>
          <p:cNvPr id="6" name="Text 3"/>
          <p:cNvSpPr/>
          <p:nvPr/>
        </p:nvSpPr>
        <p:spPr>
          <a:xfrm>
            <a:off x="1198731" y="1909465"/>
            <a:ext cx="10775780" cy="264616"/>
          </a:xfrm>
          <a:prstGeom prst="rect">
            <a:avLst/>
          </a:prstGeom>
          <a:noFill/>
          <a:ln/>
        </p:spPr>
        <p:txBody>
          <a:bodyPr wrap="none" lIns="0" tIns="0" rIns="0" bIns="0" rtlCol="0" anchor="t"/>
          <a:lstStyle/>
          <a:p>
            <a:pPr algn="l" indent="0" marL="0">
              <a:lnSpc>
                <a:spcPct val="133000"/>
              </a:lnSpc>
              <a:buNone/>
            </a:pPr>
            <a:r>
              <a:rPr lang="en-US" sz="1300" b="1" dirty="0">
                <a:solidFill>
                  <a:srgbClr val="000000"/>
                </a:solidFill>
                <a:latin typeface="Montserrat Bold" pitchFamily="34" charset="0"/>
                <a:ea typeface="Montserrat Bold" pitchFamily="34" charset="-122"/>
                <a:cs typeface="Montserrat Bold" pitchFamily="34" charset="-120"/>
              </a:rPr>
              <a:t>Mục tiêu:</a:t>
            </a:r>
            <a:pPr algn="l" indent="0" marL="0">
              <a:lnSpc>
                <a:spcPct val="133000"/>
              </a:lnSpc>
              <a:buNone/>
            </a:pPr>
            <a:r>
              <a:rPr lang="en-US" sz="1300" dirty="0">
                <a:solidFill>
                  <a:srgbClr val="000000"/>
                </a:solidFill>
                <a:latin typeface="Montserrat" pitchFamily="34" charset="0"/>
                <a:ea typeface="Montserrat" pitchFamily="34" charset="-122"/>
                <a:cs typeface="Montserrat" pitchFamily="34" charset="-120"/>
              </a:rPr>
              <a:t> n8n local đang chạy, workflow tự nạp, vector-store.json đủ 15 vector (mỗi FAQ đúng một vector).</a:t>
            </a:r>
            <a:endParaRPr lang="en-US" sz="1300" dirty="0"/>
          </a:p>
        </p:txBody>
      </p:sp>
      <p:pic>
        <p:nvPicPr>
          <p:cNvPr id="7"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61475" y="2550220"/>
            <a:ext cx="5351725" cy="1764407"/>
          </a:xfrm>
          <a:prstGeom prst="rect">
            <a:avLst/>
          </a:prstGeom>
        </p:spPr>
      </p:pic>
      <p:sp>
        <p:nvSpPr>
          <p:cNvPr id="8" name="Text 4"/>
          <p:cNvSpPr/>
          <p:nvPr/>
        </p:nvSpPr>
        <p:spPr>
          <a:xfrm>
            <a:off x="3213317" y="2659063"/>
            <a:ext cx="248041" cy="310059"/>
          </a:xfrm>
          <a:prstGeom prst="rect">
            <a:avLst/>
          </a:prstGeom>
          <a:noFill/>
          <a:ln/>
        </p:spPr>
        <p:txBody>
          <a:bodyPr wrap="none" lIns="0" tIns="0" rIns="0" bIns="0" rtlCol="0" anchor="ctr"/>
          <a:lstStyle/>
          <a:p>
            <a:pPr algn="ctr" indent="0" marL="0">
              <a:lnSpc>
                <a:spcPct val="100000"/>
              </a:lnSpc>
              <a:buNone/>
            </a:pPr>
            <a:r>
              <a:rPr lang="en-US" sz="1950" b="1" dirty="0">
                <a:solidFill>
                  <a:srgbClr val="000000"/>
                </a:solidFill>
                <a:latin typeface="Montserrat Bold" pitchFamily="34" charset="0"/>
                <a:ea typeface="Montserrat Bold" pitchFamily="34" charset="-122"/>
                <a:cs typeface="Montserrat Bold" pitchFamily="34" charset="-120"/>
              </a:rPr>
              <a:t>1</a:t>
            </a:r>
            <a:endParaRPr lang="en-US" sz="1950" dirty="0"/>
          </a:p>
        </p:txBody>
      </p:sp>
      <p:sp>
        <p:nvSpPr>
          <p:cNvPr id="9" name="Text 5"/>
          <p:cNvSpPr/>
          <p:nvPr/>
        </p:nvSpPr>
        <p:spPr>
          <a:xfrm>
            <a:off x="845819" y="3230662"/>
            <a:ext cx="4983038" cy="258465"/>
          </a:xfrm>
          <a:prstGeom prst="rect">
            <a:avLst/>
          </a:prstGeom>
          <a:noFill/>
          <a:ln/>
        </p:spPr>
        <p:txBody>
          <a:bodyPr wrap="none" lIns="0" tIns="0" rIns="0" bIns="0" rtlCol="0" anchor="t"/>
          <a:lstStyle/>
          <a:p>
            <a:pPr algn="l" indent="0" marL="0">
              <a:lnSpc>
                <a:spcPct val="104000"/>
              </a:lnSpc>
              <a:buNone/>
            </a:pPr>
            <a:r>
              <a:rPr lang="en-US" sz="1600" b="1" dirty="0">
                <a:solidFill>
                  <a:srgbClr val="000000"/>
                </a:solidFill>
                <a:latin typeface="Montserrat Bold" pitchFamily="34" charset="0"/>
                <a:ea typeface="Montserrat Bold" pitchFamily="34" charset="-122"/>
                <a:cs typeface="Montserrat Bold" pitchFamily="34" charset="-120"/>
              </a:rPr>
              <a:t>Khởi động</a:t>
            </a:r>
            <a:endParaRPr lang="en-US" sz="1600" dirty="0"/>
          </a:p>
        </p:txBody>
      </p:sp>
      <p:sp>
        <p:nvSpPr>
          <p:cNvPr id="10" name="Text 6"/>
          <p:cNvSpPr/>
          <p:nvPr/>
        </p:nvSpPr>
        <p:spPr>
          <a:xfrm>
            <a:off x="845819" y="3588345"/>
            <a:ext cx="4983038" cy="541933"/>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000000"/>
                </a:solidFill>
                <a:latin typeface="Montserrat" pitchFamily="34" charset="0"/>
                <a:ea typeface="Montserrat" pitchFamily="34" charset="-122"/>
                <a:cs typeface="Montserrat" pitchFamily="34" charset="-120"/>
              </a:rPr>
              <a:t>Chạy </a:t>
            </a:r>
            <a:pPr algn="l" indent="0" marL="0">
              <a:lnSpc>
                <a:spcPct val="133000"/>
              </a:lnSpc>
              <a:buNone/>
            </a:pPr>
            <a:r>
              <a:rPr lang="en-US" sz="1300" dirty="0">
                <a:solidFill>
                  <a:srgbClr val="000000"/>
                </a:solidFill>
                <a:highlight>
                  <a:srgbClr val="F2F2F2"/>
                </a:highlight>
                <a:latin typeface="Consolas" pitchFamily="34" charset="0"/>
                <a:ea typeface="Consolas" pitchFamily="34" charset="-122"/>
                <a:cs typeface="Consolas" pitchFamily="34" charset="-120"/>
              </a:rPr>
              <a:t>cd test</a:t>
            </a:r>
            <a:pPr algn="l" indent="0" marL="0">
              <a:lnSpc>
                <a:spcPct val="133000"/>
              </a:lnSpc>
              <a:buNone/>
            </a:pPr>
            <a:r>
              <a:rPr lang="en-US" sz="1300" dirty="0">
                <a:solidFill>
                  <a:srgbClr val="000000"/>
                </a:solidFill>
                <a:latin typeface="Montserrat" pitchFamily="34" charset="0"/>
                <a:ea typeface="Montserrat" pitchFamily="34" charset="-122"/>
                <a:cs typeface="Montserrat" pitchFamily="34" charset="-120"/>
              </a:rPr>
              <a:t> rồi </a:t>
            </a:r>
            <a:pPr algn="l" indent="0" marL="0">
              <a:lnSpc>
                <a:spcPct val="133000"/>
              </a:lnSpc>
              <a:buNone/>
            </a:pPr>
            <a:r>
              <a:rPr lang="en-US" sz="1300" dirty="0">
                <a:solidFill>
                  <a:srgbClr val="000000"/>
                </a:solidFill>
                <a:highlight>
                  <a:srgbClr val="F2F2F2"/>
                </a:highlight>
                <a:latin typeface="Consolas" pitchFamily="34" charset="0"/>
                <a:ea typeface="Consolas" pitchFamily="34" charset="-122"/>
                <a:cs typeface="Consolas" pitchFamily="34" charset="-120"/>
              </a:rPr>
              <a:t>python3 auto_import_n8n.py</a:t>
            </a:r>
            <a:pPr algn="l" indent="0" marL="0">
              <a:lnSpc>
                <a:spcPct val="133000"/>
              </a:lnSpc>
              <a:buNone/>
            </a:pPr>
            <a:r>
              <a:rPr lang="en-US" sz="1300" dirty="0">
                <a:solidFill>
                  <a:srgbClr val="000000"/>
                </a:solidFill>
                <a:latin typeface="Montserrat" pitchFamily="34" charset="0"/>
                <a:ea typeface="Montserrat" pitchFamily="34" charset="-122"/>
                <a:cs typeface="Montserrat" pitchFamily="34" charset="-120"/>
              </a:rPr>
              <a:t>, mở </a:t>
            </a:r>
            <a:pPr algn="l" indent="0" marL="0">
              <a:lnSpc>
                <a:spcPct val="133000"/>
              </a:lnSpc>
              <a:buNone/>
            </a:pPr>
            <a:r>
              <a:rPr lang="en-US" sz="1300" dirty="0">
                <a:solidFill>
                  <a:srgbClr val="000000"/>
                </a:solidFill>
                <a:highlight>
                  <a:srgbClr val="F2F2F2"/>
                </a:highlight>
                <a:latin typeface="Consolas" pitchFamily="34" charset="0"/>
                <a:ea typeface="Consolas" pitchFamily="34" charset="-122"/>
                <a:cs typeface="Consolas" pitchFamily="34" charset="-120"/>
              </a:rPr>
              <a:t>localhost:5678</a:t>
            </a:r>
            <a:pPr algn="l" indent="0" marL="0">
              <a:lnSpc>
                <a:spcPct val="133000"/>
              </a:lnSpc>
              <a:buNone/>
            </a:pPr>
            <a:r>
              <a:rPr lang="en-US" sz="1300" dirty="0">
                <a:solidFill>
                  <a:srgbClr val="000000"/>
                </a:solidFill>
                <a:latin typeface="Montserrat" pitchFamily="34" charset="0"/>
                <a:ea typeface="Montserrat" pitchFamily="34" charset="-122"/>
                <a:cs typeface="Montserrat" pitchFamily="34" charset="-120"/>
              </a:rPr>
              <a:t> xác nhận workflow đã nạp.</a:t>
            </a:r>
            <a:endParaRPr lang="en-US" sz="1300" dirty="0"/>
          </a:p>
        </p:txBody>
      </p:sp>
      <p:pic>
        <p:nvPicPr>
          <p:cNvPr id="11" name="Image 2" descr="preencoded.pn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178495" y="2550220"/>
            <a:ext cx="5351725" cy="1764407"/>
          </a:xfrm>
          <a:prstGeom prst="rect">
            <a:avLst/>
          </a:prstGeom>
        </p:spPr>
      </p:pic>
      <p:sp>
        <p:nvSpPr>
          <p:cNvPr id="12" name="Text 7"/>
          <p:cNvSpPr/>
          <p:nvPr/>
        </p:nvSpPr>
        <p:spPr>
          <a:xfrm>
            <a:off x="8730337" y="2659063"/>
            <a:ext cx="248041" cy="310059"/>
          </a:xfrm>
          <a:prstGeom prst="rect">
            <a:avLst/>
          </a:prstGeom>
          <a:noFill/>
          <a:ln/>
        </p:spPr>
        <p:txBody>
          <a:bodyPr wrap="none" lIns="0" tIns="0" rIns="0" bIns="0" rtlCol="0" anchor="ctr"/>
          <a:lstStyle/>
          <a:p>
            <a:pPr algn="ctr" indent="0" marL="0">
              <a:lnSpc>
                <a:spcPct val="100000"/>
              </a:lnSpc>
              <a:buNone/>
            </a:pPr>
            <a:r>
              <a:rPr lang="en-US" sz="1950" b="1" dirty="0">
                <a:solidFill>
                  <a:srgbClr val="000000"/>
                </a:solidFill>
                <a:latin typeface="Montserrat Bold" pitchFamily="34" charset="0"/>
                <a:ea typeface="Montserrat Bold" pitchFamily="34" charset="-122"/>
                <a:cs typeface="Montserrat Bold" pitchFamily="34" charset="-120"/>
              </a:rPr>
              <a:t>2</a:t>
            </a:r>
            <a:endParaRPr lang="en-US" sz="1950" dirty="0"/>
          </a:p>
        </p:txBody>
      </p:sp>
      <p:sp>
        <p:nvSpPr>
          <p:cNvPr id="13" name="Text 8"/>
          <p:cNvSpPr/>
          <p:nvPr/>
        </p:nvSpPr>
        <p:spPr>
          <a:xfrm>
            <a:off x="6362838" y="3230662"/>
            <a:ext cx="4983038" cy="258465"/>
          </a:xfrm>
          <a:prstGeom prst="rect">
            <a:avLst/>
          </a:prstGeom>
          <a:noFill/>
          <a:ln/>
        </p:spPr>
        <p:txBody>
          <a:bodyPr wrap="none" lIns="0" tIns="0" rIns="0" bIns="0" rtlCol="0" anchor="t"/>
          <a:lstStyle/>
          <a:p>
            <a:pPr algn="l" indent="0" marL="0">
              <a:lnSpc>
                <a:spcPct val="104000"/>
              </a:lnSpc>
              <a:buNone/>
            </a:pPr>
            <a:r>
              <a:rPr lang="en-US" sz="1600" b="1" dirty="0">
                <a:solidFill>
                  <a:srgbClr val="000000"/>
                </a:solidFill>
                <a:latin typeface="Montserrat Bold" pitchFamily="34" charset="0"/>
                <a:ea typeface="Montserrat Bold" pitchFamily="34" charset="-122"/>
                <a:cs typeface="Montserrat Bold" pitchFamily="34" charset="-120"/>
              </a:rPr>
              <a:t>Mở notebook</a:t>
            </a:r>
            <a:endParaRPr lang="en-US" sz="1600" dirty="0"/>
          </a:p>
        </p:txBody>
      </p:sp>
      <p:sp>
        <p:nvSpPr>
          <p:cNvPr id="14" name="Text 9"/>
          <p:cNvSpPr/>
          <p:nvPr/>
        </p:nvSpPr>
        <p:spPr>
          <a:xfrm>
            <a:off x="6362838" y="3588345"/>
            <a:ext cx="4983038" cy="535583"/>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000000"/>
                </a:solidFill>
                <a:latin typeface="Montserrat" pitchFamily="34" charset="0"/>
                <a:ea typeface="Montserrat" pitchFamily="34" charset="-122"/>
                <a:cs typeface="Montserrat" pitchFamily="34" charset="-120"/>
              </a:rPr>
              <a:t>Mở </a:t>
            </a:r>
            <a:pPr algn="l" indent="0" marL="0">
              <a:lnSpc>
                <a:spcPct val="133000"/>
              </a:lnSpc>
              <a:buNone/>
            </a:pPr>
            <a:r>
              <a:rPr lang="en-US" sz="1300" dirty="0">
                <a:solidFill>
                  <a:srgbClr val="000000"/>
                </a:solidFill>
                <a:highlight>
                  <a:srgbClr val="F2F2F2"/>
                </a:highlight>
                <a:latin typeface="Consolas" pitchFamily="34" charset="0"/>
                <a:ea typeface="Consolas" pitchFamily="34" charset="-122"/>
                <a:cs typeface="Consolas" pitchFamily="34" charset="-120"/>
              </a:rPr>
              <a:t>05_cskh_bot_lab_demo.ipynb</a:t>
            </a:r>
            <a:pPr algn="l" indent="0" marL="0">
              <a:lnSpc>
                <a:spcPct val="133000"/>
              </a:lnSpc>
              <a:buNone/>
            </a:pPr>
            <a:r>
              <a:rPr lang="en-US" sz="1300" dirty="0">
                <a:solidFill>
                  <a:srgbClr val="000000"/>
                </a:solidFill>
                <a:latin typeface="Montserrat" pitchFamily="34" charset="0"/>
                <a:ea typeface="Montserrat" pitchFamily="34" charset="-122"/>
                <a:cs typeface="Montserrat" pitchFamily="34" charset="-120"/>
              </a:rPr>
              <a:t>, chạy Cell Step 0 và Step 1 để kết nối webhook.</a:t>
            </a:r>
            <a:endParaRPr lang="en-US" sz="1300" dirty="0"/>
          </a:p>
        </p:txBody>
      </p:sp>
      <p:pic>
        <p:nvPicPr>
          <p:cNvPr id="15" name="Image 3" descr="preencoded.png">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61475" y="4479925"/>
            <a:ext cx="5351725" cy="1764407"/>
          </a:xfrm>
          <a:prstGeom prst="rect">
            <a:avLst/>
          </a:prstGeom>
        </p:spPr>
      </p:pic>
      <p:sp>
        <p:nvSpPr>
          <p:cNvPr id="16" name="Text 10"/>
          <p:cNvSpPr/>
          <p:nvPr/>
        </p:nvSpPr>
        <p:spPr>
          <a:xfrm>
            <a:off x="3213317" y="4588768"/>
            <a:ext cx="248041" cy="310059"/>
          </a:xfrm>
          <a:prstGeom prst="rect">
            <a:avLst/>
          </a:prstGeom>
          <a:noFill/>
          <a:ln/>
        </p:spPr>
        <p:txBody>
          <a:bodyPr wrap="none" lIns="0" tIns="0" rIns="0" bIns="0" rtlCol="0" anchor="ctr"/>
          <a:lstStyle/>
          <a:p>
            <a:pPr algn="ctr" indent="0" marL="0">
              <a:lnSpc>
                <a:spcPct val="100000"/>
              </a:lnSpc>
              <a:buNone/>
            </a:pPr>
            <a:r>
              <a:rPr lang="en-US" sz="1950" b="1" dirty="0">
                <a:solidFill>
                  <a:srgbClr val="000000"/>
                </a:solidFill>
                <a:latin typeface="Montserrat Bold" pitchFamily="34" charset="0"/>
                <a:ea typeface="Montserrat Bold" pitchFamily="34" charset="-122"/>
                <a:cs typeface="Montserrat Bold" pitchFamily="34" charset="-120"/>
              </a:rPr>
              <a:t>3</a:t>
            </a:r>
            <a:endParaRPr lang="en-US" sz="1950" dirty="0"/>
          </a:p>
        </p:txBody>
      </p:sp>
      <p:sp>
        <p:nvSpPr>
          <p:cNvPr id="17" name="Text 11"/>
          <p:cNvSpPr/>
          <p:nvPr/>
        </p:nvSpPr>
        <p:spPr>
          <a:xfrm>
            <a:off x="845819" y="5160367"/>
            <a:ext cx="4983038" cy="258465"/>
          </a:xfrm>
          <a:prstGeom prst="rect">
            <a:avLst/>
          </a:prstGeom>
          <a:noFill/>
          <a:ln/>
        </p:spPr>
        <p:txBody>
          <a:bodyPr wrap="none" lIns="0" tIns="0" rIns="0" bIns="0" rtlCol="0" anchor="t"/>
          <a:lstStyle/>
          <a:p>
            <a:pPr algn="l" indent="0" marL="0">
              <a:lnSpc>
                <a:spcPct val="104000"/>
              </a:lnSpc>
              <a:buNone/>
            </a:pPr>
            <a:r>
              <a:rPr lang="en-US" sz="1600" b="1" dirty="0">
                <a:solidFill>
                  <a:srgbClr val="000000"/>
                </a:solidFill>
                <a:latin typeface="Montserrat Bold" pitchFamily="34" charset="0"/>
                <a:ea typeface="Montserrat Bold" pitchFamily="34" charset="-122"/>
                <a:cs typeface="Montserrat Bold" pitchFamily="34" charset="-120"/>
              </a:rPr>
              <a:t>Embed FAQ</a:t>
            </a:r>
            <a:endParaRPr lang="en-US" sz="1600" dirty="0"/>
          </a:p>
        </p:txBody>
      </p:sp>
      <p:sp>
        <p:nvSpPr>
          <p:cNvPr id="18" name="Text 12"/>
          <p:cNvSpPr/>
          <p:nvPr/>
        </p:nvSpPr>
        <p:spPr>
          <a:xfrm>
            <a:off x="845819" y="5518051"/>
            <a:ext cx="4983038" cy="541933"/>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000000"/>
                </a:solidFill>
                <a:latin typeface="Montserrat" pitchFamily="34" charset="0"/>
                <a:ea typeface="Montserrat" pitchFamily="34" charset="-122"/>
                <a:cs typeface="Montserrat" pitchFamily="34" charset="-120"/>
              </a:rPr>
              <a:t>Chạy Cell Step 2 để embed </a:t>
            </a:r>
            <a:pPr algn="l" indent="0" marL="0">
              <a:lnSpc>
                <a:spcPct val="133000"/>
              </a:lnSpc>
              <a:buNone/>
            </a:pPr>
            <a:r>
              <a:rPr lang="en-US" sz="1300" dirty="0">
                <a:solidFill>
                  <a:srgbClr val="000000"/>
                </a:solidFill>
                <a:highlight>
                  <a:srgbClr val="F2F2F2"/>
                </a:highlight>
                <a:latin typeface="Consolas" pitchFamily="34" charset="0"/>
                <a:ea typeface="Consolas" pitchFamily="34" charset="-122"/>
                <a:cs typeface="Consolas" pitchFamily="34" charset="-120"/>
              </a:rPr>
              <a:t>faq-khoa-hoc.json</a:t>
            </a:r>
            <a:pPr algn="l" indent="0" marL="0">
              <a:lnSpc>
                <a:spcPct val="133000"/>
              </a:lnSpc>
              <a:buNone/>
            </a:pPr>
            <a:r>
              <a:rPr lang="en-US" sz="1300" dirty="0">
                <a:solidFill>
                  <a:srgbClr val="000000"/>
                </a:solidFill>
                <a:latin typeface="Montserrat" pitchFamily="34" charset="0"/>
                <a:ea typeface="Montserrat" pitchFamily="34" charset="-122"/>
                <a:cs typeface="Montserrat" pitchFamily="34" charset="-120"/>
              </a:rPr>
              <a:t> thành </a:t>
            </a:r>
            <a:pPr algn="l" indent="0" marL="0">
              <a:lnSpc>
                <a:spcPct val="133000"/>
              </a:lnSpc>
              <a:buNone/>
            </a:pPr>
            <a:r>
              <a:rPr lang="en-US" sz="1300" dirty="0">
                <a:solidFill>
                  <a:srgbClr val="000000"/>
                </a:solidFill>
                <a:highlight>
                  <a:srgbClr val="F2F2F2"/>
                </a:highlight>
                <a:latin typeface="Consolas" pitchFamily="34" charset="0"/>
                <a:ea typeface="Consolas" pitchFamily="34" charset="-122"/>
                <a:cs typeface="Consolas" pitchFamily="34" charset="-120"/>
              </a:rPr>
              <a:t>vector-store.json</a:t>
            </a:r>
            <a:pPr algn="l" indent="0" marL="0">
              <a:lnSpc>
                <a:spcPct val="133000"/>
              </a:lnSpc>
              <a:buNone/>
            </a:pPr>
            <a:r>
              <a:rPr lang="en-US" sz="1300" dirty="0">
                <a:solidFill>
                  <a:srgbClr val="000000"/>
                </a:solidFill>
                <a:latin typeface="Montserrat" pitchFamily="34" charset="0"/>
                <a:ea typeface="Montserrat" pitchFamily="34" charset="-122"/>
                <a:cs typeface="Montserrat" pitchFamily="34" charset="-120"/>
              </a:rPr>
              <a:t>.</a:t>
            </a:r>
            <a:endParaRPr lang="en-US" sz="1300" dirty="0"/>
          </a:p>
        </p:txBody>
      </p:sp>
      <p:pic>
        <p:nvPicPr>
          <p:cNvPr id="19" name="Image 4" descr="preencoded.png">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6178495" y="4479925"/>
            <a:ext cx="5351725" cy="1764407"/>
          </a:xfrm>
          <a:prstGeom prst="rect">
            <a:avLst/>
          </a:prstGeom>
        </p:spPr>
      </p:pic>
      <p:sp>
        <p:nvSpPr>
          <p:cNvPr id="20" name="Text 13"/>
          <p:cNvSpPr/>
          <p:nvPr/>
        </p:nvSpPr>
        <p:spPr>
          <a:xfrm>
            <a:off x="8730337" y="4588768"/>
            <a:ext cx="248041" cy="310059"/>
          </a:xfrm>
          <a:prstGeom prst="rect">
            <a:avLst/>
          </a:prstGeom>
          <a:noFill/>
          <a:ln/>
        </p:spPr>
        <p:txBody>
          <a:bodyPr wrap="none" lIns="0" tIns="0" rIns="0" bIns="0" rtlCol="0" anchor="ctr"/>
          <a:lstStyle/>
          <a:p>
            <a:pPr algn="ctr" indent="0" marL="0">
              <a:lnSpc>
                <a:spcPct val="100000"/>
              </a:lnSpc>
              <a:buNone/>
            </a:pPr>
            <a:r>
              <a:rPr lang="en-US" sz="1950" b="1" dirty="0">
                <a:solidFill>
                  <a:srgbClr val="000000"/>
                </a:solidFill>
                <a:latin typeface="Montserrat Bold" pitchFamily="34" charset="0"/>
                <a:ea typeface="Montserrat Bold" pitchFamily="34" charset="-122"/>
                <a:cs typeface="Montserrat Bold" pitchFamily="34" charset="-120"/>
              </a:rPr>
              <a:t>4</a:t>
            </a:r>
            <a:endParaRPr lang="en-US" sz="1950" dirty="0"/>
          </a:p>
        </p:txBody>
      </p:sp>
      <p:sp>
        <p:nvSpPr>
          <p:cNvPr id="21" name="Text 14"/>
          <p:cNvSpPr/>
          <p:nvPr/>
        </p:nvSpPr>
        <p:spPr>
          <a:xfrm>
            <a:off x="6362838" y="5160367"/>
            <a:ext cx="4983038" cy="258465"/>
          </a:xfrm>
          <a:prstGeom prst="rect">
            <a:avLst/>
          </a:prstGeom>
          <a:noFill/>
          <a:ln/>
        </p:spPr>
        <p:txBody>
          <a:bodyPr wrap="none" lIns="0" tIns="0" rIns="0" bIns="0" rtlCol="0" anchor="t"/>
          <a:lstStyle/>
          <a:p>
            <a:pPr algn="l" indent="0" marL="0">
              <a:lnSpc>
                <a:spcPct val="104000"/>
              </a:lnSpc>
              <a:buNone/>
            </a:pPr>
            <a:r>
              <a:rPr lang="en-US" sz="1600" b="1" dirty="0">
                <a:solidFill>
                  <a:srgbClr val="000000"/>
                </a:solidFill>
                <a:latin typeface="Montserrat Bold" pitchFamily="34" charset="0"/>
                <a:ea typeface="Montserrat Bold" pitchFamily="34" charset="-122"/>
                <a:cs typeface="Montserrat Bold" pitchFamily="34" charset="-120"/>
              </a:rPr>
              <a:t>Kiểm tra kết quả</a:t>
            </a:r>
            <a:endParaRPr lang="en-US" sz="1600" dirty="0"/>
          </a:p>
        </p:txBody>
      </p:sp>
      <p:sp>
        <p:nvSpPr>
          <p:cNvPr id="22" name="Text 15"/>
          <p:cNvSpPr/>
          <p:nvPr/>
        </p:nvSpPr>
        <p:spPr>
          <a:xfrm>
            <a:off x="6362838" y="5518051"/>
            <a:ext cx="4983038" cy="535583"/>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000000"/>
                </a:solidFill>
                <a:latin typeface="Montserrat" pitchFamily="34" charset="0"/>
                <a:ea typeface="Montserrat" pitchFamily="34" charset="-122"/>
                <a:cs typeface="Montserrat" pitchFamily="34" charset="-120"/>
              </a:rPr>
              <a:t>Xác nhận đủ </a:t>
            </a:r>
            <a:pPr algn="l" indent="0" marL="0">
              <a:lnSpc>
                <a:spcPct val="133000"/>
              </a:lnSpc>
              <a:buNone/>
            </a:pPr>
            <a:r>
              <a:rPr lang="en-US" sz="1300" b="1" dirty="0">
                <a:solidFill>
                  <a:srgbClr val="000000"/>
                </a:solidFill>
                <a:latin typeface="Montserrat Bold" pitchFamily="34" charset="0"/>
                <a:ea typeface="Montserrat Bold" pitchFamily="34" charset="-122"/>
                <a:cs typeface="Montserrat Bold" pitchFamily="34" charset="-120"/>
              </a:rPr>
              <a:t>15 vector</a:t>
            </a:r>
            <a:pPr algn="l" indent="0" marL="0">
              <a:lnSpc>
                <a:spcPct val="133000"/>
              </a:lnSpc>
              <a:buNone/>
            </a:pPr>
            <a:r>
              <a:rPr lang="en-US" sz="1300" dirty="0">
                <a:solidFill>
                  <a:srgbClr val="000000"/>
                </a:solidFill>
                <a:latin typeface="Montserrat" pitchFamily="34" charset="0"/>
                <a:ea typeface="Montserrat" pitchFamily="34" charset="-122"/>
                <a:cs typeface="Montserrat" pitchFamily="34" charset="-120"/>
              </a:rPr>
              <a:t>, mỗi FAQ có </a:t>
            </a:r>
            <a:pPr algn="l" indent="0" marL="0">
              <a:lnSpc>
                <a:spcPct val="133000"/>
              </a:lnSpc>
              <a:buNone/>
            </a:pPr>
            <a:r>
              <a:rPr lang="en-US" sz="1300" dirty="0">
                <a:solidFill>
                  <a:srgbClr val="000000"/>
                </a:solidFill>
                <a:highlight>
                  <a:srgbClr val="F2F2F2"/>
                </a:highlight>
                <a:latin typeface="Consolas" pitchFamily="34" charset="0"/>
                <a:ea typeface="Consolas" pitchFamily="34" charset="-122"/>
                <a:cs typeface="Consolas" pitchFamily="34" charset="-120"/>
              </a:rPr>
              <a:t>faq_id</a:t>
            </a:r>
            <a:pPr algn="l" indent="0" marL="0">
              <a:lnSpc>
                <a:spcPct val="133000"/>
              </a:lnSpc>
              <a:buNone/>
            </a:pPr>
            <a:r>
              <a:rPr lang="en-US" sz="1300" dirty="0">
                <a:solidFill>
                  <a:srgbClr val="000000"/>
                </a:solidFill>
                <a:latin typeface="Montserrat" pitchFamily="34" charset="0"/>
                <a:ea typeface="Montserrat" pitchFamily="34" charset="-122"/>
                <a:cs typeface="Montserrat" pitchFamily="34" charset="-120"/>
              </a:rPr>
              <a:t> và nhóm nội dung chính xác.</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61475" y="2655788"/>
            <a:ext cx="6296860" cy="1033661"/>
          </a:xfrm>
          <a:prstGeom prst="rect">
            <a:avLst/>
          </a:prstGeom>
          <a:noFill/>
          <a:ln/>
        </p:spPr>
        <p:txBody>
          <a:bodyPr wrap="none" lIns="0" tIns="0" rIns="0" bIns="0" rtlCol="0" anchor="t"/>
          <a:lstStyle/>
          <a:p>
            <a:pPr algn="l" indent="0" marL="0">
              <a:lnSpc>
                <a:spcPct val="104000"/>
              </a:lnSpc>
              <a:buNone/>
            </a:pPr>
            <a:r>
              <a:rPr lang="en-US" sz="6500" b="1" dirty="0">
                <a:solidFill>
                  <a:srgbClr val="004AAD"/>
                </a:solidFill>
                <a:latin typeface="Montserrat Bold" pitchFamily="34" charset="0"/>
                <a:ea typeface="Montserrat Bold" pitchFamily="34" charset="-122"/>
                <a:cs typeface="Montserrat Bold" pitchFamily="34" charset="-120"/>
              </a:rPr>
              <a:t>Thực hành 1</a:t>
            </a:r>
            <a:endParaRPr lang="en-US" sz="6500" dirty="0"/>
          </a:p>
        </p:txBody>
      </p:sp>
      <p:sp>
        <p:nvSpPr>
          <p:cNvPr id="4" name="Text 1"/>
          <p:cNvSpPr/>
          <p:nvPr/>
        </p:nvSpPr>
        <p:spPr>
          <a:xfrm>
            <a:off x="661475" y="3937496"/>
            <a:ext cx="6906444" cy="264616"/>
          </a:xfrm>
          <a:prstGeom prst="rect">
            <a:avLst/>
          </a:prstGeom>
          <a:noFill/>
          <a:ln/>
        </p:spPr>
        <p:txBody>
          <a:bodyPr wrap="none" lIns="0" tIns="0" rIns="0" bIns="0" rtlCol="0" anchor="t"/>
          <a:lstStyle/>
          <a:p>
            <a:pPr algn="l" indent="0" marL="0">
              <a:lnSpc>
                <a:spcPct val="133000"/>
              </a:lnSpc>
              <a:buNone/>
            </a:pPr>
            <a:r>
              <a:rPr lang="en-US" sz="1300" i="1" dirty="0">
                <a:solidFill>
                  <a:srgbClr val="000000"/>
                </a:solidFill>
                <a:latin typeface="Montserrat" pitchFamily="34" charset="0"/>
                <a:ea typeface="Montserrat" pitchFamily="34" charset="-122"/>
                <a:cs typeface="Montserrat" pitchFamily="34" charset="-120"/>
              </a:rPr>
              <a:t>12 phút · Mở notebook và bắt đầu</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661475" y="1484709"/>
            <a:ext cx="10868745" cy="516731"/>
          </a:xfrm>
          <a:prstGeom prst="rect">
            <a:avLst/>
          </a:prstGeom>
          <a:noFill/>
          <a:ln/>
        </p:spPr>
        <p:txBody>
          <a:bodyPr wrap="none" lIns="0" tIns="0" rIns="0" bIns="0" rtlCol="0" anchor="t"/>
          <a:lstStyle/>
          <a:p>
            <a:pPr algn="l" indent="0" marL="0">
              <a:lnSpc>
                <a:spcPct val="104000"/>
              </a:lnSpc>
              <a:buNone/>
            </a:pPr>
            <a:r>
              <a:rPr lang="en-US" sz="3250" b="1" dirty="0">
                <a:solidFill>
                  <a:srgbClr val="004AAD"/>
                </a:solidFill>
                <a:latin typeface="Montserrat Bold" pitchFamily="34" charset="0"/>
                <a:ea typeface="Montserrat Bold" pitchFamily="34" charset="-122"/>
                <a:cs typeface="Montserrat Bold" pitchFamily="34" charset="-120"/>
              </a:rPr>
              <a:t>Kết quả thực hành 1</a:t>
            </a:r>
            <a:endParaRPr lang="en-US" sz="3250" dirty="0"/>
          </a:p>
        </p:txBody>
      </p:sp>
      <p:sp>
        <p:nvSpPr>
          <p:cNvPr id="3" name="Text 1"/>
          <p:cNvSpPr/>
          <p:nvPr/>
        </p:nvSpPr>
        <p:spPr>
          <a:xfrm>
            <a:off x="661475" y="2067520"/>
            <a:ext cx="10868745" cy="258465"/>
          </a:xfrm>
          <a:prstGeom prst="rect">
            <a:avLst/>
          </a:prstGeom>
          <a:noFill/>
          <a:ln/>
        </p:spPr>
        <p:txBody>
          <a:bodyPr wrap="none" lIns="0" tIns="0" rIns="0" bIns="0" rtlCol="0" anchor="t"/>
          <a:lstStyle/>
          <a:p>
            <a:pPr algn="l" indent="0" marL="0">
              <a:lnSpc>
                <a:spcPct val="104000"/>
              </a:lnSpc>
              <a:buNone/>
            </a:pPr>
            <a:r>
              <a:rPr lang="en-US" sz="1600" b="1" dirty="0">
                <a:solidFill>
                  <a:srgbClr val="004AAD"/>
                </a:solidFill>
                <a:latin typeface="Montserrat Bold" pitchFamily="34" charset="0"/>
                <a:ea typeface="Montserrat Bold" pitchFamily="34" charset="-122"/>
                <a:cs typeface="Montserrat Bold" pitchFamily="34" charset="-120"/>
              </a:rPr>
              <a:t>Kho tri thức 15 FAQ đã sẵn sàng truy hồi</a:t>
            </a:r>
            <a:endParaRPr lang="en-US" sz="1600" dirty="0"/>
          </a:p>
        </p:txBody>
      </p:sp>
      <p:sp>
        <p:nvSpPr>
          <p:cNvPr id="4" name="Text 2"/>
          <p:cNvSpPr/>
          <p:nvPr/>
        </p:nvSpPr>
        <p:spPr>
          <a:xfrm>
            <a:off x="661475" y="2574032"/>
            <a:ext cx="10868745" cy="535583"/>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000000"/>
                </a:solidFill>
                <a:highlight>
                  <a:srgbClr val="F2F2F2"/>
                </a:highlight>
                <a:latin typeface="Consolas" pitchFamily="34" charset="0"/>
                <a:ea typeface="Consolas" pitchFamily="34" charset="-122"/>
                <a:cs typeface="Consolas" pitchFamily="34" charset="-120"/>
              </a:rPr>
              <a:t>vector-store.json</a:t>
            </a:r>
            <a:pPr algn="l" indent="0" marL="0">
              <a:lnSpc>
                <a:spcPct val="133000"/>
              </a:lnSpc>
              <a:buNone/>
            </a:pPr>
            <a:r>
              <a:rPr lang="en-US" sz="1300" dirty="0">
                <a:solidFill>
                  <a:srgbClr val="000000"/>
                </a:solidFill>
                <a:latin typeface="Montserrat" pitchFamily="34" charset="0"/>
                <a:ea typeface="Montserrat" pitchFamily="34" charset="-122"/>
                <a:cs typeface="Montserrat" pitchFamily="34" charset="-120"/>
              </a:rPr>
              <a:t> chứa 15 FAQ, mỗi FAQ một vector, gắn </a:t>
            </a:r>
            <a:pPr algn="l" indent="0" marL="0">
              <a:lnSpc>
                <a:spcPct val="133000"/>
              </a:lnSpc>
              <a:buNone/>
            </a:pPr>
            <a:r>
              <a:rPr lang="en-US" sz="1300" dirty="0">
                <a:solidFill>
                  <a:srgbClr val="000000"/>
                </a:solidFill>
                <a:highlight>
                  <a:srgbClr val="F2F2F2"/>
                </a:highlight>
                <a:latin typeface="Consolas" pitchFamily="34" charset="0"/>
                <a:ea typeface="Consolas" pitchFamily="34" charset="-122"/>
                <a:cs typeface="Consolas" pitchFamily="34" charset="-120"/>
              </a:rPr>
              <a:t>faq_id</a:t>
            </a:r>
            <a:pPr algn="l" indent="0" marL="0">
              <a:lnSpc>
                <a:spcPct val="133000"/>
              </a:lnSpc>
              <a:buNone/>
            </a:pPr>
            <a:r>
              <a:rPr lang="en-US" sz="1300" dirty="0">
                <a:solidFill>
                  <a:srgbClr val="000000"/>
                </a:solidFill>
                <a:latin typeface="Montserrat" pitchFamily="34" charset="0"/>
                <a:ea typeface="Montserrat" pitchFamily="34" charset="-122"/>
                <a:cs typeface="Montserrat" pitchFamily="34" charset="-120"/>
              </a:rPr>
              <a:t> và nhóm nội dung. Workflow </a:t>
            </a:r>
            <a:pPr algn="l" indent="0" marL="0">
              <a:lnSpc>
                <a:spcPct val="133000"/>
              </a:lnSpc>
              <a:buNone/>
            </a:pPr>
            <a:r>
              <a:rPr lang="en-US" sz="1300" b="1" dirty="0">
                <a:solidFill>
                  <a:srgbClr val="000000"/>
                </a:solidFill>
                <a:latin typeface="Montserrat Bold" pitchFamily="34" charset="0"/>
                <a:ea typeface="Montserrat Bold" pitchFamily="34" charset="-122"/>
                <a:cs typeface="Montserrat Bold" pitchFamily="34" charset="-120"/>
              </a:rPr>
              <a:t>'B5 K1 - Retail CSKH Bot'</a:t>
            </a:r>
            <a:pPr algn="l" indent="0" marL="0">
              <a:lnSpc>
                <a:spcPct val="133000"/>
              </a:lnSpc>
              <a:buNone/>
            </a:pPr>
            <a:r>
              <a:rPr lang="en-US" sz="1300" dirty="0">
                <a:solidFill>
                  <a:srgbClr val="000000"/>
                </a:solidFill>
                <a:latin typeface="Montserrat" pitchFamily="34" charset="0"/>
                <a:ea typeface="Montserrat" pitchFamily="34" charset="-122"/>
                <a:cs typeface="Montserrat" pitchFamily="34" charset="-120"/>
              </a:rPr>
              <a:t> đã nạp và webhook /cskh đã mở.</a:t>
            </a:r>
            <a:endParaRPr lang="en-US" sz="1300" dirty="0"/>
          </a:p>
        </p:txBody>
      </p:sp>
      <p:sp>
        <p:nvSpPr>
          <p:cNvPr id="5" name="Shape 3"/>
          <p:cNvSpPr/>
          <p:nvPr/>
        </p:nvSpPr>
        <p:spPr>
          <a:xfrm>
            <a:off x="661475" y="3295650"/>
            <a:ext cx="3512653" cy="965597"/>
          </a:xfrm>
          <a:prstGeom prst="roundRect">
            <a:avLst>
              <a:gd name="adj" fmla="val 7194"/>
            </a:avLst>
          </a:prstGeom>
          <a:solidFill>
            <a:srgbClr val="CCE2FF"/>
          </a:solidFill>
          <a:ln w="6350">
            <a:solidFill>
              <a:srgbClr val="B2C8E5"/>
            </a:solidFill>
            <a:prstDash val="solid"/>
          </a:ln>
        </p:spPr>
      </p:sp>
      <p:sp>
        <p:nvSpPr>
          <p:cNvPr id="6" name="Text 4"/>
          <p:cNvSpPr/>
          <p:nvPr/>
        </p:nvSpPr>
        <p:spPr>
          <a:xfrm>
            <a:off x="833119" y="3467298"/>
            <a:ext cx="3169364" cy="258465"/>
          </a:xfrm>
          <a:prstGeom prst="rect">
            <a:avLst/>
          </a:prstGeom>
          <a:noFill/>
          <a:ln/>
        </p:spPr>
        <p:txBody>
          <a:bodyPr wrap="none" lIns="0" tIns="0" rIns="0" bIns="0" rtlCol="0" anchor="t"/>
          <a:lstStyle/>
          <a:p>
            <a:pPr algn="l" indent="0" marL="0">
              <a:lnSpc>
                <a:spcPct val="104000"/>
              </a:lnSpc>
              <a:buNone/>
            </a:pPr>
            <a:r>
              <a:rPr lang="en-US" sz="1600" b="1" dirty="0">
                <a:solidFill>
                  <a:srgbClr val="000000"/>
                </a:solidFill>
                <a:latin typeface="Montserrat Bold" pitchFamily="34" charset="0"/>
                <a:ea typeface="Montserrat Bold" pitchFamily="34" charset="-122"/>
                <a:cs typeface="Montserrat Bold" pitchFamily="34" charset="-120"/>
              </a:rPr>
              <a:t>15 FAQ</a:t>
            </a:r>
            <a:endParaRPr lang="en-US" sz="1600" dirty="0"/>
          </a:p>
        </p:txBody>
      </p:sp>
      <p:sp>
        <p:nvSpPr>
          <p:cNvPr id="7" name="Text 5"/>
          <p:cNvSpPr/>
          <p:nvPr/>
        </p:nvSpPr>
        <p:spPr>
          <a:xfrm>
            <a:off x="833119" y="3824982"/>
            <a:ext cx="3169364" cy="264616"/>
          </a:xfrm>
          <a:prstGeom prst="rect">
            <a:avLst/>
          </a:prstGeom>
          <a:noFill/>
          <a:ln/>
        </p:spPr>
        <p:txBody>
          <a:bodyPr wrap="none" lIns="0" tIns="0" rIns="0" bIns="0" rtlCol="0" anchor="t"/>
          <a:lstStyle/>
          <a:p>
            <a:pPr algn="l" indent="0" marL="0">
              <a:lnSpc>
                <a:spcPct val="133000"/>
              </a:lnSpc>
              <a:buNone/>
            </a:pPr>
            <a:r>
              <a:rPr lang="en-US" sz="1300" dirty="0">
                <a:solidFill>
                  <a:srgbClr val="000000"/>
                </a:solidFill>
                <a:latin typeface="Montserrat" pitchFamily="34" charset="0"/>
                <a:ea typeface="Montserrat" pitchFamily="34" charset="-122"/>
                <a:cs typeface="Montserrat" pitchFamily="34" charset="-120"/>
              </a:rPr>
              <a:t>Đủ 5 nhóm chủ đề bán lẻ</a:t>
            </a:r>
            <a:endParaRPr lang="en-US" sz="1300" dirty="0"/>
          </a:p>
        </p:txBody>
      </p:sp>
      <p:sp>
        <p:nvSpPr>
          <p:cNvPr id="8" name="Shape 6"/>
          <p:cNvSpPr/>
          <p:nvPr/>
        </p:nvSpPr>
        <p:spPr>
          <a:xfrm>
            <a:off x="4339422" y="3295650"/>
            <a:ext cx="3512752" cy="965597"/>
          </a:xfrm>
          <a:prstGeom prst="roundRect">
            <a:avLst>
              <a:gd name="adj" fmla="val 7194"/>
            </a:avLst>
          </a:prstGeom>
          <a:solidFill>
            <a:srgbClr val="CCE2FF"/>
          </a:solidFill>
          <a:ln w="6350">
            <a:solidFill>
              <a:srgbClr val="B2C8E5"/>
            </a:solidFill>
            <a:prstDash val="solid"/>
          </a:ln>
        </p:spPr>
      </p:sp>
      <p:sp>
        <p:nvSpPr>
          <p:cNvPr id="9" name="Text 7"/>
          <p:cNvSpPr/>
          <p:nvPr/>
        </p:nvSpPr>
        <p:spPr>
          <a:xfrm>
            <a:off x="4511066" y="3467298"/>
            <a:ext cx="3169464" cy="258465"/>
          </a:xfrm>
          <a:prstGeom prst="rect">
            <a:avLst/>
          </a:prstGeom>
          <a:noFill/>
          <a:ln/>
        </p:spPr>
        <p:txBody>
          <a:bodyPr wrap="none" lIns="0" tIns="0" rIns="0" bIns="0" rtlCol="0" anchor="t"/>
          <a:lstStyle/>
          <a:p>
            <a:pPr algn="l" indent="0" marL="0">
              <a:lnSpc>
                <a:spcPct val="104000"/>
              </a:lnSpc>
              <a:buNone/>
            </a:pPr>
            <a:r>
              <a:rPr lang="en-US" sz="1600" b="1" dirty="0">
                <a:solidFill>
                  <a:srgbClr val="000000"/>
                </a:solidFill>
                <a:latin typeface="Montserrat Bold" pitchFamily="34" charset="0"/>
                <a:ea typeface="Montserrat Bold" pitchFamily="34" charset="-122"/>
                <a:cs typeface="Montserrat Bold" pitchFamily="34" charset="-120"/>
              </a:rPr>
              <a:t>Semantic Search</a:t>
            </a:r>
            <a:endParaRPr lang="en-US" sz="1600" dirty="0"/>
          </a:p>
        </p:txBody>
      </p:sp>
      <p:sp>
        <p:nvSpPr>
          <p:cNvPr id="10" name="Text 8"/>
          <p:cNvSpPr/>
          <p:nvPr/>
        </p:nvSpPr>
        <p:spPr>
          <a:xfrm>
            <a:off x="4511066" y="3824982"/>
            <a:ext cx="3169464" cy="264616"/>
          </a:xfrm>
          <a:prstGeom prst="rect">
            <a:avLst/>
          </a:prstGeom>
          <a:noFill/>
          <a:ln/>
        </p:spPr>
        <p:txBody>
          <a:bodyPr wrap="none" lIns="0" tIns="0" rIns="0" bIns="0" rtlCol="0" anchor="t"/>
          <a:lstStyle/>
          <a:p>
            <a:pPr algn="l" indent="0" marL="0">
              <a:lnSpc>
                <a:spcPct val="133000"/>
              </a:lnSpc>
              <a:buNone/>
            </a:pPr>
            <a:r>
              <a:rPr lang="en-US" sz="1300" dirty="0">
                <a:solidFill>
                  <a:srgbClr val="000000"/>
                </a:solidFill>
                <a:latin typeface="Montserrat" pitchFamily="34" charset="0"/>
                <a:ea typeface="Montserrat" pitchFamily="34" charset="-122"/>
                <a:cs typeface="Montserrat" pitchFamily="34" charset="-120"/>
              </a:rPr>
              <a:t>Tìm theo ý nghĩa, không khớp từ khóa</a:t>
            </a:r>
            <a:endParaRPr lang="en-US" sz="1300" dirty="0"/>
          </a:p>
        </p:txBody>
      </p:sp>
      <p:sp>
        <p:nvSpPr>
          <p:cNvPr id="11" name="Shape 9"/>
          <p:cNvSpPr/>
          <p:nvPr/>
        </p:nvSpPr>
        <p:spPr>
          <a:xfrm>
            <a:off x="8017468" y="3295650"/>
            <a:ext cx="3512653" cy="965597"/>
          </a:xfrm>
          <a:prstGeom prst="roundRect">
            <a:avLst>
              <a:gd name="adj" fmla="val 7194"/>
            </a:avLst>
          </a:prstGeom>
          <a:solidFill>
            <a:srgbClr val="CCE2FF"/>
          </a:solidFill>
          <a:ln w="6350">
            <a:solidFill>
              <a:srgbClr val="B2C8E5"/>
            </a:solidFill>
            <a:prstDash val="solid"/>
          </a:ln>
        </p:spPr>
      </p:sp>
      <p:sp>
        <p:nvSpPr>
          <p:cNvPr id="12" name="Text 10"/>
          <p:cNvSpPr/>
          <p:nvPr/>
        </p:nvSpPr>
        <p:spPr>
          <a:xfrm>
            <a:off x="8189112" y="3467298"/>
            <a:ext cx="3169364" cy="258465"/>
          </a:xfrm>
          <a:prstGeom prst="rect">
            <a:avLst/>
          </a:prstGeom>
          <a:noFill/>
          <a:ln/>
        </p:spPr>
        <p:txBody>
          <a:bodyPr wrap="none" lIns="0" tIns="0" rIns="0" bIns="0" rtlCol="0" anchor="t"/>
          <a:lstStyle/>
          <a:p>
            <a:pPr algn="l" indent="0" marL="0">
              <a:lnSpc>
                <a:spcPct val="104000"/>
              </a:lnSpc>
              <a:buNone/>
            </a:pPr>
            <a:r>
              <a:rPr lang="en-US" sz="1600" b="1" dirty="0">
                <a:solidFill>
                  <a:srgbClr val="000000"/>
                </a:solidFill>
                <a:latin typeface="Montserrat Bold" pitchFamily="34" charset="0"/>
                <a:ea typeface="Montserrat Bold" pitchFamily="34" charset="-122"/>
                <a:cs typeface="Montserrat Bold" pitchFamily="34" charset="-120"/>
              </a:rPr>
              <a:t>Webhook Live</a:t>
            </a:r>
            <a:endParaRPr lang="en-US" sz="1600" dirty="0"/>
          </a:p>
        </p:txBody>
      </p:sp>
      <p:sp>
        <p:nvSpPr>
          <p:cNvPr id="13" name="Text 11"/>
          <p:cNvSpPr/>
          <p:nvPr/>
        </p:nvSpPr>
        <p:spPr>
          <a:xfrm>
            <a:off x="8189112" y="3824982"/>
            <a:ext cx="3169364" cy="264616"/>
          </a:xfrm>
          <a:prstGeom prst="rect">
            <a:avLst/>
          </a:prstGeom>
          <a:noFill/>
          <a:ln/>
        </p:spPr>
        <p:txBody>
          <a:bodyPr wrap="none" lIns="0" tIns="0" rIns="0" bIns="0" rtlCol="0" anchor="t"/>
          <a:lstStyle/>
          <a:p>
            <a:pPr algn="l" indent="0" marL="0">
              <a:lnSpc>
                <a:spcPct val="133000"/>
              </a:lnSpc>
              <a:buNone/>
            </a:pPr>
            <a:r>
              <a:rPr lang="en-US" sz="1300" dirty="0">
                <a:solidFill>
                  <a:srgbClr val="000000"/>
                </a:solidFill>
                <a:latin typeface="Montserrat" pitchFamily="34" charset="0"/>
                <a:ea typeface="Montserrat" pitchFamily="34" charset="-122"/>
                <a:cs typeface="Montserrat" pitchFamily="34" charset="-120"/>
              </a:rPr>
              <a:t>POST /cskh sẵn sàng nhận câu hỏi</a:t>
            </a:r>
            <a:endParaRPr lang="en-US" sz="1300" dirty="0"/>
          </a:p>
        </p:txBody>
      </p:sp>
      <p:sp>
        <p:nvSpPr>
          <p:cNvPr id="14" name="Shape 12"/>
          <p:cNvSpPr/>
          <p:nvPr/>
        </p:nvSpPr>
        <p:spPr>
          <a:xfrm>
            <a:off x="661475" y="4447282"/>
            <a:ext cx="10868745" cy="925909"/>
          </a:xfrm>
          <a:prstGeom prst="roundRect">
            <a:avLst>
              <a:gd name="adj" fmla="val 7502"/>
            </a:avLst>
          </a:prstGeom>
          <a:solidFill>
            <a:srgbClr val="B6FCB8"/>
          </a:solidFill>
          <a:ln/>
        </p:spPr>
      </p:sp>
      <p:pic>
        <p:nvPicPr>
          <p:cNvPr id="15" name="Image 0" descr="preencoded.png">    </p:cNvPr>
          <p:cNvPicPr>
            <a:picLocks noChangeAspect="1"/>
          </p:cNvPicPr>
          <p:nvPr/>
        </p:nvPicPr>
        <p:blipFill>
          <a:blip r:embed="rId1"/>
          <a:stretch>
            <a:fillRect/>
          </a:stretch>
        </p:blipFill>
        <p:spPr>
          <a:xfrm>
            <a:off x="826769" y="4686995"/>
            <a:ext cx="206667" cy="165298"/>
          </a:xfrm>
          <a:prstGeom prst="rect">
            <a:avLst/>
          </a:prstGeom>
        </p:spPr>
      </p:pic>
      <p:sp>
        <p:nvSpPr>
          <p:cNvPr id="16" name="Text 13"/>
          <p:cNvSpPr/>
          <p:nvPr/>
        </p:nvSpPr>
        <p:spPr>
          <a:xfrm>
            <a:off x="1198731" y="4653855"/>
            <a:ext cx="10166195" cy="529233"/>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000000"/>
                </a:solidFill>
                <a:latin typeface="Montserrat" pitchFamily="34" charset="0"/>
                <a:ea typeface="Montserrat" pitchFamily="34" charset="-122"/>
                <a:cs typeface="Montserrat" pitchFamily="34" charset="-120"/>
              </a:rPr>
              <a:t>✅</a:t>
            </a:r>
            <a:pPr algn="l" indent="0" marL="0">
              <a:lnSpc>
                <a:spcPct val="133000"/>
              </a:lnSpc>
              <a:buNone/>
            </a:pPr>
            <a:r>
              <a:rPr lang="en-US" sz="1300" dirty="0">
                <a:solidFill>
                  <a:srgbClr val="000000"/>
                </a:solidFill>
                <a:latin typeface="Montserrat" pitchFamily="34" charset="0"/>
                <a:ea typeface="Montserrat" pitchFamily="34" charset="-122"/>
                <a:cs typeface="Montserrat" pitchFamily="34" charset="-120"/>
              </a:rPr>
              <a:t> Nền tri thức xong. Từ đây, mọi câu hỏi sẽ được đối chiếu semantic với kho này trước khi quyết định trả lời hay chuyển người.</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61475" y="2597348"/>
            <a:ext cx="6296860" cy="713184"/>
          </a:xfrm>
          <a:prstGeom prst="rect">
            <a:avLst/>
          </a:prstGeom>
          <a:noFill/>
          <a:ln/>
        </p:spPr>
        <p:txBody>
          <a:bodyPr wrap="none" lIns="0" tIns="0" rIns="0" bIns="0" rtlCol="0" anchor="t"/>
          <a:lstStyle/>
          <a:p>
            <a:pPr algn="l" indent="0" marL="0">
              <a:lnSpc>
                <a:spcPct val="104000"/>
              </a:lnSpc>
              <a:buNone/>
            </a:pPr>
            <a:r>
              <a:rPr lang="en-US" sz="4450" b="1" dirty="0">
                <a:solidFill>
                  <a:srgbClr val="004AAD"/>
                </a:solidFill>
                <a:latin typeface="Montserrat Bold" pitchFamily="34" charset="0"/>
                <a:ea typeface="Montserrat Bold" pitchFamily="34" charset="-122"/>
                <a:cs typeface="Montserrat Bold" pitchFamily="34" charset="-120"/>
              </a:rPr>
              <a:t>Thực hành 2</a:t>
            </a:r>
            <a:endParaRPr lang="en-US" sz="4450" dirty="0"/>
          </a:p>
        </p:txBody>
      </p:sp>
      <p:sp>
        <p:nvSpPr>
          <p:cNvPr id="4" name="Text 1"/>
          <p:cNvSpPr/>
          <p:nvPr/>
        </p:nvSpPr>
        <p:spPr>
          <a:xfrm>
            <a:off x="661475" y="3558580"/>
            <a:ext cx="6906444" cy="264616"/>
          </a:xfrm>
          <a:prstGeom prst="rect">
            <a:avLst/>
          </a:prstGeom>
          <a:noFill/>
          <a:ln/>
        </p:spPr>
        <p:txBody>
          <a:bodyPr wrap="none" lIns="0" tIns="0" rIns="0" bIns="0" rtlCol="0" anchor="t"/>
          <a:lstStyle/>
          <a:p>
            <a:pPr algn="l" indent="0" marL="0">
              <a:lnSpc>
                <a:spcPct val="133000"/>
              </a:lnSpc>
              <a:buNone/>
            </a:pPr>
            <a:r>
              <a:rPr lang="en-US" sz="1300" b="1" dirty="0">
                <a:solidFill>
                  <a:srgbClr val="000000"/>
                </a:solidFill>
                <a:latin typeface="Montserrat Bold" pitchFamily="34" charset="0"/>
                <a:ea typeface="Montserrat Bold" pitchFamily="34" charset="-122"/>
                <a:cs typeface="Montserrat Bold" pitchFamily="34" charset="-120"/>
              </a:rPr>
              <a:t>Guardrail, Router và FAQ Cache</a:t>
            </a:r>
            <a:endParaRPr lang="en-US" sz="1300" dirty="0"/>
          </a:p>
        </p:txBody>
      </p:sp>
      <p:sp>
        <p:nvSpPr>
          <p:cNvPr id="5" name="Shape 2"/>
          <p:cNvSpPr/>
          <p:nvPr/>
        </p:nvSpPr>
        <p:spPr>
          <a:xfrm>
            <a:off x="661475" y="4009231"/>
            <a:ext cx="580713" cy="251420"/>
          </a:xfrm>
          <a:prstGeom prst="roundRect">
            <a:avLst>
              <a:gd name="adj" fmla="val 22103"/>
            </a:avLst>
          </a:prstGeom>
          <a:solidFill>
            <a:srgbClr val="CCE2FF"/>
          </a:solidFill>
          <a:ln/>
        </p:spPr>
      </p:sp>
      <p:sp>
        <p:nvSpPr>
          <p:cNvPr id="6" name="Text 3"/>
          <p:cNvSpPr/>
          <p:nvPr/>
        </p:nvSpPr>
        <p:spPr>
          <a:xfrm>
            <a:off x="760691" y="4058841"/>
            <a:ext cx="991865" cy="152202"/>
          </a:xfrm>
          <a:prstGeom prst="rect">
            <a:avLst/>
          </a:prstGeom>
          <a:noFill/>
          <a:ln/>
        </p:spPr>
        <p:txBody>
          <a:bodyPr wrap="none" lIns="0" tIns="0" rIns="0" bIns="0" rtlCol="0" anchor="t"/>
          <a:lstStyle/>
          <a:p>
            <a:pPr algn="l" indent="0" marL="0">
              <a:lnSpc>
                <a:spcPct val="96000"/>
              </a:lnSpc>
              <a:buNone/>
            </a:pPr>
            <a:r>
              <a:rPr lang="en-US" sz="1000" dirty="0">
                <a:solidFill>
                  <a:srgbClr val="000000"/>
                </a:solidFill>
                <a:latin typeface="Montserrat" pitchFamily="34" charset="0"/>
                <a:ea typeface="Montserrat" pitchFamily="34" charset="-122"/>
                <a:cs typeface="Montserrat" pitchFamily="34" charset="-120"/>
              </a:rPr>
              <a:t>LAB 2</a:t>
            </a:r>
            <a:endParaRPr lang="en-US" sz="1000" dirty="0"/>
          </a:p>
        </p:txBody>
      </p:sp>
      <p:sp>
        <p:nvSpPr>
          <p:cNvPr id="7" name="Shape 4"/>
          <p:cNvSpPr/>
          <p:nvPr/>
        </p:nvSpPr>
        <p:spPr>
          <a:xfrm>
            <a:off x="1324835" y="4009231"/>
            <a:ext cx="1606510" cy="251420"/>
          </a:xfrm>
          <a:prstGeom prst="roundRect">
            <a:avLst>
              <a:gd name="adj" fmla="val 22103"/>
            </a:avLst>
          </a:prstGeom>
          <a:noFill/>
          <a:ln w="6350">
            <a:solidFill>
              <a:srgbClr val="004AAD"/>
            </a:solidFill>
            <a:prstDash val="solid"/>
          </a:ln>
        </p:spPr>
      </p:sp>
      <p:sp>
        <p:nvSpPr>
          <p:cNvPr id="8" name="Text 5"/>
          <p:cNvSpPr/>
          <p:nvPr/>
        </p:nvSpPr>
        <p:spPr>
          <a:xfrm>
            <a:off x="1424051" y="4058841"/>
            <a:ext cx="2017662" cy="152202"/>
          </a:xfrm>
          <a:prstGeom prst="rect">
            <a:avLst/>
          </a:prstGeom>
          <a:noFill/>
          <a:ln/>
        </p:spPr>
        <p:txBody>
          <a:bodyPr wrap="none" lIns="0" tIns="0" rIns="0" bIns="0" rtlCol="0" anchor="t"/>
          <a:lstStyle/>
          <a:p>
            <a:pPr algn="l" indent="0" marL="0">
              <a:lnSpc>
                <a:spcPct val="96000"/>
              </a:lnSpc>
              <a:buNone/>
            </a:pPr>
            <a:r>
              <a:rPr lang="en-US" sz="1000" dirty="0">
                <a:solidFill>
                  <a:srgbClr val="004AAD"/>
                </a:solidFill>
                <a:latin typeface="Montserrat" pitchFamily="34" charset="0"/>
                <a:ea typeface="Montserrat" pitchFamily="34" charset="-122"/>
                <a:cs typeface="Montserrat" pitchFamily="34" charset="-120"/>
              </a:rPr>
              <a:t>KIỂM SOÁT ĐẦU VÀO</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661475" y="1806178"/>
            <a:ext cx="10868745" cy="516731"/>
          </a:xfrm>
          <a:prstGeom prst="rect">
            <a:avLst/>
          </a:prstGeom>
          <a:noFill/>
          <a:ln/>
        </p:spPr>
        <p:txBody>
          <a:bodyPr wrap="none" lIns="0" tIns="0" rIns="0" bIns="0" rtlCol="0" anchor="t"/>
          <a:lstStyle/>
          <a:p>
            <a:pPr algn="l" indent="0" marL="0">
              <a:lnSpc>
                <a:spcPct val="104000"/>
              </a:lnSpc>
              <a:buNone/>
            </a:pPr>
            <a:r>
              <a:rPr lang="en-US" sz="3250" b="1" dirty="0">
                <a:solidFill>
                  <a:srgbClr val="004AAD"/>
                </a:solidFill>
                <a:latin typeface="Montserrat Bold" pitchFamily="34" charset="0"/>
                <a:ea typeface="Montserrat Bold" pitchFamily="34" charset="-122"/>
                <a:cs typeface="Montserrat Bold" pitchFamily="34" charset="-120"/>
              </a:rPr>
              <a:t>Ba lớp kiểm soát ngay khi nhận câu hỏi</a:t>
            </a:r>
            <a:endParaRPr lang="en-US" sz="3250" dirty="0"/>
          </a:p>
        </p:txBody>
      </p:sp>
      <p:sp>
        <p:nvSpPr>
          <p:cNvPr id="3" name="Text 1"/>
          <p:cNvSpPr/>
          <p:nvPr/>
        </p:nvSpPr>
        <p:spPr>
          <a:xfrm>
            <a:off x="661475" y="2388989"/>
            <a:ext cx="10868745" cy="258465"/>
          </a:xfrm>
          <a:prstGeom prst="rect">
            <a:avLst/>
          </a:prstGeom>
          <a:noFill/>
          <a:ln/>
        </p:spPr>
        <p:txBody>
          <a:bodyPr wrap="none" lIns="0" tIns="0" rIns="0" bIns="0" rtlCol="0" anchor="t"/>
          <a:lstStyle/>
          <a:p>
            <a:pPr algn="l" indent="0" marL="0">
              <a:lnSpc>
                <a:spcPct val="104000"/>
              </a:lnSpc>
              <a:buNone/>
            </a:pPr>
            <a:r>
              <a:rPr lang="en-US" sz="1600" b="1" dirty="0">
                <a:solidFill>
                  <a:srgbClr val="004AAD"/>
                </a:solidFill>
                <a:latin typeface="Montserrat Bold" pitchFamily="34" charset="0"/>
                <a:ea typeface="Montserrat Bold" pitchFamily="34" charset="-122"/>
                <a:cs typeface="Montserrat Bold" pitchFamily="34" charset="-120"/>
              </a:rPr>
              <a:t>JIT: ba lớp đứng trước câu trả lời</a:t>
            </a:r>
            <a:endParaRPr lang="en-US" sz="1600" dirty="0"/>
          </a:p>
        </p:txBody>
      </p:sp>
      <p:pic>
        <p:nvPicPr>
          <p:cNvPr id="4" name="Image 0" descr="preencoded.png">    </p:cNvPr>
          <p:cNvPicPr>
            <a:picLocks noChangeAspect="1"/>
          </p:cNvPicPr>
          <p:nvPr/>
        </p:nvPicPr>
        <p:blipFill>
          <a:blip r:embed="rId1"/>
          <a:stretch>
            <a:fillRect/>
          </a:stretch>
        </p:blipFill>
        <p:spPr>
          <a:xfrm>
            <a:off x="661475" y="2895501"/>
            <a:ext cx="3622882" cy="661491"/>
          </a:xfrm>
          <a:prstGeom prst="rect">
            <a:avLst/>
          </a:prstGeom>
        </p:spPr>
      </p:pic>
      <p:sp>
        <p:nvSpPr>
          <p:cNvPr id="5" name="Text 2"/>
          <p:cNvSpPr/>
          <p:nvPr/>
        </p:nvSpPr>
        <p:spPr>
          <a:xfrm>
            <a:off x="826769" y="3722291"/>
            <a:ext cx="3292293" cy="258465"/>
          </a:xfrm>
          <a:prstGeom prst="rect">
            <a:avLst/>
          </a:prstGeom>
          <a:noFill/>
          <a:ln/>
        </p:spPr>
        <p:txBody>
          <a:bodyPr wrap="none" lIns="0" tIns="0" rIns="0" bIns="0" rtlCol="0" anchor="t"/>
          <a:lstStyle/>
          <a:p>
            <a:pPr algn="l" indent="0" marL="0">
              <a:lnSpc>
                <a:spcPct val="104000"/>
              </a:lnSpc>
              <a:buNone/>
            </a:pPr>
            <a:r>
              <a:rPr lang="en-US" sz="1600" b="1" dirty="0">
                <a:solidFill>
                  <a:srgbClr val="000000"/>
                </a:solidFill>
                <a:latin typeface="Montserrat Bold" pitchFamily="34" charset="0"/>
                <a:ea typeface="Montserrat Bold" pitchFamily="34" charset="-122"/>
                <a:cs typeface="Montserrat Bold" pitchFamily="34" charset="-120"/>
              </a:rPr>
              <a:t>Guardrail</a:t>
            </a:r>
            <a:endParaRPr lang="en-US" sz="1600" dirty="0"/>
          </a:p>
        </p:txBody>
      </p:sp>
      <p:sp>
        <p:nvSpPr>
          <p:cNvPr id="6" name="Text 3"/>
          <p:cNvSpPr/>
          <p:nvPr/>
        </p:nvSpPr>
        <p:spPr>
          <a:xfrm>
            <a:off x="826769" y="4079974"/>
            <a:ext cx="3292293" cy="793849"/>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000000"/>
                </a:solidFill>
                <a:latin typeface="Montserrat" pitchFamily="34" charset="0"/>
                <a:ea typeface="Montserrat" pitchFamily="34" charset="-122"/>
                <a:cs typeface="Montserrat" pitchFamily="34" charset="-120"/>
              </a:rPr>
              <a:t>Phát hiện </a:t>
            </a:r>
            <a:pPr algn="l" indent="0" marL="0">
              <a:lnSpc>
                <a:spcPct val="133000"/>
              </a:lnSpc>
              <a:buNone/>
            </a:pPr>
            <a:r>
              <a:rPr lang="en-US" sz="1300" b="1" dirty="0">
                <a:solidFill>
                  <a:srgbClr val="000000"/>
                </a:solidFill>
                <a:latin typeface="Montserrat Bold" pitchFamily="34" charset="0"/>
                <a:ea typeface="Montserrat Bold" pitchFamily="34" charset="-122"/>
                <a:cs typeface="Montserrat Bold" pitchFamily="34" charset="-120"/>
              </a:rPr>
              <a:t>prompt injection</a:t>
            </a:r>
            <a:pPr algn="l" indent="0" marL="0">
              <a:lnSpc>
                <a:spcPct val="133000"/>
              </a:lnSpc>
              <a:buNone/>
            </a:pPr>
            <a:r>
              <a:rPr lang="en-US" sz="1300" dirty="0">
                <a:solidFill>
                  <a:srgbClr val="000000"/>
                </a:solidFill>
                <a:latin typeface="Montserrat" pitchFamily="34" charset="0"/>
                <a:ea typeface="Montserrat" pitchFamily="34" charset="-122"/>
                <a:cs typeface="Montserrat" pitchFamily="34" charset="-120"/>
              </a:rPr>
              <a:t>. Coi tin nhắn khách là dữ liệu, không phải chỉ thị. Chặn trước khi xử lý tiếp.</a:t>
            </a:r>
            <a:endParaRPr lang="en-US" sz="1300" dirty="0"/>
          </a:p>
        </p:txBody>
      </p:sp>
      <p:pic>
        <p:nvPicPr>
          <p:cNvPr id="7" name="Image 1" descr="preencoded.png">    </p:cNvPr>
          <p:cNvPicPr>
            <a:picLocks noChangeAspect="1"/>
          </p:cNvPicPr>
          <p:nvPr/>
        </p:nvPicPr>
        <p:blipFill>
          <a:blip r:embed="rId2"/>
          <a:stretch>
            <a:fillRect/>
          </a:stretch>
        </p:blipFill>
        <p:spPr>
          <a:xfrm>
            <a:off x="4284357" y="2895501"/>
            <a:ext cx="3622882" cy="661491"/>
          </a:xfrm>
          <a:prstGeom prst="rect">
            <a:avLst/>
          </a:prstGeom>
        </p:spPr>
      </p:pic>
      <p:sp>
        <p:nvSpPr>
          <p:cNvPr id="8" name="Text 4"/>
          <p:cNvSpPr/>
          <p:nvPr/>
        </p:nvSpPr>
        <p:spPr>
          <a:xfrm>
            <a:off x="4449651" y="3722291"/>
            <a:ext cx="3292293" cy="258465"/>
          </a:xfrm>
          <a:prstGeom prst="rect">
            <a:avLst/>
          </a:prstGeom>
          <a:noFill/>
          <a:ln/>
        </p:spPr>
        <p:txBody>
          <a:bodyPr wrap="none" lIns="0" tIns="0" rIns="0" bIns="0" rtlCol="0" anchor="t"/>
          <a:lstStyle/>
          <a:p>
            <a:pPr algn="l" indent="0" marL="0">
              <a:lnSpc>
                <a:spcPct val="104000"/>
              </a:lnSpc>
              <a:buNone/>
            </a:pPr>
            <a:r>
              <a:rPr lang="en-US" sz="1600" b="1" dirty="0">
                <a:solidFill>
                  <a:srgbClr val="000000"/>
                </a:solidFill>
                <a:latin typeface="Montserrat Bold" pitchFamily="34" charset="0"/>
                <a:ea typeface="Montserrat Bold" pitchFamily="34" charset="-122"/>
                <a:cs typeface="Montserrat Bold" pitchFamily="34" charset="-120"/>
              </a:rPr>
              <a:t>Router</a:t>
            </a:r>
            <a:endParaRPr lang="en-US" sz="1600" dirty="0"/>
          </a:p>
        </p:txBody>
      </p:sp>
      <p:sp>
        <p:nvSpPr>
          <p:cNvPr id="9" name="Text 5"/>
          <p:cNvSpPr/>
          <p:nvPr/>
        </p:nvSpPr>
        <p:spPr>
          <a:xfrm>
            <a:off x="4449651" y="4079974"/>
            <a:ext cx="3292293" cy="806549"/>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000000"/>
                </a:solidFill>
                <a:latin typeface="Montserrat" pitchFamily="34" charset="0"/>
                <a:ea typeface="Montserrat" pitchFamily="34" charset="-122"/>
                <a:cs typeface="Montserrat" pitchFamily="34" charset="-120"/>
              </a:rPr>
              <a:t>Phân </a:t>
            </a:r>
            <a:pPr algn="l" indent="0" marL="0">
              <a:lnSpc>
                <a:spcPct val="133000"/>
              </a:lnSpc>
              <a:buNone/>
            </a:pPr>
            <a:r>
              <a:rPr lang="en-US" sz="1300" b="1" dirty="0">
                <a:solidFill>
                  <a:srgbClr val="000000"/>
                </a:solidFill>
                <a:latin typeface="Montserrat Bold" pitchFamily="34" charset="0"/>
                <a:ea typeface="Montserrat Bold" pitchFamily="34" charset="-122"/>
                <a:cs typeface="Montserrat Bold" pitchFamily="34" charset="-120"/>
              </a:rPr>
              <a:t>phạm vi (scope)</a:t>
            </a:r>
            <a:pPr algn="l" indent="0" marL="0">
              <a:lnSpc>
                <a:spcPct val="133000"/>
              </a:lnSpc>
              <a:buNone/>
            </a:pPr>
            <a:r>
              <a:rPr lang="en-US" sz="1300" dirty="0">
                <a:solidFill>
                  <a:srgbClr val="000000"/>
                </a:solidFill>
                <a:latin typeface="Montserrat" pitchFamily="34" charset="0"/>
                <a:ea typeface="Montserrat" pitchFamily="34" charset="-122"/>
                <a:cs typeface="Montserrat" pitchFamily="34" charset="-120"/>
              </a:rPr>
              <a:t> và ý định (intent): </a:t>
            </a:r>
            <a:pPr algn="l" indent="0" marL="0">
              <a:lnSpc>
                <a:spcPct val="133000"/>
              </a:lnSpc>
              <a:buNone/>
            </a:pPr>
            <a:r>
              <a:rPr lang="en-US" sz="1300" dirty="0">
                <a:solidFill>
                  <a:srgbClr val="000000"/>
                </a:solidFill>
                <a:highlight>
                  <a:srgbClr val="F2F2F2"/>
                </a:highlight>
                <a:latin typeface="Consolas" pitchFamily="34" charset="0"/>
                <a:ea typeface="Consolas" pitchFamily="34" charset="-122"/>
                <a:cs typeface="Consolas" pitchFamily="34" charset="-120"/>
              </a:rPr>
              <a:t>thong_tin</a:t>
            </a:r>
            <a:pPr algn="l" indent="0" marL="0">
              <a:lnSpc>
                <a:spcPct val="133000"/>
              </a:lnSpc>
              <a:buNone/>
            </a:pPr>
            <a:r>
              <a:rPr lang="en-US" sz="1300" dirty="0">
                <a:solidFill>
                  <a:srgbClr val="000000"/>
                </a:solidFill>
                <a:latin typeface="Montserrat" pitchFamily="34" charset="0"/>
                <a:ea typeface="Montserrat" pitchFamily="34" charset="-122"/>
                <a:cs typeface="Montserrat" pitchFamily="34" charset="-120"/>
              </a:rPr>
              <a:t>, </a:t>
            </a:r>
            <a:pPr algn="l" indent="0" marL="0">
              <a:lnSpc>
                <a:spcPct val="133000"/>
              </a:lnSpc>
              <a:buNone/>
            </a:pPr>
            <a:r>
              <a:rPr lang="en-US" sz="1300" dirty="0">
                <a:solidFill>
                  <a:srgbClr val="000000"/>
                </a:solidFill>
                <a:highlight>
                  <a:srgbClr val="F2F2F2"/>
                </a:highlight>
                <a:latin typeface="Consolas" pitchFamily="34" charset="0"/>
                <a:ea typeface="Consolas" pitchFamily="34" charset="-122"/>
                <a:cs typeface="Consolas" pitchFamily="34" charset="-120"/>
              </a:rPr>
              <a:t>gia</a:t>
            </a:r>
            <a:pPr algn="l" indent="0" marL="0">
              <a:lnSpc>
                <a:spcPct val="133000"/>
              </a:lnSpc>
              <a:buNone/>
            </a:pPr>
            <a:r>
              <a:rPr lang="en-US" sz="1300" dirty="0">
                <a:solidFill>
                  <a:srgbClr val="000000"/>
                </a:solidFill>
                <a:latin typeface="Montserrat" pitchFamily="34" charset="0"/>
                <a:ea typeface="Montserrat" pitchFamily="34" charset="-122"/>
                <a:cs typeface="Montserrat" pitchFamily="34" charset="-120"/>
              </a:rPr>
              <a:t>, </a:t>
            </a:r>
            <a:pPr algn="l" indent="0" marL="0">
              <a:lnSpc>
                <a:spcPct val="133000"/>
              </a:lnSpc>
              <a:buNone/>
            </a:pPr>
            <a:r>
              <a:rPr lang="en-US" sz="1300" dirty="0">
                <a:solidFill>
                  <a:srgbClr val="000000"/>
                </a:solidFill>
                <a:highlight>
                  <a:srgbClr val="F2F2F2"/>
                </a:highlight>
                <a:latin typeface="Consolas" pitchFamily="34" charset="0"/>
                <a:ea typeface="Consolas" pitchFamily="34" charset="-122"/>
                <a:cs typeface="Consolas" pitchFamily="34" charset="-120"/>
              </a:rPr>
              <a:t>ky_thuat</a:t>
            </a:r>
            <a:pPr algn="l" indent="0" marL="0">
              <a:lnSpc>
                <a:spcPct val="133000"/>
              </a:lnSpc>
              <a:buNone/>
            </a:pPr>
            <a:r>
              <a:rPr lang="en-US" sz="1300" dirty="0">
                <a:solidFill>
                  <a:srgbClr val="000000"/>
                </a:solidFill>
                <a:latin typeface="Montserrat" pitchFamily="34" charset="0"/>
                <a:ea typeface="Montserrat" pitchFamily="34" charset="-122"/>
                <a:cs typeface="Montserrat" pitchFamily="34" charset="-120"/>
              </a:rPr>
              <a:t>, </a:t>
            </a:r>
            <a:pPr algn="l" indent="0" marL="0">
              <a:lnSpc>
                <a:spcPct val="133000"/>
              </a:lnSpc>
              <a:buNone/>
            </a:pPr>
            <a:r>
              <a:rPr lang="en-US" sz="1300" dirty="0">
                <a:solidFill>
                  <a:srgbClr val="000000"/>
                </a:solidFill>
                <a:highlight>
                  <a:srgbClr val="F2F2F2"/>
                </a:highlight>
                <a:latin typeface="Consolas" pitchFamily="34" charset="0"/>
                <a:ea typeface="Consolas" pitchFamily="34" charset="-122"/>
                <a:cs typeface="Consolas" pitchFamily="34" charset="-120"/>
              </a:rPr>
              <a:t>khieu_nai</a:t>
            </a:r>
            <a:pPr algn="l" indent="0" marL="0">
              <a:lnSpc>
                <a:spcPct val="133000"/>
              </a:lnSpc>
              <a:buNone/>
            </a:pPr>
            <a:r>
              <a:rPr lang="en-US" sz="1300" dirty="0">
                <a:solidFill>
                  <a:srgbClr val="000000"/>
                </a:solidFill>
                <a:latin typeface="Montserrat" pitchFamily="34" charset="0"/>
                <a:ea typeface="Montserrat" pitchFamily="34" charset="-122"/>
                <a:cs typeface="Montserrat" pitchFamily="34" charset="-120"/>
              </a:rPr>
              <a:t>, </a:t>
            </a:r>
            <a:pPr algn="l" indent="0" marL="0">
              <a:lnSpc>
                <a:spcPct val="133000"/>
              </a:lnSpc>
              <a:buNone/>
            </a:pPr>
            <a:r>
              <a:rPr lang="en-US" sz="1300" dirty="0">
                <a:solidFill>
                  <a:srgbClr val="000000"/>
                </a:solidFill>
                <a:highlight>
                  <a:srgbClr val="F2F2F2"/>
                </a:highlight>
                <a:latin typeface="Consolas" pitchFamily="34" charset="0"/>
                <a:ea typeface="Consolas" pitchFamily="34" charset="-122"/>
                <a:cs typeface="Consolas" pitchFamily="34" charset="-120"/>
              </a:rPr>
              <a:t>ngoai_pham_vi</a:t>
            </a:r>
            <a:pPr algn="l" indent="0" marL="0">
              <a:lnSpc>
                <a:spcPct val="133000"/>
              </a:lnSpc>
              <a:buNone/>
            </a:pPr>
            <a:r>
              <a:rPr lang="en-US" sz="1300" dirty="0">
                <a:solidFill>
                  <a:srgbClr val="000000"/>
                </a:solidFill>
                <a:latin typeface="Montserrat" pitchFamily="34" charset="0"/>
                <a:ea typeface="Montserrat" pitchFamily="34" charset="-122"/>
                <a:cs typeface="Montserrat" pitchFamily="34" charset="-120"/>
              </a:rPr>
              <a:t>.</a:t>
            </a:r>
            <a:endParaRPr lang="en-US" sz="1300" dirty="0"/>
          </a:p>
        </p:txBody>
      </p:sp>
      <p:pic>
        <p:nvPicPr>
          <p:cNvPr id="10" name="Image 2" descr="preencoded.png">    </p:cNvPr>
          <p:cNvPicPr>
            <a:picLocks noChangeAspect="1"/>
          </p:cNvPicPr>
          <p:nvPr/>
        </p:nvPicPr>
        <p:blipFill>
          <a:blip r:embed="rId3"/>
          <a:stretch>
            <a:fillRect/>
          </a:stretch>
        </p:blipFill>
        <p:spPr>
          <a:xfrm>
            <a:off x="7907239" y="2895501"/>
            <a:ext cx="3622882" cy="661491"/>
          </a:xfrm>
          <a:prstGeom prst="rect">
            <a:avLst/>
          </a:prstGeom>
        </p:spPr>
      </p:pic>
      <p:sp>
        <p:nvSpPr>
          <p:cNvPr id="11" name="Text 6"/>
          <p:cNvSpPr/>
          <p:nvPr/>
        </p:nvSpPr>
        <p:spPr>
          <a:xfrm>
            <a:off x="8072533" y="3722291"/>
            <a:ext cx="3292293" cy="258465"/>
          </a:xfrm>
          <a:prstGeom prst="rect">
            <a:avLst/>
          </a:prstGeom>
          <a:noFill/>
          <a:ln/>
        </p:spPr>
        <p:txBody>
          <a:bodyPr wrap="none" lIns="0" tIns="0" rIns="0" bIns="0" rtlCol="0" anchor="t"/>
          <a:lstStyle/>
          <a:p>
            <a:pPr algn="l" indent="0" marL="0">
              <a:lnSpc>
                <a:spcPct val="104000"/>
              </a:lnSpc>
              <a:buNone/>
            </a:pPr>
            <a:r>
              <a:rPr lang="en-US" sz="1600" b="1" dirty="0">
                <a:solidFill>
                  <a:srgbClr val="000000"/>
                </a:solidFill>
                <a:latin typeface="Montserrat Bold" pitchFamily="34" charset="0"/>
                <a:ea typeface="Montserrat Bold" pitchFamily="34" charset="-122"/>
                <a:cs typeface="Montserrat Bold" pitchFamily="34" charset="-120"/>
              </a:rPr>
              <a:t>Cache</a:t>
            </a:r>
            <a:endParaRPr lang="en-US" sz="1600" dirty="0"/>
          </a:p>
        </p:txBody>
      </p:sp>
      <p:sp>
        <p:nvSpPr>
          <p:cNvPr id="12" name="Text 7"/>
          <p:cNvSpPr/>
          <p:nvPr/>
        </p:nvSpPr>
        <p:spPr>
          <a:xfrm>
            <a:off x="8072533" y="4079974"/>
            <a:ext cx="3292293" cy="793849"/>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000000"/>
                </a:solidFill>
                <a:latin typeface="Montserrat" pitchFamily="34" charset="0"/>
                <a:ea typeface="Montserrat" pitchFamily="34" charset="-122"/>
                <a:cs typeface="Montserrat" pitchFamily="34" charset="-120"/>
              </a:rPr>
              <a:t>So khớp exact và semantic. Score </a:t>
            </a:r>
            <a:pPr algn="l" indent="0" marL="0">
              <a:lnSpc>
                <a:spcPct val="133000"/>
              </a:lnSpc>
              <a:buNone/>
            </a:pPr>
            <a:r>
              <a:rPr lang="en-US" sz="1300" b="1" dirty="0">
                <a:solidFill>
                  <a:srgbClr val="000000"/>
                </a:solidFill>
                <a:latin typeface="Montserrat Bold" pitchFamily="34" charset="0"/>
                <a:ea typeface="Montserrat Bold" pitchFamily="34" charset="-122"/>
                <a:cs typeface="Montserrat Bold" pitchFamily="34" charset="-120"/>
              </a:rPr>
              <a:t>≥ 0.86</a:t>
            </a:r>
            <a:pPr algn="l" indent="0" marL="0">
              <a:lnSpc>
                <a:spcPct val="133000"/>
              </a:lnSpc>
              <a:buNone/>
            </a:pPr>
            <a:r>
              <a:rPr lang="en-US" sz="1300" dirty="0">
                <a:solidFill>
                  <a:srgbClr val="000000"/>
                </a:solidFill>
                <a:latin typeface="Montserrat" pitchFamily="34" charset="0"/>
                <a:ea typeface="Montserrat" pitchFamily="34" charset="-122"/>
                <a:cs typeface="Montserrat" pitchFamily="34" charset="-120"/>
              </a:rPr>
              <a:t> → trả lời ngay từ FAQ, không gọi LLM, tiết kiệm chi phí.</a:t>
            </a:r>
            <a:endParaRPr lang="en-US" sz="13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661475" y="1345208"/>
            <a:ext cx="10868745" cy="516731"/>
          </a:xfrm>
          <a:prstGeom prst="rect">
            <a:avLst/>
          </a:prstGeom>
          <a:noFill/>
          <a:ln/>
        </p:spPr>
        <p:txBody>
          <a:bodyPr wrap="none" lIns="0" tIns="0" rIns="0" bIns="0" rtlCol="0" anchor="t"/>
          <a:lstStyle/>
          <a:p>
            <a:pPr algn="l" indent="0" marL="0">
              <a:lnSpc>
                <a:spcPct val="104000"/>
              </a:lnSpc>
              <a:buNone/>
            </a:pPr>
            <a:r>
              <a:rPr lang="en-US" sz="3250" b="1" dirty="0">
                <a:solidFill>
                  <a:srgbClr val="004AAD"/>
                </a:solidFill>
                <a:latin typeface="Montserrat Bold" pitchFamily="34" charset="0"/>
                <a:ea typeface="Montserrat Bold" pitchFamily="34" charset="-122"/>
                <a:cs typeface="Montserrat Bold" pitchFamily="34" charset="-120"/>
              </a:rPr>
              <a:t>Thực hành 2: guardrail, router và FAQ cache</a:t>
            </a:r>
            <a:endParaRPr lang="en-US" sz="3250" dirty="0"/>
          </a:p>
        </p:txBody>
      </p:sp>
      <p:sp>
        <p:nvSpPr>
          <p:cNvPr id="3" name="Text 1"/>
          <p:cNvSpPr/>
          <p:nvPr/>
        </p:nvSpPr>
        <p:spPr>
          <a:xfrm>
            <a:off x="661475" y="1928019"/>
            <a:ext cx="10868745" cy="258465"/>
          </a:xfrm>
          <a:prstGeom prst="rect">
            <a:avLst/>
          </a:prstGeom>
          <a:noFill/>
          <a:ln/>
        </p:spPr>
        <p:txBody>
          <a:bodyPr wrap="none" lIns="0" tIns="0" rIns="0" bIns="0" rtlCol="0" anchor="t"/>
          <a:lstStyle/>
          <a:p>
            <a:pPr algn="l" indent="0" marL="0">
              <a:lnSpc>
                <a:spcPct val="104000"/>
              </a:lnSpc>
              <a:buNone/>
            </a:pPr>
            <a:r>
              <a:rPr lang="en-US" sz="1600" b="1" dirty="0">
                <a:solidFill>
                  <a:srgbClr val="004AAD"/>
                </a:solidFill>
                <a:latin typeface="Montserrat Bold" pitchFamily="34" charset="0"/>
                <a:ea typeface="Montserrat Bold" pitchFamily="34" charset="-122"/>
                <a:cs typeface="Montserrat Bold" pitchFamily="34" charset="-120"/>
              </a:rPr>
              <a:t>Lab · 20 phút</a:t>
            </a:r>
            <a:endParaRPr lang="en-US" sz="1600" dirty="0"/>
          </a:p>
        </p:txBody>
      </p:sp>
      <p:sp>
        <p:nvSpPr>
          <p:cNvPr id="4" name="Shape 2"/>
          <p:cNvSpPr/>
          <p:nvPr/>
        </p:nvSpPr>
        <p:spPr>
          <a:xfrm>
            <a:off x="661475" y="2434530"/>
            <a:ext cx="10868745" cy="661293"/>
          </a:xfrm>
          <a:prstGeom prst="roundRect">
            <a:avLst>
              <a:gd name="adj" fmla="val 10504"/>
            </a:avLst>
          </a:prstGeom>
          <a:solidFill>
            <a:srgbClr val="CCE2FF"/>
          </a:solidFill>
          <a:ln/>
        </p:spPr>
      </p:sp>
      <p:pic>
        <p:nvPicPr>
          <p:cNvPr id="5" name="Image 0" descr="preencoded.png">    </p:cNvPr>
          <p:cNvPicPr>
            <a:picLocks noChangeAspect="1"/>
          </p:cNvPicPr>
          <p:nvPr/>
        </p:nvPicPr>
        <p:blipFill>
          <a:blip r:embed="rId1"/>
          <a:stretch>
            <a:fillRect/>
          </a:stretch>
        </p:blipFill>
        <p:spPr>
          <a:xfrm>
            <a:off x="826769" y="2674243"/>
            <a:ext cx="206667" cy="165298"/>
          </a:xfrm>
          <a:prstGeom prst="rect">
            <a:avLst/>
          </a:prstGeom>
        </p:spPr>
      </p:pic>
      <p:sp>
        <p:nvSpPr>
          <p:cNvPr id="6" name="Text 3"/>
          <p:cNvSpPr/>
          <p:nvPr/>
        </p:nvSpPr>
        <p:spPr>
          <a:xfrm>
            <a:off x="1198731" y="2641104"/>
            <a:ext cx="10775780" cy="264616"/>
          </a:xfrm>
          <a:prstGeom prst="rect">
            <a:avLst/>
          </a:prstGeom>
          <a:noFill/>
          <a:ln/>
        </p:spPr>
        <p:txBody>
          <a:bodyPr wrap="none" lIns="0" tIns="0" rIns="0" bIns="0" rtlCol="0" anchor="t"/>
          <a:lstStyle/>
          <a:p>
            <a:pPr algn="l" indent="0" marL="0">
              <a:lnSpc>
                <a:spcPct val="133000"/>
              </a:lnSpc>
              <a:buNone/>
            </a:pPr>
            <a:r>
              <a:rPr lang="en-US" sz="1300" b="1" dirty="0">
                <a:solidFill>
                  <a:srgbClr val="000000"/>
                </a:solidFill>
                <a:latin typeface="Montserrat Bold" pitchFamily="34" charset="0"/>
                <a:ea typeface="Montserrat Bold" pitchFamily="34" charset="-122"/>
                <a:cs typeface="Montserrat Bold" pitchFamily="34" charset="-120"/>
              </a:rPr>
              <a:t>Mục tiêu:</a:t>
            </a:r>
            <a:pPr algn="l" indent="0" marL="0">
              <a:lnSpc>
                <a:spcPct val="133000"/>
              </a:lnSpc>
              <a:buNone/>
            </a:pPr>
            <a:r>
              <a:rPr lang="en-US" sz="1300" dirty="0">
                <a:solidFill>
                  <a:srgbClr val="000000"/>
                </a:solidFill>
                <a:latin typeface="Montserrat" pitchFamily="34" charset="0"/>
                <a:ea typeface="Montserrat" pitchFamily="34" charset="-122"/>
                <a:cs typeface="Montserrat" pitchFamily="34" charset="-120"/>
              </a:rPr>
              <a:t> 5 trên 5 test case route đúng, ngoài phạm vi bị chặn trước LLM, câu giống FAQ trả lời nhanh qua cache.</a:t>
            </a:r>
            <a:endParaRPr lang="en-US" sz="1300" dirty="0"/>
          </a:p>
        </p:txBody>
      </p:sp>
      <p:sp>
        <p:nvSpPr>
          <p:cNvPr id="7" name="Shape 4"/>
          <p:cNvSpPr/>
          <p:nvPr/>
        </p:nvSpPr>
        <p:spPr>
          <a:xfrm>
            <a:off x="661475" y="3281859"/>
            <a:ext cx="372061" cy="372070"/>
          </a:xfrm>
          <a:prstGeom prst="roundRect">
            <a:avLst>
              <a:gd name="adj" fmla="val 18670"/>
            </a:avLst>
          </a:prstGeom>
          <a:solidFill>
            <a:srgbClr val="CCE2FF"/>
          </a:solidFill>
          <a:ln w="6350">
            <a:solidFill>
              <a:srgbClr val="B2C8E5"/>
            </a:solidFill>
            <a:prstDash val="solid"/>
          </a:ln>
        </p:spPr>
      </p:sp>
      <p:sp>
        <p:nvSpPr>
          <p:cNvPr id="8" name="Text 5"/>
          <p:cNvSpPr/>
          <p:nvPr/>
        </p:nvSpPr>
        <p:spPr>
          <a:xfrm>
            <a:off x="723485" y="3312864"/>
            <a:ext cx="248041" cy="310059"/>
          </a:xfrm>
          <a:prstGeom prst="rect">
            <a:avLst/>
          </a:prstGeom>
          <a:noFill/>
          <a:ln/>
        </p:spPr>
        <p:txBody>
          <a:bodyPr wrap="none" lIns="0" tIns="0" rIns="0" bIns="0" rtlCol="0" anchor="ctr"/>
          <a:lstStyle/>
          <a:p>
            <a:pPr algn="ctr" indent="0" marL="0">
              <a:lnSpc>
                <a:spcPct val="100000"/>
              </a:lnSpc>
              <a:buNone/>
            </a:pPr>
            <a:r>
              <a:rPr lang="en-US" sz="1950" b="1" dirty="0">
                <a:solidFill>
                  <a:srgbClr val="000000"/>
                </a:solidFill>
                <a:latin typeface="Montserrat Bold" pitchFamily="34" charset="0"/>
                <a:ea typeface="Montserrat Bold" pitchFamily="34" charset="-122"/>
                <a:cs typeface="Montserrat Bold" pitchFamily="34" charset="-120"/>
              </a:rPr>
              <a:t>1</a:t>
            </a:r>
            <a:endParaRPr lang="en-US" sz="1950" dirty="0"/>
          </a:p>
        </p:txBody>
      </p:sp>
      <p:sp>
        <p:nvSpPr>
          <p:cNvPr id="9" name="Text 6"/>
          <p:cNvSpPr/>
          <p:nvPr/>
        </p:nvSpPr>
        <p:spPr>
          <a:xfrm>
            <a:off x="1198830" y="3338711"/>
            <a:ext cx="4793634" cy="258465"/>
          </a:xfrm>
          <a:prstGeom prst="rect">
            <a:avLst/>
          </a:prstGeom>
          <a:noFill/>
          <a:ln/>
        </p:spPr>
        <p:txBody>
          <a:bodyPr wrap="none" lIns="0" tIns="0" rIns="0" bIns="0" rtlCol="0" anchor="t"/>
          <a:lstStyle/>
          <a:p>
            <a:pPr algn="l" indent="0" marL="0">
              <a:lnSpc>
                <a:spcPct val="104000"/>
              </a:lnSpc>
              <a:buNone/>
            </a:pPr>
            <a:r>
              <a:rPr lang="en-US" sz="1600" b="1" dirty="0">
                <a:solidFill>
                  <a:srgbClr val="000000"/>
                </a:solidFill>
                <a:latin typeface="Montserrat Bold" pitchFamily="34" charset="0"/>
                <a:ea typeface="Montserrat Bold" pitchFamily="34" charset="-122"/>
                <a:cs typeface="Montserrat Bold" pitchFamily="34" charset="-120"/>
              </a:rPr>
              <a:t>Gửi test case</a:t>
            </a:r>
            <a:endParaRPr lang="en-US" sz="1600" dirty="0"/>
          </a:p>
        </p:txBody>
      </p:sp>
      <p:sp>
        <p:nvSpPr>
          <p:cNvPr id="10" name="Text 7"/>
          <p:cNvSpPr/>
          <p:nvPr/>
        </p:nvSpPr>
        <p:spPr>
          <a:xfrm>
            <a:off x="1198830" y="3696395"/>
            <a:ext cx="4793634" cy="529233"/>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000000"/>
                </a:solidFill>
                <a:latin typeface="Montserrat" pitchFamily="34" charset="0"/>
                <a:ea typeface="Montserrat" pitchFamily="34" charset="-122"/>
                <a:cs typeface="Montserrat" pitchFamily="34" charset="-120"/>
              </a:rPr>
              <a:t>Chạy Cell Step 2 và Step 3 để gửi test case qua webhook /cskh.</a:t>
            </a:r>
            <a:endParaRPr lang="en-US" sz="1300" dirty="0"/>
          </a:p>
        </p:txBody>
      </p:sp>
      <p:sp>
        <p:nvSpPr>
          <p:cNvPr id="11" name="Shape 8"/>
          <p:cNvSpPr/>
          <p:nvPr/>
        </p:nvSpPr>
        <p:spPr>
          <a:xfrm>
            <a:off x="6199132" y="3281859"/>
            <a:ext cx="372061" cy="372070"/>
          </a:xfrm>
          <a:prstGeom prst="roundRect">
            <a:avLst>
              <a:gd name="adj" fmla="val 18670"/>
            </a:avLst>
          </a:prstGeom>
          <a:solidFill>
            <a:srgbClr val="CCE2FF"/>
          </a:solidFill>
          <a:ln w="6350">
            <a:solidFill>
              <a:srgbClr val="B2C8E5"/>
            </a:solidFill>
            <a:prstDash val="solid"/>
          </a:ln>
        </p:spPr>
      </p:sp>
      <p:sp>
        <p:nvSpPr>
          <p:cNvPr id="12" name="Text 9"/>
          <p:cNvSpPr/>
          <p:nvPr/>
        </p:nvSpPr>
        <p:spPr>
          <a:xfrm>
            <a:off x="6261142" y="3312864"/>
            <a:ext cx="248041" cy="310059"/>
          </a:xfrm>
          <a:prstGeom prst="rect">
            <a:avLst/>
          </a:prstGeom>
          <a:noFill/>
          <a:ln/>
        </p:spPr>
        <p:txBody>
          <a:bodyPr wrap="none" lIns="0" tIns="0" rIns="0" bIns="0" rtlCol="0" anchor="ctr"/>
          <a:lstStyle/>
          <a:p>
            <a:pPr algn="ctr" indent="0" marL="0">
              <a:lnSpc>
                <a:spcPct val="100000"/>
              </a:lnSpc>
              <a:buNone/>
            </a:pPr>
            <a:r>
              <a:rPr lang="en-US" sz="1950" b="1" dirty="0">
                <a:solidFill>
                  <a:srgbClr val="000000"/>
                </a:solidFill>
                <a:latin typeface="Montserrat Bold" pitchFamily="34" charset="0"/>
                <a:ea typeface="Montserrat Bold" pitchFamily="34" charset="-122"/>
                <a:cs typeface="Montserrat Bold" pitchFamily="34" charset="-120"/>
              </a:rPr>
              <a:t>2</a:t>
            </a:r>
            <a:endParaRPr lang="en-US" sz="1950" dirty="0"/>
          </a:p>
        </p:txBody>
      </p:sp>
      <p:sp>
        <p:nvSpPr>
          <p:cNvPr id="13" name="Text 10"/>
          <p:cNvSpPr/>
          <p:nvPr/>
        </p:nvSpPr>
        <p:spPr>
          <a:xfrm>
            <a:off x="6736487" y="3338711"/>
            <a:ext cx="4793733" cy="258465"/>
          </a:xfrm>
          <a:prstGeom prst="rect">
            <a:avLst/>
          </a:prstGeom>
          <a:noFill/>
          <a:ln/>
        </p:spPr>
        <p:txBody>
          <a:bodyPr wrap="none" lIns="0" tIns="0" rIns="0" bIns="0" rtlCol="0" anchor="t"/>
          <a:lstStyle/>
          <a:p>
            <a:pPr algn="l" indent="0" marL="0">
              <a:lnSpc>
                <a:spcPct val="104000"/>
              </a:lnSpc>
              <a:buNone/>
            </a:pPr>
            <a:r>
              <a:rPr lang="en-US" sz="1600" b="1" dirty="0">
                <a:solidFill>
                  <a:srgbClr val="000000"/>
                </a:solidFill>
                <a:latin typeface="Montserrat Bold" pitchFamily="34" charset="0"/>
                <a:ea typeface="Montserrat Bold" pitchFamily="34" charset="-122"/>
                <a:cs typeface="Montserrat Bold" pitchFamily="34" charset="-120"/>
              </a:rPr>
              <a:t>Quan sát response</a:t>
            </a:r>
            <a:endParaRPr lang="en-US" sz="1600" dirty="0"/>
          </a:p>
        </p:txBody>
      </p:sp>
      <p:sp>
        <p:nvSpPr>
          <p:cNvPr id="14" name="Text 11"/>
          <p:cNvSpPr/>
          <p:nvPr/>
        </p:nvSpPr>
        <p:spPr>
          <a:xfrm>
            <a:off x="6736487" y="3696395"/>
            <a:ext cx="4793733" cy="535583"/>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000000"/>
                </a:solidFill>
                <a:latin typeface="Montserrat" pitchFamily="34" charset="0"/>
                <a:ea typeface="Montserrat" pitchFamily="34" charset="-122"/>
                <a:cs typeface="Montserrat" pitchFamily="34" charset="-120"/>
              </a:rPr>
              <a:t>Kiểm tra trường </a:t>
            </a:r>
            <a:pPr algn="l" indent="0" marL="0">
              <a:lnSpc>
                <a:spcPct val="133000"/>
              </a:lnSpc>
              <a:buNone/>
            </a:pPr>
            <a:r>
              <a:rPr lang="en-US" sz="1300" dirty="0">
                <a:solidFill>
                  <a:srgbClr val="000000"/>
                </a:solidFill>
                <a:highlight>
                  <a:srgbClr val="F2F2F2"/>
                </a:highlight>
                <a:latin typeface="Consolas" pitchFamily="34" charset="0"/>
                <a:ea typeface="Consolas" pitchFamily="34" charset="-122"/>
                <a:cs typeface="Consolas" pitchFamily="34" charset="-120"/>
              </a:rPr>
              <a:t>route</a:t>
            </a:r>
            <a:pPr algn="l" indent="0" marL="0">
              <a:lnSpc>
                <a:spcPct val="133000"/>
              </a:lnSpc>
              <a:buNone/>
            </a:pPr>
            <a:r>
              <a:rPr lang="en-US" sz="1300" dirty="0">
                <a:solidFill>
                  <a:srgbClr val="000000"/>
                </a:solidFill>
                <a:latin typeface="Montserrat" pitchFamily="34" charset="0"/>
                <a:ea typeface="Montserrat" pitchFamily="34" charset="-122"/>
                <a:cs typeface="Montserrat" pitchFamily="34" charset="-120"/>
              </a:rPr>
              <a:t>, </a:t>
            </a:r>
            <a:pPr algn="l" indent="0" marL="0">
              <a:lnSpc>
                <a:spcPct val="133000"/>
              </a:lnSpc>
              <a:buNone/>
            </a:pPr>
            <a:r>
              <a:rPr lang="en-US" sz="1300" dirty="0">
                <a:solidFill>
                  <a:srgbClr val="000000"/>
                </a:solidFill>
                <a:highlight>
                  <a:srgbClr val="F2F2F2"/>
                </a:highlight>
                <a:latin typeface="Consolas" pitchFamily="34" charset="0"/>
                <a:ea typeface="Consolas" pitchFamily="34" charset="-122"/>
                <a:cs typeface="Consolas" pitchFamily="34" charset="-120"/>
              </a:rPr>
              <a:t>cache_hit</a:t>
            </a:r>
            <a:pPr algn="l" indent="0" marL="0">
              <a:lnSpc>
                <a:spcPct val="133000"/>
              </a:lnSpc>
              <a:buNone/>
            </a:pPr>
            <a:r>
              <a:rPr lang="en-US" sz="1300" dirty="0">
                <a:solidFill>
                  <a:srgbClr val="000000"/>
                </a:solidFill>
                <a:latin typeface="Montserrat" pitchFamily="34" charset="0"/>
                <a:ea typeface="Montserrat" pitchFamily="34" charset="-122"/>
                <a:cs typeface="Montserrat" pitchFamily="34" charset="-120"/>
              </a:rPr>
              <a:t> và </a:t>
            </a:r>
            <a:pPr algn="l" indent="0" marL="0">
              <a:lnSpc>
                <a:spcPct val="133000"/>
              </a:lnSpc>
              <a:buNone/>
            </a:pPr>
            <a:r>
              <a:rPr lang="en-US" sz="1300" dirty="0">
                <a:solidFill>
                  <a:srgbClr val="000000"/>
                </a:solidFill>
                <a:highlight>
                  <a:srgbClr val="F2F2F2"/>
                </a:highlight>
                <a:latin typeface="Consolas" pitchFamily="34" charset="0"/>
                <a:ea typeface="Consolas" pitchFamily="34" charset="-122"/>
                <a:cs typeface="Consolas" pitchFamily="34" charset="-120"/>
              </a:rPr>
              <a:t>answer</a:t>
            </a:r>
            <a:pPr algn="l" indent="0" marL="0">
              <a:lnSpc>
                <a:spcPct val="133000"/>
              </a:lnSpc>
              <a:buNone/>
            </a:pPr>
            <a:r>
              <a:rPr lang="en-US" sz="1300" dirty="0">
                <a:solidFill>
                  <a:srgbClr val="000000"/>
                </a:solidFill>
                <a:latin typeface="Montserrat" pitchFamily="34" charset="0"/>
                <a:ea typeface="Montserrat" pitchFamily="34" charset="-122"/>
                <a:cs typeface="Montserrat" pitchFamily="34" charset="-120"/>
              </a:rPr>
              <a:t> hay </a:t>
            </a:r>
            <a:pPr algn="l" indent="0" marL="0">
              <a:lnSpc>
                <a:spcPct val="133000"/>
              </a:lnSpc>
              <a:buNone/>
            </a:pPr>
            <a:r>
              <a:rPr lang="en-US" sz="1300" dirty="0">
                <a:solidFill>
                  <a:srgbClr val="000000"/>
                </a:solidFill>
                <a:highlight>
                  <a:srgbClr val="F2F2F2"/>
                </a:highlight>
                <a:latin typeface="Consolas" pitchFamily="34" charset="0"/>
                <a:ea typeface="Consolas" pitchFamily="34" charset="-122"/>
                <a:cs typeface="Consolas" pitchFamily="34" charset="-120"/>
              </a:rPr>
              <a:t>refusal</a:t>
            </a:r>
            <a:pPr algn="l" indent="0" marL="0">
              <a:lnSpc>
                <a:spcPct val="133000"/>
              </a:lnSpc>
              <a:buNone/>
            </a:pPr>
            <a:r>
              <a:rPr lang="en-US" sz="1300" dirty="0">
                <a:solidFill>
                  <a:srgbClr val="000000"/>
                </a:solidFill>
                <a:latin typeface="Montserrat" pitchFamily="34" charset="0"/>
                <a:ea typeface="Montserrat" pitchFamily="34" charset="-122"/>
                <a:cs typeface="Montserrat" pitchFamily="34" charset="-120"/>
              </a:rPr>
              <a:t> trong kết quả trả về.</a:t>
            </a:r>
            <a:endParaRPr lang="en-US" sz="1300" dirty="0"/>
          </a:p>
        </p:txBody>
      </p:sp>
      <p:sp>
        <p:nvSpPr>
          <p:cNvPr id="15" name="Shape 12"/>
          <p:cNvSpPr/>
          <p:nvPr/>
        </p:nvSpPr>
        <p:spPr>
          <a:xfrm>
            <a:off x="661475" y="4562673"/>
            <a:ext cx="372061" cy="372070"/>
          </a:xfrm>
          <a:prstGeom prst="roundRect">
            <a:avLst>
              <a:gd name="adj" fmla="val 18670"/>
            </a:avLst>
          </a:prstGeom>
          <a:solidFill>
            <a:srgbClr val="CCE2FF"/>
          </a:solidFill>
          <a:ln w="6350">
            <a:solidFill>
              <a:srgbClr val="B2C8E5"/>
            </a:solidFill>
            <a:prstDash val="solid"/>
          </a:ln>
        </p:spPr>
      </p:sp>
      <p:sp>
        <p:nvSpPr>
          <p:cNvPr id="16" name="Text 13"/>
          <p:cNvSpPr/>
          <p:nvPr/>
        </p:nvSpPr>
        <p:spPr>
          <a:xfrm>
            <a:off x="723485" y="4593679"/>
            <a:ext cx="248041" cy="310059"/>
          </a:xfrm>
          <a:prstGeom prst="rect">
            <a:avLst/>
          </a:prstGeom>
          <a:noFill/>
          <a:ln/>
        </p:spPr>
        <p:txBody>
          <a:bodyPr wrap="none" lIns="0" tIns="0" rIns="0" bIns="0" rtlCol="0" anchor="ctr"/>
          <a:lstStyle/>
          <a:p>
            <a:pPr algn="ctr" indent="0" marL="0">
              <a:lnSpc>
                <a:spcPct val="100000"/>
              </a:lnSpc>
              <a:buNone/>
            </a:pPr>
            <a:r>
              <a:rPr lang="en-US" sz="1950" b="1" dirty="0">
                <a:solidFill>
                  <a:srgbClr val="000000"/>
                </a:solidFill>
                <a:latin typeface="Montserrat Bold" pitchFamily="34" charset="0"/>
                <a:ea typeface="Montserrat Bold" pitchFamily="34" charset="-122"/>
                <a:cs typeface="Montserrat Bold" pitchFamily="34" charset="-120"/>
              </a:rPr>
              <a:t>3</a:t>
            </a:r>
            <a:endParaRPr lang="en-US" sz="1950" dirty="0"/>
          </a:p>
        </p:txBody>
      </p:sp>
      <p:sp>
        <p:nvSpPr>
          <p:cNvPr id="17" name="Text 14"/>
          <p:cNvSpPr/>
          <p:nvPr/>
        </p:nvSpPr>
        <p:spPr>
          <a:xfrm>
            <a:off x="1198830" y="4619526"/>
            <a:ext cx="4793634" cy="258465"/>
          </a:xfrm>
          <a:prstGeom prst="rect">
            <a:avLst/>
          </a:prstGeom>
          <a:noFill/>
          <a:ln/>
        </p:spPr>
        <p:txBody>
          <a:bodyPr wrap="none" lIns="0" tIns="0" rIns="0" bIns="0" rtlCol="0" anchor="t"/>
          <a:lstStyle/>
          <a:p>
            <a:pPr algn="l" indent="0" marL="0">
              <a:lnSpc>
                <a:spcPct val="104000"/>
              </a:lnSpc>
              <a:buNone/>
            </a:pPr>
            <a:r>
              <a:rPr lang="en-US" sz="1600" b="1" dirty="0">
                <a:solidFill>
                  <a:srgbClr val="000000"/>
                </a:solidFill>
                <a:latin typeface="Montserrat Bold" pitchFamily="34" charset="0"/>
                <a:ea typeface="Montserrat Bold" pitchFamily="34" charset="-122"/>
                <a:cs typeface="Montserrat Bold" pitchFamily="34" charset="-120"/>
              </a:rPr>
              <a:t>Kiểm tra guardrail</a:t>
            </a:r>
            <a:endParaRPr lang="en-US" sz="1600" dirty="0"/>
          </a:p>
        </p:txBody>
      </p:sp>
      <p:sp>
        <p:nvSpPr>
          <p:cNvPr id="18" name="Text 15"/>
          <p:cNvSpPr/>
          <p:nvPr/>
        </p:nvSpPr>
        <p:spPr>
          <a:xfrm>
            <a:off x="1198830" y="4977209"/>
            <a:ext cx="4793634" cy="529233"/>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000000"/>
                </a:solidFill>
                <a:latin typeface="Montserrat" pitchFamily="34" charset="0"/>
                <a:ea typeface="Montserrat" pitchFamily="34" charset="-122"/>
                <a:cs typeface="Montserrat" pitchFamily="34" charset="-120"/>
              </a:rPr>
              <a:t>Xác nhận câu injection và ngoài scope bị chặn </a:t>
            </a:r>
            <a:pPr algn="l" indent="0" marL="0">
              <a:lnSpc>
                <a:spcPct val="133000"/>
              </a:lnSpc>
              <a:buNone/>
            </a:pPr>
            <a:r>
              <a:rPr lang="en-US" sz="1300" b="1" dirty="0">
                <a:solidFill>
                  <a:srgbClr val="000000"/>
                </a:solidFill>
                <a:latin typeface="Montserrat Bold" pitchFamily="34" charset="0"/>
                <a:ea typeface="Montserrat Bold" pitchFamily="34" charset="-122"/>
                <a:cs typeface="Montserrat Bold" pitchFamily="34" charset="-120"/>
              </a:rPr>
              <a:t>trước khi tới LLM</a:t>
            </a:r>
            <a:pPr algn="l" indent="0" marL="0">
              <a:lnSpc>
                <a:spcPct val="133000"/>
              </a:lnSpc>
              <a:buNone/>
            </a:pPr>
            <a:r>
              <a:rPr lang="en-US" sz="1300" dirty="0">
                <a:solidFill>
                  <a:srgbClr val="000000"/>
                </a:solidFill>
                <a:latin typeface="Montserrat" pitchFamily="34" charset="0"/>
                <a:ea typeface="Montserrat" pitchFamily="34" charset="-122"/>
                <a:cs typeface="Montserrat" pitchFamily="34" charset="-120"/>
              </a:rPr>
              <a:t>.</a:t>
            </a:r>
            <a:endParaRPr lang="en-US" sz="1300" dirty="0"/>
          </a:p>
        </p:txBody>
      </p:sp>
      <p:sp>
        <p:nvSpPr>
          <p:cNvPr id="19" name="Shape 16"/>
          <p:cNvSpPr/>
          <p:nvPr/>
        </p:nvSpPr>
        <p:spPr>
          <a:xfrm>
            <a:off x="6199132" y="4562673"/>
            <a:ext cx="372061" cy="372070"/>
          </a:xfrm>
          <a:prstGeom prst="roundRect">
            <a:avLst>
              <a:gd name="adj" fmla="val 18670"/>
            </a:avLst>
          </a:prstGeom>
          <a:solidFill>
            <a:srgbClr val="CCE2FF"/>
          </a:solidFill>
          <a:ln w="6350">
            <a:solidFill>
              <a:srgbClr val="B2C8E5"/>
            </a:solidFill>
            <a:prstDash val="solid"/>
          </a:ln>
        </p:spPr>
      </p:sp>
      <p:sp>
        <p:nvSpPr>
          <p:cNvPr id="20" name="Text 17"/>
          <p:cNvSpPr/>
          <p:nvPr/>
        </p:nvSpPr>
        <p:spPr>
          <a:xfrm>
            <a:off x="6261142" y="4593679"/>
            <a:ext cx="248041" cy="310059"/>
          </a:xfrm>
          <a:prstGeom prst="rect">
            <a:avLst/>
          </a:prstGeom>
          <a:noFill/>
          <a:ln/>
        </p:spPr>
        <p:txBody>
          <a:bodyPr wrap="none" lIns="0" tIns="0" rIns="0" bIns="0" rtlCol="0" anchor="ctr"/>
          <a:lstStyle/>
          <a:p>
            <a:pPr algn="ctr" indent="0" marL="0">
              <a:lnSpc>
                <a:spcPct val="100000"/>
              </a:lnSpc>
              <a:buNone/>
            </a:pPr>
            <a:r>
              <a:rPr lang="en-US" sz="1950" b="1" dirty="0">
                <a:solidFill>
                  <a:srgbClr val="000000"/>
                </a:solidFill>
                <a:latin typeface="Montserrat Bold" pitchFamily="34" charset="0"/>
                <a:ea typeface="Montserrat Bold" pitchFamily="34" charset="-122"/>
                <a:cs typeface="Montserrat Bold" pitchFamily="34" charset="-120"/>
              </a:rPr>
              <a:t>4</a:t>
            </a:r>
            <a:endParaRPr lang="en-US" sz="1950" dirty="0"/>
          </a:p>
        </p:txBody>
      </p:sp>
      <p:sp>
        <p:nvSpPr>
          <p:cNvPr id="21" name="Text 18"/>
          <p:cNvSpPr/>
          <p:nvPr/>
        </p:nvSpPr>
        <p:spPr>
          <a:xfrm>
            <a:off x="6736487" y="4619526"/>
            <a:ext cx="4793733" cy="258465"/>
          </a:xfrm>
          <a:prstGeom prst="rect">
            <a:avLst/>
          </a:prstGeom>
          <a:noFill/>
          <a:ln/>
        </p:spPr>
        <p:txBody>
          <a:bodyPr wrap="none" lIns="0" tIns="0" rIns="0" bIns="0" rtlCol="0" anchor="t"/>
          <a:lstStyle/>
          <a:p>
            <a:pPr algn="l" indent="0" marL="0">
              <a:lnSpc>
                <a:spcPct val="104000"/>
              </a:lnSpc>
              <a:buNone/>
            </a:pPr>
            <a:r>
              <a:rPr lang="en-US" sz="1600" b="1" dirty="0">
                <a:solidFill>
                  <a:srgbClr val="000000"/>
                </a:solidFill>
                <a:latin typeface="Montserrat Bold" pitchFamily="34" charset="0"/>
                <a:ea typeface="Montserrat Bold" pitchFamily="34" charset="-122"/>
                <a:cs typeface="Montserrat Bold" pitchFamily="34" charset="-120"/>
              </a:rPr>
              <a:t>Xác nhận fast path</a:t>
            </a:r>
            <a:endParaRPr lang="en-US" sz="1600" dirty="0"/>
          </a:p>
        </p:txBody>
      </p:sp>
      <p:sp>
        <p:nvSpPr>
          <p:cNvPr id="22" name="Text 19"/>
          <p:cNvSpPr/>
          <p:nvPr/>
        </p:nvSpPr>
        <p:spPr>
          <a:xfrm>
            <a:off x="6736487" y="4977209"/>
            <a:ext cx="4793733" cy="535583"/>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000000"/>
                </a:solidFill>
                <a:latin typeface="Montserrat" pitchFamily="34" charset="0"/>
                <a:ea typeface="Montserrat" pitchFamily="34" charset="-122"/>
                <a:cs typeface="Montserrat" pitchFamily="34" charset="-120"/>
              </a:rPr>
              <a:t>Câu giao hàng trúng FAQ → trả lời nhanh, </a:t>
            </a:r>
            <a:pPr algn="l" indent="0" marL="0">
              <a:lnSpc>
                <a:spcPct val="133000"/>
              </a:lnSpc>
              <a:buNone/>
            </a:pPr>
            <a:r>
              <a:rPr lang="en-US" sz="1300" dirty="0">
                <a:solidFill>
                  <a:srgbClr val="000000"/>
                </a:solidFill>
                <a:highlight>
                  <a:srgbClr val="F2F2F2"/>
                </a:highlight>
                <a:latin typeface="Consolas" pitchFamily="34" charset="0"/>
                <a:ea typeface="Consolas" pitchFamily="34" charset="-122"/>
                <a:cs typeface="Consolas" pitchFamily="34" charset="-120"/>
              </a:rPr>
              <a:t>cache_hit: true</a:t>
            </a:r>
            <a:pPr algn="l" indent="0" marL="0">
              <a:lnSpc>
                <a:spcPct val="133000"/>
              </a:lnSpc>
              <a:buNone/>
            </a:pPr>
            <a:r>
              <a:rPr lang="en-US" sz="1300" dirty="0">
                <a:solidFill>
                  <a:srgbClr val="000000"/>
                </a:solidFill>
                <a:latin typeface="Montserrat" pitchFamily="34" charset="0"/>
                <a:ea typeface="Montserrat" pitchFamily="34" charset="-122"/>
                <a:cs typeface="Montserrat" pitchFamily="34" charset="-120"/>
              </a:rPr>
              <a:t>, không gọi LLM.</a:t>
            </a:r>
            <a:endParaRPr lang="en-US" sz="13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33360" y="2655788"/>
            <a:ext cx="6296860" cy="1033661"/>
          </a:xfrm>
          <a:prstGeom prst="rect">
            <a:avLst/>
          </a:prstGeom>
          <a:noFill/>
          <a:ln/>
        </p:spPr>
        <p:txBody>
          <a:bodyPr wrap="none" lIns="0" tIns="0" rIns="0" bIns="0" rtlCol="0" anchor="t"/>
          <a:lstStyle/>
          <a:p>
            <a:pPr algn="l" indent="0" marL="0">
              <a:lnSpc>
                <a:spcPct val="104000"/>
              </a:lnSpc>
              <a:buNone/>
            </a:pPr>
            <a:r>
              <a:rPr lang="en-US" sz="6500" b="1" dirty="0">
                <a:solidFill>
                  <a:srgbClr val="004AAD"/>
                </a:solidFill>
                <a:latin typeface="Montserrat Bold" pitchFamily="34" charset="0"/>
                <a:ea typeface="Montserrat Bold" pitchFamily="34" charset="-122"/>
                <a:cs typeface="Montserrat Bold" pitchFamily="34" charset="-120"/>
              </a:rPr>
              <a:t>Thực hành 2</a:t>
            </a:r>
            <a:endParaRPr lang="en-US" sz="6500" dirty="0"/>
          </a:p>
        </p:txBody>
      </p:sp>
      <p:sp>
        <p:nvSpPr>
          <p:cNvPr id="4" name="Text 1"/>
          <p:cNvSpPr/>
          <p:nvPr/>
        </p:nvSpPr>
        <p:spPr>
          <a:xfrm>
            <a:off x="5233360" y="3937496"/>
            <a:ext cx="6906444" cy="264616"/>
          </a:xfrm>
          <a:prstGeom prst="rect">
            <a:avLst/>
          </a:prstGeom>
          <a:noFill/>
          <a:ln/>
        </p:spPr>
        <p:txBody>
          <a:bodyPr wrap="none" lIns="0" tIns="0" rIns="0" bIns="0" rtlCol="0" anchor="t"/>
          <a:lstStyle/>
          <a:p>
            <a:pPr algn="l" indent="0" marL="0">
              <a:lnSpc>
                <a:spcPct val="133000"/>
              </a:lnSpc>
              <a:buNone/>
            </a:pPr>
            <a:r>
              <a:rPr lang="en-US" sz="1300" i="1" dirty="0">
                <a:solidFill>
                  <a:srgbClr val="000000"/>
                </a:solidFill>
                <a:latin typeface="Montserrat" pitchFamily="34" charset="0"/>
                <a:ea typeface="Montserrat" pitchFamily="34" charset="-122"/>
                <a:cs typeface="Montserrat" pitchFamily="34" charset="-120"/>
              </a:rPr>
              <a:t>15 phút · Gửi test case và quan sát route</a:t>
            </a:r>
            <a:endParaRPr lang="en-US" sz="13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661475" y="488156"/>
            <a:ext cx="10868745" cy="508695"/>
          </a:xfrm>
          <a:prstGeom prst="rect">
            <a:avLst/>
          </a:prstGeom>
          <a:noFill/>
          <a:ln/>
        </p:spPr>
        <p:txBody>
          <a:bodyPr wrap="none" lIns="0" tIns="0" rIns="0" bIns="0" rtlCol="0" anchor="t"/>
          <a:lstStyle/>
          <a:p>
            <a:pPr algn="l" indent="0" marL="0">
              <a:lnSpc>
                <a:spcPct val="104000"/>
              </a:lnSpc>
              <a:buNone/>
            </a:pPr>
            <a:r>
              <a:rPr lang="en-US" sz="3200" b="1" dirty="0">
                <a:solidFill>
                  <a:srgbClr val="004AAD"/>
                </a:solidFill>
                <a:latin typeface="Montserrat Bold" pitchFamily="34" charset="0"/>
                <a:ea typeface="Montserrat Bold" pitchFamily="34" charset="-122"/>
                <a:cs typeface="Montserrat Bold" pitchFamily="34" charset="-120"/>
              </a:rPr>
              <a:t>Kết quả thực hành 2</a:t>
            </a:r>
            <a:endParaRPr lang="en-US" sz="3200" dirty="0"/>
          </a:p>
        </p:txBody>
      </p:sp>
      <p:sp>
        <p:nvSpPr>
          <p:cNvPr id="3" name="Text 1"/>
          <p:cNvSpPr/>
          <p:nvPr/>
        </p:nvSpPr>
        <p:spPr>
          <a:xfrm>
            <a:off x="661475" y="1060946"/>
            <a:ext cx="10868745" cy="254298"/>
          </a:xfrm>
          <a:prstGeom prst="rect">
            <a:avLst/>
          </a:prstGeom>
          <a:noFill/>
          <a:ln/>
        </p:spPr>
        <p:txBody>
          <a:bodyPr wrap="none" lIns="0" tIns="0" rIns="0" bIns="0" rtlCol="0" anchor="t"/>
          <a:lstStyle/>
          <a:p>
            <a:pPr algn="l" indent="0" marL="0">
              <a:lnSpc>
                <a:spcPct val="104000"/>
              </a:lnSpc>
              <a:buNone/>
            </a:pPr>
            <a:r>
              <a:rPr lang="en-US" sz="1600" b="1" dirty="0">
                <a:solidFill>
                  <a:srgbClr val="004AAD"/>
                </a:solidFill>
                <a:latin typeface="Montserrat Bold" pitchFamily="34" charset="0"/>
                <a:ea typeface="Montserrat Bold" pitchFamily="34" charset="-122"/>
                <a:cs typeface="Montserrat Bold" pitchFamily="34" charset="-120"/>
              </a:rPr>
              <a:t>Năm case route đúng, ngoài scope bị chặn</a:t>
            </a:r>
            <a:endParaRPr lang="en-US" sz="1600" dirty="0"/>
          </a:p>
        </p:txBody>
      </p:sp>
      <p:sp>
        <p:nvSpPr>
          <p:cNvPr id="4" name="Text 2"/>
          <p:cNvSpPr/>
          <p:nvPr/>
        </p:nvSpPr>
        <p:spPr>
          <a:xfrm>
            <a:off x="661475" y="1555552"/>
            <a:ext cx="10868745" cy="516930"/>
          </a:xfrm>
          <a:prstGeom prst="rect">
            <a:avLst/>
          </a:prstGeom>
          <a:noFill/>
          <a:ln/>
        </p:spPr>
        <p:txBody>
          <a:bodyPr wrap="square" lIns="0" tIns="0" rIns="0" bIns="0" rtlCol="0" anchor="t">
            <a:normAutofit/>
          </a:bodyPr>
          <a:lstStyle/>
          <a:p>
            <a:pPr algn="l" indent="0" marL="0">
              <a:lnSpc>
                <a:spcPct val="132000"/>
              </a:lnSpc>
              <a:buNone/>
            </a:pPr>
            <a:r>
              <a:rPr lang="en-US" sz="1250" dirty="0">
                <a:solidFill>
                  <a:srgbClr val="000000"/>
                </a:solidFill>
                <a:latin typeface="Montserrat" pitchFamily="34" charset="0"/>
                <a:ea typeface="Montserrat" pitchFamily="34" charset="-122"/>
                <a:cs typeface="Montserrat" pitchFamily="34" charset="-120"/>
              </a:rPr>
              <a:t>Trường </a:t>
            </a:r>
            <a:pPr algn="l" indent="0" marL="0">
              <a:lnSpc>
                <a:spcPct val="132000"/>
              </a:lnSpc>
              <a:buNone/>
            </a:pPr>
            <a:r>
              <a:rPr lang="en-US" sz="1250" dirty="0">
                <a:solidFill>
                  <a:srgbClr val="000000"/>
                </a:solidFill>
                <a:highlight>
                  <a:srgbClr val="F2F2F2"/>
                </a:highlight>
                <a:latin typeface="Consolas" pitchFamily="34" charset="0"/>
                <a:ea typeface="Consolas" pitchFamily="34" charset="-122"/>
                <a:cs typeface="Consolas" pitchFamily="34" charset="-120"/>
              </a:rPr>
              <a:t>route</a:t>
            </a:r>
            <a:pPr algn="l" indent="0" marL="0">
              <a:lnSpc>
                <a:spcPct val="132000"/>
              </a:lnSpc>
              <a:buNone/>
            </a:pPr>
            <a:r>
              <a:rPr lang="en-US" sz="1250" dirty="0">
                <a:solidFill>
                  <a:srgbClr val="000000"/>
                </a:solidFill>
                <a:latin typeface="Montserrat" pitchFamily="34" charset="0"/>
                <a:ea typeface="Montserrat" pitchFamily="34" charset="-122"/>
                <a:cs typeface="Montserrat" pitchFamily="34" charset="-120"/>
              </a:rPr>
              <a:t> cho thấy 5 intent được phân đúng, câu ngoài phạm vi bị refusal trước LLM, câu giống FAQ trả lời qua cache không tốn chi phí LLM.</a:t>
            </a:r>
            <a:endParaRPr lang="en-US" sz="1250" dirty="0"/>
          </a:p>
        </p:txBody>
      </p:sp>
      <p:sp>
        <p:nvSpPr>
          <p:cNvPr id="5" name="Text 3"/>
          <p:cNvSpPr/>
          <p:nvPr/>
        </p:nvSpPr>
        <p:spPr>
          <a:xfrm>
            <a:off x="1404902" y="3310930"/>
            <a:ext cx="2002383" cy="406995"/>
          </a:xfrm>
          <a:prstGeom prst="rect">
            <a:avLst/>
          </a:prstGeom>
          <a:noFill/>
          <a:ln/>
        </p:spPr>
        <p:txBody>
          <a:bodyPr wrap="none" lIns="0" tIns="0" rIns="0" bIns="0" rtlCol="0" anchor="t"/>
          <a:lstStyle/>
          <a:p>
            <a:pPr algn="ctr" indent="0" marL="0">
              <a:lnSpc>
                <a:spcPct val="83000"/>
              </a:lnSpc>
              <a:buNone/>
            </a:pPr>
            <a:r>
              <a:rPr lang="en-US" sz="3200" b="1" dirty="0">
                <a:solidFill>
                  <a:srgbClr val="000000"/>
                </a:solidFill>
                <a:latin typeface="Montserrat Bold" pitchFamily="34" charset="0"/>
                <a:ea typeface="Montserrat Bold" pitchFamily="34" charset="-122"/>
                <a:cs typeface="Montserrat Bold" pitchFamily="34" charset="-120"/>
              </a:rPr>
              <a:t>5/5</a:t>
            </a:r>
            <a:endParaRPr lang="en-US" sz="3200" dirty="0"/>
          </a:p>
        </p:txBody>
      </p:sp>
      <p:pic>
        <p:nvPicPr>
          <p:cNvPr id="6" name="Image 0" descr="preencoded.png">    </p:cNvPr>
          <p:cNvPicPr>
            <a:picLocks noChangeAspect="1"/>
          </p:cNvPicPr>
          <p:nvPr/>
        </p:nvPicPr>
        <p:blipFill>
          <a:blip r:embed="rId1"/>
          <a:stretch>
            <a:fillRect/>
          </a:stretch>
        </p:blipFill>
        <p:spPr>
          <a:xfrm>
            <a:off x="1185138" y="2293441"/>
            <a:ext cx="2442010" cy="2442071"/>
          </a:xfrm>
          <a:prstGeom prst="rect">
            <a:avLst/>
          </a:prstGeom>
        </p:spPr>
      </p:pic>
      <p:sp>
        <p:nvSpPr>
          <p:cNvPr id="7" name="Text 4"/>
          <p:cNvSpPr/>
          <p:nvPr/>
        </p:nvSpPr>
        <p:spPr>
          <a:xfrm>
            <a:off x="661475" y="4936430"/>
            <a:ext cx="3489337" cy="254298"/>
          </a:xfrm>
          <a:prstGeom prst="rect">
            <a:avLst/>
          </a:prstGeom>
          <a:noFill/>
          <a:ln/>
        </p:spPr>
        <p:txBody>
          <a:bodyPr wrap="none" lIns="0" tIns="0" rIns="0" bIns="0" rtlCol="0" anchor="t"/>
          <a:lstStyle/>
          <a:p>
            <a:pPr algn="ctr" indent="0" marL="0">
              <a:lnSpc>
                <a:spcPct val="104000"/>
              </a:lnSpc>
              <a:buNone/>
            </a:pPr>
            <a:r>
              <a:rPr lang="en-US" sz="1600" b="1" dirty="0">
                <a:solidFill>
                  <a:srgbClr val="000000"/>
                </a:solidFill>
                <a:latin typeface="Montserrat Bold" pitchFamily="34" charset="0"/>
                <a:ea typeface="Montserrat Bold" pitchFamily="34" charset="-122"/>
                <a:cs typeface="Montserrat Bold" pitchFamily="34" charset="-120"/>
              </a:rPr>
              <a:t>Route chính xác</a:t>
            </a:r>
            <a:endParaRPr lang="en-US" sz="1600" dirty="0"/>
          </a:p>
        </p:txBody>
      </p:sp>
      <p:sp>
        <p:nvSpPr>
          <p:cNvPr id="8" name="Text 5"/>
          <p:cNvSpPr/>
          <p:nvPr/>
        </p:nvSpPr>
        <p:spPr>
          <a:xfrm>
            <a:off x="661475" y="5286871"/>
            <a:ext cx="3489337" cy="258465"/>
          </a:xfrm>
          <a:prstGeom prst="rect">
            <a:avLst/>
          </a:prstGeom>
          <a:noFill/>
          <a:ln/>
        </p:spPr>
        <p:txBody>
          <a:bodyPr wrap="none" lIns="0" tIns="0" rIns="0" bIns="0" rtlCol="0" anchor="t"/>
          <a:lstStyle/>
          <a:p>
            <a:pPr algn="ctr" indent="0" marL="0">
              <a:lnSpc>
                <a:spcPct val="132000"/>
              </a:lnSpc>
              <a:buNone/>
            </a:pPr>
            <a:r>
              <a:rPr lang="en-US" sz="1250" dirty="0">
                <a:solidFill>
                  <a:srgbClr val="000000"/>
                </a:solidFill>
                <a:latin typeface="Montserrat" pitchFamily="34" charset="0"/>
                <a:ea typeface="Montserrat" pitchFamily="34" charset="-122"/>
                <a:cs typeface="Montserrat" pitchFamily="34" charset="-120"/>
              </a:rPr>
              <a:t>Tất cả intent được phân đúng loại</a:t>
            </a:r>
            <a:endParaRPr lang="en-US" sz="1250" dirty="0"/>
          </a:p>
        </p:txBody>
      </p:sp>
      <p:sp>
        <p:nvSpPr>
          <p:cNvPr id="9" name="Text 6"/>
          <p:cNvSpPr/>
          <p:nvPr/>
        </p:nvSpPr>
        <p:spPr>
          <a:xfrm>
            <a:off x="5094557" y="3310930"/>
            <a:ext cx="2002383" cy="406995"/>
          </a:xfrm>
          <a:prstGeom prst="rect">
            <a:avLst/>
          </a:prstGeom>
          <a:noFill/>
          <a:ln/>
        </p:spPr>
        <p:txBody>
          <a:bodyPr wrap="none" lIns="0" tIns="0" rIns="0" bIns="0" rtlCol="0" anchor="t"/>
          <a:lstStyle/>
          <a:p>
            <a:pPr algn="ctr" indent="0" marL="0">
              <a:lnSpc>
                <a:spcPct val="83000"/>
              </a:lnSpc>
              <a:buNone/>
            </a:pPr>
            <a:r>
              <a:rPr lang="en-US" sz="3200" b="1" dirty="0">
                <a:solidFill>
                  <a:srgbClr val="000000"/>
                </a:solidFill>
                <a:latin typeface="Montserrat Bold" pitchFamily="34" charset="0"/>
                <a:ea typeface="Montserrat Bold" pitchFamily="34" charset="-122"/>
                <a:cs typeface="Montserrat Bold" pitchFamily="34" charset="-120"/>
              </a:rPr>
              <a:t>100%</a:t>
            </a:r>
            <a:endParaRPr lang="en-US" sz="3200" dirty="0"/>
          </a:p>
        </p:txBody>
      </p:sp>
      <p:pic>
        <p:nvPicPr>
          <p:cNvPr id="10" name="Image 1" descr="preencoded.png">    </p:cNvPr>
          <p:cNvPicPr>
            <a:picLocks noChangeAspect="1"/>
          </p:cNvPicPr>
          <p:nvPr/>
        </p:nvPicPr>
        <p:blipFill>
          <a:blip r:embed="rId2"/>
          <a:stretch>
            <a:fillRect/>
          </a:stretch>
        </p:blipFill>
        <p:spPr>
          <a:xfrm>
            <a:off x="4874793" y="2293441"/>
            <a:ext cx="2442010" cy="2442071"/>
          </a:xfrm>
          <a:prstGeom prst="rect">
            <a:avLst/>
          </a:prstGeom>
        </p:spPr>
      </p:pic>
      <p:sp>
        <p:nvSpPr>
          <p:cNvPr id="11" name="Text 7"/>
          <p:cNvSpPr/>
          <p:nvPr/>
        </p:nvSpPr>
        <p:spPr>
          <a:xfrm>
            <a:off x="4351129" y="4936430"/>
            <a:ext cx="3489337" cy="254298"/>
          </a:xfrm>
          <a:prstGeom prst="rect">
            <a:avLst/>
          </a:prstGeom>
          <a:noFill/>
          <a:ln/>
        </p:spPr>
        <p:txBody>
          <a:bodyPr wrap="none" lIns="0" tIns="0" rIns="0" bIns="0" rtlCol="0" anchor="t"/>
          <a:lstStyle/>
          <a:p>
            <a:pPr algn="ctr" indent="0" marL="0">
              <a:lnSpc>
                <a:spcPct val="104000"/>
              </a:lnSpc>
              <a:buNone/>
            </a:pPr>
            <a:r>
              <a:rPr lang="en-US" sz="1600" b="1" dirty="0">
                <a:solidFill>
                  <a:srgbClr val="000000"/>
                </a:solidFill>
                <a:latin typeface="Montserrat Bold" pitchFamily="34" charset="0"/>
                <a:ea typeface="Montserrat Bold" pitchFamily="34" charset="-122"/>
                <a:cs typeface="Montserrat Bold" pitchFamily="34" charset="-120"/>
              </a:rPr>
              <a:t>Guardrail hoạt động</a:t>
            </a:r>
            <a:endParaRPr lang="en-US" sz="1600" dirty="0"/>
          </a:p>
        </p:txBody>
      </p:sp>
      <p:sp>
        <p:nvSpPr>
          <p:cNvPr id="12" name="Text 8"/>
          <p:cNvSpPr/>
          <p:nvPr/>
        </p:nvSpPr>
        <p:spPr>
          <a:xfrm>
            <a:off x="4351129" y="5286871"/>
            <a:ext cx="3489337" cy="258465"/>
          </a:xfrm>
          <a:prstGeom prst="rect">
            <a:avLst/>
          </a:prstGeom>
          <a:noFill/>
          <a:ln/>
        </p:spPr>
        <p:txBody>
          <a:bodyPr wrap="none" lIns="0" tIns="0" rIns="0" bIns="0" rtlCol="0" anchor="t"/>
          <a:lstStyle/>
          <a:p>
            <a:pPr algn="ctr" indent="0" marL="0">
              <a:lnSpc>
                <a:spcPct val="132000"/>
              </a:lnSpc>
              <a:buNone/>
            </a:pPr>
            <a:r>
              <a:rPr lang="en-US" sz="1250" dirty="0">
                <a:solidFill>
                  <a:srgbClr val="000000"/>
                </a:solidFill>
                <a:latin typeface="Montserrat" pitchFamily="34" charset="0"/>
                <a:ea typeface="Montserrat" pitchFamily="34" charset="-122"/>
                <a:cs typeface="Montserrat" pitchFamily="34" charset="-120"/>
              </a:rPr>
              <a:t>Câu injection bị chặn trước LLM</a:t>
            </a:r>
            <a:endParaRPr lang="en-US" sz="1250" dirty="0"/>
          </a:p>
        </p:txBody>
      </p:sp>
      <p:sp>
        <p:nvSpPr>
          <p:cNvPr id="13" name="Text 9"/>
          <p:cNvSpPr/>
          <p:nvPr/>
        </p:nvSpPr>
        <p:spPr>
          <a:xfrm>
            <a:off x="8784211" y="3310930"/>
            <a:ext cx="2002383" cy="406995"/>
          </a:xfrm>
          <a:prstGeom prst="rect">
            <a:avLst/>
          </a:prstGeom>
          <a:noFill/>
          <a:ln/>
        </p:spPr>
        <p:txBody>
          <a:bodyPr wrap="none" lIns="0" tIns="0" rIns="0" bIns="0" rtlCol="0" anchor="t"/>
          <a:lstStyle/>
          <a:p>
            <a:pPr algn="ctr" indent="0" marL="0">
              <a:lnSpc>
                <a:spcPct val="83000"/>
              </a:lnSpc>
              <a:buNone/>
            </a:pPr>
            <a:r>
              <a:rPr lang="en-US" sz="3200" b="1" dirty="0">
                <a:solidFill>
                  <a:srgbClr val="000000"/>
                </a:solidFill>
                <a:latin typeface="Montserrat Bold" pitchFamily="34" charset="0"/>
                <a:ea typeface="Montserrat Bold" pitchFamily="34" charset="-122"/>
                <a:cs typeface="Montserrat Bold" pitchFamily="34" charset="-120"/>
              </a:rPr>
              <a:t>1/1</a:t>
            </a:r>
            <a:endParaRPr lang="en-US" sz="3200" dirty="0"/>
          </a:p>
        </p:txBody>
      </p:sp>
      <p:pic>
        <p:nvPicPr>
          <p:cNvPr id="14" name="Image 2" descr="preencoded.png">    </p:cNvPr>
          <p:cNvPicPr>
            <a:picLocks noChangeAspect="1"/>
          </p:cNvPicPr>
          <p:nvPr/>
        </p:nvPicPr>
        <p:blipFill>
          <a:blip r:embed="rId3"/>
          <a:stretch>
            <a:fillRect/>
          </a:stretch>
        </p:blipFill>
        <p:spPr>
          <a:xfrm>
            <a:off x="8564447" y="2293441"/>
            <a:ext cx="2442010" cy="2442071"/>
          </a:xfrm>
          <a:prstGeom prst="rect">
            <a:avLst/>
          </a:prstGeom>
        </p:spPr>
      </p:pic>
      <p:sp>
        <p:nvSpPr>
          <p:cNvPr id="15" name="Text 10"/>
          <p:cNvSpPr/>
          <p:nvPr/>
        </p:nvSpPr>
        <p:spPr>
          <a:xfrm>
            <a:off x="8040784" y="4936430"/>
            <a:ext cx="3489436" cy="254298"/>
          </a:xfrm>
          <a:prstGeom prst="rect">
            <a:avLst/>
          </a:prstGeom>
          <a:noFill/>
          <a:ln/>
        </p:spPr>
        <p:txBody>
          <a:bodyPr wrap="none" lIns="0" tIns="0" rIns="0" bIns="0" rtlCol="0" anchor="t"/>
          <a:lstStyle/>
          <a:p>
            <a:pPr algn="ctr" indent="0" marL="0">
              <a:lnSpc>
                <a:spcPct val="104000"/>
              </a:lnSpc>
              <a:buNone/>
            </a:pPr>
            <a:r>
              <a:rPr lang="en-US" sz="1600" b="1" dirty="0">
                <a:solidFill>
                  <a:srgbClr val="000000"/>
                </a:solidFill>
                <a:latin typeface="Montserrat Bold" pitchFamily="34" charset="0"/>
                <a:ea typeface="Montserrat Bold" pitchFamily="34" charset="-122"/>
                <a:cs typeface="Montserrat Bold" pitchFamily="34" charset="-120"/>
              </a:rPr>
              <a:t>Cache hit</a:t>
            </a:r>
            <a:endParaRPr lang="en-US" sz="1600" dirty="0"/>
          </a:p>
        </p:txBody>
      </p:sp>
      <p:sp>
        <p:nvSpPr>
          <p:cNvPr id="16" name="Text 11"/>
          <p:cNvSpPr/>
          <p:nvPr/>
        </p:nvSpPr>
        <p:spPr>
          <a:xfrm>
            <a:off x="8040784" y="5286871"/>
            <a:ext cx="3489436" cy="258465"/>
          </a:xfrm>
          <a:prstGeom prst="rect">
            <a:avLst/>
          </a:prstGeom>
          <a:noFill/>
          <a:ln/>
        </p:spPr>
        <p:txBody>
          <a:bodyPr wrap="none" lIns="0" tIns="0" rIns="0" bIns="0" rtlCol="0" anchor="t"/>
          <a:lstStyle/>
          <a:p>
            <a:pPr algn="ctr" indent="0" marL="0">
              <a:lnSpc>
                <a:spcPct val="132000"/>
              </a:lnSpc>
              <a:buNone/>
            </a:pPr>
            <a:r>
              <a:rPr lang="en-US" sz="1250" dirty="0">
                <a:solidFill>
                  <a:srgbClr val="000000"/>
                </a:solidFill>
                <a:latin typeface="Montserrat" pitchFamily="34" charset="0"/>
                <a:ea typeface="Montserrat" pitchFamily="34" charset="-122"/>
                <a:cs typeface="Montserrat" pitchFamily="34" charset="-120"/>
              </a:rPr>
              <a:t>Câu FAQ trả lời nhanh, không gọi LLM</a:t>
            </a:r>
            <a:endParaRPr lang="en-US" sz="1250" dirty="0"/>
          </a:p>
        </p:txBody>
      </p:sp>
      <p:sp>
        <p:nvSpPr>
          <p:cNvPr id="17" name="Shape 12"/>
          <p:cNvSpPr/>
          <p:nvPr/>
        </p:nvSpPr>
        <p:spPr>
          <a:xfrm>
            <a:off x="661475" y="5725616"/>
            <a:ext cx="10868745" cy="644227"/>
          </a:xfrm>
          <a:prstGeom prst="roundRect">
            <a:avLst>
              <a:gd name="adj" fmla="val 10614"/>
            </a:avLst>
          </a:prstGeom>
          <a:solidFill>
            <a:srgbClr val="B6FCB8"/>
          </a:solidFill>
          <a:ln/>
        </p:spPr>
      </p:sp>
      <p:pic>
        <p:nvPicPr>
          <p:cNvPr id="18" name="Image 3" descr="preencoded.png">    </p:cNvPr>
          <p:cNvPicPr>
            <a:picLocks noChangeAspect="1"/>
          </p:cNvPicPr>
          <p:nvPr/>
        </p:nvPicPr>
        <p:blipFill>
          <a:blip r:embed="rId4"/>
          <a:stretch>
            <a:fillRect/>
          </a:stretch>
        </p:blipFill>
        <p:spPr>
          <a:xfrm>
            <a:off x="824190" y="5958086"/>
            <a:ext cx="203493" cy="162719"/>
          </a:xfrm>
          <a:prstGeom prst="rect">
            <a:avLst/>
          </a:prstGeom>
        </p:spPr>
      </p:pic>
      <p:sp>
        <p:nvSpPr>
          <p:cNvPr id="19" name="Text 13"/>
          <p:cNvSpPr/>
          <p:nvPr/>
        </p:nvSpPr>
        <p:spPr>
          <a:xfrm>
            <a:off x="1190397" y="5926534"/>
            <a:ext cx="10786693" cy="258465"/>
          </a:xfrm>
          <a:prstGeom prst="rect">
            <a:avLst/>
          </a:prstGeom>
          <a:noFill/>
          <a:ln/>
        </p:spPr>
        <p:txBody>
          <a:bodyPr wrap="none" lIns="0" tIns="0" rIns="0" bIns="0" rtlCol="0" anchor="t"/>
          <a:lstStyle/>
          <a:p>
            <a:pPr algn="l" indent="0" marL="0">
              <a:lnSpc>
                <a:spcPct val="132000"/>
              </a:lnSpc>
              <a:buNone/>
            </a:pPr>
            <a:r>
              <a:rPr lang="en-US" sz="1250" dirty="0">
                <a:solidFill>
                  <a:srgbClr val="000000"/>
                </a:solidFill>
                <a:latin typeface="Montserrat" pitchFamily="34" charset="0"/>
                <a:ea typeface="Montserrat" pitchFamily="34" charset="-122"/>
                <a:cs typeface="Montserrat" pitchFamily="34" charset="-120"/>
              </a:rPr>
              <a:t>✅</a:t>
            </a:r>
            <a:pPr algn="l" indent="0" marL="0">
              <a:lnSpc>
                <a:spcPct val="132000"/>
              </a:lnSpc>
              <a:buNone/>
            </a:pPr>
            <a:r>
              <a:rPr lang="en-US" sz="1250" dirty="0">
                <a:solidFill>
                  <a:srgbClr val="000000"/>
                </a:solidFill>
                <a:latin typeface="Montserrat" pitchFamily="34" charset="0"/>
                <a:ea typeface="Montserrat" pitchFamily="34" charset="-122"/>
                <a:cs typeface="Montserrat" pitchFamily="34" charset="-120"/>
              </a:rPr>
              <a:t> Biên an toàn và đường nhanh đã hoạt động. Khi cache miss, bot mới chuyển sang LLM fallback ở thực hành 3.</a:t>
            </a:r>
            <a:endParaRPr lang="en-US" sz="12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61475" y="2597348"/>
            <a:ext cx="6296860" cy="713184"/>
          </a:xfrm>
          <a:prstGeom prst="rect">
            <a:avLst/>
          </a:prstGeom>
          <a:noFill/>
          <a:ln/>
        </p:spPr>
        <p:txBody>
          <a:bodyPr wrap="none" lIns="0" tIns="0" rIns="0" bIns="0" rtlCol="0" anchor="t"/>
          <a:lstStyle/>
          <a:p>
            <a:pPr algn="l" indent="0" marL="0">
              <a:lnSpc>
                <a:spcPct val="104000"/>
              </a:lnSpc>
              <a:buNone/>
            </a:pPr>
            <a:r>
              <a:rPr lang="en-US" sz="4450" b="1" dirty="0">
                <a:solidFill>
                  <a:srgbClr val="004AAD"/>
                </a:solidFill>
                <a:latin typeface="Montserrat Bold" pitchFamily="34" charset="0"/>
                <a:ea typeface="Montserrat Bold" pitchFamily="34" charset="-122"/>
                <a:cs typeface="Montserrat Bold" pitchFamily="34" charset="-120"/>
              </a:rPr>
              <a:t>Thực hành 3</a:t>
            </a:r>
            <a:endParaRPr lang="en-US" sz="4450" dirty="0"/>
          </a:p>
        </p:txBody>
      </p:sp>
      <p:sp>
        <p:nvSpPr>
          <p:cNvPr id="4" name="Text 1"/>
          <p:cNvSpPr/>
          <p:nvPr/>
        </p:nvSpPr>
        <p:spPr>
          <a:xfrm>
            <a:off x="661475" y="3558580"/>
            <a:ext cx="6906444" cy="264616"/>
          </a:xfrm>
          <a:prstGeom prst="rect">
            <a:avLst/>
          </a:prstGeom>
          <a:noFill/>
          <a:ln/>
        </p:spPr>
        <p:txBody>
          <a:bodyPr wrap="none" lIns="0" tIns="0" rIns="0" bIns="0" rtlCol="0" anchor="t"/>
          <a:lstStyle/>
          <a:p>
            <a:pPr algn="l" indent="0" marL="0">
              <a:lnSpc>
                <a:spcPct val="133000"/>
              </a:lnSpc>
              <a:buNone/>
            </a:pPr>
            <a:r>
              <a:rPr lang="en-US" sz="1300" b="1" dirty="0">
                <a:solidFill>
                  <a:srgbClr val="000000"/>
                </a:solidFill>
                <a:latin typeface="Montserrat Bold" pitchFamily="34" charset="0"/>
                <a:ea typeface="Montserrat Bold" pitchFamily="34" charset="-122"/>
                <a:cs typeface="Montserrat Bold" pitchFamily="34" charset="-120"/>
              </a:rPr>
              <a:t>LLM Fallback, LLM-as-Judge và HITL Ticket</a:t>
            </a:r>
            <a:endParaRPr lang="en-US" sz="1300" dirty="0"/>
          </a:p>
        </p:txBody>
      </p:sp>
      <p:sp>
        <p:nvSpPr>
          <p:cNvPr id="5" name="Shape 2"/>
          <p:cNvSpPr/>
          <p:nvPr/>
        </p:nvSpPr>
        <p:spPr>
          <a:xfrm>
            <a:off x="661475" y="4009231"/>
            <a:ext cx="580217" cy="251420"/>
          </a:xfrm>
          <a:prstGeom prst="roundRect">
            <a:avLst>
              <a:gd name="adj" fmla="val 22103"/>
            </a:avLst>
          </a:prstGeom>
          <a:solidFill>
            <a:srgbClr val="CCE2FF"/>
          </a:solidFill>
          <a:ln/>
        </p:spPr>
      </p:sp>
      <p:sp>
        <p:nvSpPr>
          <p:cNvPr id="6" name="Text 3"/>
          <p:cNvSpPr/>
          <p:nvPr/>
        </p:nvSpPr>
        <p:spPr>
          <a:xfrm>
            <a:off x="760691" y="4058841"/>
            <a:ext cx="991369" cy="152202"/>
          </a:xfrm>
          <a:prstGeom prst="rect">
            <a:avLst/>
          </a:prstGeom>
          <a:noFill/>
          <a:ln/>
        </p:spPr>
        <p:txBody>
          <a:bodyPr wrap="none" lIns="0" tIns="0" rIns="0" bIns="0" rtlCol="0" anchor="t"/>
          <a:lstStyle/>
          <a:p>
            <a:pPr algn="l" indent="0" marL="0">
              <a:lnSpc>
                <a:spcPct val="96000"/>
              </a:lnSpc>
              <a:buNone/>
            </a:pPr>
            <a:r>
              <a:rPr lang="en-US" sz="1000" dirty="0">
                <a:solidFill>
                  <a:srgbClr val="000000"/>
                </a:solidFill>
                <a:latin typeface="Montserrat" pitchFamily="34" charset="0"/>
                <a:ea typeface="Montserrat" pitchFamily="34" charset="-122"/>
                <a:cs typeface="Montserrat" pitchFamily="34" charset="-120"/>
              </a:rPr>
              <a:t>LAB 3</a:t>
            </a:r>
            <a:endParaRPr lang="en-US" sz="1000" dirty="0"/>
          </a:p>
        </p:txBody>
      </p:sp>
      <p:sp>
        <p:nvSpPr>
          <p:cNvPr id="7" name="Shape 4"/>
          <p:cNvSpPr/>
          <p:nvPr/>
        </p:nvSpPr>
        <p:spPr>
          <a:xfrm>
            <a:off x="1324339" y="4009231"/>
            <a:ext cx="1504912" cy="251420"/>
          </a:xfrm>
          <a:prstGeom prst="roundRect">
            <a:avLst>
              <a:gd name="adj" fmla="val 22103"/>
            </a:avLst>
          </a:prstGeom>
          <a:noFill/>
          <a:ln w="6350">
            <a:solidFill>
              <a:srgbClr val="004AAD"/>
            </a:solidFill>
            <a:prstDash val="solid"/>
          </a:ln>
        </p:spPr>
      </p:sp>
      <p:sp>
        <p:nvSpPr>
          <p:cNvPr id="8" name="Text 5"/>
          <p:cNvSpPr/>
          <p:nvPr/>
        </p:nvSpPr>
        <p:spPr>
          <a:xfrm>
            <a:off x="1423555" y="4058841"/>
            <a:ext cx="1916065" cy="152202"/>
          </a:xfrm>
          <a:prstGeom prst="rect">
            <a:avLst/>
          </a:prstGeom>
          <a:noFill/>
          <a:ln/>
        </p:spPr>
        <p:txBody>
          <a:bodyPr wrap="none" lIns="0" tIns="0" rIns="0" bIns="0" rtlCol="0" anchor="t"/>
          <a:lstStyle/>
          <a:p>
            <a:pPr algn="l" indent="0" marL="0">
              <a:lnSpc>
                <a:spcPct val="96000"/>
              </a:lnSpc>
              <a:buNone/>
            </a:pPr>
            <a:r>
              <a:rPr lang="en-US" sz="1000" dirty="0">
                <a:solidFill>
                  <a:srgbClr val="004AAD"/>
                </a:solidFill>
                <a:latin typeface="Montserrat" pitchFamily="34" charset="0"/>
                <a:ea typeface="Montserrat" pitchFamily="34" charset="-122"/>
                <a:cs typeface="Montserrat" pitchFamily="34" charset="-120"/>
              </a:rPr>
              <a:t>KIỂM SOÁT ĐẦU RA</a:t>
            </a:r>
            <a:endParaRPr lang="en-US" sz="1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661475" y="1886744"/>
            <a:ext cx="10868745" cy="516731"/>
          </a:xfrm>
          <a:prstGeom prst="rect">
            <a:avLst/>
          </a:prstGeom>
          <a:noFill/>
          <a:ln/>
        </p:spPr>
        <p:txBody>
          <a:bodyPr wrap="none" lIns="0" tIns="0" rIns="0" bIns="0" rtlCol="0" anchor="t"/>
          <a:lstStyle/>
          <a:p>
            <a:pPr algn="l" indent="0" marL="0">
              <a:lnSpc>
                <a:spcPct val="104000"/>
              </a:lnSpc>
              <a:buNone/>
            </a:pPr>
            <a:r>
              <a:rPr lang="en-US" sz="3250" b="1" dirty="0">
                <a:solidFill>
                  <a:srgbClr val="004AAD"/>
                </a:solidFill>
                <a:latin typeface="Montserrat Bold" pitchFamily="34" charset="0"/>
                <a:ea typeface="Montserrat Bold" pitchFamily="34" charset="-122"/>
                <a:cs typeface="Montserrat Bold" pitchFamily="34" charset="-120"/>
              </a:rPr>
              <a:t>Tách hai vai: một trả lời, một chấm điểm</a:t>
            </a:r>
            <a:endParaRPr lang="en-US" sz="3250" dirty="0"/>
          </a:p>
        </p:txBody>
      </p:sp>
      <p:sp>
        <p:nvSpPr>
          <p:cNvPr id="3" name="Text 1"/>
          <p:cNvSpPr/>
          <p:nvPr/>
        </p:nvSpPr>
        <p:spPr>
          <a:xfrm>
            <a:off x="661475" y="2469555"/>
            <a:ext cx="10868745" cy="258465"/>
          </a:xfrm>
          <a:prstGeom prst="rect">
            <a:avLst/>
          </a:prstGeom>
          <a:noFill/>
          <a:ln/>
        </p:spPr>
        <p:txBody>
          <a:bodyPr wrap="none" lIns="0" tIns="0" rIns="0" bIns="0" rtlCol="0" anchor="t"/>
          <a:lstStyle/>
          <a:p>
            <a:pPr algn="l" indent="0" marL="0">
              <a:lnSpc>
                <a:spcPct val="104000"/>
              </a:lnSpc>
              <a:buNone/>
            </a:pPr>
            <a:r>
              <a:rPr lang="en-US" sz="1600" b="1" dirty="0">
                <a:solidFill>
                  <a:srgbClr val="004AAD"/>
                </a:solidFill>
                <a:latin typeface="Montserrat Bold" pitchFamily="34" charset="0"/>
                <a:ea typeface="Montserrat Bold" pitchFamily="34" charset="-122"/>
                <a:cs typeface="Montserrat Bold" pitchFamily="34" charset="-120"/>
              </a:rPr>
              <a:t>JIT: LLM-as-Judge và HITL</a:t>
            </a:r>
            <a:endParaRPr lang="en-US" sz="1600" dirty="0"/>
          </a:p>
        </p:txBody>
      </p:sp>
      <p:sp>
        <p:nvSpPr>
          <p:cNvPr id="4" name="Shape 2"/>
          <p:cNvSpPr/>
          <p:nvPr/>
        </p:nvSpPr>
        <p:spPr>
          <a:xfrm>
            <a:off x="542415" y="2976066"/>
            <a:ext cx="5470785" cy="1273473"/>
          </a:xfrm>
          <a:prstGeom prst="roundRect">
            <a:avLst>
              <a:gd name="adj" fmla="val 9351"/>
            </a:avLst>
          </a:prstGeom>
          <a:solidFill>
            <a:srgbClr val="004AAD"/>
          </a:solidFill>
          <a:ln/>
        </p:spPr>
      </p:sp>
      <p:sp>
        <p:nvSpPr>
          <p:cNvPr id="5" name="Text 3"/>
          <p:cNvSpPr/>
          <p:nvPr/>
        </p:nvSpPr>
        <p:spPr>
          <a:xfrm>
            <a:off x="707710" y="3141365"/>
            <a:ext cx="5140196" cy="258465"/>
          </a:xfrm>
          <a:prstGeom prst="rect">
            <a:avLst/>
          </a:prstGeom>
          <a:noFill/>
          <a:ln/>
        </p:spPr>
        <p:txBody>
          <a:bodyPr wrap="none" lIns="0" tIns="0" rIns="0" bIns="0" rtlCol="0" anchor="t"/>
          <a:lstStyle/>
          <a:p>
            <a:pPr algn="l" indent="0" marL="0">
              <a:lnSpc>
                <a:spcPct val="104000"/>
              </a:lnSpc>
              <a:buNone/>
            </a:pPr>
            <a:r>
              <a:rPr lang="en-US" sz="1600" b="1" dirty="0">
                <a:solidFill>
                  <a:srgbClr val="FFFFFF"/>
                </a:solidFill>
                <a:latin typeface="Montserrat Bold" pitchFamily="34" charset="0"/>
                <a:ea typeface="Montserrat Bold" pitchFamily="34" charset="-122"/>
                <a:cs typeface="Montserrat Bold" pitchFamily="34" charset="-120"/>
              </a:rPr>
              <a:t>LLM Trả lời (khi cache miss)</a:t>
            </a:r>
            <a:endParaRPr lang="en-US" sz="1600" dirty="0"/>
          </a:p>
        </p:txBody>
      </p:sp>
      <p:sp>
        <p:nvSpPr>
          <p:cNvPr id="6" name="Text 4"/>
          <p:cNvSpPr/>
          <p:nvPr/>
        </p:nvSpPr>
        <p:spPr>
          <a:xfrm>
            <a:off x="707710" y="3565128"/>
            <a:ext cx="5140196" cy="529233"/>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FFFFFF"/>
                </a:solidFill>
                <a:latin typeface="Montserrat" pitchFamily="34" charset="0"/>
                <a:ea typeface="Montserrat" pitchFamily="34" charset="-122"/>
                <a:cs typeface="Montserrat" pitchFamily="34" charset="-120"/>
              </a:rPr>
              <a:t>Dựa vào top FAQ và chính sách, LLM trả lời </a:t>
            </a:r>
            <a:pPr algn="l" indent="0" marL="0">
              <a:lnSpc>
                <a:spcPct val="133000"/>
              </a:lnSpc>
              <a:buNone/>
            </a:pPr>
            <a:r>
              <a:rPr lang="en-US" sz="1300" b="1" dirty="0">
                <a:solidFill>
                  <a:srgbClr val="FFFFFF"/>
                </a:solidFill>
                <a:latin typeface="Montserrat Bold" pitchFamily="34" charset="0"/>
                <a:ea typeface="Montserrat Bold" pitchFamily="34" charset="-122"/>
                <a:cs typeface="Montserrat Bold" pitchFamily="34" charset="-120"/>
              </a:rPr>
              <a:t>có nguồn</a:t>
            </a:r>
            <a:pPr algn="l" indent="0" marL="0">
              <a:lnSpc>
                <a:spcPct val="133000"/>
              </a:lnSpc>
              <a:buNone/>
            </a:pPr>
            <a:r>
              <a:rPr lang="en-US" sz="1300" dirty="0">
                <a:solidFill>
                  <a:srgbClr val="FFFFFF"/>
                </a:solidFill>
                <a:latin typeface="Montserrat" pitchFamily="34" charset="0"/>
                <a:ea typeface="Montserrat" pitchFamily="34" charset="-122"/>
                <a:cs typeface="Montserrat" pitchFamily="34" charset="-120"/>
              </a:rPr>
              <a:t> — không được phép sáng tạo thông tin ngoài tài liệu.</a:t>
            </a:r>
            <a:endParaRPr lang="en-US" sz="1300" dirty="0"/>
          </a:p>
        </p:txBody>
      </p:sp>
      <p:sp>
        <p:nvSpPr>
          <p:cNvPr id="7" name="Text 5"/>
          <p:cNvSpPr/>
          <p:nvPr/>
        </p:nvSpPr>
        <p:spPr>
          <a:xfrm>
            <a:off x="6303904" y="3141365"/>
            <a:ext cx="5232666" cy="258465"/>
          </a:xfrm>
          <a:prstGeom prst="rect">
            <a:avLst/>
          </a:prstGeom>
          <a:noFill/>
          <a:ln/>
        </p:spPr>
        <p:txBody>
          <a:bodyPr wrap="none" lIns="0" tIns="0" rIns="0" bIns="0" rtlCol="0" anchor="t"/>
          <a:lstStyle/>
          <a:p>
            <a:pPr algn="l" indent="0" marL="0">
              <a:lnSpc>
                <a:spcPct val="104000"/>
              </a:lnSpc>
              <a:buNone/>
            </a:pPr>
            <a:r>
              <a:rPr lang="en-US" sz="1600" b="1" dirty="0">
                <a:solidFill>
                  <a:srgbClr val="004AAD"/>
                </a:solidFill>
                <a:latin typeface="Montserrat Bold" pitchFamily="34" charset="0"/>
                <a:ea typeface="Montserrat Bold" pitchFamily="34" charset="-122"/>
                <a:cs typeface="Montserrat Bold" pitchFamily="34" charset="-120"/>
              </a:rPr>
              <a:t>LLM-as-Judge (độc lập)</a:t>
            </a:r>
            <a:endParaRPr lang="en-US" sz="1600" dirty="0"/>
          </a:p>
        </p:txBody>
      </p:sp>
      <p:sp>
        <p:nvSpPr>
          <p:cNvPr id="8" name="Text 6"/>
          <p:cNvSpPr/>
          <p:nvPr/>
        </p:nvSpPr>
        <p:spPr>
          <a:xfrm>
            <a:off x="6303904" y="3565128"/>
            <a:ext cx="5232666" cy="535583"/>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000000"/>
                </a:solidFill>
                <a:latin typeface="Montserrat" pitchFamily="34" charset="0"/>
                <a:ea typeface="Montserrat" pitchFamily="34" charset="-122"/>
                <a:cs typeface="Montserrat" pitchFamily="34" charset="-120"/>
              </a:rPr>
              <a:t>LLM thứ hai chấm cặp </a:t>
            </a:r>
            <a:pPr algn="l" indent="0" marL="0">
              <a:lnSpc>
                <a:spcPct val="133000"/>
              </a:lnSpc>
              <a:buNone/>
            </a:pPr>
            <a:r>
              <a:rPr lang="en-US" sz="1300" dirty="0">
                <a:solidFill>
                  <a:srgbClr val="000000"/>
                </a:solidFill>
                <a:highlight>
                  <a:srgbClr val="F2F2F2"/>
                </a:highlight>
                <a:latin typeface="Consolas" pitchFamily="34" charset="0"/>
                <a:ea typeface="Consolas" pitchFamily="34" charset="-122"/>
                <a:cs typeface="Consolas" pitchFamily="34" charset="-120"/>
              </a:rPr>
              <a:t>(confidence, reason)</a:t>
            </a:r>
            <a:pPr algn="l" indent="0" marL="0">
              <a:lnSpc>
                <a:spcPct val="133000"/>
              </a:lnSpc>
              <a:buNone/>
            </a:pPr>
            <a:r>
              <a:rPr lang="en-US" sz="1300" dirty="0">
                <a:solidFill>
                  <a:srgbClr val="000000"/>
                </a:solidFill>
                <a:latin typeface="Montserrat" pitchFamily="34" charset="0"/>
                <a:ea typeface="Montserrat" pitchFamily="34" charset="-122"/>
                <a:cs typeface="Montserrat" pitchFamily="34" charset="-120"/>
              </a:rPr>
              <a:t> hoàn toàn độc lập. Tránh model vừa tự trả lời vừa tự tin vào chính mình.</a:t>
            </a:r>
            <a:endParaRPr lang="en-US" sz="1300" dirty="0"/>
          </a:p>
        </p:txBody>
      </p:sp>
      <p:sp>
        <p:nvSpPr>
          <p:cNvPr id="9" name="Text 7"/>
          <p:cNvSpPr/>
          <p:nvPr/>
        </p:nvSpPr>
        <p:spPr>
          <a:xfrm>
            <a:off x="661475" y="4435574"/>
            <a:ext cx="10868745" cy="535583"/>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000000"/>
                </a:solidFill>
                <a:latin typeface="Montserrat" pitchFamily="34" charset="0"/>
                <a:ea typeface="Montserrat" pitchFamily="34" charset="-122"/>
                <a:cs typeface="Montserrat" pitchFamily="34" charset="-120"/>
              </a:rPr>
              <a:t>Nếu </a:t>
            </a:r>
            <a:pPr algn="l" indent="0" marL="0">
              <a:lnSpc>
                <a:spcPct val="133000"/>
              </a:lnSpc>
              <a:buNone/>
            </a:pPr>
            <a:r>
              <a:rPr lang="en-US" sz="1300" dirty="0">
                <a:solidFill>
                  <a:srgbClr val="000000"/>
                </a:solidFill>
                <a:highlight>
                  <a:srgbClr val="F2F2F2"/>
                </a:highlight>
                <a:latin typeface="Consolas" pitchFamily="34" charset="0"/>
                <a:ea typeface="Consolas" pitchFamily="34" charset="-122"/>
                <a:cs typeface="Consolas" pitchFamily="34" charset="-120"/>
              </a:rPr>
              <a:t>confidence &lt; 0.7</a:t>
            </a:r>
            <a:pPr algn="l" indent="0" marL="0">
              <a:lnSpc>
                <a:spcPct val="133000"/>
              </a:lnSpc>
              <a:buNone/>
            </a:pPr>
            <a:r>
              <a:rPr lang="en-US" sz="1300" dirty="0">
                <a:solidFill>
                  <a:srgbClr val="000000"/>
                </a:solidFill>
                <a:latin typeface="Montserrat" pitchFamily="34" charset="0"/>
                <a:ea typeface="Montserrat" pitchFamily="34" charset="-122"/>
                <a:cs typeface="Montserrat" pitchFamily="34" charset="-120"/>
              </a:rPr>
              <a:t> hoặc case nhạy cảm (khiếu nại, hoàn tiền, ngoài phạm vi), IF node chuyển sang tạo </a:t>
            </a:r>
            <a:pPr algn="l" indent="0" marL="0">
              <a:lnSpc>
                <a:spcPct val="133000"/>
              </a:lnSpc>
              <a:buNone/>
            </a:pPr>
            <a:r>
              <a:rPr lang="en-US" sz="1300" b="1" dirty="0">
                <a:solidFill>
                  <a:srgbClr val="000000"/>
                </a:solidFill>
                <a:latin typeface="Montserrat Bold" pitchFamily="34" charset="0"/>
                <a:ea typeface="Montserrat Bold" pitchFamily="34" charset="-122"/>
                <a:cs typeface="Montserrat Bold" pitchFamily="34" charset="-120"/>
              </a:rPr>
              <a:t>ticket HITL</a:t>
            </a:r>
            <a:pPr algn="l" indent="0" marL="0">
              <a:lnSpc>
                <a:spcPct val="133000"/>
              </a:lnSpc>
              <a:buNone/>
            </a:pPr>
            <a:r>
              <a:rPr lang="en-US" sz="1300" dirty="0">
                <a:solidFill>
                  <a:srgbClr val="000000"/>
                </a:solidFill>
                <a:latin typeface="Montserrat" pitchFamily="34" charset="0"/>
                <a:ea typeface="Montserrat" pitchFamily="34" charset="-122"/>
                <a:cs typeface="Montserrat" pitchFamily="34" charset="-120"/>
              </a:rPr>
              <a:t> thay vì tự trả lời — người có thẩm quyền sẽ xử lý tiếp.</a:t>
            </a:r>
            <a:endParaRPr lang="en-US" sz="13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661475" y="484485"/>
            <a:ext cx="10868745" cy="516731"/>
          </a:xfrm>
          <a:prstGeom prst="rect">
            <a:avLst/>
          </a:prstGeom>
          <a:noFill/>
          <a:ln/>
        </p:spPr>
        <p:txBody>
          <a:bodyPr wrap="none" lIns="0" tIns="0" rIns="0" bIns="0" rtlCol="0" anchor="t"/>
          <a:lstStyle/>
          <a:p>
            <a:pPr algn="l" indent="0" marL="0">
              <a:lnSpc>
                <a:spcPct val="104000"/>
              </a:lnSpc>
              <a:buNone/>
            </a:pPr>
            <a:r>
              <a:rPr lang="en-US" sz="3250" b="1" dirty="0">
                <a:solidFill>
                  <a:srgbClr val="004AAD"/>
                </a:solidFill>
                <a:latin typeface="Montserrat Bold" pitchFamily="34" charset="0"/>
                <a:ea typeface="Montserrat Bold" pitchFamily="34" charset="-122"/>
                <a:cs typeface="Montserrat Bold" pitchFamily="34" charset="-120"/>
              </a:rPr>
              <a:t>Thực hành 3: LLM Fallback và HITL ticket</a:t>
            </a:r>
            <a:endParaRPr lang="en-US" sz="3250" dirty="0"/>
          </a:p>
        </p:txBody>
      </p:sp>
      <p:sp>
        <p:nvSpPr>
          <p:cNvPr id="3" name="Text 1"/>
          <p:cNvSpPr/>
          <p:nvPr/>
        </p:nvSpPr>
        <p:spPr>
          <a:xfrm>
            <a:off x="661475" y="1067296"/>
            <a:ext cx="10868745" cy="258465"/>
          </a:xfrm>
          <a:prstGeom prst="rect">
            <a:avLst/>
          </a:prstGeom>
          <a:noFill/>
          <a:ln/>
        </p:spPr>
        <p:txBody>
          <a:bodyPr wrap="none" lIns="0" tIns="0" rIns="0" bIns="0" rtlCol="0" anchor="t"/>
          <a:lstStyle/>
          <a:p>
            <a:pPr algn="l" indent="0" marL="0">
              <a:lnSpc>
                <a:spcPct val="104000"/>
              </a:lnSpc>
              <a:buNone/>
            </a:pPr>
            <a:r>
              <a:rPr lang="en-US" sz="1600" b="1" dirty="0">
                <a:solidFill>
                  <a:srgbClr val="004AAD"/>
                </a:solidFill>
                <a:latin typeface="Montserrat Bold" pitchFamily="34" charset="0"/>
                <a:ea typeface="Montserrat Bold" pitchFamily="34" charset="-122"/>
                <a:cs typeface="Montserrat Bold" pitchFamily="34" charset="-120"/>
              </a:rPr>
              <a:t>Lab · 20 phút</a:t>
            </a:r>
            <a:endParaRPr lang="en-US" sz="1600" dirty="0"/>
          </a:p>
        </p:txBody>
      </p:sp>
      <p:sp>
        <p:nvSpPr>
          <p:cNvPr id="4" name="Shape 2"/>
          <p:cNvSpPr/>
          <p:nvPr/>
        </p:nvSpPr>
        <p:spPr>
          <a:xfrm>
            <a:off x="661475" y="1573808"/>
            <a:ext cx="10868745" cy="925909"/>
          </a:xfrm>
          <a:prstGeom prst="roundRect">
            <a:avLst>
              <a:gd name="adj" fmla="val 7502"/>
            </a:avLst>
          </a:prstGeom>
          <a:solidFill>
            <a:srgbClr val="CCE2FF"/>
          </a:solidFill>
          <a:ln/>
        </p:spPr>
      </p:sp>
      <p:pic>
        <p:nvPicPr>
          <p:cNvPr id="5" name="Image 0" descr="preencoded.png">    </p:cNvPr>
          <p:cNvPicPr>
            <a:picLocks noChangeAspect="1"/>
          </p:cNvPicPr>
          <p:nvPr/>
        </p:nvPicPr>
        <p:blipFill>
          <a:blip r:embed="rId1"/>
          <a:stretch>
            <a:fillRect/>
          </a:stretch>
        </p:blipFill>
        <p:spPr>
          <a:xfrm>
            <a:off x="826769" y="1813520"/>
            <a:ext cx="206667" cy="165298"/>
          </a:xfrm>
          <a:prstGeom prst="rect">
            <a:avLst/>
          </a:prstGeom>
        </p:spPr>
      </p:pic>
      <p:sp>
        <p:nvSpPr>
          <p:cNvPr id="6" name="Text 3"/>
          <p:cNvSpPr/>
          <p:nvPr/>
        </p:nvSpPr>
        <p:spPr>
          <a:xfrm>
            <a:off x="1198731" y="1780381"/>
            <a:ext cx="10166195" cy="529233"/>
          </a:xfrm>
          <a:prstGeom prst="rect">
            <a:avLst/>
          </a:prstGeom>
          <a:noFill/>
          <a:ln/>
        </p:spPr>
        <p:txBody>
          <a:bodyPr wrap="square" lIns="0" tIns="0" rIns="0" bIns="0" rtlCol="0" anchor="t">
            <a:normAutofit/>
          </a:bodyPr>
          <a:lstStyle/>
          <a:p>
            <a:pPr algn="l" indent="0" marL="0">
              <a:lnSpc>
                <a:spcPct val="133000"/>
              </a:lnSpc>
              <a:buNone/>
            </a:pPr>
            <a:r>
              <a:rPr lang="en-US" sz="1300" b="1" dirty="0">
                <a:solidFill>
                  <a:srgbClr val="000000"/>
                </a:solidFill>
                <a:latin typeface="Montserrat Bold" pitchFamily="34" charset="0"/>
                <a:ea typeface="Montserrat Bold" pitchFamily="34" charset="-122"/>
                <a:cs typeface="Montserrat Bold" pitchFamily="34" charset="-120"/>
              </a:rPr>
              <a:t>Mục tiêu:</a:t>
            </a:r>
            <a:pPr algn="l" indent="0" marL="0">
              <a:lnSpc>
                <a:spcPct val="133000"/>
              </a:lnSpc>
              <a:buNone/>
            </a:pPr>
            <a:r>
              <a:rPr lang="en-US" sz="1300" dirty="0">
                <a:solidFill>
                  <a:srgbClr val="000000"/>
                </a:solidFill>
                <a:latin typeface="Montserrat" pitchFamily="34" charset="0"/>
                <a:ea typeface="Montserrat" pitchFamily="34" charset="-122"/>
                <a:cs typeface="Montserrat" pitchFamily="34" charset="-120"/>
              </a:rPr>
              <a:t> LLM chỉ chạy khi cache miss, judge có confidence và reason, đúng 2 case chuyển người (TC2 hoàn tiền, TC4 ngoài scope).</a:t>
            </a:r>
            <a:endParaRPr lang="en-US" sz="1300" dirty="0"/>
          </a:p>
        </p:txBody>
      </p:sp>
      <p:pic>
        <p:nvPicPr>
          <p:cNvPr id="7"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61475" y="2685752"/>
            <a:ext cx="5351725" cy="1764407"/>
          </a:xfrm>
          <a:prstGeom prst="rect">
            <a:avLst/>
          </a:prstGeom>
        </p:spPr>
      </p:pic>
      <p:sp>
        <p:nvSpPr>
          <p:cNvPr id="8" name="Text 4"/>
          <p:cNvSpPr/>
          <p:nvPr/>
        </p:nvSpPr>
        <p:spPr>
          <a:xfrm>
            <a:off x="3213317" y="2794595"/>
            <a:ext cx="248041" cy="310059"/>
          </a:xfrm>
          <a:prstGeom prst="rect">
            <a:avLst/>
          </a:prstGeom>
          <a:noFill/>
          <a:ln/>
        </p:spPr>
        <p:txBody>
          <a:bodyPr wrap="none" lIns="0" tIns="0" rIns="0" bIns="0" rtlCol="0" anchor="ctr"/>
          <a:lstStyle/>
          <a:p>
            <a:pPr algn="ctr" indent="0" marL="0">
              <a:lnSpc>
                <a:spcPct val="100000"/>
              </a:lnSpc>
              <a:buNone/>
            </a:pPr>
            <a:r>
              <a:rPr lang="en-US" sz="1950" b="1" dirty="0">
                <a:solidFill>
                  <a:srgbClr val="000000"/>
                </a:solidFill>
                <a:latin typeface="Montserrat Bold" pitchFamily="34" charset="0"/>
                <a:ea typeface="Montserrat Bold" pitchFamily="34" charset="-122"/>
                <a:cs typeface="Montserrat Bold" pitchFamily="34" charset="-120"/>
              </a:rPr>
              <a:t>1</a:t>
            </a:r>
            <a:endParaRPr lang="en-US" sz="1950" dirty="0"/>
          </a:p>
        </p:txBody>
      </p:sp>
      <p:sp>
        <p:nvSpPr>
          <p:cNvPr id="9" name="Text 5"/>
          <p:cNvSpPr/>
          <p:nvPr/>
        </p:nvSpPr>
        <p:spPr>
          <a:xfrm>
            <a:off x="845819" y="3366195"/>
            <a:ext cx="4983038" cy="258465"/>
          </a:xfrm>
          <a:prstGeom prst="rect">
            <a:avLst/>
          </a:prstGeom>
          <a:noFill/>
          <a:ln/>
        </p:spPr>
        <p:txBody>
          <a:bodyPr wrap="none" lIns="0" tIns="0" rIns="0" bIns="0" rtlCol="0" anchor="t"/>
          <a:lstStyle/>
          <a:p>
            <a:pPr algn="l" indent="0" marL="0">
              <a:lnSpc>
                <a:spcPct val="104000"/>
              </a:lnSpc>
              <a:buNone/>
            </a:pPr>
            <a:r>
              <a:rPr lang="en-US" sz="1600" b="1" dirty="0">
                <a:solidFill>
                  <a:srgbClr val="000000"/>
                </a:solidFill>
                <a:latin typeface="Montserrat Bold" pitchFamily="34" charset="0"/>
                <a:ea typeface="Montserrat Bold" pitchFamily="34" charset="-122"/>
                <a:cs typeface="Montserrat Bold" pitchFamily="34" charset="-120"/>
              </a:rPr>
              <a:t>Gửi cache miss case</a:t>
            </a:r>
            <a:endParaRPr lang="en-US" sz="1600" dirty="0"/>
          </a:p>
        </p:txBody>
      </p:sp>
      <p:sp>
        <p:nvSpPr>
          <p:cNvPr id="10" name="Text 6"/>
          <p:cNvSpPr/>
          <p:nvPr/>
        </p:nvSpPr>
        <p:spPr>
          <a:xfrm>
            <a:off x="845819" y="3723878"/>
            <a:ext cx="4983038" cy="529233"/>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000000"/>
                </a:solidFill>
                <a:latin typeface="Montserrat" pitchFamily="34" charset="0"/>
                <a:ea typeface="Montserrat" pitchFamily="34" charset="-122"/>
                <a:cs typeface="Montserrat" pitchFamily="34" charset="-120"/>
              </a:rPr>
              <a:t>Chạy Cell Step 4 và Step 5 gửi các case cache miss để kích hoạt LLM fallback.</a:t>
            </a:r>
            <a:endParaRPr lang="en-US" sz="1300" dirty="0"/>
          </a:p>
        </p:txBody>
      </p:sp>
      <p:pic>
        <p:nvPicPr>
          <p:cNvPr id="11" name="Image 2" descr="preencoded.pn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178495" y="2685752"/>
            <a:ext cx="5351725" cy="1764407"/>
          </a:xfrm>
          <a:prstGeom prst="rect">
            <a:avLst/>
          </a:prstGeom>
        </p:spPr>
      </p:pic>
      <p:sp>
        <p:nvSpPr>
          <p:cNvPr id="12" name="Text 7"/>
          <p:cNvSpPr/>
          <p:nvPr/>
        </p:nvSpPr>
        <p:spPr>
          <a:xfrm>
            <a:off x="8730337" y="2794595"/>
            <a:ext cx="248041" cy="310059"/>
          </a:xfrm>
          <a:prstGeom prst="rect">
            <a:avLst/>
          </a:prstGeom>
          <a:noFill/>
          <a:ln/>
        </p:spPr>
        <p:txBody>
          <a:bodyPr wrap="none" lIns="0" tIns="0" rIns="0" bIns="0" rtlCol="0" anchor="ctr"/>
          <a:lstStyle/>
          <a:p>
            <a:pPr algn="ctr" indent="0" marL="0">
              <a:lnSpc>
                <a:spcPct val="100000"/>
              </a:lnSpc>
              <a:buNone/>
            </a:pPr>
            <a:r>
              <a:rPr lang="en-US" sz="1950" b="1" dirty="0">
                <a:solidFill>
                  <a:srgbClr val="000000"/>
                </a:solidFill>
                <a:latin typeface="Montserrat Bold" pitchFamily="34" charset="0"/>
                <a:ea typeface="Montserrat Bold" pitchFamily="34" charset="-122"/>
                <a:cs typeface="Montserrat Bold" pitchFamily="34" charset="-120"/>
              </a:rPr>
              <a:t>2</a:t>
            </a:r>
            <a:endParaRPr lang="en-US" sz="1950" dirty="0"/>
          </a:p>
        </p:txBody>
      </p:sp>
      <p:sp>
        <p:nvSpPr>
          <p:cNvPr id="13" name="Text 8"/>
          <p:cNvSpPr/>
          <p:nvPr/>
        </p:nvSpPr>
        <p:spPr>
          <a:xfrm>
            <a:off x="6362838" y="3366195"/>
            <a:ext cx="4983038" cy="258465"/>
          </a:xfrm>
          <a:prstGeom prst="rect">
            <a:avLst/>
          </a:prstGeom>
          <a:noFill/>
          <a:ln/>
        </p:spPr>
        <p:txBody>
          <a:bodyPr wrap="none" lIns="0" tIns="0" rIns="0" bIns="0" rtlCol="0" anchor="t"/>
          <a:lstStyle/>
          <a:p>
            <a:pPr algn="l" indent="0" marL="0">
              <a:lnSpc>
                <a:spcPct val="104000"/>
              </a:lnSpc>
              <a:buNone/>
            </a:pPr>
            <a:r>
              <a:rPr lang="en-US" sz="1600" b="1" dirty="0">
                <a:solidFill>
                  <a:srgbClr val="000000"/>
                </a:solidFill>
                <a:latin typeface="Montserrat Bold" pitchFamily="34" charset="0"/>
                <a:ea typeface="Montserrat Bold" pitchFamily="34" charset="-122"/>
                <a:cs typeface="Montserrat Bold" pitchFamily="34" charset="-120"/>
              </a:rPr>
              <a:t>Quan sát LLM + Judge</a:t>
            </a:r>
            <a:endParaRPr lang="en-US" sz="1600" dirty="0"/>
          </a:p>
        </p:txBody>
      </p:sp>
      <p:sp>
        <p:nvSpPr>
          <p:cNvPr id="14" name="Text 9"/>
          <p:cNvSpPr/>
          <p:nvPr/>
        </p:nvSpPr>
        <p:spPr>
          <a:xfrm>
            <a:off x="6362838" y="3723878"/>
            <a:ext cx="4983038" cy="541933"/>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000000"/>
                </a:solidFill>
                <a:latin typeface="Montserrat" pitchFamily="34" charset="0"/>
                <a:ea typeface="Montserrat" pitchFamily="34" charset="-122"/>
                <a:cs typeface="Montserrat" pitchFamily="34" charset="-120"/>
              </a:rPr>
              <a:t>Xem LLM trả lời có nguồn và LLM-as-Judge chấm </a:t>
            </a:r>
            <a:pPr algn="l" indent="0" marL="0">
              <a:lnSpc>
                <a:spcPct val="133000"/>
              </a:lnSpc>
              <a:buNone/>
            </a:pPr>
            <a:r>
              <a:rPr lang="en-US" sz="1300" dirty="0">
                <a:solidFill>
                  <a:srgbClr val="000000"/>
                </a:solidFill>
                <a:highlight>
                  <a:srgbClr val="F2F2F2"/>
                </a:highlight>
                <a:latin typeface="Consolas" pitchFamily="34" charset="0"/>
                <a:ea typeface="Consolas" pitchFamily="34" charset="-122"/>
                <a:cs typeface="Consolas" pitchFamily="34" charset="-120"/>
              </a:rPr>
              <a:t>confidence</a:t>
            </a:r>
            <a:pPr algn="l" indent="0" marL="0">
              <a:lnSpc>
                <a:spcPct val="133000"/>
              </a:lnSpc>
              <a:buNone/>
            </a:pPr>
            <a:r>
              <a:rPr lang="en-US" sz="1300" dirty="0">
                <a:solidFill>
                  <a:srgbClr val="000000"/>
                </a:solidFill>
                <a:latin typeface="Montserrat" pitchFamily="34" charset="0"/>
                <a:ea typeface="Montserrat" pitchFamily="34" charset="-122"/>
                <a:cs typeface="Montserrat" pitchFamily="34" charset="-120"/>
              </a:rPr>
              <a:t> kèm </a:t>
            </a:r>
            <a:pPr algn="l" indent="0" marL="0">
              <a:lnSpc>
                <a:spcPct val="133000"/>
              </a:lnSpc>
              <a:buNone/>
            </a:pPr>
            <a:r>
              <a:rPr lang="en-US" sz="1300" dirty="0">
                <a:solidFill>
                  <a:srgbClr val="000000"/>
                </a:solidFill>
                <a:highlight>
                  <a:srgbClr val="F2F2F2"/>
                </a:highlight>
                <a:latin typeface="Consolas" pitchFamily="34" charset="0"/>
                <a:ea typeface="Consolas" pitchFamily="34" charset="-122"/>
                <a:cs typeface="Consolas" pitchFamily="34" charset="-120"/>
              </a:rPr>
              <a:t>reason</a:t>
            </a:r>
            <a:pPr algn="l" indent="0" marL="0">
              <a:lnSpc>
                <a:spcPct val="133000"/>
              </a:lnSpc>
              <a:buNone/>
            </a:pPr>
            <a:r>
              <a:rPr lang="en-US" sz="1300" dirty="0">
                <a:solidFill>
                  <a:srgbClr val="000000"/>
                </a:solidFill>
                <a:latin typeface="Montserrat" pitchFamily="34" charset="0"/>
                <a:ea typeface="Montserrat" pitchFamily="34" charset="-122"/>
                <a:cs typeface="Montserrat" pitchFamily="34" charset="-120"/>
              </a:rPr>
              <a:t> rõ ràng.</a:t>
            </a:r>
            <a:endParaRPr lang="en-US" sz="1300" dirty="0"/>
          </a:p>
        </p:txBody>
      </p:sp>
      <p:pic>
        <p:nvPicPr>
          <p:cNvPr id="15" name="Image 3" descr="preencoded.png">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61475" y="4615458"/>
            <a:ext cx="5351725" cy="1758057"/>
          </a:xfrm>
          <a:prstGeom prst="rect">
            <a:avLst/>
          </a:prstGeom>
        </p:spPr>
      </p:pic>
      <p:sp>
        <p:nvSpPr>
          <p:cNvPr id="16" name="Text 10"/>
          <p:cNvSpPr/>
          <p:nvPr/>
        </p:nvSpPr>
        <p:spPr>
          <a:xfrm>
            <a:off x="3213317" y="4724301"/>
            <a:ext cx="248041" cy="310059"/>
          </a:xfrm>
          <a:prstGeom prst="rect">
            <a:avLst/>
          </a:prstGeom>
          <a:noFill/>
          <a:ln/>
        </p:spPr>
        <p:txBody>
          <a:bodyPr wrap="none" lIns="0" tIns="0" rIns="0" bIns="0" rtlCol="0" anchor="ctr"/>
          <a:lstStyle/>
          <a:p>
            <a:pPr algn="ctr" indent="0" marL="0">
              <a:lnSpc>
                <a:spcPct val="100000"/>
              </a:lnSpc>
              <a:buNone/>
            </a:pPr>
            <a:r>
              <a:rPr lang="en-US" sz="1950" b="1" dirty="0">
                <a:solidFill>
                  <a:srgbClr val="000000"/>
                </a:solidFill>
                <a:latin typeface="Montserrat Bold" pitchFamily="34" charset="0"/>
                <a:ea typeface="Montserrat Bold" pitchFamily="34" charset="-122"/>
                <a:cs typeface="Montserrat Bold" pitchFamily="34" charset="-120"/>
              </a:rPr>
              <a:t>3</a:t>
            </a:r>
            <a:endParaRPr lang="en-US" sz="1950" dirty="0"/>
          </a:p>
        </p:txBody>
      </p:sp>
      <p:sp>
        <p:nvSpPr>
          <p:cNvPr id="17" name="Text 11"/>
          <p:cNvSpPr/>
          <p:nvPr/>
        </p:nvSpPr>
        <p:spPr>
          <a:xfrm>
            <a:off x="845819" y="5295900"/>
            <a:ext cx="4983038" cy="258465"/>
          </a:xfrm>
          <a:prstGeom prst="rect">
            <a:avLst/>
          </a:prstGeom>
          <a:noFill/>
          <a:ln/>
        </p:spPr>
        <p:txBody>
          <a:bodyPr wrap="none" lIns="0" tIns="0" rIns="0" bIns="0" rtlCol="0" anchor="t"/>
          <a:lstStyle/>
          <a:p>
            <a:pPr algn="l" indent="0" marL="0">
              <a:lnSpc>
                <a:spcPct val="104000"/>
              </a:lnSpc>
              <a:buNone/>
            </a:pPr>
            <a:r>
              <a:rPr lang="en-US" sz="1600" b="1" dirty="0">
                <a:solidFill>
                  <a:srgbClr val="000000"/>
                </a:solidFill>
                <a:latin typeface="Montserrat Bold" pitchFamily="34" charset="0"/>
                <a:ea typeface="Montserrat Bold" pitchFamily="34" charset="-122"/>
                <a:cs typeface="Montserrat Bold" pitchFamily="34" charset="-120"/>
              </a:rPr>
              <a:t>Kiểm tra HITL ticket</a:t>
            </a:r>
            <a:endParaRPr lang="en-US" sz="1600" dirty="0"/>
          </a:p>
        </p:txBody>
      </p:sp>
      <p:sp>
        <p:nvSpPr>
          <p:cNvPr id="18" name="Text 12"/>
          <p:cNvSpPr/>
          <p:nvPr/>
        </p:nvSpPr>
        <p:spPr>
          <a:xfrm>
            <a:off x="845819" y="5653584"/>
            <a:ext cx="4983038" cy="529233"/>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000000"/>
                </a:solidFill>
                <a:latin typeface="Montserrat" pitchFamily="34" charset="0"/>
                <a:ea typeface="Montserrat" pitchFamily="34" charset="-122"/>
                <a:cs typeface="Montserrat" pitchFamily="34" charset="-120"/>
              </a:rPr>
              <a:t>Xác nhận TC2 (hoàn tiền) và TC4 (ngoài scope) được tạo ticket HITL, không tự duyệt.</a:t>
            </a:r>
            <a:endParaRPr lang="en-US" sz="1300" dirty="0"/>
          </a:p>
        </p:txBody>
      </p:sp>
      <p:pic>
        <p:nvPicPr>
          <p:cNvPr id="19" name="Image 4" descr="preencoded.png">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6178495" y="4615458"/>
            <a:ext cx="5351725" cy="1758057"/>
          </a:xfrm>
          <a:prstGeom prst="rect">
            <a:avLst/>
          </a:prstGeom>
        </p:spPr>
      </p:pic>
      <p:sp>
        <p:nvSpPr>
          <p:cNvPr id="20" name="Text 13"/>
          <p:cNvSpPr/>
          <p:nvPr/>
        </p:nvSpPr>
        <p:spPr>
          <a:xfrm>
            <a:off x="8730337" y="4724301"/>
            <a:ext cx="248041" cy="310059"/>
          </a:xfrm>
          <a:prstGeom prst="rect">
            <a:avLst/>
          </a:prstGeom>
          <a:noFill/>
          <a:ln/>
        </p:spPr>
        <p:txBody>
          <a:bodyPr wrap="none" lIns="0" tIns="0" rIns="0" bIns="0" rtlCol="0" anchor="ctr"/>
          <a:lstStyle/>
          <a:p>
            <a:pPr algn="ctr" indent="0" marL="0">
              <a:lnSpc>
                <a:spcPct val="100000"/>
              </a:lnSpc>
              <a:buNone/>
            </a:pPr>
            <a:r>
              <a:rPr lang="en-US" sz="1950" b="1" dirty="0">
                <a:solidFill>
                  <a:srgbClr val="000000"/>
                </a:solidFill>
                <a:latin typeface="Montserrat Bold" pitchFamily="34" charset="0"/>
                <a:ea typeface="Montserrat Bold" pitchFamily="34" charset="-122"/>
                <a:cs typeface="Montserrat Bold" pitchFamily="34" charset="-120"/>
              </a:rPr>
              <a:t>4</a:t>
            </a:r>
            <a:endParaRPr lang="en-US" sz="1950" dirty="0"/>
          </a:p>
        </p:txBody>
      </p:sp>
      <p:sp>
        <p:nvSpPr>
          <p:cNvPr id="21" name="Text 14"/>
          <p:cNvSpPr/>
          <p:nvPr/>
        </p:nvSpPr>
        <p:spPr>
          <a:xfrm>
            <a:off x="6362838" y="5295900"/>
            <a:ext cx="4983038" cy="258465"/>
          </a:xfrm>
          <a:prstGeom prst="rect">
            <a:avLst/>
          </a:prstGeom>
          <a:noFill/>
          <a:ln/>
        </p:spPr>
        <p:txBody>
          <a:bodyPr wrap="none" lIns="0" tIns="0" rIns="0" bIns="0" rtlCol="0" anchor="t"/>
          <a:lstStyle/>
          <a:p>
            <a:pPr algn="l" indent="0" marL="0">
              <a:lnSpc>
                <a:spcPct val="104000"/>
              </a:lnSpc>
              <a:buNone/>
            </a:pPr>
            <a:r>
              <a:rPr lang="en-US" sz="1600" b="1" dirty="0">
                <a:solidFill>
                  <a:srgbClr val="000000"/>
                </a:solidFill>
                <a:latin typeface="Montserrat Bold" pitchFamily="34" charset="0"/>
                <a:ea typeface="Montserrat Bold" pitchFamily="34" charset="-122"/>
                <a:cs typeface="Montserrat Bold" pitchFamily="34" charset="-120"/>
              </a:rPr>
              <a:t>Xác nhận reason rõ ràng</a:t>
            </a:r>
            <a:endParaRPr lang="en-US" sz="1600" dirty="0"/>
          </a:p>
        </p:txBody>
      </p:sp>
      <p:sp>
        <p:nvSpPr>
          <p:cNvPr id="22" name="Text 15"/>
          <p:cNvSpPr/>
          <p:nvPr/>
        </p:nvSpPr>
        <p:spPr>
          <a:xfrm>
            <a:off x="6362838" y="5653584"/>
            <a:ext cx="4983038" cy="535583"/>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000000"/>
                </a:solidFill>
                <a:latin typeface="Montserrat" pitchFamily="34" charset="0"/>
                <a:ea typeface="Montserrat" pitchFamily="34" charset="-122"/>
                <a:cs typeface="Montserrat" pitchFamily="34" charset="-120"/>
              </a:rPr>
              <a:t>Ticket phải có </a:t>
            </a:r>
            <a:pPr algn="l" indent="0" marL="0">
              <a:lnSpc>
                <a:spcPct val="133000"/>
              </a:lnSpc>
              <a:buNone/>
            </a:pPr>
            <a:r>
              <a:rPr lang="en-US" sz="1300" dirty="0">
                <a:solidFill>
                  <a:srgbClr val="000000"/>
                </a:solidFill>
                <a:highlight>
                  <a:srgbClr val="F2F2F2"/>
                </a:highlight>
                <a:latin typeface="Consolas" pitchFamily="34" charset="0"/>
                <a:ea typeface="Consolas" pitchFamily="34" charset="-122"/>
                <a:cs typeface="Consolas" pitchFamily="34" charset="-120"/>
              </a:rPr>
              <a:t>reason</a:t>
            </a:r>
            <a:pPr algn="l" indent="0" marL="0">
              <a:lnSpc>
                <a:spcPct val="133000"/>
              </a:lnSpc>
              <a:buNone/>
            </a:pPr>
            <a:r>
              <a:rPr lang="en-US" sz="1300" dirty="0">
                <a:solidFill>
                  <a:srgbClr val="000000"/>
                </a:solidFill>
                <a:latin typeface="Montserrat" pitchFamily="34" charset="0"/>
                <a:ea typeface="Montserrat" pitchFamily="34" charset="-122"/>
                <a:cs typeface="Montserrat" pitchFamily="34" charset="-120"/>
              </a:rPr>
              <a:t> cụ thể — người tiếp nhận biết tại sao case này cần xử lý thủ công.</a:t>
            </a:r>
            <a:endParaRPr lang="en-US" sz="13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33360" y="2655788"/>
            <a:ext cx="6296860" cy="1033661"/>
          </a:xfrm>
          <a:prstGeom prst="rect">
            <a:avLst/>
          </a:prstGeom>
          <a:noFill/>
          <a:ln/>
        </p:spPr>
        <p:txBody>
          <a:bodyPr wrap="none" lIns="0" tIns="0" rIns="0" bIns="0" rtlCol="0" anchor="t"/>
          <a:lstStyle/>
          <a:p>
            <a:pPr algn="l" indent="0" marL="0">
              <a:lnSpc>
                <a:spcPct val="104000"/>
              </a:lnSpc>
              <a:buNone/>
            </a:pPr>
            <a:r>
              <a:rPr lang="en-US" sz="6500" b="1" dirty="0">
                <a:solidFill>
                  <a:srgbClr val="004AAD"/>
                </a:solidFill>
                <a:latin typeface="Montserrat Bold" pitchFamily="34" charset="0"/>
                <a:ea typeface="Montserrat Bold" pitchFamily="34" charset="-122"/>
                <a:cs typeface="Montserrat Bold" pitchFamily="34" charset="-120"/>
              </a:rPr>
              <a:t>Thực hành 3</a:t>
            </a:r>
            <a:endParaRPr lang="en-US" sz="6500" dirty="0"/>
          </a:p>
        </p:txBody>
      </p:sp>
      <p:sp>
        <p:nvSpPr>
          <p:cNvPr id="4" name="Text 1"/>
          <p:cNvSpPr/>
          <p:nvPr/>
        </p:nvSpPr>
        <p:spPr>
          <a:xfrm>
            <a:off x="5233360" y="3937496"/>
            <a:ext cx="6906444" cy="264616"/>
          </a:xfrm>
          <a:prstGeom prst="rect">
            <a:avLst/>
          </a:prstGeom>
          <a:noFill/>
          <a:ln/>
        </p:spPr>
        <p:txBody>
          <a:bodyPr wrap="none" lIns="0" tIns="0" rIns="0" bIns="0" rtlCol="0" anchor="t"/>
          <a:lstStyle/>
          <a:p>
            <a:pPr algn="l" indent="0" marL="0">
              <a:lnSpc>
                <a:spcPct val="133000"/>
              </a:lnSpc>
              <a:buNone/>
            </a:pPr>
            <a:r>
              <a:rPr lang="en-US" sz="1300" i="1" dirty="0">
                <a:solidFill>
                  <a:srgbClr val="000000"/>
                </a:solidFill>
                <a:latin typeface="Montserrat" pitchFamily="34" charset="0"/>
                <a:ea typeface="Montserrat" pitchFamily="34" charset="-122"/>
                <a:cs typeface="Montserrat" pitchFamily="34" charset="-120"/>
              </a:rPr>
              <a:t>15 phút · Chạy fallback và kiểm tra ticket HITL</a:t>
            </a:r>
            <a:endParaRPr lang="en-US" sz="13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661475" y="1484709"/>
            <a:ext cx="10868745" cy="516731"/>
          </a:xfrm>
          <a:prstGeom prst="rect">
            <a:avLst/>
          </a:prstGeom>
          <a:noFill/>
          <a:ln/>
        </p:spPr>
        <p:txBody>
          <a:bodyPr wrap="none" lIns="0" tIns="0" rIns="0" bIns="0" rtlCol="0" anchor="t"/>
          <a:lstStyle/>
          <a:p>
            <a:pPr algn="l" indent="0" marL="0">
              <a:lnSpc>
                <a:spcPct val="104000"/>
              </a:lnSpc>
              <a:buNone/>
            </a:pPr>
            <a:r>
              <a:rPr lang="en-US" sz="3250" b="1" dirty="0">
                <a:solidFill>
                  <a:srgbClr val="004AAD"/>
                </a:solidFill>
                <a:latin typeface="Montserrat Bold" pitchFamily="34" charset="0"/>
                <a:ea typeface="Montserrat Bold" pitchFamily="34" charset="-122"/>
                <a:cs typeface="Montserrat Bold" pitchFamily="34" charset="-120"/>
              </a:rPr>
              <a:t>Kết quả thực hành 3</a:t>
            </a:r>
            <a:endParaRPr lang="en-US" sz="3250" dirty="0"/>
          </a:p>
        </p:txBody>
      </p:sp>
      <p:sp>
        <p:nvSpPr>
          <p:cNvPr id="3" name="Text 1"/>
          <p:cNvSpPr/>
          <p:nvPr/>
        </p:nvSpPr>
        <p:spPr>
          <a:xfrm>
            <a:off x="661475" y="2067520"/>
            <a:ext cx="10868745" cy="258465"/>
          </a:xfrm>
          <a:prstGeom prst="rect">
            <a:avLst/>
          </a:prstGeom>
          <a:noFill/>
          <a:ln/>
        </p:spPr>
        <p:txBody>
          <a:bodyPr wrap="none" lIns="0" tIns="0" rIns="0" bIns="0" rtlCol="0" anchor="t"/>
          <a:lstStyle/>
          <a:p>
            <a:pPr algn="l" indent="0" marL="0">
              <a:lnSpc>
                <a:spcPct val="104000"/>
              </a:lnSpc>
              <a:buNone/>
            </a:pPr>
            <a:r>
              <a:rPr lang="en-US" sz="1600" b="1" dirty="0">
                <a:solidFill>
                  <a:srgbClr val="004AAD"/>
                </a:solidFill>
                <a:latin typeface="Montserrat Bold" pitchFamily="34" charset="0"/>
                <a:ea typeface="Montserrat Bold" pitchFamily="34" charset="-122"/>
                <a:cs typeface="Montserrat Bold" pitchFamily="34" charset="-120"/>
              </a:rPr>
              <a:t>Đúng hai case nhạy cảm được chuyển người</a:t>
            </a:r>
            <a:endParaRPr lang="en-US" sz="1600" dirty="0"/>
          </a:p>
        </p:txBody>
      </p:sp>
      <p:sp>
        <p:nvSpPr>
          <p:cNvPr id="4" name="Text 2"/>
          <p:cNvSpPr/>
          <p:nvPr/>
        </p:nvSpPr>
        <p:spPr>
          <a:xfrm>
            <a:off x="661475" y="2574032"/>
            <a:ext cx="10868745" cy="535583"/>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000000"/>
                </a:solidFill>
                <a:highlight>
                  <a:srgbClr val="F2F2F2"/>
                </a:highlight>
                <a:latin typeface="Consolas" pitchFamily="34" charset="0"/>
                <a:ea typeface="Consolas" pitchFamily="34" charset="-122"/>
                <a:cs typeface="Consolas" pitchFamily="34" charset="-120"/>
              </a:rPr>
              <a:t>risk-analyzed</a:t>
            </a:r>
            <a:pPr algn="l" indent="0" marL="0">
              <a:lnSpc>
                <a:spcPct val="133000"/>
              </a:lnSpc>
              <a:buNone/>
            </a:pPr>
            <a:r>
              <a:rPr lang="en-US" sz="1300" dirty="0">
                <a:solidFill>
                  <a:srgbClr val="000000"/>
                </a:solidFill>
                <a:latin typeface="Montserrat" pitchFamily="34" charset="0"/>
                <a:ea typeface="Montserrat" pitchFamily="34" charset="-122"/>
                <a:cs typeface="Montserrat" pitchFamily="34" charset="-120"/>
              </a:rPr>
              <a:t> cho thấy judge chấm confidence thấp ở TC2 và TC4. IF node tạo ticket HITL kèm reason. Các case an toàn vẫn </a:t>
            </a:r>
            <a:pPr algn="l" indent="0" marL="0">
              <a:lnSpc>
                <a:spcPct val="133000"/>
              </a:lnSpc>
              <a:buNone/>
            </a:pPr>
            <a:r>
              <a:rPr lang="en-US" sz="1300" b="1" dirty="0">
                <a:solidFill>
                  <a:srgbClr val="000000"/>
                </a:solidFill>
                <a:latin typeface="Montserrat Bold" pitchFamily="34" charset="0"/>
                <a:ea typeface="Montserrat Bold" pitchFamily="34" charset="-122"/>
                <a:cs typeface="Montserrat Bold" pitchFamily="34" charset="-120"/>
              </a:rPr>
              <a:t>trả lời tự động có nguồn</a:t>
            </a:r>
            <a:pPr algn="l" indent="0" marL="0">
              <a:lnSpc>
                <a:spcPct val="133000"/>
              </a:lnSpc>
              <a:buNone/>
            </a:pPr>
            <a:r>
              <a:rPr lang="en-US" sz="1300" dirty="0">
                <a:solidFill>
                  <a:srgbClr val="000000"/>
                </a:solidFill>
                <a:latin typeface="Montserrat" pitchFamily="34" charset="0"/>
                <a:ea typeface="Montserrat" pitchFamily="34" charset="-122"/>
                <a:cs typeface="Montserrat" pitchFamily="34" charset="-120"/>
              </a:rPr>
              <a:t>.</a:t>
            </a:r>
            <a:endParaRPr lang="en-US" sz="1300" dirty="0"/>
          </a:p>
        </p:txBody>
      </p:sp>
      <p:sp>
        <p:nvSpPr>
          <p:cNvPr id="5" name="Shape 3"/>
          <p:cNvSpPr/>
          <p:nvPr/>
        </p:nvSpPr>
        <p:spPr>
          <a:xfrm>
            <a:off x="661475" y="3295650"/>
            <a:ext cx="10868745" cy="1230213"/>
          </a:xfrm>
          <a:prstGeom prst="roundRect">
            <a:avLst>
              <a:gd name="adj" fmla="val 5647"/>
            </a:avLst>
          </a:prstGeom>
          <a:solidFill>
            <a:srgbClr val="CCE2FF"/>
          </a:solidFill>
          <a:ln w="6350">
            <a:solidFill>
              <a:srgbClr val="B2C8E5"/>
            </a:solidFill>
            <a:prstDash val="solid"/>
          </a:ln>
        </p:spPr>
      </p:sp>
      <p:sp>
        <p:nvSpPr>
          <p:cNvPr id="6" name="Shape 4"/>
          <p:cNvSpPr/>
          <p:nvPr/>
        </p:nvSpPr>
        <p:spPr>
          <a:xfrm>
            <a:off x="667825" y="3302000"/>
            <a:ext cx="3618616" cy="1217513"/>
          </a:xfrm>
          <a:custGeom>
            <a:avLst/>
            <a:gdLst/>
            <a:ahLst/>
            <a:cxnLst/>
            <a:rect l="l" t="t" r="r" b="b"/>
            <a:pathLst>
              <a:path w="3618616" h="1217513">
                <a:moveTo>
                  <a:pt x="57887" y="0"/>
                </a:moveTo>
                <a:lnTo>
                  <a:pt x="3618616" y="0"/>
                </a:lnTo>
                <a:lnTo>
                  <a:pt x="3618616" y="1217513"/>
                </a:lnTo>
                <a:lnTo>
                  <a:pt x="57887" y="1217513"/>
                </a:lnTo>
                <a:arcTo hR="57888" wR="57887" stAng="5400000" swAng="5400000"/>
                <a:lnTo>
                  <a:pt x="0" y="57888"/>
                </a:lnTo>
                <a:arcTo hR="57888" wR="57887" stAng="10800000" swAng="5400000"/>
                <a:close/>
              </a:path>
            </a:pathLst>
          </a:custGeom>
          <a:solidFill>
            <a:srgbClr val="CCE2FF"/>
          </a:solidFill>
          <a:ln/>
        </p:spPr>
      </p:sp>
      <p:sp>
        <p:nvSpPr>
          <p:cNvPr id="7" name="Text 5"/>
          <p:cNvSpPr/>
          <p:nvPr/>
        </p:nvSpPr>
        <p:spPr>
          <a:xfrm>
            <a:off x="833119" y="3467298"/>
            <a:ext cx="3288027" cy="258465"/>
          </a:xfrm>
          <a:prstGeom prst="rect">
            <a:avLst/>
          </a:prstGeom>
          <a:noFill/>
          <a:ln/>
        </p:spPr>
        <p:txBody>
          <a:bodyPr wrap="none" lIns="0" tIns="0" rIns="0" bIns="0" rtlCol="0" anchor="t"/>
          <a:lstStyle/>
          <a:p>
            <a:pPr algn="l" indent="0" marL="0">
              <a:lnSpc>
                <a:spcPct val="104000"/>
              </a:lnSpc>
              <a:buNone/>
            </a:pPr>
            <a:r>
              <a:rPr lang="en-US" sz="1600" b="1" dirty="0">
                <a:solidFill>
                  <a:srgbClr val="000000"/>
                </a:solidFill>
                <a:latin typeface="Montserrat Bold" pitchFamily="34" charset="0"/>
                <a:ea typeface="Montserrat Bold" pitchFamily="34" charset="-122"/>
                <a:cs typeface="Montserrat Bold" pitchFamily="34" charset="-120"/>
              </a:rPr>
              <a:t>TC1, TC3, TC5</a:t>
            </a:r>
            <a:endParaRPr lang="en-US" sz="1600" dirty="0"/>
          </a:p>
        </p:txBody>
      </p:sp>
      <p:sp>
        <p:nvSpPr>
          <p:cNvPr id="8" name="Text 6"/>
          <p:cNvSpPr/>
          <p:nvPr/>
        </p:nvSpPr>
        <p:spPr>
          <a:xfrm>
            <a:off x="833119" y="3824982"/>
            <a:ext cx="3288027" cy="529233"/>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000000"/>
                </a:solidFill>
                <a:latin typeface="Montserrat" pitchFamily="34" charset="0"/>
                <a:ea typeface="Montserrat" pitchFamily="34" charset="-122"/>
                <a:cs typeface="Montserrat" pitchFamily="34" charset="-120"/>
              </a:rPr>
              <a:t>✅</a:t>
            </a:r>
            <a:pPr algn="l" indent="0" marL="0">
              <a:lnSpc>
                <a:spcPct val="133000"/>
              </a:lnSpc>
              <a:buNone/>
            </a:pPr>
            <a:r>
              <a:rPr lang="en-US" sz="1300" dirty="0">
                <a:solidFill>
                  <a:srgbClr val="000000"/>
                </a:solidFill>
                <a:latin typeface="Montserrat" pitchFamily="34" charset="0"/>
                <a:ea typeface="Montserrat" pitchFamily="34" charset="-122"/>
                <a:cs typeface="Montserrat" pitchFamily="34" charset="-120"/>
              </a:rPr>
              <a:t> Trả lời tự động — confidence cao, nguồn rõ ràng</a:t>
            </a:r>
            <a:endParaRPr lang="en-US" sz="1300" dirty="0"/>
          </a:p>
        </p:txBody>
      </p:sp>
      <p:sp>
        <p:nvSpPr>
          <p:cNvPr id="9" name="Shape 7"/>
          <p:cNvSpPr/>
          <p:nvPr/>
        </p:nvSpPr>
        <p:spPr>
          <a:xfrm>
            <a:off x="4286440" y="3302000"/>
            <a:ext cx="3618715" cy="1217513"/>
          </a:xfrm>
          <a:prstGeom prst="rect">
            <a:avLst/>
          </a:prstGeom>
          <a:solidFill>
            <a:srgbClr val="CCE2FF"/>
          </a:solidFill>
          <a:ln/>
        </p:spPr>
      </p:sp>
      <p:sp>
        <p:nvSpPr>
          <p:cNvPr id="10" name="Shape 8"/>
          <p:cNvSpPr/>
          <p:nvPr/>
        </p:nvSpPr>
        <p:spPr>
          <a:xfrm>
            <a:off x="4286440" y="3302000"/>
            <a:ext cx="19050" cy="1217513"/>
          </a:xfrm>
          <a:prstGeom prst="roundRect">
            <a:avLst>
              <a:gd name="adj" fmla="val 49999"/>
            </a:avLst>
          </a:prstGeom>
          <a:solidFill>
            <a:srgbClr val="B2C8E5"/>
          </a:solidFill>
          <a:ln/>
        </p:spPr>
      </p:sp>
      <p:sp>
        <p:nvSpPr>
          <p:cNvPr id="11" name="Text 9"/>
          <p:cNvSpPr/>
          <p:nvPr/>
        </p:nvSpPr>
        <p:spPr>
          <a:xfrm>
            <a:off x="4451735" y="3467298"/>
            <a:ext cx="3288126" cy="258465"/>
          </a:xfrm>
          <a:prstGeom prst="rect">
            <a:avLst/>
          </a:prstGeom>
          <a:noFill/>
          <a:ln/>
        </p:spPr>
        <p:txBody>
          <a:bodyPr wrap="none" lIns="0" tIns="0" rIns="0" bIns="0" rtlCol="0" anchor="t"/>
          <a:lstStyle/>
          <a:p>
            <a:pPr algn="l" indent="0" marL="0">
              <a:lnSpc>
                <a:spcPct val="104000"/>
              </a:lnSpc>
              <a:buNone/>
            </a:pPr>
            <a:r>
              <a:rPr lang="en-US" sz="1600" b="1" dirty="0">
                <a:solidFill>
                  <a:srgbClr val="000000"/>
                </a:solidFill>
                <a:latin typeface="Montserrat Bold" pitchFamily="34" charset="0"/>
                <a:ea typeface="Montserrat Bold" pitchFamily="34" charset="-122"/>
                <a:cs typeface="Montserrat Bold" pitchFamily="34" charset="-120"/>
              </a:rPr>
              <a:t>TC2 · Hoàn tiền</a:t>
            </a:r>
            <a:endParaRPr lang="en-US" sz="1600" dirty="0"/>
          </a:p>
        </p:txBody>
      </p:sp>
      <p:sp>
        <p:nvSpPr>
          <p:cNvPr id="12" name="Text 10"/>
          <p:cNvSpPr/>
          <p:nvPr/>
        </p:nvSpPr>
        <p:spPr>
          <a:xfrm>
            <a:off x="4451735" y="3824982"/>
            <a:ext cx="3288126" cy="529233"/>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000000"/>
                </a:solidFill>
                <a:latin typeface="Montserrat" pitchFamily="34" charset="0"/>
                <a:ea typeface="Montserrat" pitchFamily="34" charset="-122"/>
                <a:cs typeface="Montserrat" pitchFamily="34" charset="-120"/>
              </a:rPr>
              <a:t>🎫</a:t>
            </a:r>
            <a:pPr algn="l" indent="0" marL="0">
              <a:lnSpc>
                <a:spcPct val="133000"/>
              </a:lnSpc>
              <a:buNone/>
            </a:pPr>
            <a:r>
              <a:rPr lang="en-US" sz="1300" dirty="0">
                <a:solidFill>
                  <a:srgbClr val="000000"/>
                </a:solidFill>
                <a:latin typeface="Montserrat" pitchFamily="34" charset="0"/>
                <a:ea typeface="Montserrat" pitchFamily="34" charset="-122"/>
                <a:cs typeface="Montserrat" pitchFamily="34" charset="-120"/>
              </a:rPr>
              <a:t> Ticket HITL — judge chấm confidence thấp</a:t>
            </a:r>
            <a:endParaRPr lang="en-US" sz="1300" dirty="0"/>
          </a:p>
        </p:txBody>
      </p:sp>
      <p:sp>
        <p:nvSpPr>
          <p:cNvPr id="13" name="Shape 11"/>
          <p:cNvSpPr/>
          <p:nvPr/>
        </p:nvSpPr>
        <p:spPr>
          <a:xfrm>
            <a:off x="7905155" y="3302000"/>
            <a:ext cx="3618715" cy="1217513"/>
          </a:xfrm>
          <a:custGeom>
            <a:avLst/>
            <a:gdLst/>
            <a:ahLst/>
            <a:cxnLst/>
            <a:rect l="l" t="t" r="r" b="b"/>
            <a:pathLst>
              <a:path w="3618715" h="1217513">
                <a:moveTo>
                  <a:pt x="0" y="0"/>
                </a:moveTo>
                <a:lnTo>
                  <a:pt x="3560828" y="0"/>
                </a:lnTo>
                <a:arcTo hR="57888" wR="57887" stAng="16200000" swAng="5400000"/>
                <a:lnTo>
                  <a:pt x="3618715" y="1159625"/>
                </a:lnTo>
                <a:arcTo hR="57888" wR="57887" stAng="0" swAng="5400000"/>
                <a:lnTo>
                  <a:pt x="0" y="1217513"/>
                </a:lnTo>
                <a:lnTo>
                  <a:pt x="0" y="0"/>
                </a:lnTo>
                <a:close/>
              </a:path>
            </a:pathLst>
          </a:custGeom>
          <a:solidFill>
            <a:srgbClr val="CCE2FF"/>
          </a:solidFill>
          <a:ln/>
        </p:spPr>
      </p:sp>
      <p:sp>
        <p:nvSpPr>
          <p:cNvPr id="14" name="Shape 12"/>
          <p:cNvSpPr/>
          <p:nvPr/>
        </p:nvSpPr>
        <p:spPr>
          <a:xfrm>
            <a:off x="7905155" y="3302000"/>
            <a:ext cx="19050" cy="1217513"/>
          </a:xfrm>
          <a:prstGeom prst="roundRect">
            <a:avLst>
              <a:gd name="adj" fmla="val 49999"/>
            </a:avLst>
          </a:prstGeom>
          <a:solidFill>
            <a:srgbClr val="B2C8E5"/>
          </a:solidFill>
          <a:ln/>
        </p:spPr>
      </p:sp>
      <p:sp>
        <p:nvSpPr>
          <p:cNvPr id="15" name="Text 13"/>
          <p:cNvSpPr/>
          <p:nvPr/>
        </p:nvSpPr>
        <p:spPr>
          <a:xfrm>
            <a:off x="8070450" y="3467298"/>
            <a:ext cx="3288126" cy="258465"/>
          </a:xfrm>
          <a:prstGeom prst="rect">
            <a:avLst/>
          </a:prstGeom>
          <a:noFill/>
          <a:ln/>
        </p:spPr>
        <p:txBody>
          <a:bodyPr wrap="none" lIns="0" tIns="0" rIns="0" bIns="0" rtlCol="0" anchor="t"/>
          <a:lstStyle/>
          <a:p>
            <a:pPr algn="l" indent="0" marL="0">
              <a:lnSpc>
                <a:spcPct val="104000"/>
              </a:lnSpc>
              <a:buNone/>
            </a:pPr>
            <a:r>
              <a:rPr lang="en-US" sz="1600" b="1" dirty="0">
                <a:solidFill>
                  <a:srgbClr val="000000"/>
                </a:solidFill>
                <a:latin typeface="Montserrat Bold" pitchFamily="34" charset="0"/>
                <a:ea typeface="Montserrat Bold" pitchFamily="34" charset="-122"/>
                <a:cs typeface="Montserrat Bold" pitchFamily="34" charset="-120"/>
              </a:rPr>
              <a:t>TC4 · Ngoài scope</a:t>
            </a:r>
            <a:endParaRPr lang="en-US" sz="1600" dirty="0"/>
          </a:p>
        </p:txBody>
      </p:sp>
      <p:sp>
        <p:nvSpPr>
          <p:cNvPr id="16" name="Text 14"/>
          <p:cNvSpPr/>
          <p:nvPr/>
        </p:nvSpPr>
        <p:spPr>
          <a:xfrm>
            <a:off x="8070450" y="3824982"/>
            <a:ext cx="3288126" cy="264616"/>
          </a:xfrm>
          <a:prstGeom prst="rect">
            <a:avLst/>
          </a:prstGeom>
          <a:noFill/>
          <a:ln/>
        </p:spPr>
        <p:txBody>
          <a:bodyPr wrap="none" lIns="0" tIns="0" rIns="0" bIns="0" rtlCol="0" anchor="t"/>
          <a:lstStyle/>
          <a:p>
            <a:pPr algn="l" indent="0" marL="0">
              <a:lnSpc>
                <a:spcPct val="133000"/>
              </a:lnSpc>
              <a:buNone/>
            </a:pPr>
            <a:r>
              <a:rPr lang="en-US" sz="1300" dirty="0">
                <a:solidFill>
                  <a:srgbClr val="000000"/>
                </a:solidFill>
                <a:latin typeface="Montserrat" pitchFamily="34" charset="0"/>
                <a:ea typeface="Montserrat" pitchFamily="34" charset="-122"/>
                <a:cs typeface="Montserrat" pitchFamily="34" charset="-120"/>
              </a:rPr>
              <a:t>🎫</a:t>
            </a:r>
            <a:pPr algn="l" indent="0" marL="0">
              <a:lnSpc>
                <a:spcPct val="133000"/>
              </a:lnSpc>
              <a:buNone/>
            </a:pPr>
            <a:r>
              <a:rPr lang="en-US" sz="1300" dirty="0">
                <a:solidFill>
                  <a:srgbClr val="000000"/>
                </a:solidFill>
                <a:latin typeface="Montserrat" pitchFamily="34" charset="0"/>
                <a:ea typeface="Montserrat" pitchFamily="34" charset="-122"/>
                <a:cs typeface="Montserrat" pitchFamily="34" charset="-120"/>
              </a:rPr>
              <a:t> Ticket HITL — ngoài phạm vi dịch vụ</a:t>
            </a:r>
            <a:endParaRPr lang="en-US" sz="1300" dirty="0"/>
          </a:p>
        </p:txBody>
      </p:sp>
      <p:sp>
        <p:nvSpPr>
          <p:cNvPr id="17" name="Shape 15"/>
          <p:cNvSpPr/>
          <p:nvPr/>
        </p:nvSpPr>
        <p:spPr>
          <a:xfrm>
            <a:off x="661475" y="4711898"/>
            <a:ext cx="10868745" cy="661293"/>
          </a:xfrm>
          <a:prstGeom prst="roundRect">
            <a:avLst>
              <a:gd name="adj" fmla="val 10504"/>
            </a:avLst>
          </a:prstGeom>
          <a:solidFill>
            <a:srgbClr val="B6FCB8"/>
          </a:solidFill>
          <a:ln/>
        </p:spPr>
      </p:sp>
      <p:pic>
        <p:nvPicPr>
          <p:cNvPr id="18" name="Image 0" descr="preencoded.png">    </p:cNvPr>
          <p:cNvPicPr>
            <a:picLocks noChangeAspect="1"/>
          </p:cNvPicPr>
          <p:nvPr/>
        </p:nvPicPr>
        <p:blipFill>
          <a:blip r:embed="rId1"/>
          <a:stretch>
            <a:fillRect/>
          </a:stretch>
        </p:blipFill>
        <p:spPr>
          <a:xfrm>
            <a:off x="826769" y="4951611"/>
            <a:ext cx="206667" cy="165298"/>
          </a:xfrm>
          <a:prstGeom prst="rect">
            <a:avLst/>
          </a:prstGeom>
        </p:spPr>
      </p:pic>
      <p:sp>
        <p:nvSpPr>
          <p:cNvPr id="19" name="Text 16"/>
          <p:cNvSpPr/>
          <p:nvPr/>
        </p:nvSpPr>
        <p:spPr>
          <a:xfrm>
            <a:off x="1198731" y="4918472"/>
            <a:ext cx="10775780" cy="264616"/>
          </a:xfrm>
          <a:prstGeom prst="rect">
            <a:avLst/>
          </a:prstGeom>
          <a:noFill/>
          <a:ln/>
        </p:spPr>
        <p:txBody>
          <a:bodyPr wrap="none" lIns="0" tIns="0" rIns="0" bIns="0" rtlCol="0" anchor="t"/>
          <a:lstStyle/>
          <a:p>
            <a:pPr algn="l" indent="0" marL="0">
              <a:lnSpc>
                <a:spcPct val="133000"/>
              </a:lnSpc>
              <a:buNone/>
            </a:pPr>
            <a:r>
              <a:rPr lang="en-US" sz="1300" dirty="0">
                <a:solidFill>
                  <a:srgbClr val="000000"/>
                </a:solidFill>
                <a:latin typeface="Montserrat" pitchFamily="34" charset="0"/>
                <a:ea typeface="Montserrat" pitchFamily="34" charset="-122"/>
                <a:cs typeface="Montserrat" pitchFamily="34" charset="-120"/>
              </a:rPr>
              <a:t>✅</a:t>
            </a:r>
            <a:pPr algn="l" indent="0" marL="0">
              <a:lnSpc>
                <a:spcPct val="133000"/>
              </a:lnSpc>
              <a:buNone/>
            </a:pPr>
            <a:r>
              <a:rPr lang="en-US" sz="1300" dirty="0">
                <a:solidFill>
                  <a:srgbClr val="000000"/>
                </a:solidFill>
                <a:latin typeface="Montserrat" pitchFamily="34" charset="0"/>
                <a:ea typeface="Montserrat" pitchFamily="34" charset="-122"/>
                <a:cs typeface="Montserrat" pitchFamily="34" charset="-120"/>
              </a:rPr>
              <a:t> Harness hội thoại hoạt động: AI đề xuất, judge kiểm chứng, người quyết định ở case nhạy cảm.</a:t>
            </a:r>
            <a:endParaRPr lang="en-US" sz="13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33360" y="2597348"/>
            <a:ext cx="6296860" cy="713184"/>
          </a:xfrm>
          <a:prstGeom prst="rect">
            <a:avLst/>
          </a:prstGeom>
          <a:noFill/>
          <a:ln/>
        </p:spPr>
        <p:txBody>
          <a:bodyPr wrap="none" lIns="0" tIns="0" rIns="0" bIns="0" rtlCol="0" anchor="t"/>
          <a:lstStyle/>
          <a:p>
            <a:pPr algn="l" indent="0" marL="0">
              <a:lnSpc>
                <a:spcPct val="104000"/>
              </a:lnSpc>
              <a:buNone/>
            </a:pPr>
            <a:r>
              <a:rPr lang="en-US" sz="4450" b="1" dirty="0">
                <a:solidFill>
                  <a:srgbClr val="004AAD"/>
                </a:solidFill>
                <a:latin typeface="Montserrat Bold" pitchFamily="34" charset="0"/>
                <a:ea typeface="Montserrat Bold" pitchFamily="34" charset="-122"/>
                <a:cs typeface="Montserrat Bold" pitchFamily="34" charset="-120"/>
              </a:rPr>
              <a:t>Thực hành 4</a:t>
            </a:r>
            <a:endParaRPr lang="en-US" sz="4450" dirty="0"/>
          </a:p>
        </p:txBody>
      </p:sp>
      <p:sp>
        <p:nvSpPr>
          <p:cNvPr id="4" name="Text 1"/>
          <p:cNvSpPr/>
          <p:nvPr/>
        </p:nvSpPr>
        <p:spPr>
          <a:xfrm>
            <a:off x="5233360" y="3558580"/>
            <a:ext cx="6906444" cy="264616"/>
          </a:xfrm>
          <a:prstGeom prst="rect">
            <a:avLst/>
          </a:prstGeom>
          <a:noFill/>
          <a:ln/>
        </p:spPr>
        <p:txBody>
          <a:bodyPr wrap="none" lIns="0" tIns="0" rIns="0" bIns="0" rtlCol="0" anchor="t"/>
          <a:lstStyle/>
          <a:p>
            <a:pPr algn="l" indent="0" marL="0">
              <a:lnSpc>
                <a:spcPct val="133000"/>
              </a:lnSpc>
              <a:buNone/>
            </a:pPr>
            <a:r>
              <a:rPr lang="en-US" sz="1300" b="1" dirty="0">
                <a:solidFill>
                  <a:srgbClr val="000000"/>
                </a:solidFill>
                <a:latin typeface="Montserrat Bold" pitchFamily="34" charset="0"/>
                <a:ea typeface="Montserrat Bold" pitchFamily="34" charset="-122"/>
                <a:cs typeface="Montserrat Bold" pitchFamily="34" charset="-120"/>
              </a:rPr>
              <a:t>Landing Page có Chatbot gọi Webhook</a:t>
            </a:r>
            <a:endParaRPr lang="en-US" sz="1300" dirty="0"/>
          </a:p>
        </p:txBody>
      </p:sp>
      <p:sp>
        <p:nvSpPr>
          <p:cNvPr id="5" name="Shape 2"/>
          <p:cNvSpPr/>
          <p:nvPr/>
        </p:nvSpPr>
        <p:spPr>
          <a:xfrm>
            <a:off x="5233360" y="4009231"/>
            <a:ext cx="593016" cy="251420"/>
          </a:xfrm>
          <a:prstGeom prst="roundRect">
            <a:avLst>
              <a:gd name="adj" fmla="val 22103"/>
            </a:avLst>
          </a:prstGeom>
          <a:solidFill>
            <a:srgbClr val="CCE2FF"/>
          </a:solidFill>
          <a:ln/>
        </p:spPr>
      </p:sp>
      <p:sp>
        <p:nvSpPr>
          <p:cNvPr id="6" name="Text 3"/>
          <p:cNvSpPr/>
          <p:nvPr/>
        </p:nvSpPr>
        <p:spPr>
          <a:xfrm>
            <a:off x="5332577" y="4058841"/>
            <a:ext cx="1004168" cy="152202"/>
          </a:xfrm>
          <a:prstGeom prst="rect">
            <a:avLst/>
          </a:prstGeom>
          <a:noFill/>
          <a:ln/>
        </p:spPr>
        <p:txBody>
          <a:bodyPr wrap="none" lIns="0" tIns="0" rIns="0" bIns="0" rtlCol="0" anchor="t"/>
          <a:lstStyle/>
          <a:p>
            <a:pPr algn="l" indent="0" marL="0">
              <a:lnSpc>
                <a:spcPct val="96000"/>
              </a:lnSpc>
              <a:buNone/>
            </a:pPr>
            <a:r>
              <a:rPr lang="en-US" sz="1000" dirty="0">
                <a:solidFill>
                  <a:srgbClr val="000000"/>
                </a:solidFill>
                <a:latin typeface="Montserrat" pitchFamily="34" charset="0"/>
                <a:ea typeface="Montserrat" pitchFamily="34" charset="-122"/>
                <a:cs typeface="Montserrat" pitchFamily="34" charset="-120"/>
              </a:rPr>
              <a:t>LAB 4</a:t>
            </a:r>
            <a:endParaRPr lang="en-US" sz="1000" dirty="0"/>
          </a:p>
        </p:txBody>
      </p:sp>
      <p:sp>
        <p:nvSpPr>
          <p:cNvPr id="7" name="Shape 4"/>
          <p:cNvSpPr/>
          <p:nvPr/>
        </p:nvSpPr>
        <p:spPr>
          <a:xfrm>
            <a:off x="5909023" y="4009231"/>
            <a:ext cx="1093462" cy="251420"/>
          </a:xfrm>
          <a:prstGeom prst="roundRect">
            <a:avLst>
              <a:gd name="adj" fmla="val 22103"/>
            </a:avLst>
          </a:prstGeom>
          <a:noFill/>
          <a:ln w="6350">
            <a:solidFill>
              <a:srgbClr val="004AAD"/>
            </a:solidFill>
            <a:prstDash val="solid"/>
          </a:ln>
        </p:spPr>
      </p:sp>
      <p:sp>
        <p:nvSpPr>
          <p:cNvPr id="8" name="Text 5"/>
          <p:cNvSpPr/>
          <p:nvPr/>
        </p:nvSpPr>
        <p:spPr>
          <a:xfrm>
            <a:off x="6008240" y="4058841"/>
            <a:ext cx="1504615" cy="152202"/>
          </a:xfrm>
          <a:prstGeom prst="rect">
            <a:avLst/>
          </a:prstGeom>
          <a:noFill/>
          <a:ln/>
        </p:spPr>
        <p:txBody>
          <a:bodyPr wrap="none" lIns="0" tIns="0" rIns="0" bIns="0" rtlCol="0" anchor="t"/>
          <a:lstStyle/>
          <a:p>
            <a:pPr algn="l" indent="0" marL="0">
              <a:lnSpc>
                <a:spcPct val="96000"/>
              </a:lnSpc>
              <a:buNone/>
            </a:pPr>
            <a:r>
              <a:rPr lang="en-US" sz="1000" dirty="0">
                <a:solidFill>
                  <a:srgbClr val="004AAD"/>
                </a:solidFill>
                <a:latin typeface="Montserrat" pitchFamily="34" charset="0"/>
                <a:ea typeface="Montserrat" pitchFamily="34" charset="-122"/>
                <a:cs typeface="Montserrat" pitchFamily="34" charset="-120"/>
              </a:rPr>
              <a:t>END-TO-END</a:t>
            </a:r>
            <a:endParaRPr lang="en-US" sz="10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661475" y="463947"/>
            <a:ext cx="10868745" cy="450552"/>
          </a:xfrm>
          <a:prstGeom prst="rect">
            <a:avLst/>
          </a:prstGeom>
          <a:noFill/>
          <a:ln/>
        </p:spPr>
        <p:txBody>
          <a:bodyPr wrap="none" lIns="0" tIns="0" rIns="0" bIns="0" rtlCol="0" anchor="t"/>
          <a:lstStyle/>
          <a:p>
            <a:pPr algn="l" indent="0" marL="0">
              <a:lnSpc>
                <a:spcPct val="104000"/>
              </a:lnSpc>
              <a:buNone/>
            </a:pPr>
            <a:r>
              <a:rPr lang="en-US" sz="2800" b="1" dirty="0">
                <a:solidFill>
                  <a:srgbClr val="004AAD"/>
                </a:solidFill>
                <a:latin typeface="Montserrat Bold" pitchFamily="34" charset="0"/>
                <a:ea typeface="Montserrat Bold" pitchFamily="34" charset="-122"/>
                <a:cs typeface="Montserrat Bold" pitchFamily="34" charset="-120"/>
              </a:rPr>
              <a:t>Đưa chatbot ra giao diện thật cho khách</a:t>
            </a:r>
            <a:endParaRPr lang="en-US" sz="2800" dirty="0"/>
          </a:p>
        </p:txBody>
      </p:sp>
      <p:sp>
        <p:nvSpPr>
          <p:cNvPr id="3" name="Text 1"/>
          <p:cNvSpPr/>
          <p:nvPr/>
        </p:nvSpPr>
        <p:spPr>
          <a:xfrm>
            <a:off x="661475" y="964704"/>
            <a:ext cx="10868745" cy="225326"/>
          </a:xfrm>
          <a:prstGeom prst="rect">
            <a:avLst/>
          </a:prstGeom>
          <a:noFill/>
          <a:ln/>
        </p:spPr>
        <p:txBody>
          <a:bodyPr wrap="none" lIns="0" tIns="0" rIns="0" bIns="0" rtlCol="0" anchor="t"/>
          <a:lstStyle/>
          <a:p>
            <a:pPr algn="l" indent="0" marL="0">
              <a:lnSpc>
                <a:spcPct val="104000"/>
              </a:lnSpc>
              <a:buNone/>
            </a:pPr>
            <a:r>
              <a:rPr lang="en-US" sz="1400" b="1" dirty="0">
                <a:solidFill>
                  <a:srgbClr val="004AAD"/>
                </a:solidFill>
                <a:latin typeface="Montserrat Bold" pitchFamily="34" charset="0"/>
                <a:ea typeface="Montserrat Bold" pitchFamily="34" charset="-122"/>
                <a:cs typeface="Montserrat Bold" pitchFamily="34" charset="-120"/>
              </a:rPr>
              <a:t>JIT: vibe coding landing + webhook</a:t>
            </a:r>
            <a:endParaRPr lang="en-US" sz="1400" dirty="0"/>
          </a:p>
        </p:txBody>
      </p:sp>
      <p:sp>
        <p:nvSpPr>
          <p:cNvPr id="4" name="Text 2"/>
          <p:cNvSpPr/>
          <p:nvPr/>
        </p:nvSpPr>
        <p:spPr>
          <a:xfrm>
            <a:off x="661475" y="1491655"/>
            <a:ext cx="5258462" cy="1420614"/>
          </a:xfrm>
          <a:prstGeom prst="rect">
            <a:avLst/>
          </a:prstGeom>
          <a:noFill/>
          <a:ln/>
        </p:spPr>
        <p:txBody>
          <a:bodyPr wrap="square" lIns="0" tIns="0" rIns="0" bIns="0" rtlCol="0" anchor="t">
            <a:normAutofit/>
          </a:bodyPr>
          <a:lstStyle/>
          <a:p>
            <a:pPr algn="l" indent="0" marL="0">
              <a:lnSpc>
                <a:spcPct val="125000"/>
              </a:lnSpc>
              <a:spcAft>
                <a:spcPts val="850"/>
              </a:spcAft>
              <a:buNone/>
            </a:pPr>
            <a:r>
              <a:rPr lang="en-US" sz="1100" dirty="0">
                <a:solidFill>
                  <a:srgbClr val="000000"/>
                </a:solidFill>
                <a:latin typeface="Montserrat" pitchFamily="34" charset="0"/>
                <a:ea typeface="Montserrat" pitchFamily="34" charset="-122"/>
                <a:cs typeface="Montserrat" pitchFamily="34" charset="-120"/>
              </a:rPr>
              <a:t>Đến đây workflow đã chạy qua webhook </a:t>
            </a:r>
            <a:pPr algn="l" indent="0" marL="0">
              <a:lnSpc>
                <a:spcPct val="125000"/>
              </a:lnSpc>
              <a:spcAft>
                <a:spcPts val="850"/>
              </a:spcAft>
              <a:buNone/>
            </a:pPr>
            <a:r>
              <a:rPr lang="en-US" sz="1100" dirty="0">
                <a:solidFill>
                  <a:srgbClr val="000000"/>
                </a:solidFill>
                <a:highlight>
                  <a:srgbClr val="F2F2F2"/>
                </a:highlight>
                <a:latin typeface="Consolas" pitchFamily="34" charset="0"/>
                <a:ea typeface="Consolas" pitchFamily="34" charset="-122"/>
                <a:cs typeface="Consolas" pitchFamily="34" charset="-120"/>
              </a:rPr>
              <a:t>/cskh</a:t>
            </a:r>
            <a:pPr algn="l" indent="0" marL="0">
              <a:lnSpc>
                <a:spcPct val="125000"/>
              </a:lnSpc>
              <a:spcAft>
                <a:spcPts val="850"/>
              </a:spcAft>
              <a:buNone/>
            </a:pPr>
            <a:r>
              <a:rPr lang="en-US" sz="1100" dirty="0">
                <a:solidFill>
                  <a:srgbClr val="000000"/>
                </a:solidFill>
                <a:latin typeface="Montserrat" pitchFamily="34" charset="0"/>
                <a:ea typeface="Montserrat" pitchFamily="34" charset="-122"/>
                <a:cs typeface="Montserrat" pitchFamily="34" charset="-120"/>
              </a:rPr>
              <a:t>. Thực hành 4 dùng </a:t>
            </a:r>
            <a:pPr algn="l" indent="0" marL="0">
              <a:lnSpc>
                <a:spcPct val="125000"/>
              </a:lnSpc>
              <a:spcAft>
                <a:spcPts val="850"/>
              </a:spcAft>
              <a:buNone/>
            </a:pPr>
            <a:r>
              <a:rPr lang="en-US" sz="1100" b="1" dirty="0">
                <a:solidFill>
                  <a:srgbClr val="000000"/>
                </a:solidFill>
                <a:latin typeface="Montserrat Bold" pitchFamily="34" charset="0"/>
                <a:ea typeface="Montserrat Bold" pitchFamily="34" charset="-122"/>
                <a:cs typeface="Montserrat Bold" pitchFamily="34" charset="-120"/>
              </a:rPr>
              <a:t>vibe coding</a:t>
            </a:r>
            <a:pPr algn="l" indent="0" marL="0">
              <a:lnSpc>
                <a:spcPct val="125000"/>
              </a:lnSpc>
              <a:spcAft>
                <a:spcPts val="850"/>
              </a:spcAft>
              <a:buNone/>
            </a:pPr>
            <a:r>
              <a:rPr lang="en-US" sz="1100" dirty="0">
                <a:solidFill>
                  <a:srgbClr val="000000"/>
                </a:solidFill>
                <a:latin typeface="Montserrat" pitchFamily="34" charset="0"/>
                <a:ea typeface="Montserrat" pitchFamily="34" charset="-122"/>
                <a:cs typeface="Montserrat" pitchFamily="34" charset="-120"/>
              </a:rPr>
              <a:t> (Cursor hay Antigravity) để làm một landing page bán lẻ đơn giản, gắn chatbot widget POST thẳng tới webhook.</a:t>
            </a:r>
            <a:endParaRPr lang="en-US" sz="1100" dirty="0"/>
          </a:p>
          <a:p>
            <a:pPr algn="l" indent="0" marL="0">
              <a:lnSpc>
                <a:spcPct val="125000"/>
              </a:lnSpc>
              <a:buNone/>
            </a:pPr>
            <a:r>
              <a:rPr lang="en-US" sz="1100" dirty="0">
                <a:solidFill>
                  <a:srgbClr val="000000"/>
                </a:solidFill>
                <a:latin typeface="Montserrat" pitchFamily="34" charset="0"/>
                <a:ea typeface="Montserrat" pitchFamily="34" charset="-122"/>
                <a:cs typeface="Montserrat" pitchFamily="34" charset="-120"/>
              </a:rPr>
              <a:t>Học viên chạy thử </a:t>
            </a:r>
            <a:pPr algn="l" indent="0" marL="0">
              <a:lnSpc>
                <a:spcPct val="125000"/>
              </a:lnSpc>
              <a:buNone/>
            </a:pPr>
            <a:r>
              <a:rPr lang="en-US" sz="1100" b="1" dirty="0">
                <a:solidFill>
                  <a:srgbClr val="000000"/>
                </a:solidFill>
                <a:latin typeface="Montserrat Bold" pitchFamily="34" charset="0"/>
                <a:ea typeface="Montserrat Bold" pitchFamily="34" charset="-122"/>
                <a:cs typeface="Montserrat Bold" pitchFamily="34" charset="-120"/>
              </a:rPr>
              <a:t>5 case qua giao diện</a:t>
            </a:r>
            <a:pPr algn="l" indent="0" marL="0">
              <a:lnSpc>
                <a:spcPct val="125000"/>
              </a:lnSpc>
              <a:buNone/>
            </a:pPr>
            <a:r>
              <a:rPr lang="en-US" sz="1100" dirty="0">
                <a:solidFill>
                  <a:srgbClr val="000000"/>
                </a:solidFill>
                <a:latin typeface="Montserrat" pitchFamily="34" charset="0"/>
                <a:ea typeface="Montserrat" pitchFamily="34" charset="-122"/>
                <a:cs typeface="Montserrat" pitchFamily="34" charset="-120"/>
              </a:rPr>
              <a:t>, ghi conversation log có </a:t>
            </a:r>
            <a:pPr algn="l" indent="0" marL="0">
              <a:lnSpc>
                <a:spcPct val="125000"/>
              </a:lnSpc>
              <a:buNone/>
            </a:pPr>
            <a:r>
              <a:rPr lang="en-US" sz="1100" dirty="0">
                <a:solidFill>
                  <a:srgbClr val="000000"/>
                </a:solidFill>
                <a:highlight>
                  <a:srgbClr val="F2F2F2"/>
                </a:highlight>
                <a:latin typeface="Consolas" pitchFamily="34" charset="0"/>
                <a:ea typeface="Consolas" pitchFamily="34" charset="-122"/>
                <a:cs typeface="Consolas" pitchFamily="34" charset="-120"/>
              </a:rPr>
              <a:t>source_q_id</a:t>
            </a:r>
            <a:pPr algn="l" indent="0" marL="0">
              <a:lnSpc>
                <a:spcPct val="125000"/>
              </a:lnSpc>
              <a:buNone/>
            </a:pPr>
            <a:r>
              <a:rPr lang="en-US" sz="1100" dirty="0">
                <a:solidFill>
                  <a:srgbClr val="000000"/>
                </a:solidFill>
                <a:latin typeface="Montserrat" pitchFamily="34" charset="0"/>
                <a:ea typeface="Montserrat" pitchFamily="34" charset="-122"/>
                <a:cs typeface="Montserrat" pitchFamily="34" charset="-120"/>
              </a:rPr>
              <a:t>. Bước này khép kín vòng: khách hỏi thật trên web, bot trả lời hoặc chuyển người đúng quy tắc.</a:t>
            </a:r>
            <a:endParaRPr lang="en-US" sz="1100" dirty="0"/>
          </a:p>
        </p:txBody>
      </p:sp>
      <p:pic>
        <p:nvPicPr>
          <p:cNvPr id="5" name="Image 0" descr="preencoded.png">    </p:cNvPr>
          <p:cNvPicPr>
            <a:picLocks noChangeAspect="1"/>
          </p:cNvPicPr>
          <p:nvPr/>
        </p:nvPicPr>
        <p:blipFill>
          <a:blip r:embed="rId1"/>
          <a:stretch>
            <a:fillRect/>
          </a:stretch>
        </p:blipFill>
        <p:spPr>
          <a:xfrm>
            <a:off x="6278108" y="1519932"/>
            <a:ext cx="4732616" cy="4732734"/>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661475" y="977999"/>
            <a:ext cx="10868745" cy="516731"/>
          </a:xfrm>
          <a:prstGeom prst="rect">
            <a:avLst/>
          </a:prstGeom>
          <a:noFill/>
          <a:ln/>
        </p:spPr>
        <p:txBody>
          <a:bodyPr wrap="none" lIns="0" tIns="0" rIns="0" bIns="0" rtlCol="0" anchor="t"/>
          <a:lstStyle/>
          <a:p>
            <a:pPr algn="l" indent="0" marL="0">
              <a:lnSpc>
                <a:spcPct val="104000"/>
              </a:lnSpc>
              <a:buNone/>
            </a:pPr>
            <a:r>
              <a:rPr lang="en-US" sz="3250" b="1" dirty="0">
                <a:solidFill>
                  <a:srgbClr val="004AAD"/>
                </a:solidFill>
                <a:latin typeface="Montserrat Bold" pitchFamily="34" charset="0"/>
                <a:ea typeface="Montserrat Bold" pitchFamily="34" charset="-122"/>
                <a:cs typeface="Montserrat Bold" pitchFamily="34" charset="-120"/>
              </a:rPr>
              <a:t>Thực hành 4: landing chatbot end-to-end</a:t>
            </a:r>
            <a:endParaRPr lang="en-US" sz="3250" dirty="0"/>
          </a:p>
        </p:txBody>
      </p:sp>
      <p:sp>
        <p:nvSpPr>
          <p:cNvPr id="3" name="Text 1"/>
          <p:cNvSpPr/>
          <p:nvPr/>
        </p:nvSpPr>
        <p:spPr>
          <a:xfrm>
            <a:off x="661475" y="1560810"/>
            <a:ext cx="10868745" cy="258465"/>
          </a:xfrm>
          <a:prstGeom prst="rect">
            <a:avLst/>
          </a:prstGeom>
          <a:noFill/>
          <a:ln/>
        </p:spPr>
        <p:txBody>
          <a:bodyPr wrap="none" lIns="0" tIns="0" rIns="0" bIns="0" rtlCol="0" anchor="t"/>
          <a:lstStyle/>
          <a:p>
            <a:pPr algn="l" indent="0" marL="0">
              <a:lnSpc>
                <a:spcPct val="104000"/>
              </a:lnSpc>
              <a:buNone/>
            </a:pPr>
            <a:r>
              <a:rPr lang="en-US" sz="1600" b="1" dirty="0">
                <a:solidFill>
                  <a:srgbClr val="004AAD"/>
                </a:solidFill>
                <a:latin typeface="Montserrat Bold" pitchFamily="34" charset="0"/>
                <a:ea typeface="Montserrat Bold" pitchFamily="34" charset="-122"/>
                <a:cs typeface="Montserrat Bold" pitchFamily="34" charset="-120"/>
              </a:rPr>
              <a:t>Lab · 20 phút</a:t>
            </a:r>
            <a:endParaRPr lang="en-US" sz="1600" dirty="0"/>
          </a:p>
        </p:txBody>
      </p:sp>
      <p:sp>
        <p:nvSpPr>
          <p:cNvPr id="4" name="Shape 2"/>
          <p:cNvSpPr/>
          <p:nvPr/>
        </p:nvSpPr>
        <p:spPr>
          <a:xfrm>
            <a:off x="661475" y="2067322"/>
            <a:ext cx="10868745" cy="661293"/>
          </a:xfrm>
          <a:prstGeom prst="roundRect">
            <a:avLst>
              <a:gd name="adj" fmla="val 10504"/>
            </a:avLst>
          </a:prstGeom>
          <a:solidFill>
            <a:srgbClr val="CCE2FF"/>
          </a:solidFill>
          <a:ln/>
        </p:spPr>
      </p:sp>
      <p:pic>
        <p:nvPicPr>
          <p:cNvPr id="5" name="Image 0" descr="preencoded.png">    </p:cNvPr>
          <p:cNvPicPr>
            <a:picLocks noChangeAspect="1"/>
          </p:cNvPicPr>
          <p:nvPr/>
        </p:nvPicPr>
        <p:blipFill>
          <a:blip r:embed="rId1"/>
          <a:stretch>
            <a:fillRect/>
          </a:stretch>
        </p:blipFill>
        <p:spPr>
          <a:xfrm>
            <a:off x="826769" y="2307034"/>
            <a:ext cx="206667" cy="165298"/>
          </a:xfrm>
          <a:prstGeom prst="rect">
            <a:avLst/>
          </a:prstGeom>
        </p:spPr>
      </p:pic>
      <p:sp>
        <p:nvSpPr>
          <p:cNvPr id="6" name="Text 3"/>
          <p:cNvSpPr/>
          <p:nvPr/>
        </p:nvSpPr>
        <p:spPr>
          <a:xfrm>
            <a:off x="1198731" y="2273895"/>
            <a:ext cx="10775780" cy="264616"/>
          </a:xfrm>
          <a:prstGeom prst="rect">
            <a:avLst/>
          </a:prstGeom>
          <a:noFill/>
          <a:ln/>
        </p:spPr>
        <p:txBody>
          <a:bodyPr wrap="none" lIns="0" tIns="0" rIns="0" bIns="0" rtlCol="0" anchor="t"/>
          <a:lstStyle/>
          <a:p>
            <a:pPr algn="l" indent="0" marL="0">
              <a:lnSpc>
                <a:spcPct val="133000"/>
              </a:lnSpc>
              <a:buNone/>
            </a:pPr>
            <a:r>
              <a:rPr lang="en-US" sz="1300" b="1" dirty="0">
                <a:solidFill>
                  <a:srgbClr val="000000"/>
                </a:solidFill>
                <a:latin typeface="Montserrat Bold" pitchFamily="34" charset="0"/>
                <a:ea typeface="Montserrat Bold" pitchFamily="34" charset="-122"/>
                <a:cs typeface="Montserrat Bold" pitchFamily="34" charset="-120"/>
              </a:rPr>
              <a:t>Mục tiêu:</a:t>
            </a:r>
            <a:pPr algn="l" indent="0" marL="0">
              <a:lnSpc>
                <a:spcPct val="133000"/>
              </a:lnSpc>
              <a:buNone/>
            </a:pPr>
            <a:r>
              <a:rPr lang="en-US" sz="1300" dirty="0">
                <a:solidFill>
                  <a:srgbClr val="000000"/>
                </a:solidFill>
                <a:latin typeface="Montserrat" pitchFamily="34" charset="0"/>
                <a:ea typeface="Montserrat" pitchFamily="34" charset="-122"/>
                <a:cs typeface="Montserrat" pitchFamily="34" charset="-120"/>
              </a:rPr>
              <a:t> landing-chatbot.html chạy được, gọi webhook /cskh, conversation log đủ 5 case với source_q_id.</a:t>
            </a:r>
            <a:endParaRPr lang="en-US" sz="1300" dirty="0"/>
          </a:p>
        </p:txBody>
      </p:sp>
      <p:sp>
        <p:nvSpPr>
          <p:cNvPr id="7" name="Text 4"/>
          <p:cNvSpPr/>
          <p:nvPr/>
        </p:nvSpPr>
        <p:spPr>
          <a:xfrm>
            <a:off x="661475" y="2914650"/>
            <a:ext cx="330688" cy="206673"/>
          </a:xfrm>
          <a:prstGeom prst="rect">
            <a:avLst/>
          </a:prstGeom>
          <a:noFill/>
          <a:ln/>
        </p:spPr>
        <p:txBody>
          <a:bodyPr wrap="none" lIns="0" tIns="0" rIns="0" bIns="0" rtlCol="0" anchor="ctr"/>
          <a:lstStyle/>
          <a:p>
            <a:pPr algn="l" indent="0" marL="0">
              <a:lnSpc>
                <a:spcPct val="100000"/>
              </a:lnSpc>
              <a:buNone/>
            </a:pPr>
            <a:r>
              <a:rPr lang="en-US" sz="1300" dirty="0">
                <a:solidFill>
                  <a:srgbClr val="000000"/>
                </a:solidFill>
                <a:latin typeface="Montserrat Light" pitchFamily="34" charset="0"/>
                <a:ea typeface="Montserrat Light" pitchFamily="34" charset="-122"/>
                <a:cs typeface="Montserrat Light" pitchFamily="34" charset="-120"/>
              </a:rPr>
              <a:t>01</a:t>
            </a:r>
            <a:endParaRPr lang="en-US" sz="1300" dirty="0"/>
          </a:p>
        </p:txBody>
      </p:sp>
      <p:sp>
        <p:nvSpPr>
          <p:cNvPr id="8" name="Shape 5"/>
          <p:cNvSpPr/>
          <p:nvPr/>
        </p:nvSpPr>
        <p:spPr>
          <a:xfrm>
            <a:off x="661475" y="3176587"/>
            <a:ext cx="5351725" cy="19050"/>
          </a:xfrm>
          <a:prstGeom prst="rect">
            <a:avLst/>
          </a:prstGeom>
          <a:solidFill>
            <a:srgbClr val="004AAD"/>
          </a:solidFill>
          <a:ln/>
        </p:spPr>
      </p:sp>
      <p:sp>
        <p:nvSpPr>
          <p:cNvPr id="9" name="Text 6"/>
          <p:cNvSpPr/>
          <p:nvPr/>
        </p:nvSpPr>
        <p:spPr>
          <a:xfrm>
            <a:off x="661475" y="3297337"/>
            <a:ext cx="5351725" cy="258465"/>
          </a:xfrm>
          <a:prstGeom prst="rect">
            <a:avLst/>
          </a:prstGeom>
          <a:noFill/>
          <a:ln/>
        </p:spPr>
        <p:txBody>
          <a:bodyPr wrap="none" lIns="0" tIns="0" rIns="0" bIns="0" rtlCol="0" anchor="t"/>
          <a:lstStyle/>
          <a:p>
            <a:pPr algn="l" indent="0" marL="0">
              <a:lnSpc>
                <a:spcPct val="104000"/>
              </a:lnSpc>
              <a:buNone/>
            </a:pPr>
            <a:r>
              <a:rPr lang="en-US" sz="1600" b="1" dirty="0">
                <a:solidFill>
                  <a:srgbClr val="000000"/>
                </a:solidFill>
                <a:latin typeface="Montserrat Bold" pitchFamily="34" charset="0"/>
                <a:ea typeface="Montserrat Bold" pitchFamily="34" charset="-122"/>
                <a:cs typeface="Montserrat Bold" pitchFamily="34" charset="-120"/>
              </a:rPr>
              <a:t>Xem mẫu</a:t>
            </a:r>
            <a:endParaRPr lang="en-US" sz="1600" dirty="0"/>
          </a:p>
        </p:txBody>
      </p:sp>
      <p:sp>
        <p:nvSpPr>
          <p:cNvPr id="10" name="Text 7"/>
          <p:cNvSpPr/>
          <p:nvPr/>
        </p:nvSpPr>
        <p:spPr>
          <a:xfrm>
            <a:off x="661475" y="3655020"/>
            <a:ext cx="5351725" cy="535583"/>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000000"/>
                </a:solidFill>
                <a:latin typeface="Montserrat" pitchFamily="34" charset="0"/>
                <a:ea typeface="Montserrat" pitchFamily="34" charset="-122"/>
                <a:cs typeface="Montserrat" pitchFamily="34" charset="-120"/>
              </a:rPr>
              <a:t>Mở </a:t>
            </a:r>
            <a:pPr algn="l" indent="0" marL="0">
              <a:lnSpc>
                <a:spcPct val="133000"/>
              </a:lnSpc>
              <a:buNone/>
            </a:pPr>
            <a:r>
              <a:rPr lang="en-US" sz="1300" dirty="0">
                <a:solidFill>
                  <a:srgbClr val="000000"/>
                </a:solidFill>
                <a:highlight>
                  <a:srgbClr val="F2F2F2"/>
                </a:highlight>
                <a:latin typeface="Consolas" pitchFamily="34" charset="0"/>
                <a:ea typeface="Consolas" pitchFamily="34" charset="-122"/>
                <a:cs typeface="Consolas" pitchFamily="34" charset="-120"/>
              </a:rPr>
              <a:t>landing-chatbot-demo.html</a:t>
            </a:r>
            <a:pPr algn="l" indent="0" marL="0">
              <a:lnSpc>
                <a:spcPct val="133000"/>
              </a:lnSpc>
              <a:buNone/>
            </a:pPr>
            <a:r>
              <a:rPr lang="en-US" sz="1300" dirty="0">
                <a:solidFill>
                  <a:srgbClr val="000000"/>
                </a:solidFill>
                <a:latin typeface="Montserrat" pitchFamily="34" charset="0"/>
                <a:ea typeface="Montserrat" pitchFamily="34" charset="-122"/>
                <a:cs typeface="Montserrat" pitchFamily="34" charset="-120"/>
              </a:rPr>
              <a:t> làm tham chiếu trực quan trước khi tự code.</a:t>
            </a:r>
            <a:endParaRPr lang="en-US" sz="1300" dirty="0"/>
          </a:p>
        </p:txBody>
      </p:sp>
      <p:sp>
        <p:nvSpPr>
          <p:cNvPr id="11" name="Text 8"/>
          <p:cNvSpPr/>
          <p:nvPr/>
        </p:nvSpPr>
        <p:spPr>
          <a:xfrm>
            <a:off x="6178495" y="2914650"/>
            <a:ext cx="330688" cy="206673"/>
          </a:xfrm>
          <a:prstGeom prst="rect">
            <a:avLst/>
          </a:prstGeom>
          <a:noFill/>
          <a:ln/>
        </p:spPr>
        <p:txBody>
          <a:bodyPr wrap="none" lIns="0" tIns="0" rIns="0" bIns="0" rtlCol="0" anchor="ctr"/>
          <a:lstStyle/>
          <a:p>
            <a:pPr algn="l" indent="0" marL="0">
              <a:lnSpc>
                <a:spcPct val="100000"/>
              </a:lnSpc>
              <a:buNone/>
            </a:pPr>
            <a:r>
              <a:rPr lang="en-US" sz="1300" dirty="0">
                <a:solidFill>
                  <a:srgbClr val="000000"/>
                </a:solidFill>
                <a:latin typeface="Montserrat Light" pitchFamily="34" charset="0"/>
                <a:ea typeface="Montserrat Light" pitchFamily="34" charset="-122"/>
                <a:cs typeface="Montserrat Light" pitchFamily="34" charset="-120"/>
              </a:rPr>
              <a:t>02</a:t>
            </a:r>
            <a:endParaRPr lang="en-US" sz="1300" dirty="0"/>
          </a:p>
        </p:txBody>
      </p:sp>
      <p:sp>
        <p:nvSpPr>
          <p:cNvPr id="12" name="Shape 9"/>
          <p:cNvSpPr/>
          <p:nvPr/>
        </p:nvSpPr>
        <p:spPr>
          <a:xfrm>
            <a:off x="6178495" y="3176587"/>
            <a:ext cx="5351725" cy="19050"/>
          </a:xfrm>
          <a:prstGeom prst="rect">
            <a:avLst/>
          </a:prstGeom>
          <a:solidFill>
            <a:srgbClr val="004AAD"/>
          </a:solidFill>
          <a:ln/>
        </p:spPr>
      </p:sp>
      <p:sp>
        <p:nvSpPr>
          <p:cNvPr id="13" name="Text 10"/>
          <p:cNvSpPr/>
          <p:nvPr/>
        </p:nvSpPr>
        <p:spPr>
          <a:xfrm>
            <a:off x="6178495" y="3297337"/>
            <a:ext cx="5351725" cy="258465"/>
          </a:xfrm>
          <a:prstGeom prst="rect">
            <a:avLst/>
          </a:prstGeom>
          <a:noFill/>
          <a:ln/>
        </p:spPr>
        <p:txBody>
          <a:bodyPr wrap="none" lIns="0" tIns="0" rIns="0" bIns="0" rtlCol="0" anchor="t"/>
          <a:lstStyle/>
          <a:p>
            <a:pPr algn="l" indent="0" marL="0">
              <a:lnSpc>
                <a:spcPct val="104000"/>
              </a:lnSpc>
              <a:buNone/>
            </a:pPr>
            <a:r>
              <a:rPr lang="en-US" sz="1600" b="1" dirty="0">
                <a:solidFill>
                  <a:srgbClr val="000000"/>
                </a:solidFill>
                <a:latin typeface="Montserrat Bold" pitchFamily="34" charset="0"/>
                <a:ea typeface="Montserrat Bold" pitchFamily="34" charset="-122"/>
                <a:cs typeface="Montserrat Bold" pitchFamily="34" charset="-120"/>
              </a:rPr>
              <a:t>Vibe-code landing page</a:t>
            </a:r>
            <a:endParaRPr lang="en-US" sz="1600" dirty="0"/>
          </a:p>
        </p:txBody>
      </p:sp>
      <p:sp>
        <p:nvSpPr>
          <p:cNvPr id="14" name="Text 11"/>
          <p:cNvSpPr/>
          <p:nvPr/>
        </p:nvSpPr>
        <p:spPr>
          <a:xfrm>
            <a:off x="6178495" y="3655020"/>
            <a:ext cx="5351725" cy="529233"/>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000000"/>
                </a:solidFill>
                <a:latin typeface="Montserrat" pitchFamily="34" charset="0"/>
                <a:ea typeface="Montserrat" pitchFamily="34" charset="-122"/>
                <a:cs typeface="Montserrat" pitchFamily="34" charset="-120"/>
              </a:rPr>
              <a:t>Dùng Cursor hoặc Antigravity tạo landing page bán lẻ riêng, gắn chatbot widget.</a:t>
            </a:r>
            <a:endParaRPr lang="en-US" sz="1300" dirty="0"/>
          </a:p>
        </p:txBody>
      </p:sp>
      <p:sp>
        <p:nvSpPr>
          <p:cNvPr id="15" name="Text 12"/>
          <p:cNvSpPr/>
          <p:nvPr/>
        </p:nvSpPr>
        <p:spPr>
          <a:xfrm>
            <a:off x="661475" y="4479925"/>
            <a:ext cx="330688" cy="206673"/>
          </a:xfrm>
          <a:prstGeom prst="rect">
            <a:avLst/>
          </a:prstGeom>
          <a:noFill/>
          <a:ln/>
        </p:spPr>
        <p:txBody>
          <a:bodyPr wrap="none" lIns="0" tIns="0" rIns="0" bIns="0" rtlCol="0" anchor="ctr"/>
          <a:lstStyle/>
          <a:p>
            <a:pPr algn="l" indent="0" marL="0">
              <a:lnSpc>
                <a:spcPct val="100000"/>
              </a:lnSpc>
              <a:buNone/>
            </a:pPr>
            <a:r>
              <a:rPr lang="en-US" sz="1300" dirty="0">
                <a:solidFill>
                  <a:srgbClr val="000000"/>
                </a:solidFill>
                <a:latin typeface="Montserrat Light" pitchFamily="34" charset="0"/>
                <a:ea typeface="Montserrat Light" pitchFamily="34" charset="-122"/>
                <a:cs typeface="Montserrat Light" pitchFamily="34" charset="-120"/>
              </a:rPr>
              <a:t>03</a:t>
            </a:r>
            <a:endParaRPr lang="en-US" sz="1300" dirty="0"/>
          </a:p>
        </p:txBody>
      </p:sp>
      <p:sp>
        <p:nvSpPr>
          <p:cNvPr id="16" name="Shape 13"/>
          <p:cNvSpPr/>
          <p:nvPr/>
        </p:nvSpPr>
        <p:spPr>
          <a:xfrm>
            <a:off x="661475" y="4741863"/>
            <a:ext cx="5351725" cy="19050"/>
          </a:xfrm>
          <a:prstGeom prst="rect">
            <a:avLst/>
          </a:prstGeom>
          <a:solidFill>
            <a:srgbClr val="004AAD"/>
          </a:solidFill>
          <a:ln/>
        </p:spPr>
      </p:sp>
      <p:sp>
        <p:nvSpPr>
          <p:cNvPr id="17" name="Text 14"/>
          <p:cNvSpPr/>
          <p:nvPr/>
        </p:nvSpPr>
        <p:spPr>
          <a:xfrm>
            <a:off x="661475" y="4862612"/>
            <a:ext cx="5351725" cy="258465"/>
          </a:xfrm>
          <a:prstGeom prst="rect">
            <a:avLst/>
          </a:prstGeom>
          <a:noFill/>
          <a:ln/>
        </p:spPr>
        <p:txBody>
          <a:bodyPr wrap="none" lIns="0" tIns="0" rIns="0" bIns="0" rtlCol="0" anchor="t"/>
          <a:lstStyle/>
          <a:p>
            <a:pPr algn="l" indent="0" marL="0">
              <a:lnSpc>
                <a:spcPct val="104000"/>
              </a:lnSpc>
              <a:buNone/>
            </a:pPr>
            <a:r>
              <a:rPr lang="en-US" sz="1600" b="1" dirty="0">
                <a:solidFill>
                  <a:srgbClr val="000000"/>
                </a:solidFill>
                <a:latin typeface="Montserrat Bold" pitchFamily="34" charset="0"/>
                <a:ea typeface="Montserrat Bold" pitchFamily="34" charset="-122"/>
                <a:cs typeface="Montserrat Bold" pitchFamily="34" charset="-120"/>
              </a:rPr>
              <a:t>Kết nối webhook</a:t>
            </a:r>
            <a:endParaRPr lang="en-US" sz="1600" dirty="0"/>
          </a:p>
        </p:txBody>
      </p:sp>
      <p:sp>
        <p:nvSpPr>
          <p:cNvPr id="18" name="Text 15"/>
          <p:cNvSpPr/>
          <p:nvPr/>
        </p:nvSpPr>
        <p:spPr>
          <a:xfrm>
            <a:off x="661475" y="5220295"/>
            <a:ext cx="5351725" cy="535583"/>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000000"/>
                </a:solidFill>
                <a:latin typeface="Montserrat" pitchFamily="34" charset="0"/>
                <a:ea typeface="Montserrat" pitchFamily="34" charset="-122"/>
                <a:cs typeface="Montserrat" pitchFamily="34" charset="-120"/>
              </a:rPr>
              <a:t>Widget POST tới </a:t>
            </a:r>
            <a:pPr algn="l" indent="0" marL="0">
              <a:lnSpc>
                <a:spcPct val="133000"/>
              </a:lnSpc>
              <a:buNone/>
            </a:pPr>
            <a:r>
              <a:rPr lang="en-US" sz="1300" dirty="0">
                <a:solidFill>
                  <a:srgbClr val="000000"/>
                </a:solidFill>
                <a:highlight>
                  <a:srgbClr val="F2F2F2"/>
                </a:highlight>
                <a:latin typeface="Consolas" pitchFamily="34" charset="0"/>
                <a:ea typeface="Consolas" pitchFamily="34" charset="-122"/>
                <a:cs typeface="Consolas" pitchFamily="34" charset="-120"/>
              </a:rPr>
              <a:t>webhook /cskh</a:t>
            </a:r>
            <a:pPr algn="l" indent="0" marL="0">
              <a:lnSpc>
                <a:spcPct val="133000"/>
              </a:lnSpc>
              <a:buNone/>
            </a:pPr>
            <a:r>
              <a:rPr lang="en-US" sz="1300" dirty="0">
                <a:solidFill>
                  <a:srgbClr val="000000"/>
                </a:solidFill>
                <a:latin typeface="Montserrat" pitchFamily="34" charset="0"/>
                <a:ea typeface="Montserrat" pitchFamily="34" charset="-122"/>
                <a:cs typeface="Montserrat" pitchFamily="34" charset="-120"/>
              </a:rPr>
              <a:t>, xác nhận response hiển thị đúng trên giao diện.</a:t>
            </a:r>
            <a:endParaRPr lang="en-US" sz="1300" dirty="0"/>
          </a:p>
        </p:txBody>
      </p:sp>
      <p:sp>
        <p:nvSpPr>
          <p:cNvPr id="19" name="Text 16"/>
          <p:cNvSpPr/>
          <p:nvPr/>
        </p:nvSpPr>
        <p:spPr>
          <a:xfrm>
            <a:off x="6178495" y="4479925"/>
            <a:ext cx="330688" cy="206673"/>
          </a:xfrm>
          <a:prstGeom prst="rect">
            <a:avLst/>
          </a:prstGeom>
          <a:noFill/>
          <a:ln/>
        </p:spPr>
        <p:txBody>
          <a:bodyPr wrap="none" lIns="0" tIns="0" rIns="0" bIns="0" rtlCol="0" anchor="ctr"/>
          <a:lstStyle/>
          <a:p>
            <a:pPr algn="l" indent="0" marL="0">
              <a:lnSpc>
                <a:spcPct val="100000"/>
              </a:lnSpc>
              <a:buNone/>
            </a:pPr>
            <a:r>
              <a:rPr lang="en-US" sz="1300" dirty="0">
                <a:solidFill>
                  <a:srgbClr val="000000"/>
                </a:solidFill>
                <a:latin typeface="Montserrat Light" pitchFamily="34" charset="0"/>
                <a:ea typeface="Montserrat Light" pitchFamily="34" charset="-122"/>
                <a:cs typeface="Montserrat Light" pitchFamily="34" charset="-120"/>
              </a:rPr>
              <a:t>04</a:t>
            </a:r>
            <a:endParaRPr lang="en-US" sz="1300" dirty="0"/>
          </a:p>
        </p:txBody>
      </p:sp>
      <p:sp>
        <p:nvSpPr>
          <p:cNvPr id="20" name="Shape 17"/>
          <p:cNvSpPr/>
          <p:nvPr/>
        </p:nvSpPr>
        <p:spPr>
          <a:xfrm>
            <a:off x="6178495" y="4741863"/>
            <a:ext cx="5351725" cy="19050"/>
          </a:xfrm>
          <a:prstGeom prst="rect">
            <a:avLst/>
          </a:prstGeom>
          <a:solidFill>
            <a:srgbClr val="004AAD"/>
          </a:solidFill>
          <a:ln/>
        </p:spPr>
      </p:sp>
      <p:sp>
        <p:nvSpPr>
          <p:cNvPr id="21" name="Text 18"/>
          <p:cNvSpPr/>
          <p:nvPr/>
        </p:nvSpPr>
        <p:spPr>
          <a:xfrm>
            <a:off x="6178495" y="4862612"/>
            <a:ext cx="5351725" cy="258465"/>
          </a:xfrm>
          <a:prstGeom prst="rect">
            <a:avLst/>
          </a:prstGeom>
          <a:noFill/>
          <a:ln/>
        </p:spPr>
        <p:txBody>
          <a:bodyPr wrap="none" lIns="0" tIns="0" rIns="0" bIns="0" rtlCol="0" anchor="t"/>
          <a:lstStyle/>
          <a:p>
            <a:pPr algn="l" indent="0" marL="0">
              <a:lnSpc>
                <a:spcPct val="104000"/>
              </a:lnSpc>
              <a:buNone/>
            </a:pPr>
            <a:r>
              <a:rPr lang="en-US" sz="1600" b="1" dirty="0">
                <a:solidFill>
                  <a:srgbClr val="000000"/>
                </a:solidFill>
                <a:latin typeface="Montserrat Bold" pitchFamily="34" charset="0"/>
                <a:ea typeface="Montserrat Bold" pitchFamily="34" charset="-122"/>
                <a:cs typeface="Montserrat Bold" pitchFamily="34" charset="-120"/>
              </a:rPr>
              <a:t>Chạy 5 test case</a:t>
            </a:r>
            <a:endParaRPr lang="en-US" sz="1600" dirty="0"/>
          </a:p>
        </p:txBody>
      </p:sp>
      <p:sp>
        <p:nvSpPr>
          <p:cNvPr id="22" name="Text 19"/>
          <p:cNvSpPr/>
          <p:nvPr/>
        </p:nvSpPr>
        <p:spPr>
          <a:xfrm>
            <a:off x="6178495" y="5220295"/>
            <a:ext cx="5351725" cy="535583"/>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000000"/>
                </a:solidFill>
                <a:latin typeface="Montserrat" pitchFamily="34" charset="0"/>
                <a:ea typeface="Montserrat" pitchFamily="34" charset="-122"/>
                <a:cs typeface="Montserrat" pitchFamily="34" charset="-120"/>
              </a:rPr>
              <a:t>Quan sát reply và ticket qua giao diện. Ghi conversation log đủ 5 case kèm </a:t>
            </a:r>
            <a:pPr algn="l" indent="0" marL="0">
              <a:lnSpc>
                <a:spcPct val="133000"/>
              </a:lnSpc>
              <a:buNone/>
            </a:pPr>
            <a:r>
              <a:rPr lang="en-US" sz="1300" dirty="0">
                <a:solidFill>
                  <a:srgbClr val="000000"/>
                </a:solidFill>
                <a:highlight>
                  <a:srgbClr val="F2F2F2"/>
                </a:highlight>
                <a:latin typeface="Consolas" pitchFamily="34" charset="0"/>
                <a:ea typeface="Consolas" pitchFamily="34" charset="-122"/>
                <a:cs typeface="Consolas" pitchFamily="34" charset="-120"/>
              </a:rPr>
              <a:t>source_q_id</a:t>
            </a:r>
            <a:pPr algn="l" indent="0" marL="0">
              <a:lnSpc>
                <a:spcPct val="133000"/>
              </a:lnSpc>
              <a:buNone/>
            </a:pPr>
            <a:r>
              <a:rPr lang="en-US" sz="1300" dirty="0">
                <a:solidFill>
                  <a:srgbClr val="000000"/>
                </a:solidFill>
                <a:latin typeface="Montserrat" pitchFamily="34" charset="0"/>
                <a:ea typeface="Montserrat" pitchFamily="34" charset="-122"/>
                <a:cs typeface="Montserrat" pitchFamily="34" charset="-120"/>
              </a:rPr>
              <a:t>.</a:t>
            </a:r>
            <a:endParaRPr lang="en-US" sz="13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61475" y="2655788"/>
            <a:ext cx="6296860" cy="1033661"/>
          </a:xfrm>
          <a:prstGeom prst="rect">
            <a:avLst/>
          </a:prstGeom>
          <a:noFill/>
          <a:ln/>
        </p:spPr>
        <p:txBody>
          <a:bodyPr wrap="none" lIns="0" tIns="0" rIns="0" bIns="0" rtlCol="0" anchor="t"/>
          <a:lstStyle/>
          <a:p>
            <a:pPr algn="l" indent="0" marL="0">
              <a:lnSpc>
                <a:spcPct val="104000"/>
              </a:lnSpc>
              <a:buNone/>
            </a:pPr>
            <a:r>
              <a:rPr lang="en-US" sz="6500" b="1" dirty="0">
                <a:solidFill>
                  <a:srgbClr val="004AAD"/>
                </a:solidFill>
                <a:latin typeface="Montserrat Bold" pitchFamily="34" charset="0"/>
                <a:ea typeface="Montserrat Bold" pitchFamily="34" charset="-122"/>
                <a:cs typeface="Montserrat Bold" pitchFamily="34" charset="-120"/>
              </a:rPr>
              <a:t>Thực hành 4</a:t>
            </a:r>
            <a:endParaRPr lang="en-US" sz="6500" dirty="0"/>
          </a:p>
        </p:txBody>
      </p:sp>
      <p:sp>
        <p:nvSpPr>
          <p:cNvPr id="4" name="Text 1"/>
          <p:cNvSpPr/>
          <p:nvPr/>
        </p:nvSpPr>
        <p:spPr>
          <a:xfrm>
            <a:off x="661475" y="3937496"/>
            <a:ext cx="6906444" cy="264616"/>
          </a:xfrm>
          <a:prstGeom prst="rect">
            <a:avLst/>
          </a:prstGeom>
          <a:noFill/>
          <a:ln/>
        </p:spPr>
        <p:txBody>
          <a:bodyPr wrap="none" lIns="0" tIns="0" rIns="0" bIns="0" rtlCol="0" anchor="t"/>
          <a:lstStyle/>
          <a:p>
            <a:pPr algn="l" indent="0" marL="0">
              <a:lnSpc>
                <a:spcPct val="133000"/>
              </a:lnSpc>
              <a:buNone/>
            </a:pPr>
            <a:r>
              <a:rPr lang="en-US" sz="1300" i="1" dirty="0">
                <a:solidFill>
                  <a:srgbClr val="000000"/>
                </a:solidFill>
                <a:latin typeface="Montserrat" pitchFamily="34" charset="0"/>
                <a:ea typeface="Montserrat" pitchFamily="34" charset="-122"/>
                <a:cs typeface="Montserrat" pitchFamily="34" charset="-120"/>
              </a:rPr>
              <a:t>15 phút · Build landing page và chat live</a:t>
            </a:r>
            <a:endParaRPr lang="en-US" sz="13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661475" y="1478657"/>
            <a:ext cx="10868745" cy="516731"/>
          </a:xfrm>
          <a:prstGeom prst="rect">
            <a:avLst/>
          </a:prstGeom>
          <a:noFill/>
          <a:ln/>
        </p:spPr>
        <p:txBody>
          <a:bodyPr wrap="none" lIns="0" tIns="0" rIns="0" bIns="0" rtlCol="0" anchor="t"/>
          <a:lstStyle/>
          <a:p>
            <a:pPr algn="l" indent="0" marL="0">
              <a:lnSpc>
                <a:spcPct val="104000"/>
              </a:lnSpc>
              <a:buNone/>
            </a:pPr>
            <a:r>
              <a:rPr lang="en-US" sz="3250" b="1" dirty="0">
                <a:solidFill>
                  <a:srgbClr val="004AAD"/>
                </a:solidFill>
                <a:latin typeface="Montserrat Bold" pitchFamily="34" charset="0"/>
                <a:ea typeface="Montserrat Bold" pitchFamily="34" charset="-122"/>
                <a:cs typeface="Montserrat Bold" pitchFamily="34" charset="-120"/>
              </a:rPr>
              <a:t>Kết quả thực hành 4</a:t>
            </a:r>
            <a:endParaRPr lang="en-US" sz="3250" dirty="0"/>
          </a:p>
        </p:txBody>
      </p:sp>
      <p:sp>
        <p:nvSpPr>
          <p:cNvPr id="3" name="Text 1"/>
          <p:cNvSpPr/>
          <p:nvPr/>
        </p:nvSpPr>
        <p:spPr>
          <a:xfrm>
            <a:off x="661475" y="2061468"/>
            <a:ext cx="10868745" cy="258465"/>
          </a:xfrm>
          <a:prstGeom prst="rect">
            <a:avLst/>
          </a:prstGeom>
          <a:noFill/>
          <a:ln/>
        </p:spPr>
        <p:txBody>
          <a:bodyPr wrap="none" lIns="0" tIns="0" rIns="0" bIns="0" rtlCol="0" anchor="t"/>
          <a:lstStyle/>
          <a:p>
            <a:pPr algn="l" indent="0" marL="0">
              <a:lnSpc>
                <a:spcPct val="104000"/>
              </a:lnSpc>
              <a:buNone/>
            </a:pPr>
            <a:r>
              <a:rPr lang="en-US" sz="1600" b="1" dirty="0">
                <a:solidFill>
                  <a:srgbClr val="004AAD"/>
                </a:solidFill>
                <a:latin typeface="Montserrat Bold" pitchFamily="34" charset="0"/>
                <a:ea typeface="Montserrat Bold" pitchFamily="34" charset="-122"/>
                <a:cs typeface="Montserrat Bold" pitchFamily="34" charset="-120"/>
              </a:rPr>
              <a:t>Chatbot live trên landing, log đủ năm case</a:t>
            </a:r>
            <a:endParaRPr lang="en-US" sz="1600" dirty="0"/>
          </a:p>
        </p:txBody>
      </p:sp>
      <p:sp>
        <p:nvSpPr>
          <p:cNvPr id="4" name="Text 2"/>
          <p:cNvSpPr/>
          <p:nvPr/>
        </p:nvSpPr>
        <p:spPr>
          <a:xfrm>
            <a:off x="661475" y="2567980"/>
            <a:ext cx="10868745" cy="535583"/>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000000"/>
                </a:solidFill>
                <a:highlight>
                  <a:srgbClr val="F2F2F2"/>
                </a:highlight>
                <a:latin typeface="Consolas" pitchFamily="34" charset="0"/>
                <a:ea typeface="Consolas" pitchFamily="34" charset="-122"/>
                <a:cs typeface="Consolas" pitchFamily="34" charset="-120"/>
              </a:rPr>
              <a:t>landing-chatbot.html</a:t>
            </a:r>
            <a:pPr algn="l" indent="0" marL="0">
              <a:lnSpc>
                <a:spcPct val="133000"/>
              </a:lnSpc>
              <a:buNone/>
            </a:pPr>
            <a:r>
              <a:rPr lang="en-US" sz="1300" dirty="0">
                <a:solidFill>
                  <a:srgbClr val="000000"/>
                </a:solidFill>
                <a:latin typeface="Montserrat" pitchFamily="34" charset="0"/>
                <a:ea typeface="Montserrat" pitchFamily="34" charset="-122"/>
                <a:cs typeface="Montserrat" pitchFamily="34" charset="-120"/>
              </a:rPr>
              <a:t> chạy được, chatbot gọi webhook </a:t>
            </a:r>
            <a:pPr algn="l" indent="0" marL="0">
              <a:lnSpc>
                <a:spcPct val="133000"/>
              </a:lnSpc>
              <a:buNone/>
            </a:pPr>
            <a:r>
              <a:rPr lang="en-US" sz="1300" dirty="0">
                <a:solidFill>
                  <a:srgbClr val="000000"/>
                </a:solidFill>
                <a:highlight>
                  <a:srgbClr val="F2F2F2"/>
                </a:highlight>
                <a:latin typeface="Consolas" pitchFamily="34" charset="0"/>
                <a:ea typeface="Consolas" pitchFamily="34" charset="-122"/>
                <a:cs typeface="Consolas" pitchFamily="34" charset="-120"/>
              </a:rPr>
              <a:t>/cskh</a:t>
            </a:r>
            <a:pPr algn="l" indent="0" marL="0">
              <a:lnSpc>
                <a:spcPct val="133000"/>
              </a:lnSpc>
              <a:buNone/>
            </a:pPr>
            <a:r>
              <a:rPr lang="en-US" sz="1300" dirty="0">
                <a:solidFill>
                  <a:srgbClr val="000000"/>
                </a:solidFill>
                <a:latin typeface="Montserrat" pitchFamily="34" charset="0"/>
                <a:ea typeface="Montserrat" pitchFamily="34" charset="-122"/>
                <a:cs typeface="Montserrat" pitchFamily="34" charset="-120"/>
              </a:rPr>
              <a:t> end-to-end. Conversation log ghi đủ 5 case với </a:t>
            </a:r>
            <a:pPr algn="l" indent="0" marL="0">
              <a:lnSpc>
                <a:spcPct val="133000"/>
              </a:lnSpc>
              <a:buNone/>
            </a:pPr>
            <a:r>
              <a:rPr lang="en-US" sz="1300" dirty="0">
                <a:solidFill>
                  <a:srgbClr val="000000"/>
                </a:solidFill>
                <a:highlight>
                  <a:srgbClr val="F2F2F2"/>
                </a:highlight>
                <a:latin typeface="Consolas" pitchFamily="34" charset="0"/>
                <a:ea typeface="Consolas" pitchFamily="34" charset="-122"/>
                <a:cs typeface="Consolas" pitchFamily="34" charset="-120"/>
              </a:rPr>
              <a:t>source_q_id</a:t>
            </a:r>
            <a:pPr algn="l" indent="0" marL="0">
              <a:lnSpc>
                <a:spcPct val="133000"/>
              </a:lnSpc>
              <a:buNone/>
            </a:pPr>
            <a:r>
              <a:rPr lang="en-US" sz="1300" dirty="0">
                <a:solidFill>
                  <a:srgbClr val="000000"/>
                </a:solidFill>
                <a:latin typeface="Montserrat" pitchFamily="34" charset="0"/>
                <a:ea typeface="Montserrat" pitchFamily="34" charset="-122"/>
                <a:cs typeface="Montserrat" pitchFamily="34" charset="-120"/>
              </a:rPr>
              <a:t>, thể hiện cả reply tự động lẫn ticket chuyển người.</a:t>
            </a:r>
            <a:endParaRPr lang="en-US" sz="1300" dirty="0"/>
          </a:p>
        </p:txBody>
      </p:sp>
      <p:pic>
        <p:nvPicPr>
          <p:cNvPr id="5"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61475" y="3289598"/>
            <a:ext cx="413434" cy="413445"/>
          </a:xfrm>
          <a:prstGeom prst="rect">
            <a:avLst/>
          </a:prstGeom>
        </p:spPr>
      </p:pic>
      <p:sp>
        <p:nvSpPr>
          <p:cNvPr id="6" name="Text 3"/>
          <p:cNvSpPr/>
          <p:nvPr/>
        </p:nvSpPr>
        <p:spPr>
          <a:xfrm>
            <a:off x="661475" y="3909715"/>
            <a:ext cx="3485071" cy="258465"/>
          </a:xfrm>
          <a:prstGeom prst="rect">
            <a:avLst/>
          </a:prstGeom>
          <a:noFill/>
          <a:ln/>
        </p:spPr>
        <p:txBody>
          <a:bodyPr wrap="none" lIns="0" tIns="0" rIns="0" bIns="0" rtlCol="0" anchor="t"/>
          <a:lstStyle/>
          <a:p>
            <a:pPr algn="l" indent="0" marL="0">
              <a:lnSpc>
                <a:spcPct val="104000"/>
              </a:lnSpc>
              <a:buNone/>
            </a:pPr>
            <a:r>
              <a:rPr lang="en-US" sz="1600" b="1" dirty="0">
                <a:solidFill>
                  <a:srgbClr val="000000"/>
                </a:solidFill>
                <a:latin typeface="Montserrat Bold" pitchFamily="34" charset="0"/>
                <a:ea typeface="Montserrat Bold" pitchFamily="34" charset="-122"/>
                <a:cs typeface="Montserrat Bold" pitchFamily="34" charset="-120"/>
              </a:rPr>
              <a:t>Landing page live</a:t>
            </a:r>
            <a:endParaRPr lang="en-US" sz="1600" dirty="0"/>
          </a:p>
        </p:txBody>
      </p:sp>
      <p:sp>
        <p:nvSpPr>
          <p:cNvPr id="7" name="Text 4"/>
          <p:cNvSpPr/>
          <p:nvPr/>
        </p:nvSpPr>
        <p:spPr>
          <a:xfrm>
            <a:off x="661475" y="4267398"/>
            <a:ext cx="3485071" cy="264616"/>
          </a:xfrm>
          <a:prstGeom prst="rect">
            <a:avLst/>
          </a:prstGeom>
          <a:noFill/>
          <a:ln/>
        </p:spPr>
        <p:txBody>
          <a:bodyPr wrap="none" lIns="0" tIns="0" rIns="0" bIns="0" rtlCol="0" anchor="t"/>
          <a:lstStyle/>
          <a:p>
            <a:pPr algn="l" indent="0" marL="0">
              <a:lnSpc>
                <a:spcPct val="133000"/>
              </a:lnSpc>
              <a:buNone/>
            </a:pPr>
            <a:r>
              <a:rPr lang="en-US" sz="1300" dirty="0">
                <a:solidFill>
                  <a:srgbClr val="000000"/>
                </a:solidFill>
                <a:latin typeface="Montserrat" pitchFamily="34" charset="0"/>
                <a:ea typeface="Montserrat" pitchFamily="34" charset="-122"/>
                <a:cs typeface="Montserrat" pitchFamily="34" charset="-120"/>
              </a:rPr>
              <a:t>Giao diện thật, khách tương tác trực tiếp</a:t>
            </a:r>
            <a:endParaRPr lang="en-US" sz="1300" dirty="0"/>
          </a:p>
        </p:txBody>
      </p:sp>
      <p:pic>
        <p:nvPicPr>
          <p:cNvPr id="8"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353213" y="3289598"/>
            <a:ext cx="413434" cy="413445"/>
          </a:xfrm>
          <a:prstGeom prst="rect">
            <a:avLst/>
          </a:prstGeom>
        </p:spPr>
      </p:pic>
      <p:sp>
        <p:nvSpPr>
          <p:cNvPr id="9" name="Text 5"/>
          <p:cNvSpPr/>
          <p:nvPr/>
        </p:nvSpPr>
        <p:spPr>
          <a:xfrm>
            <a:off x="4353213" y="3909715"/>
            <a:ext cx="3485170" cy="258465"/>
          </a:xfrm>
          <a:prstGeom prst="rect">
            <a:avLst/>
          </a:prstGeom>
          <a:noFill/>
          <a:ln/>
        </p:spPr>
        <p:txBody>
          <a:bodyPr wrap="none" lIns="0" tIns="0" rIns="0" bIns="0" rtlCol="0" anchor="t"/>
          <a:lstStyle/>
          <a:p>
            <a:pPr algn="l" indent="0" marL="0">
              <a:lnSpc>
                <a:spcPct val="104000"/>
              </a:lnSpc>
              <a:buNone/>
            </a:pPr>
            <a:r>
              <a:rPr lang="en-US" sz="1600" b="1" dirty="0">
                <a:solidFill>
                  <a:srgbClr val="000000"/>
                </a:solidFill>
                <a:latin typeface="Montserrat Bold" pitchFamily="34" charset="0"/>
                <a:ea typeface="Montserrat Bold" pitchFamily="34" charset="-122"/>
                <a:cs typeface="Montserrat Bold" pitchFamily="34" charset="-120"/>
              </a:rPr>
              <a:t>Webhook end-to-end</a:t>
            </a:r>
            <a:endParaRPr lang="en-US" sz="1600" dirty="0"/>
          </a:p>
        </p:txBody>
      </p:sp>
      <p:sp>
        <p:nvSpPr>
          <p:cNvPr id="10" name="Text 6"/>
          <p:cNvSpPr/>
          <p:nvPr/>
        </p:nvSpPr>
        <p:spPr>
          <a:xfrm>
            <a:off x="4353213" y="4267398"/>
            <a:ext cx="3485170" cy="264616"/>
          </a:xfrm>
          <a:prstGeom prst="rect">
            <a:avLst/>
          </a:prstGeom>
          <a:noFill/>
          <a:ln/>
        </p:spPr>
        <p:txBody>
          <a:bodyPr wrap="none" lIns="0" tIns="0" rIns="0" bIns="0" rtlCol="0" anchor="t"/>
          <a:lstStyle/>
          <a:p>
            <a:pPr algn="l" indent="0" marL="0">
              <a:lnSpc>
                <a:spcPct val="133000"/>
              </a:lnSpc>
              <a:buNone/>
            </a:pPr>
            <a:r>
              <a:rPr lang="en-US" sz="1300" dirty="0">
                <a:solidFill>
                  <a:srgbClr val="000000"/>
                </a:solidFill>
                <a:latin typeface="Montserrat" pitchFamily="34" charset="0"/>
                <a:ea typeface="Montserrat" pitchFamily="34" charset="-122"/>
                <a:cs typeface="Montserrat" pitchFamily="34" charset="-120"/>
              </a:rPr>
              <a:t>Chatbot → webhook → 6 lớp kiểm soát</a:t>
            </a:r>
            <a:endParaRPr lang="en-US" sz="1300" dirty="0"/>
          </a:p>
        </p:txBody>
      </p:sp>
      <p:pic>
        <p:nvPicPr>
          <p:cNvPr id="11"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045050" y="3289598"/>
            <a:ext cx="413434" cy="413445"/>
          </a:xfrm>
          <a:prstGeom prst="rect">
            <a:avLst/>
          </a:prstGeom>
        </p:spPr>
      </p:pic>
      <p:sp>
        <p:nvSpPr>
          <p:cNvPr id="12" name="Text 7"/>
          <p:cNvSpPr/>
          <p:nvPr/>
        </p:nvSpPr>
        <p:spPr>
          <a:xfrm>
            <a:off x="8045050" y="3909715"/>
            <a:ext cx="3485170" cy="258465"/>
          </a:xfrm>
          <a:prstGeom prst="rect">
            <a:avLst/>
          </a:prstGeom>
          <a:noFill/>
          <a:ln/>
        </p:spPr>
        <p:txBody>
          <a:bodyPr wrap="none" lIns="0" tIns="0" rIns="0" bIns="0" rtlCol="0" anchor="t"/>
          <a:lstStyle/>
          <a:p>
            <a:pPr algn="l" indent="0" marL="0">
              <a:lnSpc>
                <a:spcPct val="104000"/>
              </a:lnSpc>
              <a:buNone/>
            </a:pPr>
            <a:r>
              <a:rPr lang="en-US" sz="1600" b="1" dirty="0">
                <a:solidFill>
                  <a:srgbClr val="000000"/>
                </a:solidFill>
                <a:latin typeface="Montserrat Bold" pitchFamily="34" charset="0"/>
                <a:ea typeface="Montserrat Bold" pitchFamily="34" charset="-122"/>
                <a:cs typeface="Montserrat Bold" pitchFamily="34" charset="-120"/>
              </a:rPr>
              <a:t>Conversation log</a:t>
            </a:r>
            <a:endParaRPr lang="en-US" sz="1600" dirty="0"/>
          </a:p>
        </p:txBody>
      </p:sp>
      <p:sp>
        <p:nvSpPr>
          <p:cNvPr id="13" name="Text 8"/>
          <p:cNvSpPr/>
          <p:nvPr/>
        </p:nvSpPr>
        <p:spPr>
          <a:xfrm>
            <a:off x="8045050" y="4267398"/>
            <a:ext cx="3485170" cy="264616"/>
          </a:xfrm>
          <a:prstGeom prst="rect">
            <a:avLst/>
          </a:prstGeom>
          <a:noFill/>
          <a:ln/>
        </p:spPr>
        <p:txBody>
          <a:bodyPr wrap="none" lIns="0" tIns="0" rIns="0" bIns="0" rtlCol="0" anchor="t"/>
          <a:lstStyle/>
          <a:p>
            <a:pPr algn="l" indent="0" marL="0">
              <a:lnSpc>
                <a:spcPct val="133000"/>
              </a:lnSpc>
              <a:buNone/>
            </a:pPr>
            <a:r>
              <a:rPr lang="en-US" sz="1300" dirty="0">
                <a:solidFill>
                  <a:srgbClr val="000000"/>
                </a:solidFill>
                <a:latin typeface="Montserrat" pitchFamily="34" charset="0"/>
                <a:ea typeface="Montserrat" pitchFamily="34" charset="-122"/>
                <a:cs typeface="Montserrat" pitchFamily="34" charset="-120"/>
              </a:rPr>
              <a:t>5 case đầy đủ, có source_q_id truy vết</a:t>
            </a:r>
            <a:endParaRPr lang="en-US" sz="1300" dirty="0"/>
          </a:p>
        </p:txBody>
      </p:sp>
      <p:sp>
        <p:nvSpPr>
          <p:cNvPr id="14" name="Shape 9"/>
          <p:cNvSpPr/>
          <p:nvPr/>
        </p:nvSpPr>
        <p:spPr>
          <a:xfrm>
            <a:off x="661475" y="4718050"/>
            <a:ext cx="10868745" cy="661293"/>
          </a:xfrm>
          <a:prstGeom prst="roundRect">
            <a:avLst>
              <a:gd name="adj" fmla="val 10504"/>
            </a:avLst>
          </a:prstGeom>
          <a:solidFill>
            <a:srgbClr val="B6FCB8"/>
          </a:solidFill>
          <a:ln/>
        </p:spPr>
      </p:sp>
      <p:pic>
        <p:nvPicPr>
          <p:cNvPr id="15" name="Image 3" descr="preencoded.png">    </p:cNvPr>
          <p:cNvPicPr>
            <a:picLocks noChangeAspect="1"/>
          </p:cNvPicPr>
          <p:nvPr/>
        </p:nvPicPr>
        <p:blipFill>
          <a:blip r:embed="rId7"/>
          <a:stretch>
            <a:fillRect/>
          </a:stretch>
        </p:blipFill>
        <p:spPr>
          <a:xfrm>
            <a:off x="826769" y="4957763"/>
            <a:ext cx="206667" cy="165298"/>
          </a:xfrm>
          <a:prstGeom prst="rect">
            <a:avLst/>
          </a:prstGeom>
        </p:spPr>
      </p:pic>
      <p:sp>
        <p:nvSpPr>
          <p:cNvPr id="16" name="Text 10"/>
          <p:cNvSpPr/>
          <p:nvPr/>
        </p:nvSpPr>
        <p:spPr>
          <a:xfrm>
            <a:off x="1198731" y="4924623"/>
            <a:ext cx="10775780" cy="264616"/>
          </a:xfrm>
          <a:prstGeom prst="rect">
            <a:avLst/>
          </a:prstGeom>
          <a:noFill/>
          <a:ln/>
        </p:spPr>
        <p:txBody>
          <a:bodyPr wrap="none" lIns="0" tIns="0" rIns="0" bIns="0" rtlCol="0" anchor="t"/>
          <a:lstStyle/>
          <a:p>
            <a:pPr algn="l" indent="0" marL="0">
              <a:lnSpc>
                <a:spcPct val="133000"/>
              </a:lnSpc>
              <a:buNone/>
            </a:pPr>
            <a:r>
              <a:rPr lang="en-US" sz="1300" dirty="0">
                <a:solidFill>
                  <a:srgbClr val="000000"/>
                </a:solidFill>
                <a:latin typeface="Montserrat" pitchFamily="34" charset="0"/>
                <a:ea typeface="Montserrat" pitchFamily="34" charset="-122"/>
                <a:cs typeface="Montserrat" pitchFamily="34" charset="-120"/>
              </a:rPr>
              <a:t>✅</a:t>
            </a:r>
            <a:pPr algn="l" indent="0" marL="0">
              <a:lnSpc>
                <a:spcPct val="133000"/>
              </a:lnSpc>
              <a:buNone/>
            </a:pPr>
            <a:r>
              <a:rPr lang="en-US" sz="1300" dirty="0">
                <a:solidFill>
                  <a:srgbClr val="000000"/>
                </a:solidFill>
                <a:latin typeface="Montserrat" pitchFamily="34" charset="0"/>
                <a:ea typeface="Montserrat" pitchFamily="34" charset="-122"/>
                <a:cs typeface="Montserrat" pitchFamily="34" charset="-120"/>
              </a:rPr>
              <a:t> Vòng khép kín: khách hỏi trên web thật, bot trả lời an toàn hoặc chuyển người đúng quy tắc.</a:t>
            </a:r>
            <a:endParaRPr lang="en-US" sz="13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661475" y="1809353"/>
            <a:ext cx="10868745" cy="516731"/>
          </a:xfrm>
          <a:prstGeom prst="rect">
            <a:avLst/>
          </a:prstGeom>
          <a:noFill/>
          <a:ln/>
        </p:spPr>
        <p:txBody>
          <a:bodyPr wrap="none" lIns="0" tIns="0" rIns="0" bIns="0" rtlCol="0" anchor="t"/>
          <a:lstStyle/>
          <a:p>
            <a:pPr algn="l" indent="0" marL="0">
              <a:lnSpc>
                <a:spcPct val="104000"/>
              </a:lnSpc>
              <a:buNone/>
            </a:pPr>
            <a:r>
              <a:rPr lang="en-US" sz="3250" b="1" dirty="0">
                <a:solidFill>
                  <a:srgbClr val="004AAD"/>
                </a:solidFill>
                <a:latin typeface="Montserrat Bold" pitchFamily="34" charset="0"/>
                <a:ea typeface="Montserrat Bold" pitchFamily="34" charset="-122"/>
                <a:cs typeface="Montserrat Bold" pitchFamily="34" charset="-120"/>
              </a:rPr>
              <a:t>Những nguyên tắc không thương lượng</a:t>
            </a:r>
            <a:endParaRPr lang="en-US" sz="3250" dirty="0"/>
          </a:p>
        </p:txBody>
      </p:sp>
      <p:sp>
        <p:nvSpPr>
          <p:cNvPr id="3" name="Text 1"/>
          <p:cNvSpPr/>
          <p:nvPr/>
        </p:nvSpPr>
        <p:spPr>
          <a:xfrm>
            <a:off x="661475" y="2392164"/>
            <a:ext cx="10868745" cy="258465"/>
          </a:xfrm>
          <a:prstGeom prst="rect">
            <a:avLst/>
          </a:prstGeom>
          <a:noFill/>
          <a:ln/>
        </p:spPr>
        <p:txBody>
          <a:bodyPr wrap="none" lIns="0" tIns="0" rIns="0" bIns="0" rtlCol="0" anchor="t"/>
          <a:lstStyle/>
          <a:p>
            <a:pPr algn="l" indent="0" marL="0">
              <a:lnSpc>
                <a:spcPct val="104000"/>
              </a:lnSpc>
              <a:buNone/>
            </a:pPr>
            <a:r>
              <a:rPr lang="en-US" sz="1600" b="1" dirty="0">
                <a:solidFill>
                  <a:srgbClr val="004AAD"/>
                </a:solidFill>
                <a:latin typeface="Montserrat Bold" pitchFamily="34" charset="0"/>
                <a:ea typeface="Montserrat Bold" pitchFamily="34" charset="-122"/>
                <a:cs typeface="Montserrat Bold" pitchFamily="34" charset="-120"/>
              </a:rPr>
              <a:t>An toàn và HITL</a:t>
            </a:r>
            <a:endParaRPr lang="en-US" sz="1600" dirty="0"/>
          </a:p>
        </p:txBody>
      </p:sp>
      <p:sp>
        <p:nvSpPr>
          <p:cNvPr id="4" name="Shape 2"/>
          <p:cNvSpPr/>
          <p:nvPr/>
        </p:nvSpPr>
        <p:spPr>
          <a:xfrm>
            <a:off x="542415" y="2898676"/>
            <a:ext cx="5470785" cy="2149872"/>
          </a:xfrm>
          <a:prstGeom prst="roundRect">
            <a:avLst>
              <a:gd name="adj" fmla="val 5539"/>
            </a:avLst>
          </a:prstGeom>
          <a:solidFill>
            <a:srgbClr val="004AAD"/>
          </a:solidFill>
          <a:ln/>
        </p:spPr>
      </p:sp>
      <p:sp>
        <p:nvSpPr>
          <p:cNvPr id="5" name="Text 3"/>
          <p:cNvSpPr/>
          <p:nvPr/>
        </p:nvSpPr>
        <p:spPr>
          <a:xfrm>
            <a:off x="707710" y="3063974"/>
            <a:ext cx="5140196" cy="264815"/>
          </a:xfrm>
          <a:prstGeom prst="rect">
            <a:avLst/>
          </a:prstGeom>
          <a:noFill/>
          <a:ln/>
        </p:spPr>
        <p:txBody>
          <a:bodyPr wrap="none" lIns="0" tIns="0" rIns="0" bIns="0" rtlCol="0" anchor="t"/>
          <a:lstStyle/>
          <a:p>
            <a:pPr algn="l" indent="0" marL="0">
              <a:lnSpc>
                <a:spcPct val="104000"/>
              </a:lnSpc>
              <a:buNone/>
            </a:pPr>
            <a:r>
              <a:rPr lang="en-US" sz="1600" b="1" dirty="0">
                <a:solidFill>
                  <a:srgbClr val="000000"/>
                </a:solidFill>
                <a:latin typeface="Twemoji Mozilla" pitchFamily="34" charset="0"/>
                <a:ea typeface="Twemoji Mozilla" pitchFamily="34" charset="-122"/>
                <a:cs typeface="Twemoji Mozilla" pitchFamily="34" charset="-120"/>
              </a:rPr>
              <a:t>✅</a:t>
            </a:r>
            <a:pPr algn="l" indent="0" marL="0">
              <a:lnSpc>
                <a:spcPct val="104000"/>
              </a:lnSpc>
              <a:buNone/>
            </a:pPr>
            <a:r>
              <a:rPr lang="en-US" sz="1600" b="1" dirty="0">
                <a:solidFill>
                  <a:srgbClr val="FFFFFF"/>
                </a:solidFill>
                <a:latin typeface="Montserrat Bold" pitchFamily="34" charset="0"/>
                <a:ea typeface="Montserrat Bold" pitchFamily="34" charset="-122"/>
                <a:cs typeface="Montserrat Bold" pitchFamily="34" charset="-120"/>
              </a:rPr>
              <a:t> Phải làm</a:t>
            </a:r>
            <a:endParaRPr lang="en-US" sz="1600" dirty="0"/>
          </a:p>
        </p:txBody>
      </p:sp>
      <p:sp>
        <p:nvSpPr>
          <p:cNvPr id="6" name="Text 4"/>
          <p:cNvSpPr/>
          <p:nvPr/>
        </p:nvSpPr>
        <p:spPr>
          <a:xfrm>
            <a:off x="707710" y="3494088"/>
            <a:ext cx="5140196" cy="1496616"/>
          </a:xfrm>
          <a:prstGeom prst="rect">
            <a:avLst/>
          </a:prstGeom>
          <a:noFill/>
          <a:ln/>
        </p:spPr>
        <p:txBody>
          <a:bodyPr wrap="square" lIns="0" tIns="0" rIns="0" bIns="0" rtlCol="0" anchor="t">
            <a:normAutofit/>
          </a:bodyPr>
          <a:lstStyle/>
          <a:p>
            <a:pPr algn="l" marL="264160" indent="-264160">
              <a:lnSpc>
                <a:spcPct val="133000"/>
              </a:lnSpc>
              <a:buSzPct val="100000"/>
              <a:buChar char="•"/>
            </a:pPr>
            <a:r>
              <a:rPr lang="en-US" sz="1300" dirty="0">
                <a:solidFill>
                  <a:srgbClr val="FFFFFF"/>
                </a:solidFill>
                <a:latin typeface="Montserrat" pitchFamily="34" charset="0"/>
                <a:ea typeface="Montserrat" pitchFamily="34" charset="-122"/>
                <a:cs typeface="Montserrat" pitchFamily="34" charset="-120"/>
              </a:rPr>
              <a:t>Có knowledge base </a:t>
            </a:r>
            <a:pPr algn="l" marL="264160" indent="-264160">
              <a:lnSpc>
                <a:spcPct val="133000"/>
              </a:lnSpc>
              <a:buSzPct val="100000"/>
              <a:buChar char="•"/>
            </a:pPr>
            <a:r>
              <a:rPr lang="en-US" sz="1300" b="1" dirty="0">
                <a:solidFill>
                  <a:srgbClr val="FFFFFF"/>
                </a:solidFill>
                <a:latin typeface="Montserrat Bold" pitchFamily="34" charset="0"/>
                <a:ea typeface="Montserrat Bold" pitchFamily="34" charset="-122"/>
                <a:cs typeface="Montserrat Bold" pitchFamily="34" charset="-120"/>
              </a:rPr>
              <a:t>trước</a:t>
            </a:r>
            <a:pPr algn="l" marL="264160" indent="-264160">
              <a:lnSpc>
                <a:spcPct val="133000"/>
              </a:lnSpc>
              <a:buSzPct val="100000"/>
              <a:buChar char="•"/>
            </a:pPr>
            <a:r>
              <a:rPr lang="en-US" sz="1300" dirty="0">
                <a:solidFill>
                  <a:srgbClr val="FFFFFF"/>
                </a:solidFill>
                <a:latin typeface="Montserrat" pitchFamily="34" charset="0"/>
                <a:ea typeface="Montserrat" pitchFamily="34" charset="-122"/>
                <a:cs typeface="Montserrat" pitchFamily="34" charset="-120"/>
              </a:rPr>
              <a:t> khi để bot trả lời.</a:t>
            </a:r>
            <a:endParaRPr lang="en-US" sz="1300" dirty="0"/>
          </a:p>
          <a:p>
            <a:pPr algn="l" marL="264160" indent="-264160">
              <a:lnSpc>
                <a:spcPct val="133000"/>
              </a:lnSpc>
              <a:buSzPct val="100000"/>
              <a:buChar char="•"/>
            </a:pPr>
            <a:r>
              <a:rPr lang="en-US" sz="1300" dirty="0">
                <a:solidFill>
                  <a:srgbClr val="FFFFFF"/>
                </a:solidFill>
                <a:latin typeface="Montserrat" pitchFamily="34" charset="0"/>
                <a:ea typeface="Montserrat" pitchFamily="34" charset="-122"/>
                <a:cs typeface="Montserrat" pitchFamily="34" charset="-120"/>
              </a:rPr>
              <a:t>Coi tin nhắn khách là </a:t>
            </a:r>
            <a:pPr algn="l" marL="264160" indent="-264160">
              <a:lnSpc>
                <a:spcPct val="133000"/>
              </a:lnSpc>
              <a:buSzPct val="100000"/>
              <a:buChar char="•"/>
            </a:pPr>
            <a:r>
              <a:rPr lang="en-US" sz="1300" b="1" dirty="0">
                <a:solidFill>
                  <a:srgbClr val="FFFFFF"/>
                </a:solidFill>
                <a:latin typeface="Montserrat Bold" pitchFamily="34" charset="0"/>
                <a:ea typeface="Montserrat Bold" pitchFamily="34" charset="-122"/>
                <a:cs typeface="Montserrat Bold" pitchFamily="34" charset="-120"/>
              </a:rPr>
              <a:t>dữ liệu</a:t>
            </a:r>
            <a:pPr algn="l" marL="264160" indent="-264160">
              <a:lnSpc>
                <a:spcPct val="133000"/>
              </a:lnSpc>
              <a:buSzPct val="100000"/>
              <a:buChar char="•"/>
            </a:pPr>
            <a:r>
              <a:rPr lang="en-US" sz="1300" dirty="0">
                <a:solidFill>
                  <a:srgbClr val="FFFFFF"/>
                </a:solidFill>
                <a:latin typeface="Montserrat" pitchFamily="34" charset="0"/>
                <a:ea typeface="Montserrat" pitchFamily="34" charset="-122"/>
                <a:cs typeface="Montserrat" pitchFamily="34" charset="-120"/>
              </a:rPr>
              <a:t>, bỏ qua lệnh giấu trong câu.</a:t>
            </a:r>
            <a:endParaRPr lang="en-US" sz="1300" dirty="0"/>
          </a:p>
          <a:p>
            <a:pPr algn="l" marL="264160" indent="-264160">
              <a:lnSpc>
                <a:spcPct val="133000"/>
              </a:lnSpc>
              <a:buSzPct val="100000"/>
              <a:buChar char="•"/>
            </a:pPr>
            <a:r>
              <a:rPr lang="en-US" sz="1300" dirty="0">
                <a:solidFill>
                  <a:srgbClr val="FFFFFF"/>
                </a:solidFill>
                <a:latin typeface="Montserrat" pitchFamily="34" charset="0"/>
                <a:ea typeface="Montserrat" pitchFamily="34" charset="-122"/>
                <a:cs typeface="Montserrat" pitchFamily="34" charset="-120"/>
              </a:rPr>
              <a:t>Tách LLM trả lời và LLM-as-Judge thành </a:t>
            </a:r>
            <a:pPr algn="l" marL="264160" indent="-264160">
              <a:lnSpc>
                <a:spcPct val="133000"/>
              </a:lnSpc>
              <a:buSzPct val="100000"/>
              <a:buChar char="•"/>
            </a:pPr>
            <a:r>
              <a:rPr lang="en-US" sz="1300" b="1" dirty="0">
                <a:solidFill>
                  <a:srgbClr val="FFFFFF"/>
                </a:solidFill>
                <a:latin typeface="Montserrat Bold" pitchFamily="34" charset="0"/>
                <a:ea typeface="Montserrat Bold" pitchFamily="34" charset="-122"/>
                <a:cs typeface="Montserrat Bold" pitchFamily="34" charset="-120"/>
              </a:rPr>
              <a:t>hai vai độc lập</a:t>
            </a:r>
            <a:pPr algn="l" marL="264160" indent="-264160">
              <a:lnSpc>
                <a:spcPct val="133000"/>
              </a:lnSpc>
              <a:buSzPct val="100000"/>
              <a:buChar char="•"/>
            </a:pPr>
            <a:r>
              <a:rPr lang="en-US" sz="1300" dirty="0">
                <a:solidFill>
                  <a:srgbClr val="FFFFFF"/>
                </a:solidFill>
                <a:latin typeface="Montserrat" pitchFamily="34" charset="0"/>
                <a:ea typeface="Montserrat" pitchFamily="34" charset="-122"/>
                <a:cs typeface="Montserrat" pitchFamily="34" charset="-120"/>
              </a:rPr>
              <a:t>.</a:t>
            </a:r>
            <a:endParaRPr lang="en-US" sz="1300" dirty="0"/>
          </a:p>
          <a:p>
            <a:pPr algn="l" marL="264160" indent="-264160">
              <a:lnSpc>
                <a:spcPct val="133000"/>
              </a:lnSpc>
              <a:buSzPct val="100000"/>
              <a:buChar char="•"/>
            </a:pPr>
            <a:r>
              <a:rPr lang="en-US" sz="1300" dirty="0">
                <a:solidFill>
                  <a:srgbClr val="FFFFFF"/>
                </a:solidFill>
                <a:latin typeface="Montserrat" pitchFamily="34" charset="0"/>
                <a:ea typeface="Montserrat" pitchFamily="34" charset="-122"/>
                <a:cs typeface="Montserrat" pitchFamily="34" charset="-120"/>
              </a:rPr>
              <a:t>Case nhạy cảm (khiếu nại, hoàn tiền) phải tạo ticket </a:t>
            </a:r>
            <a:pPr algn="l" marL="264160" indent="-264160">
              <a:lnSpc>
                <a:spcPct val="133000"/>
              </a:lnSpc>
              <a:buSzPct val="100000"/>
              <a:buChar char="•"/>
            </a:pPr>
            <a:r>
              <a:rPr lang="en-US" sz="1300" b="1" dirty="0">
                <a:solidFill>
                  <a:srgbClr val="FFFFFF"/>
                </a:solidFill>
                <a:latin typeface="Montserrat Bold" pitchFamily="34" charset="0"/>
                <a:ea typeface="Montserrat Bold" pitchFamily="34" charset="-122"/>
                <a:cs typeface="Montserrat Bold" pitchFamily="34" charset="-120"/>
              </a:rPr>
              <a:t>chuyển người</a:t>
            </a:r>
            <a:pPr algn="l" marL="264160" indent="-264160">
              <a:lnSpc>
                <a:spcPct val="133000"/>
              </a:lnSpc>
              <a:buSzPct val="100000"/>
              <a:buChar char="•"/>
            </a:pPr>
            <a:r>
              <a:rPr lang="en-US" sz="1300" dirty="0">
                <a:solidFill>
                  <a:srgbClr val="FFFFFF"/>
                </a:solidFill>
                <a:latin typeface="Montserrat" pitchFamily="34" charset="0"/>
                <a:ea typeface="Montserrat" pitchFamily="34" charset="-122"/>
                <a:cs typeface="Montserrat" pitchFamily="34" charset="-120"/>
              </a:rPr>
              <a:t>.</a:t>
            </a:r>
            <a:endParaRPr lang="en-US" sz="1300" dirty="0"/>
          </a:p>
        </p:txBody>
      </p:sp>
      <p:sp>
        <p:nvSpPr>
          <p:cNvPr id="7" name="Text 5"/>
          <p:cNvSpPr/>
          <p:nvPr/>
        </p:nvSpPr>
        <p:spPr>
          <a:xfrm>
            <a:off x="6303904" y="3063974"/>
            <a:ext cx="5232666" cy="264815"/>
          </a:xfrm>
          <a:prstGeom prst="rect">
            <a:avLst/>
          </a:prstGeom>
          <a:noFill/>
          <a:ln/>
        </p:spPr>
        <p:txBody>
          <a:bodyPr wrap="none" lIns="0" tIns="0" rIns="0" bIns="0" rtlCol="0" anchor="t"/>
          <a:lstStyle/>
          <a:p>
            <a:pPr algn="l" indent="0" marL="0">
              <a:lnSpc>
                <a:spcPct val="104000"/>
              </a:lnSpc>
              <a:buNone/>
            </a:pPr>
            <a:r>
              <a:rPr lang="en-US" sz="1600" b="1" dirty="0">
                <a:solidFill>
                  <a:srgbClr val="000000"/>
                </a:solidFill>
                <a:latin typeface="Twemoji Mozilla" pitchFamily="34" charset="0"/>
                <a:ea typeface="Twemoji Mozilla" pitchFamily="34" charset="-122"/>
                <a:cs typeface="Twemoji Mozilla" pitchFamily="34" charset="-120"/>
              </a:rPr>
              <a:t>🚫</a:t>
            </a:r>
            <a:pPr algn="l" indent="0" marL="0">
              <a:lnSpc>
                <a:spcPct val="104000"/>
              </a:lnSpc>
              <a:buNone/>
            </a:pPr>
            <a:r>
              <a:rPr lang="en-US" sz="1600" b="1" dirty="0">
                <a:solidFill>
                  <a:srgbClr val="004AAD"/>
                </a:solidFill>
                <a:latin typeface="Montserrat Bold" pitchFamily="34" charset="0"/>
                <a:ea typeface="Montserrat Bold" pitchFamily="34" charset="-122"/>
                <a:cs typeface="Montserrat Bold" pitchFamily="34" charset="-120"/>
              </a:rPr>
              <a:t> Không được làm</a:t>
            </a:r>
            <a:endParaRPr lang="en-US" sz="1600" dirty="0"/>
          </a:p>
        </p:txBody>
      </p:sp>
      <p:sp>
        <p:nvSpPr>
          <p:cNvPr id="8" name="Text 6"/>
          <p:cNvSpPr/>
          <p:nvPr/>
        </p:nvSpPr>
        <p:spPr>
          <a:xfrm>
            <a:off x="6303904" y="3494088"/>
            <a:ext cx="5232666" cy="1496616"/>
          </a:xfrm>
          <a:prstGeom prst="rect">
            <a:avLst/>
          </a:prstGeom>
          <a:noFill/>
          <a:ln/>
        </p:spPr>
        <p:txBody>
          <a:bodyPr wrap="square" lIns="0" tIns="0" rIns="0" bIns="0" rtlCol="0" anchor="t">
            <a:normAutofit/>
          </a:bodyPr>
          <a:lstStyle/>
          <a:p>
            <a:pPr algn="l" marL="264160" indent="-264160">
              <a:lnSpc>
                <a:spcPct val="133000"/>
              </a:lnSpc>
              <a:buSzPct val="100000"/>
              <a:buChar char="•"/>
            </a:pPr>
            <a:r>
              <a:rPr lang="en-US" sz="1300" dirty="0">
                <a:solidFill>
                  <a:srgbClr val="000000"/>
                </a:solidFill>
                <a:latin typeface="Montserrat" pitchFamily="34" charset="0"/>
                <a:ea typeface="Montserrat" pitchFamily="34" charset="-122"/>
                <a:cs typeface="Montserrat" pitchFamily="34" charset="-120"/>
              </a:rPr>
              <a:t>Không để bot tự </a:t>
            </a:r>
            <a:pPr algn="l" marL="264160" indent="-264160">
              <a:lnSpc>
                <a:spcPct val="133000"/>
              </a:lnSpc>
              <a:buSzPct val="100000"/>
              <a:buChar char="•"/>
            </a:pPr>
            <a:r>
              <a:rPr lang="en-US" sz="1300" b="1" dirty="0">
                <a:solidFill>
                  <a:srgbClr val="000000"/>
                </a:solidFill>
                <a:latin typeface="Montserrat Bold" pitchFamily="34" charset="0"/>
                <a:ea typeface="Montserrat Bold" pitchFamily="34" charset="-122"/>
                <a:cs typeface="Montserrat Bold" pitchFamily="34" charset="-120"/>
              </a:rPr>
              <a:t>bịa chính sách</a:t>
            </a:r>
            <a:pPr algn="l" marL="264160" indent="-264160">
              <a:lnSpc>
                <a:spcPct val="133000"/>
              </a:lnSpc>
              <a:buSzPct val="100000"/>
              <a:buChar char="•"/>
            </a:pPr>
            <a:r>
              <a:rPr lang="en-US" sz="1300" dirty="0">
                <a:solidFill>
                  <a:srgbClr val="000000"/>
                </a:solidFill>
                <a:latin typeface="Montserrat" pitchFamily="34" charset="0"/>
                <a:ea typeface="Montserrat" pitchFamily="34" charset="-122"/>
                <a:cs typeface="Montserrat" pitchFamily="34" charset="-120"/>
              </a:rPr>
              <a:t> hay ưu đãi không có trong nguồn.</a:t>
            </a:r>
            <a:endParaRPr lang="en-US" sz="1300" dirty="0"/>
          </a:p>
          <a:p>
            <a:pPr algn="l" marL="264160" indent="-264160">
              <a:lnSpc>
                <a:spcPct val="133000"/>
              </a:lnSpc>
              <a:buSzPct val="100000"/>
              <a:buChar char="•"/>
            </a:pPr>
            <a:r>
              <a:rPr lang="en-US" sz="1300" dirty="0">
                <a:solidFill>
                  <a:srgbClr val="000000"/>
                </a:solidFill>
                <a:latin typeface="Montserrat" pitchFamily="34" charset="0"/>
                <a:ea typeface="Montserrat" pitchFamily="34" charset="-122"/>
                <a:cs typeface="Montserrat" pitchFamily="34" charset="-120"/>
              </a:rPr>
              <a:t>Không bật node gửi thật (email, ticket thật) khi </a:t>
            </a:r>
            <a:pPr algn="l" marL="264160" indent="-264160">
              <a:lnSpc>
                <a:spcPct val="133000"/>
              </a:lnSpc>
              <a:buSzPct val="100000"/>
              <a:buChar char="•"/>
            </a:pPr>
            <a:r>
              <a:rPr lang="en-US" sz="1300" b="1" dirty="0">
                <a:solidFill>
                  <a:srgbClr val="000000"/>
                </a:solidFill>
                <a:latin typeface="Montserrat Bold" pitchFamily="34" charset="0"/>
                <a:ea typeface="Montserrat Bold" pitchFamily="34" charset="-122"/>
                <a:cs typeface="Montserrat Bold" pitchFamily="34" charset="-120"/>
              </a:rPr>
              <a:t>đang test</a:t>
            </a:r>
            <a:pPr algn="l" marL="264160" indent="-264160">
              <a:lnSpc>
                <a:spcPct val="133000"/>
              </a:lnSpc>
              <a:buSzPct val="100000"/>
              <a:buChar char="•"/>
            </a:pPr>
            <a:r>
              <a:rPr lang="en-US" sz="1300" dirty="0">
                <a:solidFill>
                  <a:srgbClr val="000000"/>
                </a:solidFill>
                <a:latin typeface="Montserrat" pitchFamily="34" charset="0"/>
                <a:ea typeface="Montserrat" pitchFamily="34" charset="-122"/>
                <a:cs typeface="Montserrat" pitchFamily="34" charset="-120"/>
              </a:rPr>
              <a:t>.</a:t>
            </a:r>
            <a:endParaRPr lang="en-US" sz="1300" dirty="0"/>
          </a:p>
          <a:p>
            <a:pPr algn="l" marL="264160" indent="-264160">
              <a:lnSpc>
                <a:spcPct val="133000"/>
              </a:lnSpc>
              <a:buSzPct val="100000"/>
              <a:buChar char="•"/>
            </a:pPr>
            <a:r>
              <a:rPr lang="en-US" sz="1300" dirty="0">
                <a:solidFill>
                  <a:srgbClr val="000000"/>
                </a:solidFill>
                <a:latin typeface="Montserrat" pitchFamily="34" charset="0"/>
                <a:ea typeface="Montserrat" pitchFamily="34" charset="-122"/>
                <a:cs typeface="Montserrat" pitchFamily="34" charset="-120"/>
              </a:rPr>
              <a:t>Không để một LLM vừa trả lời vừa </a:t>
            </a:r>
            <a:pPr algn="l" marL="264160" indent="-264160">
              <a:lnSpc>
                <a:spcPct val="133000"/>
              </a:lnSpc>
              <a:buSzPct val="100000"/>
              <a:buChar char="•"/>
            </a:pPr>
            <a:r>
              <a:rPr lang="en-US" sz="1300" b="1" dirty="0">
                <a:solidFill>
                  <a:srgbClr val="000000"/>
                </a:solidFill>
                <a:latin typeface="Montserrat Bold" pitchFamily="34" charset="0"/>
                <a:ea typeface="Montserrat Bold" pitchFamily="34" charset="-122"/>
                <a:cs typeface="Montserrat Bold" pitchFamily="34" charset="-120"/>
              </a:rPr>
              <a:t>tự chấm điểm</a:t>
            </a:r>
            <a:pPr algn="l" marL="264160" indent="-264160">
              <a:lnSpc>
                <a:spcPct val="133000"/>
              </a:lnSpc>
              <a:buSzPct val="100000"/>
              <a:buChar char="•"/>
            </a:pPr>
            <a:r>
              <a:rPr lang="en-US" sz="1300" dirty="0">
                <a:solidFill>
                  <a:srgbClr val="000000"/>
                </a:solidFill>
                <a:latin typeface="Montserrat" pitchFamily="34" charset="0"/>
                <a:ea typeface="Montserrat" pitchFamily="34" charset="-122"/>
                <a:cs typeface="Montserrat" pitchFamily="34" charset="-120"/>
              </a:rPr>
              <a:t> tin cậy.</a:t>
            </a:r>
            <a:endParaRPr lang="en-US" sz="1300" dirty="0"/>
          </a:p>
          <a:p>
            <a:pPr algn="l" marL="264160" indent="-264160">
              <a:lnSpc>
                <a:spcPct val="133000"/>
              </a:lnSpc>
              <a:buSzPct val="100000"/>
              <a:buChar char="•"/>
            </a:pPr>
            <a:r>
              <a:rPr lang="en-US" sz="1300" dirty="0">
                <a:solidFill>
                  <a:srgbClr val="000000"/>
                </a:solidFill>
                <a:latin typeface="Montserrat" pitchFamily="34" charset="0"/>
                <a:ea typeface="Montserrat" pitchFamily="34" charset="-122"/>
                <a:cs typeface="Montserrat" pitchFamily="34" charset="-120"/>
              </a:rPr>
              <a:t>Không </a:t>
            </a:r>
            <a:pPr algn="l" marL="264160" indent="-264160">
              <a:lnSpc>
                <a:spcPct val="133000"/>
              </a:lnSpc>
              <a:buSzPct val="100000"/>
              <a:buChar char="•"/>
            </a:pPr>
            <a:r>
              <a:rPr lang="en-US" sz="1300" b="1" dirty="0">
                <a:solidFill>
                  <a:srgbClr val="000000"/>
                </a:solidFill>
                <a:latin typeface="Montserrat Bold" pitchFamily="34" charset="0"/>
                <a:ea typeface="Montserrat Bold" pitchFamily="34" charset="-122"/>
                <a:cs typeface="Montserrat Bold" pitchFamily="34" charset="-120"/>
              </a:rPr>
              <a:t>tự động phê duyệt</a:t>
            </a:r>
            <a:pPr algn="l" marL="264160" indent="-264160">
              <a:lnSpc>
                <a:spcPct val="133000"/>
              </a:lnSpc>
              <a:buSzPct val="100000"/>
              <a:buChar char="•"/>
            </a:pPr>
            <a:r>
              <a:rPr lang="en-US" sz="1300" dirty="0">
                <a:solidFill>
                  <a:srgbClr val="000000"/>
                </a:solidFill>
                <a:latin typeface="Montserrat" pitchFamily="34" charset="0"/>
                <a:ea typeface="Montserrat" pitchFamily="34" charset="-122"/>
                <a:cs typeface="Montserrat" pitchFamily="34" charset="-120"/>
              </a:rPr>
              <a:t> hoàn tiền hay khiếu nại.</a:t>
            </a:r>
            <a:endParaRPr lang="en-US" sz="13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661475" y="770136"/>
            <a:ext cx="10868745" cy="516731"/>
          </a:xfrm>
          <a:prstGeom prst="rect">
            <a:avLst/>
          </a:prstGeom>
          <a:noFill/>
          <a:ln/>
        </p:spPr>
        <p:txBody>
          <a:bodyPr wrap="none" lIns="0" tIns="0" rIns="0" bIns="0" rtlCol="0" anchor="t"/>
          <a:lstStyle/>
          <a:p>
            <a:pPr algn="l" indent="0" marL="0">
              <a:lnSpc>
                <a:spcPct val="104000"/>
              </a:lnSpc>
              <a:buNone/>
            </a:pPr>
            <a:r>
              <a:rPr lang="en-US" sz="3250" b="1" dirty="0">
                <a:solidFill>
                  <a:srgbClr val="004AAD"/>
                </a:solidFill>
                <a:latin typeface="Montserrat Bold" pitchFamily="34" charset="0"/>
                <a:ea typeface="Montserrat Bold" pitchFamily="34" charset="-122"/>
                <a:cs typeface="Montserrat Bold" pitchFamily="34" charset="-120"/>
              </a:rPr>
              <a:t>Tiêu chí nghiệm thu (đạt từ 70/100 trở lên)</a:t>
            </a:r>
            <a:endParaRPr lang="en-US" sz="3250" dirty="0"/>
          </a:p>
        </p:txBody>
      </p:sp>
      <p:sp>
        <p:nvSpPr>
          <p:cNvPr id="3" name="Text 1"/>
          <p:cNvSpPr/>
          <p:nvPr/>
        </p:nvSpPr>
        <p:spPr>
          <a:xfrm>
            <a:off x="661475" y="1352947"/>
            <a:ext cx="10868745" cy="258465"/>
          </a:xfrm>
          <a:prstGeom prst="rect">
            <a:avLst/>
          </a:prstGeom>
          <a:noFill/>
          <a:ln/>
        </p:spPr>
        <p:txBody>
          <a:bodyPr wrap="none" lIns="0" tIns="0" rIns="0" bIns="0" rtlCol="0" anchor="t"/>
          <a:lstStyle/>
          <a:p>
            <a:pPr algn="l" indent="0" marL="0">
              <a:lnSpc>
                <a:spcPct val="104000"/>
              </a:lnSpc>
              <a:buNone/>
            </a:pPr>
            <a:r>
              <a:rPr lang="en-US" sz="1600" b="1" dirty="0">
                <a:solidFill>
                  <a:srgbClr val="004AAD"/>
                </a:solidFill>
                <a:latin typeface="Montserrat Bold" pitchFamily="34" charset="0"/>
                <a:ea typeface="Montserrat Bold" pitchFamily="34" charset="-122"/>
                <a:cs typeface="Montserrat Bold" pitchFamily="34" charset="-120"/>
              </a:rPr>
              <a:t>Grading rubric · 100 điểm</a:t>
            </a:r>
            <a:endParaRPr lang="en-US" sz="1600" dirty="0"/>
          </a:p>
        </p:txBody>
      </p:sp>
      <p:sp>
        <p:nvSpPr>
          <p:cNvPr id="4" name="Shape 2"/>
          <p:cNvSpPr/>
          <p:nvPr/>
        </p:nvSpPr>
        <p:spPr>
          <a:xfrm>
            <a:off x="661475" y="1859459"/>
            <a:ext cx="10868745" cy="3381077"/>
          </a:xfrm>
          <a:prstGeom prst="roundRect">
            <a:avLst>
              <a:gd name="adj" fmla="val 2055"/>
            </a:avLst>
          </a:prstGeom>
          <a:noFill/>
          <a:ln w="6350">
            <a:solidFill>
              <a:srgbClr val="000000">
                <a:alpha val="8000"/>
              </a:srgbClr>
            </a:solidFill>
            <a:prstDash val="solid"/>
          </a:ln>
        </p:spPr>
      </p:sp>
      <p:sp>
        <p:nvSpPr>
          <p:cNvPr id="5" name="Shape 3"/>
          <p:cNvSpPr/>
          <p:nvPr/>
        </p:nvSpPr>
        <p:spPr>
          <a:xfrm>
            <a:off x="661475" y="2344738"/>
            <a:ext cx="10868745" cy="10337"/>
          </a:xfrm>
          <a:prstGeom prst="rect">
            <a:avLst/>
          </a:prstGeom>
          <a:solidFill>
            <a:srgbClr val="000000">
              <a:alpha val="8000"/>
            </a:srgbClr>
          </a:solidFill>
          <a:ln/>
        </p:spPr>
      </p:sp>
      <p:sp>
        <p:nvSpPr>
          <p:cNvPr id="6" name="Shape 4"/>
          <p:cNvSpPr/>
          <p:nvPr/>
        </p:nvSpPr>
        <p:spPr>
          <a:xfrm>
            <a:off x="661475" y="2826841"/>
            <a:ext cx="10868745" cy="10337"/>
          </a:xfrm>
          <a:prstGeom prst="rect">
            <a:avLst/>
          </a:prstGeom>
          <a:solidFill>
            <a:srgbClr val="000000">
              <a:alpha val="8000"/>
            </a:srgbClr>
          </a:solidFill>
          <a:ln/>
        </p:spPr>
      </p:sp>
      <p:sp>
        <p:nvSpPr>
          <p:cNvPr id="7" name="Shape 5"/>
          <p:cNvSpPr/>
          <p:nvPr/>
        </p:nvSpPr>
        <p:spPr>
          <a:xfrm>
            <a:off x="661475" y="3308945"/>
            <a:ext cx="10868745" cy="10337"/>
          </a:xfrm>
          <a:prstGeom prst="rect">
            <a:avLst/>
          </a:prstGeom>
          <a:solidFill>
            <a:srgbClr val="000000">
              <a:alpha val="8000"/>
            </a:srgbClr>
          </a:solidFill>
          <a:ln/>
        </p:spPr>
      </p:sp>
      <p:sp>
        <p:nvSpPr>
          <p:cNvPr id="8" name="Shape 6"/>
          <p:cNvSpPr/>
          <p:nvPr/>
        </p:nvSpPr>
        <p:spPr>
          <a:xfrm>
            <a:off x="661475" y="3791049"/>
            <a:ext cx="10868745" cy="10337"/>
          </a:xfrm>
          <a:prstGeom prst="rect">
            <a:avLst/>
          </a:prstGeom>
          <a:solidFill>
            <a:srgbClr val="000000">
              <a:alpha val="8000"/>
            </a:srgbClr>
          </a:solidFill>
          <a:ln/>
        </p:spPr>
      </p:sp>
      <p:sp>
        <p:nvSpPr>
          <p:cNvPr id="9" name="Shape 7"/>
          <p:cNvSpPr/>
          <p:nvPr/>
        </p:nvSpPr>
        <p:spPr>
          <a:xfrm>
            <a:off x="661475" y="4273153"/>
            <a:ext cx="10868745" cy="10337"/>
          </a:xfrm>
          <a:prstGeom prst="rect">
            <a:avLst/>
          </a:prstGeom>
          <a:solidFill>
            <a:srgbClr val="000000">
              <a:alpha val="8000"/>
            </a:srgbClr>
          </a:solidFill>
          <a:ln/>
        </p:spPr>
      </p:sp>
      <p:sp>
        <p:nvSpPr>
          <p:cNvPr id="10" name="Shape 8"/>
          <p:cNvSpPr/>
          <p:nvPr/>
        </p:nvSpPr>
        <p:spPr>
          <a:xfrm>
            <a:off x="661475" y="4755257"/>
            <a:ext cx="10868745" cy="10337"/>
          </a:xfrm>
          <a:prstGeom prst="rect">
            <a:avLst/>
          </a:prstGeom>
          <a:solidFill>
            <a:srgbClr val="000000">
              <a:alpha val="8000"/>
            </a:srgbClr>
          </a:solidFill>
          <a:ln/>
        </p:spPr>
      </p:sp>
      <p:sp>
        <p:nvSpPr>
          <p:cNvPr id="11" name="Shape 9"/>
          <p:cNvSpPr/>
          <p:nvPr/>
        </p:nvSpPr>
        <p:spPr>
          <a:xfrm>
            <a:off x="667924" y="1865809"/>
            <a:ext cx="6513548" cy="478929"/>
          </a:xfrm>
          <a:custGeom>
            <a:avLst/>
            <a:gdLst/>
            <a:ahLst/>
            <a:cxnLst/>
            <a:rect l="l" t="t" r="r" b="b"/>
            <a:pathLst>
              <a:path w="6513548" h="478929">
                <a:moveTo>
                  <a:pt x="57887" y="0"/>
                </a:moveTo>
                <a:lnTo>
                  <a:pt x="6513548" y="0"/>
                </a:lnTo>
                <a:lnTo>
                  <a:pt x="6513548" y="478929"/>
                </a:lnTo>
                <a:lnTo>
                  <a:pt x="0" y="478929"/>
                </a:lnTo>
                <a:lnTo>
                  <a:pt x="0" y="57888"/>
                </a:lnTo>
                <a:arcTo hR="57888" wR="57887" stAng="10800000" swAng="5400000"/>
                <a:close/>
              </a:path>
            </a:pathLst>
          </a:custGeom>
          <a:solidFill>
            <a:srgbClr val="004AAD"/>
          </a:solidFill>
          <a:ln/>
        </p:spPr>
      </p:sp>
      <p:sp>
        <p:nvSpPr>
          <p:cNvPr id="12" name="Text 10"/>
          <p:cNvSpPr/>
          <p:nvPr/>
        </p:nvSpPr>
        <p:spPr>
          <a:xfrm>
            <a:off x="833218" y="1971377"/>
            <a:ext cx="6792544" cy="264616"/>
          </a:xfrm>
          <a:prstGeom prst="rect">
            <a:avLst/>
          </a:prstGeom>
          <a:noFill/>
          <a:ln/>
        </p:spPr>
        <p:txBody>
          <a:bodyPr wrap="none" lIns="0" tIns="0" rIns="0" bIns="0" rtlCol="0" anchor="t"/>
          <a:lstStyle/>
          <a:p>
            <a:pPr algn="l" indent="0" marL="0">
              <a:lnSpc>
                <a:spcPct val="133000"/>
              </a:lnSpc>
              <a:buNone/>
            </a:pPr>
            <a:r>
              <a:rPr lang="en-US" sz="1300" b="1" dirty="0">
                <a:solidFill>
                  <a:srgbClr val="FFFFFF"/>
                </a:solidFill>
                <a:latin typeface="Montserrat Bold" pitchFamily="34" charset="0"/>
                <a:ea typeface="Montserrat Bold" pitchFamily="34" charset="-122"/>
                <a:cs typeface="Montserrat Bold" pitchFamily="34" charset="-120"/>
              </a:rPr>
              <a:t>Hạng mục nghiệm thu</a:t>
            </a:r>
            <a:endParaRPr lang="en-US" sz="1300" dirty="0"/>
          </a:p>
        </p:txBody>
      </p:sp>
      <p:sp>
        <p:nvSpPr>
          <p:cNvPr id="13" name="Shape 11"/>
          <p:cNvSpPr/>
          <p:nvPr/>
        </p:nvSpPr>
        <p:spPr>
          <a:xfrm>
            <a:off x="7181472" y="1865809"/>
            <a:ext cx="4342398" cy="478929"/>
          </a:xfrm>
          <a:custGeom>
            <a:avLst/>
            <a:gdLst/>
            <a:ahLst/>
            <a:cxnLst/>
            <a:rect l="l" t="t" r="r" b="b"/>
            <a:pathLst>
              <a:path w="4342398" h="478929">
                <a:moveTo>
                  <a:pt x="0" y="0"/>
                </a:moveTo>
                <a:lnTo>
                  <a:pt x="4284511" y="0"/>
                </a:lnTo>
                <a:arcTo hR="57888" wR="57887" stAng="16200000" swAng="5400000"/>
                <a:lnTo>
                  <a:pt x="4342398" y="478929"/>
                </a:lnTo>
                <a:lnTo>
                  <a:pt x="0" y="478929"/>
                </a:lnTo>
                <a:lnTo>
                  <a:pt x="0" y="0"/>
                </a:lnTo>
                <a:close/>
              </a:path>
            </a:pathLst>
          </a:custGeom>
          <a:solidFill>
            <a:srgbClr val="004AAD"/>
          </a:solidFill>
          <a:ln/>
        </p:spPr>
      </p:sp>
      <p:sp>
        <p:nvSpPr>
          <p:cNvPr id="14" name="Text 12"/>
          <p:cNvSpPr/>
          <p:nvPr/>
        </p:nvSpPr>
        <p:spPr>
          <a:xfrm>
            <a:off x="7346766" y="1971377"/>
            <a:ext cx="4621395" cy="264616"/>
          </a:xfrm>
          <a:prstGeom prst="rect">
            <a:avLst/>
          </a:prstGeom>
          <a:noFill/>
          <a:ln/>
        </p:spPr>
        <p:txBody>
          <a:bodyPr wrap="none" lIns="0" tIns="0" rIns="0" bIns="0" rtlCol="0" anchor="t"/>
          <a:lstStyle/>
          <a:p>
            <a:pPr algn="l" indent="0" marL="0">
              <a:lnSpc>
                <a:spcPct val="133000"/>
              </a:lnSpc>
              <a:buNone/>
            </a:pPr>
            <a:r>
              <a:rPr lang="en-US" sz="1300" b="1" dirty="0">
                <a:solidFill>
                  <a:srgbClr val="FFFFFF"/>
                </a:solidFill>
                <a:latin typeface="Montserrat Bold" pitchFamily="34" charset="0"/>
                <a:ea typeface="Montserrat Bold" pitchFamily="34" charset="-122"/>
                <a:cs typeface="Montserrat Bold" pitchFamily="34" charset="-120"/>
              </a:rPr>
              <a:t>Điểm</a:t>
            </a:r>
            <a:endParaRPr lang="en-US" sz="1300" dirty="0"/>
          </a:p>
        </p:txBody>
      </p:sp>
      <p:sp>
        <p:nvSpPr>
          <p:cNvPr id="15" name="Text 13"/>
          <p:cNvSpPr/>
          <p:nvPr/>
        </p:nvSpPr>
        <p:spPr>
          <a:xfrm>
            <a:off x="833218" y="2453481"/>
            <a:ext cx="6792544" cy="264616"/>
          </a:xfrm>
          <a:prstGeom prst="rect">
            <a:avLst/>
          </a:prstGeom>
          <a:noFill/>
          <a:ln/>
        </p:spPr>
        <p:txBody>
          <a:bodyPr wrap="none" lIns="0" tIns="0" rIns="0" bIns="0" rtlCol="0" anchor="t"/>
          <a:lstStyle/>
          <a:p>
            <a:pPr algn="l" indent="0" marL="0">
              <a:lnSpc>
                <a:spcPct val="133000"/>
              </a:lnSpc>
              <a:buNone/>
            </a:pPr>
            <a:r>
              <a:rPr lang="en-US" sz="1300" dirty="0">
                <a:solidFill>
                  <a:srgbClr val="000000"/>
                </a:solidFill>
                <a:latin typeface="Montserrat" pitchFamily="34" charset="0"/>
                <a:ea typeface="Montserrat" pitchFamily="34" charset="-122"/>
                <a:cs typeface="Montserrat" pitchFamily="34" charset="-120"/>
              </a:rPr>
              <a:t>Thực hành 1: vector knowledge DB (15 vector đủ faq_id và nhóm)</a:t>
            </a:r>
            <a:endParaRPr lang="en-US" sz="1300" dirty="0"/>
          </a:p>
        </p:txBody>
      </p:sp>
      <p:sp>
        <p:nvSpPr>
          <p:cNvPr id="16" name="Text 14"/>
          <p:cNvSpPr/>
          <p:nvPr/>
        </p:nvSpPr>
        <p:spPr>
          <a:xfrm>
            <a:off x="7041974" y="2453481"/>
            <a:ext cx="4621395" cy="264616"/>
          </a:xfrm>
          <a:prstGeom prst="rect">
            <a:avLst/>
          </a:prstGeom>
          <a:noFill/>
          <a:ln/>
        </p:spPr>
        <p:txBody>
          <a:bodyPr wrap="none" lIns="0" tIns="0" rIns="0" bIns="0" rtlCol="0" anchor="t"/>
          <a:lstStyle/>
          <a:p>
            <a:pPr algn="ctr" indent="0" marL="0">
              <a:lnSpc>
                <a:spcPct val="133000"/>
              </a:lnSpc>
              <a:buNone/>
            </a:pPr>
            <a:r>
              <a:rPr lang="en-US" sz="1300" b="1" dirty="0">
                <a:solidFill>
                  <a:srgbClr val="000000"/>
                </a:solidFill>
                <a:latin typeface="Montserrat Bold" pitchFamily="34" charset="0"/>
                <a:ea typeface="Montserrat Bold" pitchFamily="34" charset="-122"/>
                <a:cs typeface="Montserrat Bold" pitchFamily="34" charset="-120"/>
              </a:rPr>
              <a:t>15</a:t>
            </a:r>
            <a:endParaRPr lang="en-US" sz="1300" dirty="0"/>
          </a:p>
        </p:txBody>
      </p:sp>
      <p:sp>
        <p:nvSpPr>
          <p:cNvPr id="17" name="Text 15"/>
          <p:cNvSpPr/>
          <p:nvPr/>
        </p:nvSpPr>
        <p:spPr>
          <a:xfrm>
            <a:off x="833218" y="2935585"/>
            <a:ext cx="6792544" cy="264616"/>
          </a:xfrm>
          <a:prstGeom prst="rect">
            <a:avLst/>
          </a:prstGeom>
          <a:noFill/>
          <a:ln/>
        </p:spPr>
        <p:txBody>
          <a:bodyPr wrap="none" lIns="0" tIns="0" rIns="0" bIns="0" rtlCol="0" anchor="t"/>
          <a:lstStyle/>
          <a:p>
            <a:pPr algn="l" indent="0" marL="0">
              <a:lnSpc>
                <a:spcPct val="133000"/>
              </a:lnSpc>
              <a:buNone/>
            </a:pPr>
            <a:r>
              <a:rPr lang="en-US" sz="1300" dirty="0">
                <a:solidFill>
                  <a:srgbClr val="000000"/>
                </a:solidFill>
                <a:latin typeface="Montserrat" pitchFamily="34" charset="0"/>
                <a:ea typeface="Montserrat" pitchFamily="34" charset="-122"/>
                <a:cs typeface="Montserrat" pitchFamily="34" charset="-120"/>
              </a:rPr>
              <a:t>Thực hành 2: guardrail, router và FAQ cache (5/5 route đúng)</a:t>
            </a:r>
            <a:endParaRPr lang="en-US" sz="1300" dirty="0"/>
          </a:p>
        </p:txBody>
      </p:sp>
      <p:sp>
        <p:nvSpPr>
          <p:cNvPr id="18" name="Text 16"/>
          <p:cNvSpPr/>
          <p:nvPr/>
        </p:nvSpPr>
        <p:spPr>
          <a:xfrm>
            <a:off x="7041974" y="2935585"/>
            <a:ext cx="4621395" cy="264616"/>
          </a:xfrm>
          <a:prstGeom prst="rect">
            <a:avLst/>
          </a:prstGeom>
          <a:noFill/>
          <a:ln/>
        </p:spPr>
        <p:txBody>
          <a:bodyPr wrap="none" lIns="0" tIns="0" rIns="0" bIns="0" rtlCol="0" anchor="t"/>
          <a:lstStyle/>
          <a:p>
            <a:pPr algn="ctr" indent="0" marL="0">
              <a:lnSpc>
                <a:spcPct val="133000"/>
              </a:lnSpc>
              <a:buNone/>
            </a:pPr>
            <a:r>
              <a:rPr lang="en-US" sz="1300" b="1" dirty="0">
                <a:solidFill>
                  <a:srgbClr val="000000"/>
                </a:solidFill>
                <a:latin typeface="Montserrat Bold" pitchFamily="34" charset="0"/>
                <a:ea typeface="Montserrat Bold" pitchFamily="34" charset="-122"/>
                <a:cs typeface="Montserrat Bold" pitchFamily="34" charset="-120"/>
              </a:rPr>
              <a:t>20</a:t>
            </a:r>
            <a:endParaRPr lang="en-US" sz="1300" dirty="0"/>
          </a:p>
        </p:txBody>
      </p:sp>
      <p:sp>
        <p:nvSpPr>
          <p:cNvPr id="19" name="Text 17"/>
          <p:cNvSpPr/>
          <p:nvPr/>
        </p:nvSpPr>
        <p:spPr>
          <a:xfrm>
            <a:off x="833218" y="3417689"/>
            <a:ext cx="6792544" cy="264616"/>
          </a:xfrm>
          <a:prstGeom prst="rect">
            <a:avLst/>
          </a:prstGeom>
          <a:noFill/>
          <a:ln/>
        </p:spPr>
        <p:txBody>
          <a:bodyPr wrap="none" lIns="0" tIns="0" rIns="0" bIns="0" rtlCol="0" anchor="t"/>
          <a:lstStyle/>
          <a:p>
            <a:pPr algn="l" indent="0" marL="0">
              <a:lnSpc>
                <a:spcPct val="133000"/>
              </a:lnSpc>
              <a:buNone/>
            </a:pPr>
            <a:r>
              <a:rPr lang="en-US" sz="1300" dirty="0">
                <a:solidFill>
                  <a:srgbClr val="000000"/>
                </a:solidFill>
                <a:latin typeface="Montserrat" pitchFamily="34" charset="0"/>
                <a:ea typeface="Montserrat" pitchFamily="34" charset="-122"/>
                <a:cs typeface="Montserrat" pitchFamily="34" charset="-120"/>
              </a:rPr>
              <a:t>Thực hành 3: LLM fallback có nguồn (cache miss mới gọi LLM)</a:t>
            </a:r>
            <a:endParaRPr lang="en-US" sz="1300" dirty="0"/>
          </a:p>
        </p:txBody>
      </p:sp>
      <p:sp>
        <p:nvSpPr>
          <p:cNvPr id="20" name="Text 18"/>
          <p:cNvSpPr/>
          <p:nvPr/>
        </p:nvSpPr>
        <p:spPr>
          <a:xfrm>
            <a:off x="7041974" y="3417689"/>
            <a:ext cx="4621395" cy="264616"/>
          </a:xfrm>
          <a:prstGeom prst="rect">
            <a:avLst/>
          </a:prstGeom>
          <a:noFill/>
          <a:ln/>
        </p:spPr>
        <p:txBody>
          <a:bodyPr wrap="none" lIns="0" tIns="0" rIns="0" bIns="0" rtlCol="0" anchor="t"/>
          <a:lstStyle/>
          <a:p>
            <a:pPr algn="ctr" indent="0" marL="0">
              <a:lnSpc>
                <a:spcPct val="133000"/>
              </a:lnSpc>
              <a:buNone/>
            </a:pPr>
            <a:r>
              <a:rPr lang="en-US" sz="1300" b="1" dirty="0">
                <a:solidFill>
                  <a:srgbClr val="000000"/>
                </a:solidFill>
                <a:latin typeface="Montserrat Bold" pitchFamily="34" charset="0"/>
                <a:ea typeface="Montserrat Bold" pitchFamily="34" charset="-122"/>
                <a:cs typeface="Montserrat Bold" pitchFamily="34" charset="-120"/>
              </a:rPr>
              <a:t>15</a:t>
            </a:r>
            <a:endParaRPr lang="en-US" sz="1300" dirty="0"/>
          </a:p>
        </p:txBody>
      </p:sp>
      <p:sp>
        <p:nvSpPr>
          <p:cNvPr id="21" name="Text 19"/>
          <p:cNvSpPr/>
          <p:nvPr/>
        </p:nvSpPr>
        <p:spPr>
          <a:xfrm>
            <a:off x="833218" y="3899793"/>
            <a:ext cx="6792544" cy="264616"/>
          </a:xfrm>
          <a:prstGeom prst="rect">
            <a:avLst/>
          </a:prstGeom>
          <a:noFill/>
          <a:ln/>
        </p:spPr>
        <p:txBody>
          <a:bodyPr wrap="none" lIns="0" tIns="0" rIns="0" bIns="0" rtlCol="0" anchor="t"/>
          <a:lstStyle/>
          <a:p>
            <a:pPr algn="l" indent="0" marL="0">
              <a:lnSpc>
                <a:spcPct val="133000"/>
              </a:lnSpc>
              <a:buNone/>
            </a:pPr>
            <a:r>
              <a:rPr lang="en-US" sz="1300" dirty="0">
                <a:solidFill>
                  <a:srgbClr val="000000"/>
                </a:solidFill>
                <a:latin typeface="Montserrat" pitchFamily="34" charset="0"/>
                <a:ea typeface="Montserrat" pitchFamily="34" charset="-122"/>
                <a:cs typeface="Montserrat" pitchFamily="34" charset="-120"/>
              </a:rPr>
              <a:t>Thực hành 3: LLM-as-Judge và HITL ticket (đúng TC2 và TC4)</a:t>
            </a:r>
            <a:endParaRPr lang="en-US" sz="1300" dirty="0"/>
          </a:p>
        </p:txBody>
      </p:sp>
      <p:sp>
        <p:nvSpPr>
          <p:cNvPr id="22" name="Text 20"/>
          <p:cNvSpPr/>
          <p:nvPr/>
        </p:nvSpPr>
        <p:spPr>
          <a:xfrm>
            <a:off x="7041974" y="3899793"/>
            <a:ext cx="4621395" cy="264616"/>
          </a:xfrm>
          <a:prstGeom prst="rect">
            <a:avLst/>
          </a:prstGeom>
          <a:noFill/>
          <a:ln/>
        </p:spPr>
        <p:txBody>
          <a:bodyPr wrap="none" lIns="0" tIns="0" rIns="0" bIns="0" rtlCol="0" anchor="t"/>
          <a:lstStyle/>
          <a:p>
            <a:pPr algn="ctr" indent="0" marL="0">
              <a:lnSpc>
                <a:spcPct val="133000"/>
              </a:lnSpc>
              <a:buNone/>
            </a:pPr>
            <a:r>
              <a:rPr lang="en-US" sz="1300" b="1" dirty="0">
                <a:solidFill>
                  <a:srgbClr val="000000"/>
                </a:solidFill>
                <a:latin typeface="Montserrat Bold" pitchFamily="34" charset="0"/>
                <a:ea typeface="Montserrat Bold" pitchFamily="34" charset="-122"/>
                <a:cs typeface="Montserrat Bold" pitchFamily="34" charset="-120"/>
              </a:rPr>
              <a:t>20</a:t>
            </a:r>
            <a:endParaRPr lang="en-US" sz="1300" dirty="0"/>
          </a:p>
        </p:txBody>
      </p:sp>
      <p:sp>
        <p:nvSpPr>
          <p:cNvPr id="23" name="Text 21"/>
          <p:cNvSpPr/>
          <p:nvPr/>
        </p:nvSpPr>
        <p:spPr>
          <a:xfrm>
            <a:off x="833218" y="4381897"/>
            <a:ext cx="6792544" cy="264616"/>
          </a:xfrm>
          <a:prstGeom prst="rect">
            <a:avLst/>
          </a:prstGeom>
          <a:noFill/>
          <a:ln/>
        </p:spPr>
        <p:txBody>
          <a:bodyPr wrap="none" lIns="0" tIns="0" rIns="0" bIns="0" rtlCol="0" anchor="t"/>
          <a:lstStyle/>
          <a:p>
            <a:pPr algn="l" indent="0" marL="0">
              <a:lnSpc>
                <a:spcPct val="133000"/>
              </a:lnSpc>
              <a:buNone/>
            </a:pPr>
            <a:r>
              <a:rPr lang="en-US" sz="1300" dirty="0">
                <a:solidFill>
                  <a:srgbClr val="000000"/>
                </a:solidFill>
                <a:latin typeface="Montserrat" pitchFamily="34" charset="0"/>
                <a:ea typeface="Montserrat" pitchFamily="34" charset="-122"/>
                <a:cs typeface="Montserrat" pitchFamily="34" charset="-120"/>
              </a:rPr>
              <a:t>Thực hành 4: landing page và chatbot end-to-end (log 5 case)</a:t>
            </a:r>
            <a:endParaRPr lang="en-US" sz="1300" dirty="0"/>
          </a:p>
        </p:txBody>
      </p:sp>
      <p:sp>
        <p:nvSpPr>
          <p:cNvPr id="24" name="Text 22"/>
          <p:cNvSpPr/>
          <p:nvPr/>
        </p:nvSpPr>
        <p:spPr>
          <a:xfrm>
            <a:off x="7041974" y="4381897"/>
            <a:ext cx="4621395" cy="264616"/>
          </a:xfrm>
          <a:prstGeom prst="rect">
            <a:avLst/>
          </a:prstGeom>
          <a:noFill/>
          <a:ln/>
        </p:spPr>
        <p:txBody>
          <a:bodyPr wrap="none" lIns="0" tIns="0" rIns="0" bIns="0" rtlCol="0" anchor="t"/>
          <a:lstStyle/>
          <a:p>
            <a:pPr algn="ctr" indent="0" marL="0">
              <a:lnSpc>
                <a:spcPct val="133000"/>
              </a:lnSpc>
              <a:buNone/>
            </a:pPr>
            <a:r>
              <a:rPr lang="en-US" sz="1300" b="1" dirty="0">
                <a:solidFill>
                  <a:srgbClr val="000000"/>
                </a:solidFill>
                <a:latin typeface="Montserrat Bold" pitchFamily="34" charset="0"/>
                <a:ea typeface="Montserrat Bold" pitchFamily="34" charset="-122"/>
                <a:cs typeface="Montserrat Bold" pitchFamily="34" charset="-120"/>
              </a:rPr>
              <a:t>20</a:t>
            </a:r>
            <a:endParaRPr lang="en-US" sz="1300" dirty="0"/>
          </a:p>
        </p:txBody>
      </p:sp>
      <p:sp>
        <p:nvSpPr>
          <p:cNvPr id="25" name="Text 23"/>
          <p:cNvSpPr/>
          <p:nvPr/>
        </p:nvSpPr>
        <p:spPr>
          <a:xfrm>
            <a:off x="833218" y="4864001"/>
            <a:ext cx="6792544" cy="264616"/>
          </a:xfrm>
          <a:prstGeom prst="rect">
            <a:avLst/>
          </a:prstGeom>
          <a:noFill/>
          <a:ln/>
        </p:spPr>
        <p:txBody>
          <a:bodyPr wrap="none" lIns="0" tIns="0" rIns="0" bIns="0" rtlCol="0" anchor="t"/>
          <a:lstStyle/>
          <a:p>
            <a:pPr algn="l" indent="0" marL="0">
              <a:lnSpc>
                <a:spcPct val="133000"/>
              </a:lnSpc>
              <a:buNone/>
            </a:pPr>
            <a:r>
              <a:rPr lang="en-US" sz="1300" dirty="0">
                <a:solidFill>
                  <a:srgbClr val="000000"/>
                </a:solidFill>
                <a:latin typeface="Montserrat" pitchFamily="34" charset="0"/>
                <a:ea typeface="Montserrat" pitchFamily="34" charset="-122"/>
                <a:cs typeface="Montserrat" pitchFamily="34" charset="-120"/>
              </a:rPr>
              <a:t>Safety &amp; Control (rule injection, test mode, tách judge)</a:t>
            </a:r>
            <a:endParaRPr lang="en-US" sz="1300" dirty="0"/>
          </a:p>
        </p:txBody>
      </p:sp>
      <p:sp>
        <p:nvSpPr>
          <p:cNvPr id="26" name="Text 24"/>
          <p:cNvSpPr/>
          <p:nvPr/>
        </p:nvSpPr>
        <p:spPr>
          <a:xfrm>
            <a:off x="7041974" y="4864001"/>
            <a:ext cx="4621395" cy="264616"/>
          </a:xfrm>
          <a:prstGeom prst="rect">
            <a:avLst/>
          </a:prstGeom>
          <a:noFill/>
          <a:ln/>
        </p:spPr>
        <p:txBody>
          <a:bodyPr wrap="none" lIns="0" tIns="0" rIns="0" bIns="0" rtlCol="0" anchor="t"/>
          <a:lstStyle/>
          <a:p>
            <a:pPr algn="ctr" indent="0" marL="0">
              <a:lnSpc>
                <a:spcPct val="133000"/>
              </a:lnSpc>
              <a:buNone/>
            </a:pPr>
            <a:r>
              <a:rPr lang="en-US" sz="1300" b="1" dirty="0">
                <a:solidFill>
                  <a:srgbClr val="000000"/>
                </a:solidFill>
                <a:latin typeface="Montserrat Bold" pitchFamily="34" charset="0"/>
                <a:ea typeface="Montserrat Bold" pitchFamily="34" charset="-122"/>
                <a:cs typeface="Montserrat Bold" pitchFamily="34" charset="-120"/>
              </a:rPr>
              <a:t>10</a:t>
            </a:r>
            <a:endParaRPr lang="en-US" sz="1300" dirty="0"/>
          </a:p>
        </p:txBody>
      </p:sp>
      <p:sp>
        <p:nvSpPr>
          <p:cNvPr id="27" name="Shape 25"/>
          <p:cNvSpPr/>
          <p:nvPr/>
        </p:nvSpPr>
        <p:spPr>
          <a:xfrm>
            <a:off x="661475" y="5426571"/>
            <a:ext cx="10868745" cy="661293"/>
          </a:xfrm>
          <a:prstGeom prst="roundRect">
            <a:avLst>
              <a:gd name="adj" fmla="val 10504"/>
            </a:avLst>
          </a:prstGeom>
          <a:solidFill>
            <a:srgbClr val="CCE2FF"/>
          </a:solidFill>
          <a:ln/>
        </p:spPr>
      </p:sp>
      <p:pic>
        <p:nvPicPr>
          <p:cNvPr id="28" name="Image 0" descr="preencoded.png">    </p:cNvPr>
          <p:cNvPicPr>
            <a:picLocks noChangeAspect="1"/>
          </p:cNvPicPr>
          <p:nvPr/>
        </p:nvPicPr>
        <p:blipFill>
          <a:blip r:embed="rId1"/>
          <a:stretch>
            <a:fillRect/>
          </a:stretch>
        </p:blipFill>
        <p:spPr>
          <a:xfrm>
            <a:off x="826769" y="5666284"/>
            <a:ext cx="206667" cy="165298"/>
          </a:xfrm>
          <a:prstGeom prst="rect">
            <a:avLst/>
          </a:prstGeom>
        </p:spPr>
      </p:pic>
      <p:sp>
        <p:nvSpPr>
          <p:cNvPr id="29" name="Text 26"/>
          <p:cNvSpPr/>
          <p:nvPr/>
        </p:nvSpPr>
        <p:spPr>
          <a:xfrm>
            <a:off x="1198731" y="5633145"/>
            <a:ext cx="10775780" cy="264616"/>
          </a:xfrm>
          <a:prstGeom prst="rect">
            <a:avLst/>
          </a:prstGeom>
          <a:noFill/>
          <a:ln/>
        </p:spPr>
        <p:txBody>
          <a:bodyPr wrap="none" lIns="0" tIns="0" rIns="0" bIns="0" rtlCol="0" anchor="t"/>
          <a:lstStyle/>
          <a:p>
            <a:pPr algn="l" indent="0" marL="0">
              <a:lnSpc>
                <a:spcPct val="133000"/>
              </a:lnSpc>
              <a:buNone/>
            </a:pPr>
            <a:r>
              <a:rPr lang="en-US" sz="1300" dirty="0">
                <a:solidFill>
                  <a:srgbClr val="000000"/>
                </a:solidFill>
                <a:latin typeface="Montserrat" pitchFamily="34" charset="0"/>
                <a:ea typeface="Montserrat" pitchFamily="34" charset="-122"/>
                <a:cs typeface="Montserrat" pitchFamily="34" charset="-120"/>
              </a:rPr>
              <a:t>Đạt tối thiểu </a:t>
            </a:r>
            <a:pPr algn="l" indent="0" marL="0">
              <a:lnSpc>
                <a:spcPct val="133000"/>
              </a:lnSpc>
              <a:buNone/>
            </a:pPr>
            <a:r>
              <a:rPr lang="en-US" sz="1300" b="1" dirty="0">
                <a:solidFill>
                  <a:srgbClr val="000000"/>
                </a:solidFill>
                <a:latin typeface="Montserrat Bold" pitchFamily="34" charset="0"/>
                <a:ea typeface="Montserrat Bold" pitchFamily="34" charset="-122"/>
                <a:cs typeface="Montserrat Bold" pitchFamily="34" charset="-120"/>
              </a:rPr>
              <a:t>70/100</a:t>
            </a:r>
            <a:pPr algn="l" indent="0" marL="0">
              <a:lnSpc>
                <a:spcPct val="133000"/>
              </a:lnSpc>
              <a:buNone/>
            </a:pPr>
            <a:r>
              <a:rPr lang="en-US" sz="1300" dirty="0">
                <a:solidFill>
                  <a:srgbClr val="000000"/>
                </a:solidFill>
                <a:latin typeface="Montserrat" pitchFamily="34" charset="0"/>
                <a:ea typeface="Montserrat" pitchFamily="34" charset="-122"/>
                <a:cs typeface="Montserrat" pitchFamily="34" charset="-120"/>
              </a:rPr>
              <a:t> để hoàn thành buổi 5. Điểm an toàn là 10 điểm bắt buộc — không có exception.</a:t>
            </a:r>
            <a:endParaRPr lang="en-US" sz="13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661475" y="1030982"/>
            <a:ext cx="10868745" cy="516731"/>
          </a:xfrm>
          <a:prstGeom prst="rect">
            <a:avLst/>
          </a:prstGeom>
          <a:noFill/>
          <a:ln/>
        </p:spPr>
        <p:txBody>
          <a:bodyPr wrap="none" lIns="0" tIns="0" rIns="0" bIns="0" rtlCol="0" anchor="t"/>
          <a:lstStyle/>
          <a:p>
            <a:pPr algn="l" indent="0" marL="0">
              <a:lnSpc>
                <a:spcPct val="104000"/>
              </a:lnSpc>
              <a:buNone/>
            </a:pPr>
            <a:r>
              <a:rPr lang="en-US" sz="3250" b="1" dirty="0">
                <a:solidFill>
                  <a:srgbClr val="004AAD"/>
                </a:solidFill>
                <a:latin typeface="Montserrat Bold" pitchFamily="34" charset="0"/>
                <a:ea typeface="Montserrat Bold" pitchFamily="34" charset="-122"/>
                <a:cs typeface="Montserrat Bold" pitchFamily="34" charset="-120"/>
              </a:rPr>
              <a:t>Tổng kết buổi 5: bốn sản phẩm mang về</a:t>
            </a:r>
            <a:endParaRPr lang="en-US" sz="3250" dirty="0"/>
          </a:p>
        </p:txBody>
      </p:sp>
      <p:sp>
        <p:nvSpPr>
          <p:cNvPr id="3" name="Shape 1"/>
          <p:cNvSpPr/>
          <p:nvPr/>
        </p:nvSpPr>
        <p:spPr>
          <a:xfrm>
            <a:off x="661475" y="1878409"/>
            <a:ext cx="5351725" cy="1891605"/>
          </a:xfrm>
          <a:prstGeom prst="roundRect">
            <a:avLst>
              <a:gd name="adj" fmla="val 3672"/>
            </a:avLst>
          </a:prstGeom>
          <a:solidFill>
            <a:srgbClr val="CCE2FF"/>
          </a:solidFill>
          <a:ln w="6350">
            <a:solidFill>
              <a:srgbClr val="B2C8E5"/>
            </a:solidFill>
            <a:prstDash val="solid"/>
          </a:ln>
        </p:spPr>
      </p:sp>
      <p:sp>
        <p:nvSpPr>
          <p:cNvPr id="4" name="Shape 2"/>
          <p:cNvSpPr/>
          <p:nvPr/>
        </p:nvSpPr>
        <p:spPr>
          <a:xfrm>
            <a:off x="833119" y="2050058"/>
            <a:ext cx="496081" cy="496094"/>
          </a:xfrm>
          <a:prstGeom prst="ellipse">
            <a:avLst/>
          </a:prstGeom>
          <a:solidFill>
            <a:srgbClr val="004AAD"/>
          </a:solidFill>
          <a:ln/>
        </p:spPr>
      </p:sp>
      <p:pic>
        <p:nvPicPr>
          <p:cNvPr id="5"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969541" y="2186384"/>
            <a:ext cx="223237" cy="223242"/>
          </a:xfrm>
          <a:prstGeom prst="rect">
            <a:avLst/>
          </a:prstGeom>
        </p:spPr>
      </p:pic>
      <p:sp>
        <p:nvSpPr>
          <p:cNvPr id="6" name="Text 3"/>
          <p:cNvSpPr/>
          <p:nvPr/>
        </p:nvSpPr>
        <p:spPr>
          <a:xfrm>
            <a:off x="833119" y="2711450"/>
            <a:ext cx="5008437" cy="258465"/>
          </a:xfrm>
          <a:prstGeom prst="rect">
            <a:avLst/>
          </a:prstGeom>
          <a:noFill/>
          <a:ln/>
        </p:spPr>
        <p:txBody>
          <a:bodyPr wrap="none" lIns="0" tIns="0" rIns="0" bIns="0" rtlCol="0" anchor="t"/>
          <a:lstStyle/>
          <a:p>
            <a:pPr algn="l" indent="0" marL="0">
              <a:lnSpc>
                <a:spcPct val="104000"/>
              </a:lnSpc>
              <a:buNone/>
            </a:pPr>
            <a:r>
              <a:rPr lang="en-US" sz="1600" b="1" dirty="0">
                <a:solidFill>
                  <a:srgbClr val="000000"/>
                </a:solidFill>
                <a:latin typeface="Montserrat Bold" pitchFamily="34" charset="0"/>
                <a:ea typeface="Montserrat Bold" pitchFamily="34" charset="-122"/>
                <a:cs typeface="Montserrat Bold" pitchFamily="34" charset="-120"/>
              </a:rPr>
              <a:t>vector-store.json</a:t>
            </a:r>
            <a:endParaRPr lang="en-US" sz="1600" dirty="0"/>
          </a:p>
        </p:txBody>
      </p:sp>
      <p:sp>
        <p:nvSpPr>
          <p:cNvPr id="7" name="Text 4"/>
          <p:cNvSpPr/>
          <p:nvPr/>
        </p:nvSpPr>
        <p:spPr>
          <a:xfrm>
            <a:off x="833119" y="3069134"/>
            <a:ext cx="5008437" cy="264616"/>
          </a:xfrm>
          <a:prstGeom prst="rect">
            <a:avLst/>
          </a:prstGeom>
          <a:noFill/>
          <a:ln/>
        </p:spPr>
        <p:txBody>
          <a:bodyPr wrap="none" lIns="0" tIns="0" rIns="0" bIns="0" rtlCol="0" anchor="t"/>
          <a:lstStyle/>
          <a:p>
            <a:pPr algn="l" indent="0" marL="0">
              <a:lnSpc>
                <a:spcPct val="133000"/>
              </a:lnSpc>
              <a:buNone/>
            </a:pPr>
            <a:r>
              <a:rPr lang="en-US" sz="1300" dirty="0">
                <a:solidFill>
                  <a:srgbClr val="000000"/>
                </a:solidFill>
                <a:latin typeface="Montserrat" pitchFamily="34" charset="0"/>
                <a:ea typeface="Montserrat" pitchFamily="34" charset="-122"/>
                <a:cs typeface="Montserrat" pitchFamily="34" charset="-120"/>
              </a:rPr>
              <a:t>15 FAQ đã embed, sẵn sàng truy hồi semantic theo ý nghĩa.</a:t>
            </a:r>
            <a:endParaRPr lang="en-US" sz="1300" dirty="0"/>
          </a:p>
        </p:txBody>
      </p:sp>
      <p:sp>
        <p:nvSpPr>
          <p:cNvPr id="8" name="Shape 5"/>
          <p:cNvSpPr/>
          <p:nvPr/>
        </p:nvSpPr>
        <p:spPr>
          <a:xfrm>
            <a:off x="6178495" y="1878409"/>
            <a:ext cx="5351725" cy="1891605"/>
          </a:xfrm>
          <a:prstGeom prst="roundRect">
            <a:avLst>
              <a:gd name="adj" fmla="val 3672"/>
            </a:avLst>
          </a:prstGeom>
          <a:solidFill>
            <a:srgbClr val="CCE2FF"/>
          </a:solidFill>
          <a:ln w="6350">
            <a:solidFill>
              <a:srgbClr val="B2C8E5"/>
            </a:solidFill>
            <a:prstDash val="solid"/>
          </a:ln>
        </p:spPr>
      </p:sp>
      <p:sp>
        <p:nvSpPr>
          <p:cNvPr id="9" name="Shape 6"/>
          <p:cNvSpPr/>
          <p:nvPr/>
        </p:nvSpPr>
        <p:spPr>
          <a:xfrm>
            <a:off x="6350139" y="2050058"/>
            <a:ext cx="496081" cy="496094"/>
          </a:xfrm>
          <a:prstGeom prst="ellipse">
            <a:avLst/>
          </a:prstGeom>
          <a:solidFill>
            <a:srgbClr val="004AAD"/>
          </a:solidFill>
          <a:ln/>
        </p:spPr>
      </p:sp>
      <p:pic>
        <p:nvPicPr>
          <p:cNvPr id="10"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486561" y="2186384"/>
            <a:ext cx="223237" cy="223242"/>
          </a:xfrm>
          <a:prstGeom prst="rect">
            <a:avLst/>
          </a:prstGeom>
        </p:spPr>
      </p:pic>
      <p:sp>
        <p:nvSpPr>
          <p:cNvPr id="11" name="Text 7"/>
          <p:cNvSpPr/>
          <p:nvPr/>
        </p:nvSpPr>
        <p:spPr>
          <a:xfrm>
            <a:off x="6350139" y="2711450"/>
            <a:ext cx="5008437" cy="258465"/>
          </a:xfrm>
          <a:prstGeom prst="rect">
            <a:avLst/>
          </a:prstGeom>
          <a:noFill/>
          <a:ln/>
        </p:spPr>
        <p:txBody>
          <a:bodyPr wrap="none" lIns="0" tIns="0" rIns="0" bIns="0" rtlCol="0" anchor="t"/>
          <a:lstStyle/>
          <a:p>
            <a:pPr algn="l" indent="0" marL="0">
              <a:lnSpc>
                <a:spcPct val="104000"/>
              </a:lnSpc>
              <a:buNone/>
            </a:pPr>
            <a:r>
              <a:rPr lang="en-US" sz="1600" b="1" dirty="0">
                <a:solidFill>
                  <a:srgbClr val="000000"/>
                </a:solidFill>
                <a:latin typeface="Montserrat Bold" pitchFamily="34" charset="0"/>
                <a:ea typeface="Montserrat Bold" pitchFamily="34" charset="-122"/>
                <a:cs typeface="Montserrat Bold" pitchFamily="34" charset="-120"/>
              </a:rPr>
              <a:t>Guardrail + Router + Cache</a:t>
            </a:r>
            <a:endParaRPr lang="en-US" sz="1600" dirty="0"/>
          </a:p>
        </p:txBody>
      </p:sp>
      <p:sp>
        <p:nvSpPr>
          <p:cNvPr id="12" name="Text 8"/>
          <p:cNvSpPr/>
          <p:nvPr/>
        </p:nvSpPr>
        <p:spPr>
          <a:xfrm>
            <a:off x="6350139" y="3069134"/>
            <a:ext cx="5008437" cy="529233"/>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000000"/>
                </a:solidFill>
                <a:latin typeface="Montserrat" pitchFamily="34" charset="0"/>
                <a:ea typeface="Montserrat" pitchFamily="34" charset="-122"/>
                <a:cs typeface="Montserrat" pitchFamily="34" charset="-120"/>
              </a:rPr>
              <a:t>5/5 route đúng, ngoài scope chặn trước LLM, fast path tiết kiệm chi phí.</a:t>
            </a:r>
            <a:endParaRPr lang="en-US" sz="1300" dirty="0"/>
          </a:p>
        </p:txBody>
      </p:sp>
      <p:sp>
        <p:nvSpPr>
          <p:cNvPr id="13" name="Shape 9"/>
          <p:cNvSpPr/>
          <p:nvPr/>
        </p:nvSpPr>
        <p:spPr>
          <a:xfrm>
            <a:off x="661475" y="3935313"/>
            <a:ext cx="5351725" cy="1891605"/>
          </a:xfrm>
          <a:prstGeom prst="roundRect">
            <a:avLst>
              <a:gd name="adj" fmla="val 3672"/>
            </a:avLst>
          </a:prstGeom>
          <a:solidFill>
            <a:srgbClr val="CCE2FF"/>
          </a:solidFill>
          <a:ln w="6350">
            <a:solidFill>
              <a:srgbClr val="B2C8E5"/>
            </a:solidFill>
            <a:prstDash val="solid"/>
          </a:ln>
        </p:spPr>
      </p:sp>
      <p:sp>
        <p:nvSpPr>
          <p:cNvPr id="14" name="Shape 10"/>
          <p:cNvSpPr/>
          <p:nvPr/>
        </p:nvSpPr>
        <p:spPr>
          <a:xfrm>
            <a:off x="833119" y="4106962"/>
            <a:ext cx="496081" cy="496094"/>
          </a:xfrm>
          <a:prstGeom prst="ellipse">
            <a:avLst/>
          </a:prstGeom>
          <a:solidFill>
            <a:srgbClr val="004AAD"/>
          </a:solidFill>
          <a:ln/>
        </p:spPr>
      </p:sp>
      <p:pic>
        <p:nvPicPr>
          <p:cNvPr id="15"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969541" y="4243288"/>
            <a:ext cx="223237" cy="223242"/>
          </a:xfrm>
          <a:prstGeom prst="rect">
            <a:avLst/>
          </a:prstGeom>
        </p:spPr>
      </p:pic>
      <p:sp>
        <p:nvSpPr>
          <p:cNvPr id="16" name="Text 11"/>
          <p:cNvSpPr/>
          <p:nvPr/>
        </p:nvSpPr>
        <p:spPr>
          <a:xfrm>
            <a:off x="833119" y="4768354"/>
            <a:ext cx="5008437" cy="258465"/>
          </a:xfrm>
          <a:prstGeom prst="rect">
            <a:avLst/>
          </a:prstGeom>
          <a:noFill/>
          <a:ln/>
        </p:spPr>
        <p:txBody>
          <a:bodyPr wrap="none" lIns="0" tIns="0" rIns="0" bIns="0" rtlCol="0" anchor="t"/>
          <a:lstStyle/>
          <a:p>
            <a:pPr algn="l" indent="0" marL="0">
              <a:lnSpc>
                <a:spcPct val="104000"/>
              </a:lnSpc>
              <a:buNone/>
            </a:pPr>
            <a:r>
              <a:rPr lang="en-US" sz="1600" b="1" dirty="0">
                <a:solidFill>
                  <a:srgbClr val="000000"/>
                </a:solidFill>
                <a:latin typeface="Montserrat Bold" pitchFamily="34" charset="0"/>
                <a:ea typeface="Montserrat Bold" pitchFamily="34" charset="-122"/>
                <a:cs typeface="Montserrat Bold" pitchFamily="34" charset="-120"/>
              </a:rPr>
              <a:t>LLM-as-Judge + HITL</a:t>
            </a:r>
            <a:endParaRPr lang="en-US" sz="1600" dirty="0"/>
          </a:p>
        </p:txBody>
      </p:sp>
      <p:sp>
        <p:nvSpPr>
          <p:cNvPr id="17" name="Text 12"/>
          <p:cNvSpPr/>
          <p:nvPr/>
        </p:nvSpPr>
        <p:spPr>
          <a:xfrm>
            <a:off x="833119" y="5126038"/>
            <a:ext cx="5008437" cy="529233"/>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000000"/>
                </a:solidFill>
                <a:latin typeface="Montserrat" pitchFamily="34" charset="0"/>
                <a:ea typeface="Montserrat" pitchFamily="34" charset="-122"/>
                <a:cs typeface="Montserrat" pitchFamily="34" charset="-120"/>
              </a:rPr>
              <a:t>Đúng 2 case nhạy cảm được chuyển người (TC2 hoàn tiền, TC4 ngoài scope).</a:t>
            </a:r>
            <a:endParaRPr lang="en-US" sz="1300" dirty="0"/>
          </a:p>
        </p:txBody>
      </p:sp>
      <p:sp>
        <p:nvSpPr>
          <p:cNvPr id="18" name="Shape 13"/>
          <p:cNvSpPr/>
          <p:nvPr/>
        </p:nvSpPr>
        <p:spPr>
          <a:xfrm>
            <a:off x="6178495" y="3935313"/>
            <a:ext cx="5351725" cy="1891605"/>
          </a:xfrm>
          <a:prstGeom prst="roundRect">
            <a:avLst>
              <a:gd name="adj" fmla="val 3672"/>
            </a:avLst>
          </a:prstGeom>
          <a:solidFill>
            <a:srgbClr val="CCE2FF"/>
          </a:solidFill>
          <a:ln w="6350">
            <a:solidFill>
              <a:srgbClr val="B2C8E5"/>
            </a:solidFill>
            <a:prstDash val="solid"/>
          </a:ln>
        </p:spPr>
      </p:sp>
      <p:sp>
        <p:nvSpPr>
          <p:cNvPr id="19" name="Shape 14"/>
          <p:cNvSpPr/>
          <p:nvPr/>
        </p:nvSpPr>
        <p:spPr>
          <a:xfrm>
            <a:off x="6350139" y="4106962"/>
            <a:ext cx="496081" cy="496094"/>
          </a:xfrm>
          <a:prstGeom prst="ellipse">
            <a:avLst/>
          </a:prstGeom>
          <a:solidFill>
            <a:srgbClr val="004AAD"/>
          </a:solidFill>
          <a:ln/>
        </p:spPr>
      </p:sp>
      <p:pic>
        <p:nvPicPr>
          <p:cNvPr id="20"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486561" y="4243288"/>
            <a:ext cx="223237" cy="223242"/>
          </a:xfrm>
          <a:prstGeom prst="rect">
            <a:avLst/>
          </a:prstGeom>
        </p:spPr>
      </p:pic>
      <p:sp>
        <p:nvSpPr>
          <p:cNvPr id="21" name="Text 15"/>
          <p:cNvSpPr/>
          <p:nvPr/>
        </p:nvSpPr>
        <p:spPr>
          <a:xfrm>
            <a:off x="6350139" y="4768354"/>
            <a:ext cx="5008437" cy="258465"/>
          </a:xfrm>
          <a:prstGeom prst="rect">
            <a:avLst/>
          </a:prstGeom>
          <a:noFill/>
          <a:ln/>
        </p:spPr>
        <p:txBody>
          <a:bodyPr wrap="none" lIns="0" tIns="0" rIns="0" bIns="0" rtlCol="0" anchor="t"/>
          <a:lstStyle/>
          <a:p>
            <a:pPr algn="l" indent="0" marL="0">
              <a:lnSpc>
                <a:spcPct val="104000"/>
              </a:lnSpc>
              <a:buNone/>
            </a:pPr>
            <a:r>
              <a:rPr lang="en-US" sz="1600" b="1" dirty="0">
                <a:solidFill>
                  <a:srgbClr val="000000"/>
                </a:solidFill>
                <a:latin typeface="Montserrat Bold" pitchFamily="34" charset="0"/>
                <a:ea typeface="Montserrat Bold" pitchFamily="34" charset="-122"/>
                <a:cs typeface="Montserrat Bold" pitchFamily="34" charset="-120"/>
              </a:rPr>
              <a:t>landing-chatbot.html</a:t>
            </a:r>
            <a:endParaRPr lang="en-US" sz="1600" dirty="0"/>
          </a:p>
        </p:txBody>
      </p:sp>
      <p:sp>
        <p:nvSpPr>
          <p:cNvPr id="22" name="Text 16"/>
          <p:cNvSpPr/>
          <p:nvPr/>
        </p:nvSpPr>
        <p:spPr>
          <a:xfrm>
            <a:off x="6350139" y="5126038"/>
            <a:ext cx="5008437" cy="529233"/>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000000"/>
                </a:solidFill>
                <a:latin typeface="Montserrat" pitchFamily="34" charset="0"/>
                <a:ea typeface="Montserrat" pitchFamily="34" charset="-122"/>
                <a:cs typeface="Montserrat" pitchFamily="34" charset="-120"/>
              </a:rPr>
              <a:t>Chatbot live gọi webhook end-to-end, conversation log đủ 5 case với source_q_id.</a:t>
            </a:r>
            <a:endParaRPr lang="en-US" sz="13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661475" y="1579066"/>
            <a:ext cx="10868745" cy="516731"/>
          </a:xfrm>
          <a:prstGeom prst="rect">
            <a:avLst/>
          </a:prstGeom>
          <a:noFill/>
          <a:ln/>
        </p:spPr>
        <p:txBody>
          <a:bodyPr wrap="none" lIns="0" tIns="0" rIns="0" bIns="0" rtlCol="0" anchor="t"/>
          <a:lstStyle/>
          <a:p>
            <a:pPr algn="l" indent="0" marL="0">
              <a:lnSpc>
                <a:spcPct val="104000"/>
              </a:lnSpc>
              <a:buNone/>
            </a:pPr>
            <a:r>
              <a:rPr lang="en-US" sz="3250" b="1" dirty="0">
                <a:solidFill>
                  <a:srgbClr val="004AAD"/>
                </a:solidFill>
                <a:latin typeface="Montserrat Bold" pitchFamily="34" charset="0"/>
                <a:ea typeface="Montserrat Bold" pitchFamily="34" charset="-122"/>
                <a:cs typeface="Montserrat Bold" pitchFamily="34" charset="-120"/>
              </a:rPr>
              <a:t>Chuẩn bị cho buổi 6</a:t>
            </a:r>
            <a:endParaRPr lang="en-US" sz="3250" dirty="0"/>
          </a:p>
        </p:txBody>
      </p:sp>
      <p:sp>
        <p:nvSpPr>
          <p:cNvPr id="3" name="Text 1"/>
          <p:cNvSpPr/>
          <p:nvPr/>
        </p:nvSpPr>
        <p:spPr>
          <a:xfrm>
            <a:off x="661475" y="2161877"/>
            <a:ext cx="10868745" cy="258465"/>
          </a:xfrm>
          <a:prstGeom prst="rect">
            <a:avLst/>
          </a:prstGeom>
          <a:noFill/>
          <a:ln/>
        </p:spPr>
        <p:txBody>
          <a:bodyPr wrap="none" lIns="0" tIns="0" rIns="0" bIns="0" rtlCol="0" anchor="t"/>
          <a:lstStyle/>
          <a:p>
            <a:pPr algn="l" indent="0" marL="0">
              <a:lnSpc>
                <a:spcPct val="104000"/>
              </a:lnSpc>
              <a:buNone/>
            </a:pPr>
            <a:r>
              <a:rPr lang="en-US" sz="1600" b="1" dirty="0">
                <a:solidFill>
                  <a:srgbClr val="004AAD"/>
                </a:solidFill>
                <a:latin typeface="Montserrat Bold" pitchFamily="34" charset="0"/>
                <a:ea typeface="Montserrat Bold" pitchFamily="34" charset="-122"/>
                <a:cs typeface="Montserrat Bold" pitchFamily="34" charset="-120"/>
              </a:rPr>
              <a:t>Content engine: sản xuất nội dung có kiểm soát</a:t>
            </a:r>
            <a:endParaRPr lang="en-US" sz="1600" dirty="0"/>
          </a:p>
        </p:txBody>
      </p:sp>
      <p:sp>
        <p:nvSpPr>
          <p:cNvPr id="4" name="Text 2"/>
          <p:cNvSpPr/>
          <p:nvPr/>
        </p:nvSpPr>
        <p:spPr>
          <a:xfrm>
            <a:off x="661475" y="2833688"/>
            <a:ext cx="5232666" cy="258465"/>
          </a:xfrm>
          <a:prstGeom prst="rect">
            <a:avLst/>
          </a:prstGeom>
          <a:noFill/>
          <a:ln/>
        </p:spPr>
        <p:txBody>
          <a:bodyPr wrap="none" lIns="0" tIns="0" rIns="0" bIns="0" rtlCol="0" anchor="t"/>
          <a:lstStyle/>
          <a:p>
            <a:pPr algn="l" indent="0" marL="0">
              <a:lnSpc>
                <a:spcPct val="104000"/>
              </a:lnSpc>
              <a:buNone/>
            </a:pPr>
            <a:r>
              <a:rPr lang="en-US" sz="1600" b="1" dirty="0">
                <a:solidFill>
                  <a:srgbClr val="004AAD"/>
                </a:solidFill>
                <a:latin typeface="Montserrat Bold" pitchFamily="34" charset="0"/>
                <a:ea typeface="Montserrat Bold" pitchFamily="34" charset="-122"/>
                <a:cs typeface="Montserrat Bold" pitchFamily="34" charset="-120"/>
              </a:rPr>
              <a:t>Mang từ buổi 5 sang</a:t>
            </a:r>
            <a:endParaRPr lang="en-US" sz="1600" dirty="0"/>
          </a:p>
        </p:txBody>
      </p:sp>
      <p:sp>
        <p:nvSpPr>
          <p:cNvPr id="5" name="Text 3"/>
          <p:cNvSpPr/>
          <p:nvPr/>
        </p:nvSpPr>
        <p:spPr>
          <a:xfrm>
            <a:off x="661475" y="3257451"/>
            <a:ext cx="5232666" cy="858044"/>
          </a:xfrm>
          <a:prstGeom prst="rect">
            <a:avLst/>
          </a:prstGeom>
          <a:noFill/>
          <a:ln/>
        </p:spPr>
        <p:txBody>
          <a:bodyPr wrap="square" lIns="0" tIns="0" rIns="0" bIns="0" rtlCol="0" anchor="t">
            <a:normAutofit/>
          </a:bodyPr>
          <a:lstStyle/>
          <a:p>
            <a:pPr algn="l" marL="264160" indent="-264160">
              <a:lnSpc>
                <a:spcPct val="133000"/>
              </a:lnSpc>
              <a:buSzPct val="100000"/>
              <a:buChar char="•"/>
            </a:pPr>
            <a:r>
              <a:rPr lang="en-US" sz="1300" dirty="0">
                <a:solidFill>
                  <a:srgbClr val="000000"/>
                </a:solidFill>
                <a:latin typeface="Montserrat" pitchFamily="34" charset="0"/>
                <a:ea typeface="Montserrat" pitchFamily="34" charset="-122"/>
                <a:cs typeface="Montserrat" pitchFamily="34" charset="-120"/>
              </a:rPr>
              <a:t>Giữ lại </a:t>
            </a:r>
            <a:pPr algn="l" marL="264160" indent="-264160">
              <a:lnSpc>
                <a:spcPct val="133000"/>
              </a:lnSpc>
              <a:buSzPct val="100000"/>
              <a:buChar char="•"/>
            </a:pPr>
            <a:r>
              <a:rPr lang="en-US" sz="1300" b="1" dirty="0">
                <a:solidFill>
                  <a:srgbClr val="000000"/>
                </a:solidFill>
                <a:latin typeface="Montserrat Bold" pitchFamily="34" charset="0"/>
                <a:ea typeface="Montserrat Bold" pitchFamily="34" charset="-122"/>
                <a:cs typeface="Montserrat Bold" pitchFamily="34" charset="-120"/>
              </a:rPr>
              <a:t>workflow CSKH</a:t>
            </a:r>
            <a:pPr algn="l" marL="264160" indent="-264160">
              <a:lnSpc>
                <a:spcPct val="133000"/>
              </a:lnSpc>
              <a:buSzPct val="100000"/>
              <a:buChar char="•"/>
            </a:pPr>
            <a:r>
              <a:rPr lang="en-US" sz="1300" dirty="0">
                <a:solidFill>
                  <a:srgbClr val="000000"/>
                </a:solidFill>
                <a:latin typeface="Montserrat" pitchFamily="34" charset="0"/>
                <a:ea typeface="Montserrat" pitchFamily="34" charset="-122"/>
                <a:cs typeface="Montserrat" pitchFamily="34" charset="-120"/>
              </a:rPr>
              <a:t> và </a:t>
            </a:r>
            <a:pPr algn="l" marL="264160" indent="-264160">
              <a:lnSpc>
                <a:spcPct val="133000"/>
              </a:lnSpc>
              <a:buSzPct val="100000"/>
              <a:buChar char="•"/>
            </a:pPr>
            <a:r>
              <a:rPr lang="en-US" sz="1300" dirty="0">
                <a:solidFill>
                  <a:srgbClr val="000000"/>
                </a:solidFill>
                <a:highlight>
                  <a:srgbClr val="F2F2F2"/>
                </a:highlight>
                <a:latin typeface="Consolas" pitchFamily="34" charset="0"/>
                <a:ea typeface="Consolas" pitchFamily="34" charset="-122"/>
                <a:cs typeface="Consolas" pitchFamily="34" charset="-120"/>
              </a:rPr>
              <a:t>vector-store.json</a:t>
            </a:r>
            <a:pPr algn="l" marL="264160" indent="-264160">
              <a:lnSpc>
                <a:spcPct val="133000"/>
              </a:lnSpc>
              <a:buSzPct val="100000"/>
              <a:buChar char="•"/>
            </a:pPr>
            <a:r>
              <a:rPr lang="en-US" sz="1300" dirty="0">
                <a:solidFill>
                  <a:srgbClr val="000000"/>
                </a:solidFill>
                <a:latin typeface="Montserrat" pitchFamily="34" charset="0"/>
                <a:ea typeface="Montserrat" pitchFamily="34" charset="-122"/>
                <a:cs typeface="Montserrat" pitchFamily="34" charset="-120"/>
              </a:rPr>
              <a:t> của buổi 5.</a:t>
            </a:r>
            <a:endParaRPr lang="en-US" sz="1300" dirty="0"/>
          </a:p>
          <a:p>
            <a:pPr algn="l" marL="264160" indent="-264160">
              <a:lnSpc>
                <a:spcPct val="133000"/>
              </a:lnSpc>
              <a:buSzPct val="100000"/>
              <a:buChar char="•"/>
            </a:pPr>
            <a:r>
              <a:rPr lang="en-US" sz="1300" dirty="0">
                <a:solidFill>
                  <a:srgbClr val="000000"/>
                </a:solidFill>
                <a:latin typeface="Montserrat" pitchFamily="34" charset="0"/>
                <a:ea typeface="Montserrat" pitchFamily="34" charset="-122"/>
                <a:cs typeface="Montserrat" pitchFamily="34" charset="-120"/>
              </a:rPr>
              <a:t>Ôn lại tư duy </a:t>
            </a:r>
            <a:pPr algn="l" marL="264160" indent="-264160">
              <a:lnSpc>
                <a:spcPct val="133000"/>
              </a:lnSpc>
              <a:buSzPct val="100000"/>
              <a:buChar char="•"/>
            </a:pPr>
            <a:r>
              <a:rPr lang="en-US" sz="1300" b="1" dirty="0">
                <a:solidFill>
                  <a:srgbClr val="000000"/>
                </a:solidFill>
                <a:latin typeface="Montserrat Bold" pitchFamily="34" charset="0"/>
                <a:ea typeface="Montserrat Bold" pitchFamily="34" charset="-122"/>
                <a:cs typeface="Montserrat Bold" pitchFamily="34" charset="-120"/>
              </a:rPr>
              <a:t>fast path và judge</a:t>
            </a:r>
            <a:pPr algn="l" marL="264160" indent="-264160">
              <a:lnSpc>
                <a:spcPct val="133000"/>
              </a:lnSpc>
              <a:buSzPct val="100000"/>
              <a:buChar char="•"/>
            </a:pPr>
            <a:r>
              <a:rPr lang="en-US" sz="1300" dirty="0">
                <a:solidFill>
                  <a:srgbClr val="000000"/>
                </a:solidFill>
                <a:latin typeface="Montserrat" pitchFamily="34" charset="0"/>
                <a:ea typeface="Montserrat" pitchFamily="34" charset="-122"/>
                <a:cs typeface="Montserrat" pitchFamily="34" charset="-120"/>
              </a:rPr>
              <a:t> — sẽ tái dụng ở chuỗi sản xuất nội dung.</a:t>
            </a:r>
            <a:endParaRPr lang="en-US" sz="1300" dirty="0"/>
          </a:p>
        </p:txBody>
      </p:sp>
      <p:sp>
        <p:nvSpPr>
          <p:cNvPr id="6" name="Text 4"/>
          <p:cNvSpPr/>
          <p:nvPr/>
        </p:nvSpPr>
        <p:spPr>
          <a:xfrm>
            <a:off x="6303904" y="2833688"/>
            <a:ext cx="5232666" cy="258465"/>
          </a:xfrm>
          <a:prstGeom prst="rect">
            <a:avLst/>
          </a:prstGeom>
          <a:noFill/>
          <a:ln/>
        </p:spPr>
        <p:txBody>
          <a:bodyPr wrap="none" lIns="0" tIns="0" rIns="0" bIns="0" rtlCol="0" anchor="t"/>
          <a:lstStyle/>
          <a:p>
            <a:pPr algn="l" indent="0" marL="0">
              <a:lnSpc>
                <a:spcPct val="104000"/>
              </a:lnSpc>
              <a:buNone/>
            </a:pPr>
            <a:r>
              <a:rPr lang="en-US" sz="1600" b="1" dirty="0">
                <a:solidFill>
                  <a:srgbClr val="004AAD"/>
                </a:solidFill>
                <a:latin typeface="Montserrat Bold" pitchFamily="34" charset="0"/>
                <a:ea typeface="Montserrat Bold" pitchFamily="34" charset="-122"/>
                <a:cs typeface="Montserrat Bold" pitchFamily="34" charset="-120"/>
              </a:rPr>
              <a:t>Chuẩn bị thêm</a:t>
            </a:r>
            <a:endParaRPr lang="en-US" sz="1600" dirty="0"/>
          </a:p>
        </p:txBody>
      </p:sp>
      <p:sp>
        <p:nvSpPr>
          <p:cNvPr id="7" name="Text 5"/>
          <p:cNvSpPr/>
          <p:nvPr/>
        </p:nvSpPr>
        <p:spPr>
          <a:xfrm>
            <a:off x="6303904" y="3257451"/>
            <a:ext cx="5232666" cy="1116310"/>
          </a:xfrm>
          <a:prstGeom prst="rect">
            <a:avLst/>
          </a:prstGeom>
          <a:noFill/>
          <a:ln/>
        </p:spPr>
        <p:txBody>
          <a:bodyPr wrap="square" lIns="0" tIns="0" rIns="0" bIns="0" rtlCol="0" anchor="t">
            <a:normAutofit/>
          </a:bodyPr>
          <a:lstStyle/>
          <a:p>
            <a:pPr algn="l" marL="264160" indent="-264160">
              <a:lnSpc>
                <a:spcPct val="133000"/>
              </a:lnSpc>
              <a:buSzPct val="100000"/>
              <a:buChar char="•"/>
            </a:pPr>
            <a:r>
              <a:rPr lang="en-US" sz="1300" dirty="0">
                <a:solidFill>
                  <a:srgbClr val="000000"/>
                </a:solidFill>
                <a:latin typeface="Montserrat" pitchFamily="34" charset="0"/>
                <a:ea typeface="Montserrat" pitchFamily="34" charset="-122"/>
                <a:cs typeface="Montserrat" pitchFamily="34" charset="-120"/>
              </a:rPr>
              <a:t>Chuẩn bị sẵn một </a:t>
            </a:r>
            <a:pPr algn="l" marL="264160" indent="-264160">
              <a:lnSpc>
                <a:spcPct val="133000"/>
              </a:lnSpc>
              <a:buSzPct val="100000"/>
              <a:buChar char="•"/>
            </a:pPr>
            <a:r>
              <a:rPr lang="en-US" sz="1300" b="1" dirty="0">
                <a:solidFill>
                  <a:srgbClr val="000000"/>
                </a:solidFill>
                <a:latin typeface="Montserrat Bold" pitchFamily="34" charset="0"/>
                <a:ea typeface="Montserrat Bold" pitchFamily="34" charset="-122"/>
                <a:cs typeface="Montserrat Bold" pitchFamily="34" charset="-120"/>
              </a:rPr>
              <a:t>chủ đề content</a:t>
            </a:r>
            <a:pPr algn="l" marL="264160" indent="-264160">
              <a:lnSpc>
                <a:spcPct val="133000"/>
              </a:lnSpc>
              <a:buSzPct val="100000"/>
              <a:buChar char="•"/>
            </a:pPr>
            <a:r>
              <a:rPr lang="en-US" sz="1300" dirty="0">
                <a:solidFill>
                  <a:srgbClr val="000000"/>
                </a:solidFill>
                <a:latin typeface="Montserrat" pitchFamily="34" charset="0"/>
                <a:ea typeface="Montserrat" pitchFamily="34" charset="-122"/>
                <a:cs typeface="Montserrat" pitchFamily="34" charset="-120"/>
              </a:rPr>
              <a:t> muốn sản xuất hàng loạt (bài blog, mô tả sản phẩm, v.v.)</a:t>
            </a:r>
            <a:endParaRPr lang="en-US" sz="1300" dirty="0"/>
          </a:p>
          <a:p>
            <a:pPr algn="l" marL="264160" indent="-264160">
              <a:lnSpc>
                <a:spcPct val="133000"/>
              </a:lnSpc>
              <a:buSzPct val="100000"/>
              <a:buChar char="•"/>
            </a:pPr>
            <a:r>
              <a:rPr lang="en-US" sz="1300" dirty="0">
                <a:solidFill>
                  <a:srgbClr val="000000"/>
                </a:solidFill>
                <a:latin typeface="Montserrat" pitchFamily="34" charset="0"/>
                <a:ea typeface="Montserrat" pitchFamily="34" charset="-122"/>
                <a:cs typeface="Montserrat" pitchFamily="34" charset="-120"/>
              </a:rPr>
              <a:t>Buổi 6 mở rộng: từ trả lời khách sang </a:t>
            </a:r>
            <a:pPr algn="l" marL="264160" indent="-264160">
              <a:lnSpc>
                <a:spcPct val="133000"/>
              </a:lnSpc>
              <a:buSzPct val="100000"/>
              <a:buChar char="•"/>
            </a:pPr>
            <a:r>
              <a:rPr lang="en-US" sz="1300" b="1" dirty="0">
                <a:solidFill>
                  <a:srgbClr val="000000"/>
                </a:solidFill>
                <a:latin typeface="Montserrat Bold" pitchFamily="34" charset="0"/>
                <a:ea typeface="Montserrat Bold" pitchFamily="34" charset="-122"/>
                <a:cs typeface="Montserrat Bold" pitchFamily="34" charset="-120"/>
              </a:rPr>
              <a:t>tạo nội dung có nguồn và có duyệt</a:t>
            </a:r>
            <a:pPr algn="l" marL="264160" indent="-264160">
              <a:lnSpc>
                <a:spcPct val="133000"/>
              </a:lnSpc>
              <a:buSzPct val="100000"/>
              <a:buChar char="•"/>
            </a:pPr>
            <a:r>
              <a:rPr lang="en-US" sz="1300" dirty="0">
                <a:solidFill>
                  <a:srgbClr val="000000"/>
                </a:solidFill>
                <a:latin typeface="Montserrat" pitchFamily="34" charset="0"/>
                <a:ea typeface="Montserrat" pitchFamily="34" charset="-122"/>
                <a:cs typeface="Montserrat" pitchFamily="34" charset="-120"/>
              </a:rPr>
              <a:t>.</a:t>
            </a:r>
            <a:endParaRPr lang="en-US" sz="1300" dirty="0"/>
          </a:p>
        </p:txBody>
      </p:sp>
      <p:sp>
        <p:nvSpPr>
          <p:cNvPr id="8" name="Shape 6"/>
          <p:cNvSpPr/>
          <p:nvPr/>
        </p:nvSpPr>
        <p:spPr>
          <a:xfrm>
            <a:off x="661475" y="4617641"/>
            <a:ext cx="10868745" cy="661293"/>
          </a:xfrm>
          <a:prstGeom prst="roundRect">
            <a:avLst>
              <a:gd name="adj" fmla="val 10504"/>
            </a:avLst>
          </a:prstGeom>
          <a:solidFill>
            <a:srgbClr val="B6D6FC"/>
          </a:solidFill>
          <a:ln/>
        </p:spPr>
      </p:sp>
      <p:pic>
        <p:nvPicPr>
          <p:cNvPr id="9" name="Image 0" descr="preencoded.png">    </p:cNvPr>
          <p:cNvPicPr>
            <a:picLocks noChangeAspect="1"/>
          </p:cNvPicPr>
          <p:nvPr/>
        </p:nvPicPr>
        <p:blipFill>
          <a:blip r:embed="rId1"/>
          <a:stretch>
            <a:fillRect/>
          </a:stretch>
        </p:blipFill>
        <p:spPr>
          <a:xfrm>
            <a:off x="826769" y="4857353"/>
            <a:ext cx="206667" cy="165298"/>
          </a:xfrm>
          <a:prstGeom prst="rect">
            <a:avLst/>
          </a:prstGeom>
        </p:spPr>
      </p:pic>
      <p:sp>
        <p:nvSpPr>
          <p:cNvPr id="10" name="Text 7"/>
          <p:cNvSpPr/>
          <p:nvPr/>
        </p:nvSpPr>
        <p:spPr>
          <a:xfrm>
            <a:off x="1198731" y="4824214"/>
            <a:ext cx="10775780" cy="264616"/>
          </a:xfrm>
          <a:prstGeom prst="rect">
            <a:avLst/>
          </a:prstGeom>
          <a:noFill/>
          <a:ln/>
        </p:spPr>
        <p:txBody>
          <a:bodyPr wrap="none" lIns="0" tIns="0" rIns="0" bIns="0" rtlCol="0" anchor="t"/>
          <a:lstStyle/>
          <a:p>
            <a:pPr algn="l" indent="0" marL="0">
              <a:lnSpc>
                <a:spcPct val="133000"/>
              </a:lnSpc>
              <a:buNone/>
            </a:pPr>
            <a:r>
              <a:rPr lang="en-US" sz="1300" dirty="0">
                <a:solidFill>
                  <a:srgbClr val="000000"/>
                </a:solidFill>
                <a:latin typeface="Montserrat" pitchFamily="34" charset="0"/>
                <a:ea typeface="Montserrat" pitchFamily="34" charset="-122"/>
                <a:cs typeface="Montserrat" pitchFamily="34" charset="-120"/>
              </a:rPr>
              <a:t>Buổi 6 áp dụng cùng nguyên tắc kiểm soát, nhưng trên bài toán </a:t>
            </a:r>
            <a:pPr algn="l" indent="0" marL="0">
              <a:lnSpc>
                <a:spcPct val="133000"/>
              </a:lnSpc>
              <a:buNone/>
            </a:pPr>
            <a:r>
              <a:rPr lang="en-US" sz="1300" b="1" dirty="0">
                <a:solidFill>
                  <a:srgbClr val="000000"/>
                </a:solidFill>
                <a:latin typeface="Montserrat Bold" pitchFamily="34" charset="0"/>
                <a:ea typeface="Montserrat Bold" pitchFamily="34" charset="-122"/>
                <a:cs typeface="Montserrat Bold" pitchFamily="34" charset="-120"/>
              </a:rPr>
              <a:t>content production</a:t>
            </a:r>
            <a:pPr algn="l" indent="0" marL="0">
              <a:lnSpc>
                <a:spcPct val="133000"/>
              </a:lnSpc>
              <a:buNone/>
            </a:pPr>
            <a:r>
              <a:rPr lang="en-US" sz="1300" dirty="0">
                <a:solidFill>
                  <a:srgbClr val="000000"/>
                </a:solidFill>
                <a:latin typeface="Montserrat" pitchFamily="34" charset="0"/>
                <a:ea typeface="Montserrat" pitchFamily="34" charset="-122"/>
                <a:cs typeface="Montserrat" pitchFamily="34" charset="-120"/>
              </a:rPr>
              <a:t> thay vì customer service.</a:t>
            </a:r>
            <a:endParaRPr lang="en-US" sz="13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33360" y="1383705"/>
            <a:ext cx="6296860" cy="2852737"/>
          </a:xfrm>
          <a:prstGeom prst="rect">
            <a:avLst/>
          </a:prstGeom>
          <a:noFill/>
          <a:ln/>
        </p:spPr>
        <p:txBody>
          <a:bodyPr wrap="square" lIns="0" tIns="0" rIns="0" bIns="0" rtlCol="0" anchor="t">
            <a:normAutofit/>
          </a:bodyPr>
          <a:lstStyle/>
          <a:p>
            <a:pPr algn="l" indent="0" marL="0">
              <a:lnSpc>
                <a:spcPct val="104000"/>
              </a:lnSpc>
              <a:buNone/>
            </a:pPr>
            <a:r>
              <a:rPr lang="en-US" sz="4450" b="1" dirty="0">
                <a:solidFill>
                  <a:srgbClr val="004AAD"/>
                </a:solidFill>
                <a:latin typeface="Montserrat Bold" pitchFamily="34" charset="0"/>
                <a:ea typeface="Montserrat Bold" pitchFamily="34" charset="-122"/>
                <a:cs typeface="Montserrat Bold" pitchFamily="34" charset="-120"/>
              </a:rPr>
              <a:t>Bot giỏi không phải trả lời được mọi thứ — mà biết khi nào không trả lời.</a:t>
            </a:r>
            <a:endParaRPr lang="en-US" sz="4450" dirty="0"/>
          </a:p>
        </p:txBody>
      </p:sp>
      <p:sp>
        <p:nvSpPr>
          <p:cNvPr id="4" name="Shape 1"/>
          <p:cNvSpPr/>
          <p:nvPr/>
        </p:nvSpPr>
        <p:spPr>
          <a:xfrm>
            <a:off x="5233360" y="4525764"/>
            <a:ext cx="6296860" cy="19050"/>
          </a:xfrm>
          <a:prstGeom prst="roundRect">
            <a:avLst>
              <a:gd name="adj" fmla="val 49999"/>
            </a:avLst>
          </a:prstGeom>
          <a:solidFill>
            <a:srgbClr val="000000">
              <a:alpha val="50000"/>
            </a:srgbClr>
          </a:solidFill>
          <a:ln/>
        </p:spPr>
      </p:sp>
      <p:sp>
        <p:nvSpPr>
          <p:cNvPr id="5" name="Text 2"/>
          <p:cNvSpPr/>
          <p:nvPr/>
        </p:nvSpPr>
        <p:spPr>
          <a:xfrm>
            <a:off x="4928568" y="4772124"/>
            <a:ext cx="6906444" cy="264616"/>
          </a:xfrm>
          <a:prstGeom prst="rect">
            <a:avLst/>
          </a:prstGeom>
          <a:noFill/>
          <a:ln/>
        </p:spPr>
        <p:txBody>
          <a:bodyPr wrap="none" lIns="0" tIns="0" rIns="0" bIns="0" rtlCol="0" anchor="t"/>
          <a:lstStyle/>
          <a:p>
            <a:pPr algn="ctr" indent="0" marL="0">
              <a:lnSpc>
                <a:spcPct val="133000"/>
              </a:lnSpc>
              <a:buNone/>
            </a:pPr>
            <a:r>
              <a:rPr lang="en-US" sz="1300" dirty="0">
                <a:solidFill>
                  <a:srgbClr val="000000"/>
                </a:solidFill>
                <a:latin typeface="Montserrat" pitchFamily="34" charset="0"/>
                <a:ea typeface="Montserrat" pitchFamily="34" charset="-122"/>
                <a:cs typeface="Montserrat" pitchFamily="34" charset="-120"/>
              </a:rPr>
              <a:t>Hẹn gặp lại ở buổi 6! </a:t>
            </a:r>
            <a:pPr algn="ctr" indent="0" marL="0">
              <a:lnSpc>
                <a:spcPct val="133000"/>
              </a:lnSpc>
              <a:buNone/>
            </a:pPr>
            <a:r>
              <a:rPr lang="en-US" sz="1300" dirty="0">
                <a:solidFill>
                  <a:srgbClr val="000000"/>
                </a:solidFill>
                <a:latin typeface="Montserrat" pitchFamily="34" charset="0"/>
                <a:ea typeface="Montserrat" pitchFamily="34" charset="-122"/>
                <a:cs typeface="Montserrat" pitchFamily="34" charset="-120"/>
              </a:rPr>
              <a:t>🚀</a:t>
            </a:r>
            <a:endParaRPr lang="en-US" sz="1300" dirty="0"/>
          </a:p>
        </p:txBody>
      </p:sp>
      <p:sp>
        <p:nvSpPr>
          <p:cNvPr id="6" name="Shape 3"/>
          <p:cNvSpPr/>
          <p:nvPr/>
        </p:nvSpPr>
        <p:spPr>
          <a:xfrm>
            <a:off x="5233360" y="5222776"/>
            <a:ext cx="1713465" cy="251420"/>
          </a:xfrm>
          <a:prstGeom prst="roundRect">
            <a:avLst>
              <a:gd name="adj" fmla="val 22103"/>
            </a:avLst>
          </a:prstGeom>
          <a:solidFill>
            <a:srgbClr val="CCE2FF"/>
          </a:solidFill>
          <a:ln/>
        </p:spPr>
      </p:sp>
      <p:sp>
        <p:nvSpPr>
          <p:cNvPr id="7" name="Text 4"/>
          <p:cNvSpPr/>
          <p:nvPr/>
        </p:nvSpPr>
        <p:spPr>
          <a:xfrm>
            <a:off x="5332577" y="5272385"/>
            <a:ext cx="2124617" cy="152202"/>
          </a:xfrm>
          <a:prstGeom prst="rect">
            <a:avLst/>
          </a:prstGeom>
          <a:noFill/>
          <a:ln/>
        </p:spPr>
        <p:txBody>
          <a:bodyPr wrap="none" lIns="0" tIns="0" rIns="0" bIns="0" rtlCol="0" anchor="t"/>
          <a:lstStyle/>
          <a:p>
            <a:pPr algn="l" indent="0" marL="0">
              <a:lnSpc>
                <a:spcPct val="96000"/>
              </a:lnSpc>
              <a:buNone/>
            </a:pPr>
            <a:r>
              <a:rPr lang="en-US" sz="1000" dirty="0">
                <a:solidFill>
                  <a:srgbClr val="000000"/>
                </a:solidFill>
                <a:latin typeface="Montserrat" pitchFamily="34" charset="0"/>
                <a:ea typeface="Montserrat" pitchFamily="34" charset="-122"/>
                <a:cs typeface="Montserrat" pitchFamily="34" charset="-120"/>
              </a:rPr>
              <a:t>BUỔI 5 · HOÀN THÀNH</a:t>
            </a:r>
            <a:endParaRPr lang="en-US" sz="1000" dirty="0"/>
          </a:p>
        </p:txBody>
      </p:sp>
      <p:sp>
        <p:nvSpPr>
          <p:cNvPr id="8" name="Shape 5"/>
          <p:cNvSpPr/>
          <p:nvPr/>
        </p:nvSpPr>
        <p:spPr>
          <a:xfrm>
            <a:off x="7029473" y="5222776"/>
            <a:ext cx="2521978" cy="251420"/>
          </a:xfrm>
          <a:prstGeom prst="roundRect">
            <a:avLst>
              <a:gd name="adj" fmla="val 22103"/>
            </a:avLst>
          </a:prstGeom>
          <a:noFill/>
          <a:ln w="6350">
            <a:solidFill>
              <a:srgbClr val="004AAD"/>
            </a:solidFill>
            <a:prstDash val="solid"/>
          </a:ln>
        </p:spPr>
      </p:sp>
      <p:sp>
        <p:nvSpPr>
          <p:cNvPr id="9" name="Text 6"/>
          <p:cNvSpPr/>
          <p:nvPr/>
        </p:nvSpPr>
        <p:spPr>
          <a:xfrm>
            <a:off x="7128689" y="5272385"/>
            <a:ext cx="2933131" cy="152202"/>
          </a:xfrm>
          <a:prstGeom prst="rect">
            <a:avLst/>
          </a:prstGeom>
          <a:noFill/>
          <a:ln/>
        </p:spPr>
        <p:txBody>
          <a:bodyPr wrap="none" lIns="0" tIns="0" rIns="0" bIns="0" rtlCol="0" anchor="t"/>
          <a:lstStyle/>
          <a:p>
            <a:pPr algn="l" indent="0" marL="0">
              <a:lnSpc>
                <a:spcPct val="96000"/>
              </a:lnSpc>
              <a:buNone/>
            </a:pPr>
            <a:r>
              <a:rPr lang="en-US" sz="1000" dirty="0">
                <a:solidFill>
                  <a:srgbClr val="004AAD"/>
                </a:solidFill>
                <a:latin typeface="Montserrat" pitchFamily="34" charset="0"/>
                <a:ea typeface="Montserrat" pitchFamily="34" charset="-122"/>
                <a:cs typeface="Montserrat" pitchFamily="34" charset="-120"/>
              </a:rPr>
              <a:t>BUỔI 6 SẮP TỚI: CONTENT ENGINE</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40</Slides>
  <Notes>40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40</vt:i4>
      </vt:variant>
    </vt:vector>
  </HeadingPairs>
  <TitlesOfParts>
    <vt:vector size="4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2026-08-03T09:26:21Z</dcterms:created>
  <dcterms:modified xsi:type="dcterms:W3CDTF">2026-08-03T09:26:21Z</dcterms:modified>
</cp:coreProperties>
</file>