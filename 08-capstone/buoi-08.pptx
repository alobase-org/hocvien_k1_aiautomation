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720000"/>
            <a:ext cx="16560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Calibri"/>
              </a:rPr>
              <a:t>NỀN TẢNG CHO AI AUTOMATION VÀ VIBE CODER K1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3600000"/>
            <a:ext cx="1584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>
                <a:solidFill>
                  <a:srgbClr val="FFFFFF"/>
                </a:solidFill>
                <a:latin typeface="Calibri"/>
              </a:rPr>
              <a:t>Buổi 8: Capstone: Đồ án AI Automation từ use case thật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4860000"/>
            <a:ext cx="14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DDE8F0"/>
                </a:solidFill>
                <a:latin typeface="Calibri"/>
              </a:rPr>
              <a:t>Thứ 3, 18/08/2026  |  19:30–21:30  |  Offline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CHƯƠNG TRÌNH CHI TIẾT BUỔI 8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04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1152000"/>
            <a:ext cx="144000" cy="36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152000"/>
            <a:ext cx="162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Tư duy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620000"/>
            <a:ext cx="16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6B7B8D"/>
                </a:solidFill>
                <a:latin typeface="Calibri"/>
              </a:rPr>
              <a:t>   |      |   ~15'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2304000"/>
            <a:ext cx="144000" cy="36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304000"/>
            <a:ext cx="162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Demo exemplar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2772000"/>
            <a:ext cx="16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6B7B8D"/>
                </a:solidFill>
                <a:latin typeface="Calibri"/>
              </a:rPr>
              <a:t>   |      |   ~15'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3456000"/>
            <a:ext cx="144000" cy="360000"/>
          </a:xfrm>
          <a:prstGeom prst="rect">
            <a:avLst/>
          </a:prstGeom>
          <a:solidFill>
            <a:srgbClr val="1A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000" y="3456000"/>
            <a:ext cx="162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TH1: Brief +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924000"/>
            <a:ext cx="16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6B7B8D"/>
                </a:solidFill>
                <a:latin typeface="Calibri"/>
              </a:rPr>
              <a:t>   |      |   ~25'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0000" y="4608000"/>
            <a:ext cx="144000" cy="360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000" y="4608000"/>
            <a:ext cx="162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TH2: Khởi động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5076000"/>
            <a:ext cx="16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6B7B8D"/>
                </a:solidFill>
                <a:latin typeface="Calibri"/>
              </a:rPr>
              <a:t>   |      |   ~20'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5760000"/>
            <a:ext cx="144000" cy="36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760000"/>
            <a:ext cx="162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TH3: Checklist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6228000"/>
            <a:ext cx="16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6B7B8D"/>
                </a:solidFill>
                <a:latin typeface="Calibri"/>
              </a:rPr>
              <a:t>   |      |   ~15'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" y="6912000"/>
            <a:ext cx="144000" cy="36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6912000"/>
            <a:ext cx="162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TH4: Pitch 3'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000" y="7380000"/>
            <a:ext cx="16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6B7B8D"/>
                </a:solidFill>
                <a:latin typeface="Calibri"/>
              </a:rPr>
              <a:t>   |      |   ~15'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TỪ 7 BUỔI HỌC → 1 ĐỒ ÁN THẬT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440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Workflow Ladder: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20000" y="1440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B1 onboarding → B7 video (bàn giao) — kho linh kiện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48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Kho tài nguyên: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0000" y="2448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Workflow n8n, schema, prompt, app React, template 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456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Hôm nay: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0000" y="3456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Chốt use case + kế hoạch. Đồ án 4 deliverable làm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2 MINDSET CẦN CHO CAPSTONE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440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Workflow design: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20000" y="1440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Đặc tả trước — brief là data contract: input gì,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48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Implementation: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0000" y="2448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Nghiệm thu trước — viết e2e test trước, chạy, FAIL,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456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Kỷ luật: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0000" y="3456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Không claim chạy được khi mới validate JSON hay mới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4 DELIVERABLE CỦA CAPSTONE PACKAGE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440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D1 — Agent Skill: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20000" y="1440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SKILL.md + test riêng (lab 01)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48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D2 — n8n e2e-test-first: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0000" y="2448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run-log ≥2 vòng có FAIL (lab 02)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456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D3 — MVP vibe coding: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0000" y="3456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App chạy + ≥1 vòng cải tiến (lab 03)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4463999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D4 — Package + pitch: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20000" y="4463999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6 slide HTML (lab 04)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5472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Lab 05 — Tự chấm: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20000" y="5472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Auto-check + skill chấm bài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NGUYÊN TẮC VÀNG: TÁI SỬ DỤNG CÓ KỶ LUẬT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440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Cho phép: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20000" y="1440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Mượn workflow/schema/prompt/app các buổi trước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48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Không cho phép: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0000" y="2448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Copy y nguyên đổi tên — e2e test phải FAIL ≥1 vòng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456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Bằng chứng: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0000" y="3456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Resource map ghi rõ mượn gì, ở đâu, làm gì — path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CÂU HỎI MỞ ĐẦU — USE CASE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512000"/>
            <a:ext cx="158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B3A6B"/>
                </a:solidFill>
                <a:latin typeface="Calibri"/>
              </a:rPr>
              <a:t>SUY NGHĨ 2 PHÚT: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2088000"/>
            <a:ext cx="154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Chọn 1 quy trình ở công ty/cửa hàng quen thuộc để tự động hóa trong 7 ngày tới.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3240000"/>
            <a:ext cx="158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B3A6B"/>
                </a:solidFill>
                <a:latin typeface="Calibri"/>
              </a:rPr>
              <a:t>TRẢ LỜI 3 CÂU: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16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1. 1. Use case của bạn nhận input gì? (email, file, tin nhắn... bao nhiêu lần/ngày?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4464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2. 2. Output mong muốn là gì? Cho ai?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5112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3. 3. Tiêu chí nào cho biết tự động hóa thành công?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A6B"/>
                </a:solidFill>
                <a:latin typeface="Calibri"/>
              </a:rPr>
              <a:t>DEMO GV — EXEMPLAR: XỬ LÝ ĐƠN NGHỈ PHÉP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800000"/>
            <a:ext cx="15840000" cy="612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00000" y="4320000"/>
            <a:ext cx="100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B7B8D"/>
                </a:solidFill>
                <a:latin typeface="Calibri"/>
              </a:rPr>
              <a:t>[Screenshot placeholder]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THỰC HÀNH 1 — USECASE BRIEF + RESOURCE MAP (25 PHÚT)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512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1: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00000" y="1512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Mở 08-capstone/00-usecase-brief/input/usecase-brief.template.md —…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48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2: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0000" y="2448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Chạy prompt 01 đánh bóng brief — nhất là tiêu chí thành công đo…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384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3: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0000" y="3384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Duyệt StudentKit B1–B7, lập resource-map.md ≥3 tài nguyên path…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4392000"/>
            <a:ext cx="16200000" cy="216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00" y="4536000"/>
            <a:ext cx="158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7AE60"/>
                </a:solidFill>
                <a:latin typeface="Calibri"/>
              </a:rPr>
              <a:t>Đầu ra: ★ usecase-brief.md + resource-map.md — data contract của cả đồ án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840000" y="8640000"/>
            <a:ext cx="2160000" cy="126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912000" y="8748000"/>
            <a:ext cx="19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⏱ 25 phút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PROMPT 01 — ĐÁNH BÓNG BRIEF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512000"/>
            <a:ext cx="158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B3A6B"/>
                </a:solidFill>
                <a:latin typeface="Calibri"/>
              </a:rPr>
              <a:t>BỐI CẢNH: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2088000"/>
            <a:ext cx="154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Bạn là chuyên gia phân tích nghiệp vụ. Chuẩn hóa use case thành data contract cho đồ án tự động hóa, KHÔNG thêm thông tin ngoài tôi cung cấp.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3240000"/>
            <a:ext cx="158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B3A6B"/>
                </a:solidFill>
                <a:latin typeface="Calibri"/>
              </a:rPr>
              <a:t>CHỈ DẪN: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16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1. 1. Chuẩn hóa 7 mục: bài toán / người dùng / input / output / quy trình / tiêu 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4464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2. 2. Tách: bước quy tắc cứng — bước AI phán đoán — bước người duyệt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5112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3. 3. Mọi tiêu chí thành công phải đo được (con số hoặc PASS/FAIL)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5760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4. 4. Cuối: 3 câu hỏi còn thiếu dữ liệu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THỰC HÀNH 2 — KHỞI ĐỘNG DELIVERABLE ĐẦU TIÊN (20 PHÚT)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512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1: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00000" y="1512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Chọn đường tự tin nhất: D1 (agent skill) hoặc D2 (n8n e2e)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48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2: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0000" y="2448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Mở folder lab tương ứng — làm đúng README tới artifact đầu tiên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384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3: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0000" y="3384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D1: SKILL.md draft với input/output contract · D2: e2e-test.md với…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4392000"/>
            <a:ext cx="16200000" cy="216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00" y="4536000"/>
            <a:ext cx="158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7AE60"/>
                </a:solidFill>
                <a:latin typeface="Calibri"/>
              </a:rPr>
              <a:t>Đầu ra: ★ Artifact đầu tiên — GV xem qua 1 lượt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840000" y="8640000"/>
            <a:ext cx="2160000" cy="126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912000" y="8748000"/>
            <a:ext cx="19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⏱ 20 phút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THỰC HÀNH 3 — CHECKLIST NGHIỆM THU + RISK LOG (15 PHÚT)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512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1: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00000" y="1512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Điền acceptance-checklist.md cho đủ 4 deliverable — tick / 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48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2: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0000" y="2448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Viết risk-log.md ≥3 rủi ro (loại | mức | cách giảm)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3456000"/>
            <a:ext cx="16200000" cy="216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0000" y="3600000"/>
            <a:ext cx="158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7AE60"/>
                </a:solidFill>
                <a:latin typeface="Calibri"/>
              </a:rPr>
              <a:t>Đầu ra: ★ acceptance-checklist.md + risk-log.md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840000" y="8640000"/>
            <a:ext cx="2160000" cy="126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912000" y="8748000"/>
            <a:ext cx="19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⏱ 15 phút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THỰC HÀNH 4 — PITCH KẾ HOẠCH 3 PHÚT (15 PHÚT)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512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Khung pitch: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00000" y="1512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Use case → tài nguyên mượn → deliverable sẽ làm gì → rủi ro lớn…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48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Phản biện: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0000" y="2448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Người nghe đặt 3 câu hỏi từ acceptance-checklist của người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384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Ghi lại: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0000" y="3384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Ý phản biện cập nhật vào kế hoạch tuần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4392000"/>
            <a:ext cx="16200000" cy="216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00" y="4536000"/>
            <a:ext cx="158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7AE60"/>
                </a:solidFill>
                <a:latin typeface="Calibri"/>
              </a:rPr>
              <a:t>Đầu ra: ★ Kế hoạch tuần hoàn chỉnh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840000" y="8640000"/>
            <a:ext cx="2160000" cy="126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912000" y="8748000"/>
            <a:ext cx="19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⏱ 15 phút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NGHIỆM THU &amp; RUBRIC — ĐỒ ÁN CHẤM NHƯ THẾ NÀO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440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Trọng số: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20000" y="1440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Brief 15% · D1 20% · D2 25% · D3 20% · D4 20%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48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D2 khó nhất: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0000" y="2448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≥3 assert + run-log ≥2 vòng có FAIL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456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Deadline: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0000" y="3456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25/08 23:59 — nộp zip + self-grading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4463999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Tự chấm: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20000" y="4463999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Lab 05 — auto-check 6 tầng + rubric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65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B3A6B"/>
                </a:solidFill>
                <a:latin typeface="Calibri"/>
              </a:rPr>
              <a:t>TỔNG KẾT BUỔI 8: 6 SẢN PHẨM MANG VỀ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044000"/>
            <a:ext cx="1656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1224000"/>
            <a:ext cx="720000" cy="792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1296000"/>
            <a:ext cx="7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224000"/>
            <a:ext cx="154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A6B"/>
                </a:solidFill>
                <a:latin typeface="Calibri"/>
              </a:rPr>
              <a:t>Usecase Brief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728000"/>
            <a:ext cx="15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Data contract 7 mục với tiêu chí đo được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2304000"/>
            <a:ext cx="720000" cy="792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2376000"/>
            <a:ext cx="7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304000"/>
            <a:ext cx="154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A6B"/>
                </a:solidFill>
                <a:latin typeface="Calibri"/>
              </a:rPr>
              <a:t>Resource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808000"/>
            <a:ext cx="15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Bảng tài nguyên B1–B7 sẽ mượn, path thật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" y="3384000"/>
            <a:ext cx="720000" cy="792000"/>
          </a:xfrm>
          <a:prstGeom prst="rect">
            <a:avLst/>
          </a:prstGeom>
          <a:solidFill>
            <a:srgbClr val="1A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00" y="3456000"/>
            <a:ext cx="7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3384000"/>
            <a:ext cx="154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A6B"/>
                </a:solidFill>
                <a:latin typeface="Calibri"/>
              </a:rPr>
              <a:t>Artifact deliverable đầu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3888000"/>
            <a:ext cx="15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SKILL.md draft hoặc e2e-test với assert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4464000"/>
            <a:ext cx="720000" cy="792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00" y="4536000"/>
            <a:ext cx="7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4464000"/>
            <a:ext cx="154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A6B"/>
                </a:solidFill>
                <a:latin typeface="Calibri"/>
              </a:rPr>
              <a:t>Acceptance Checklist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4968000"/>
            <a:ext cx="15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Tự chấm 4 deliverable trước khi làm tiếp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0000" y="5544000"/>
            <a:ext cx="720000" cy="792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00" y="5616000"/>
            <a:ext cx="7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5544000"/>
            <a:ext cx="154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A6B"/>
                </a:solidFill>
                <a:latin typeface="Calibri"/>
              </a:rPr>
              <a:t>Risk Log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6048000"/>
            <a:ext cx="15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≥3 rủi ro và cách giảm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0000" y="6623999"/>
            <a:ext cx="720000" cy="792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00" y="6695999"/>
            <a:ext cx="7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6623999"/>
            <a:ext cx="154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A6B"/>
                </a:solidFill>
                <a:latin typeface="Calibri"/>
              </a:rPr>
              <a:t>Pitch kế hoạch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7127999"/>
            <a:ext cx="15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3 phút + phản biện chéo trong nhóm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LỘ TRÌNH 7 NGÀY &amp; BẾ GIẢNG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440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Lộ trình: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20000" y="1440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19-20/08: D1+D2 · 21-23/08: D3 · 24/08: D4 + lab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48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Sau khóa: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0000" y="2448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Webhook thật · multi-workflow · agent operator 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456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Chứng nhận: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0000" y="3456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Trao hôm nay — hoàn thành capstone để ứng dụng thật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5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3600000"/>
            <a:ext cx="1656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Calibri"/>
              </a:rPr>
              <a:t>TRÂN TRỌNG CẢM ƠN!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00000" y="6480000"/>
            <a:ext cx="144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>
                <a:solidFill>
                  <a:srgbClr val="DDE8F0"/>
                </a:solidFill>
                <a:latin typeface="Calibri"/>
              </a:rPr>
              <a:t>Chúc các bạn hoàn thành capstone xuất sắc — gặp lại ở các dự án thật.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0" y="9540000"/>
            <a:ext cx="28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8C4EC"/>
                </a:solidFill>
                <a:latin typeface="Calibri"/>
              </a:rPr>
              <a:t>ALOBASE.VN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