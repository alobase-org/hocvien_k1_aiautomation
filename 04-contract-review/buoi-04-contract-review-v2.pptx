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1695" cy="6858000"/>
  <p:notesSz cx="6858000" cy="12191695"/>
  <p:embeddedFontLst>
    <p:embeddedFont>
      <p:font typeface="Montserrat"/>
      <p:regular r:id="rId201314"/>
    </p:embeddedFont>
    <p:embeddedFont>
      <p:font typeface="Montserrat Bold"/>
      <p:regular r:id="rId201315"/>
    </p:embeddedFont>
    <p:embeddedFont>
      <p:font typeface="Montserrat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7.png"/><Relationship Id="rId10" Type="http://schemas.openxmlformats.org/officeDocument/2006/relationships/image" Target="../media/image-8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image" Target="../media/image-32-5.png"/><Relationship Id="rId6" Type="http://schemas.openxmlformats.org/officeDocument/2006/relationships/image" Target="../media/image-3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eg"/><Relationship Id="rId2" Type="http://schemas.openxmlformats.org/officeDocument/2006/relationships/image" Target="../media/image-44-2.png"/><Relationship Id="rId3" Type="http://schemas.openxmlformats.org/officeDocument/2006/relationships/image" Target="../media/image-44-3.svg"/><Relationship Id="rId4" Type="http://schemas.openxmlformats.org/officeDocument/2006/relationships/image" Target="../media/image-44-4.png"/><Relationship Id="rId5" Type="http://schemas.openxmlformats.org/officeDocument/2006/relationships/image" Target="../media/image-44-5.svg"/><Relationship Id="rId6" Type="http://schemas.openxmlformats.org/officeDocument/2006/relationships/image" Target="../media/image-44-6.png"/><Relationship Id="rId7" Type="http://schemas.openxmlformats.org/officeDocument/2006/relationships/image" Target="../media/image-4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3720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Thẩm định hợp đồng tự động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718719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Contract Review Agent với n8n và Harness ·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GV: Lộc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4169370"/>
            <a:ext cx="913881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4218980"/>
            <a:ext cx="132503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09601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45921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2710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Mang theo gì, và không mang theo gì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542415" y="2491879"/>
            <a:ext cx="5470785" cy="2956421"/>
          </a:xfrm>
          <a:prstGeom prst="roundRect">
            <a:avLst>
              <a:gd name="adj" fmla="val 4028"/>
            </a:avLst>
          </a:prstGeom>
          <a:solidFill>
            <a:srgbClr val="004AAD"/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2657177"/>
            <a:ext cx="51401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Cần mang theo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3087291"/>
            <a:ext cx="5140196" cy="230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Máy đã cài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Node.js 20+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(kèm npx) — npx tự tải n8n khi chạy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Trình soạn thảo chạy được Jupyter: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VS Code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hoặc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Jupyter Lab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đồng mẫu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contract-mau-hop-dong-dich-vu.docx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trong thư mục templates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Hai file đối chiếu: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clause.schema.json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checklist-rui-ro.md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(12 tiêu chí Red Flag)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657177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🚫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Không cần / Không được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087291"/>
            <a:ext cx="5232666" cy="1761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Đừng mang hợp đồng thật có thông tin cá nhân (PII) — chỉ dùng file mẫu synthetic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cần cài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Docker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lab này chạy bằng npx cho gọn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phải tự kéo-thả từng Node n8n — notebook đã nạp sẵn workflow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cần mua tài khoản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n8n Cloud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trả phí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0054"/>
            <a:ext cx="1598076" cy="213717"/>
          </a:xfrm>
          <a:prstGeom prst="roundRect">
            <a:avLst>
              <a:gd name="adj" fmla="val 22102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809" y="632222"/>
            <a:ext cx="2038994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51495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Chương trình chi tiết — 120 phút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086323" y="1469926"/>
            <a:ext cx="19050" cy="4797921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6" name="Shape 4"/>
          <p:cNvSpPr/>
          <p:nvPr/>
        </p:nvSpPr>
        <p:spPr>
          <a:xfrm>
            <a:off x="5535077" y="1618555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7" name="Shape 5"/>
          <p:cNvSpPr/>
          <p:nvPr/>
        </p:nvSpPr>
        <p:spPr>
          <a:xfrm>
            <a:off x="5937697" y="1469926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90430" y="1496318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1475" y="1518245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Mở đầu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1475" y="1809452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trụ tư duy</a:t>
            </a:r>
            <a:endParaRPr lang="en-US" sz="1100" dirty="0"/>
          </a:p>
          <a:p>
            <a:pPr algn="r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 phút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4949" y="2419747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7697" y="2271117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0430" y="2297509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798696" y="2319437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 Notebook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98696" y="2610644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npx n8n và REST API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 phút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5077" y="3125688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5937697" y="2977059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90430" y="3003451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1475" y="3025378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1–3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475" y="3316585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Khởi động, redact, schema</a:t>
            </a:r>
            <a:endParaRPr lang="en-US" sz="1100" dirty="0"/>
          </a:p>
          <a:p>
            <a:pPr algn="r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45 phút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4949" y="3831630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37697" y="3683000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90430" y="3709392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798696" y="3731320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798696" y="4022527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Review và Red Flag KB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 phút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35077" y="4537571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27" name="Shape 25"/>
          <p:cNvSpPr/>
          <p:nvPr/>
        </p:nvSpPr>
        <p:spPr>
          <a:xfrm>
            <a:off x="5937697" y="4388941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90430" y="4415334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61475" y="4437261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61475" y="4728468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Gộp harness, xuất Word</a:t>
            </a:r>
            <a:endParaRPr lang="en-US" sz="1100" dirty="0"/>
          </a:p>
          <a:p>
            <a:pPr algn="r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25 phút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34949" y="5243513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32" name="Shape 30"/>
          <p:cNvSpPr/>
          <p:nvPr/>
        </p:nvSpPr>
        <p:spPr>
          <a:xfrm>
            <a:off x="5937697" y="5094883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90430" y="5121275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798696" y="5143202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Tổng kết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98696" y="5434409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Hỏi đáp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 phút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62535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Phần mở: hai kẻ thù của AI trong pháp lý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3944045"/>
            <a:ext cx="953568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5" name="Text 2"/>
          <p:cNvSpPr/>
          <p:nvPr/>
        </p:nvSpPr>
        <p:spPr>
          <a:xfrm>
            <a:off x="5332577" y="3993654"/>
            <a:ext cx="136472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70869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920478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870869"/>
            <a:ext cx="1052486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920478"/>
            <a:ext cx="146363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HỎI MỞ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9516" y="2556371"/>
            <a:ext cx="10620705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có thể 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E82E3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bịa ra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một điều khoản không hề có trong hợp đồng. Nó cũng có thể 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E82E3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lướt qua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một điều khoản đã bị xóa mà không báo gì.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61475" y="2308324"/>
            <a:ext cx="19050" cy="1116211"/>
          </a:xfrm>
          <a:prstGeom prst="roundRect">
            <a:avLst>
              <a:gd name="adj" fmla="val 49999"/>
            </a:avLst>
          </a:prstGeom>
          <a:solidFill>
            <a:srgbClr val="004AAD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361057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hỏi này chạy suốt buổi 4. Câu trả lời là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Harness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một lớp kiểm thử đứng giữa AI và quyết định. Nếu để workflow tự động chạy, sẽ không ai nhận ra cho đến lúc hợp đồng đã ký.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4325838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CCE2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4565551"/>
            <a:ext cx="206667" cy="1652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98731" y="4532412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Vậy làm sao kiểm chứng AI, thay vì chỉ tin nó?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045666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0691" y="1095276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624171" y="1045666"/>
            <a:ext cx="2023714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23387" y="1095276"/>
            <a:ext cx="243486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BỐI CẢNH DOANH NGHIỆP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1363166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Vì sao hợp đồng lại khó với AI</a:t>
            </a:r>
            <a:endParaRPr lang="en-US" sz="3250" dirty="0"/>
          </a:p>
        </p:txBody>
      </p:sp>
      <p:sp>
        <p:nvSpPr>
          <p:cNvPr id="8" name="Shape 5"/>
          <p:cNvSpPr/>
          <p:nvPr/>
        </p:nvSpPr>
        <p:spPr>
          <a:xfrm>
            <a:off x="661475" y="2644676"/>
            <a:ext cx="3065783" cy="1765796"/>
          </a:xfrm>
          <a:prstGeom prst="roundRect">
            <a:avLst>
              <a:gd name="adj" fmla="val 3934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3119" y="2816324"/>
            <a:ext cx="272249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Nút thắt cổ chai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3119" y="3180358"/>
            <a:ext cx="27224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DN 200–2.000 nhân sự rà hàng trăm hợp đồng/tháng. Đọc tay từng cái mất 2–3 giờ, Pháp chế luôn quá tải.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92552" y="2644676"/>
            <a:ext cx="3065783" cy="1765796"/>
          </a:xfrm>
          <a:prstGeom prst="roundRect">
            <a:avLst>
              <a:gd name="adj" fmla="val 3934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4196" y="2816324"/>
            <a:ext cx="272249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Hai lỗi AI hay mắc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64196" y="3180358"/>
            <a:ext cx="27224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Hallucination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(bịa điều khoản không có) và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Omission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(bỏ sót điều khoản thiếu). Cả hai đều gây thiệt hại không lấy lại được.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4575770"/>
            <a:ext cx="6296860" cy="1236563"/>
          </a:xfrm>
          <a:prstGeom prst="roundRect">
            <a:avLst>
              <a:gd name="adj" fmla="val 561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119" y="4747419"/>
            <a:ext cx="595357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Rủi ro dữ liệu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3119" y="5111452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Đẩy nguyên văn hợp đồng chứa PII lên AI Cloud là lộ thông tin đối tác. Cần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redact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trước khi AI thấy.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52005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801614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0695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Tư duy: từ Buổi 3 sang Buổi 4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99958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Buổi 3 —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Tin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423345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Chấm chất lượng bằng rubric ở cuối pipeline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và JD đóng vai trò hàng rào định nghĩa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tự build workflow n8n qua MCP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4844" y="2834283"/>
            <a:ext cx="5470785" cy="1556445"/>
          </a:xfrm>
          <a:prstGeom prst="roundRect">
            <a:avLst>
              <a:gd name="adj" fmla="val 7651"/>
            </a:avLst>
          </a:prstGeom>
          <a:solidFill>
            <a:srgbClr val="004AAD"/>
          </a:solidFill>
          <a:ln/>
        </p:spPr>
      </p:sp>
      <p:sp>
        <p:nvSpPr>
          <p:cNvPr id="8" name="Text 6"/>
          <p:cNvSpPr/>
          <p:nvPr/>
        </p:nvSpPr>
        <p:spPr>
          <a:xfrm>
            <a:off x="6350139" y="299958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Buổi 4 — Kiểm chứng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3423345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chỉ là bên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đề xuất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không ra quyết định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Harness (schema và evidence) mới là cổng phê duyệt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Học viên tự vận hành n8n qua notebook và REST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457676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Sự chuyển dịch cốt lõi: từ việc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tin vào đầu ra của AI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sang việc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xây dựng lớp kiểm thử độc lập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xác minh từng kết quả trước khi dùng.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3692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98653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936923"/>
            <a:ext cx="1129676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986532"/>
            <a:ext cx="154082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TRỤ TƯ DUY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25442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Nền tảng cho một agent pháp lý đáng tin</a:t>
            </a:r>
            <a:endParaRPr lang="en-US" sz="3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19201"/>
            <a:ext cx="3512653" cy="19973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18585" y="214322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5819" y="268069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npx và API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5819" y="3038376"/>
            <a:ext cx="314396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Bật n8n bằng một lệnh, notebook điều khiển qua REST API — không build Node thủ công.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019201"/>
            <a:ext cx="3512752" cy="19973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96532" y="214322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23766" y="2680692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Harness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23766" y="3038376"/>
            <a:ext cx="3144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và evidence làm cổng phê duyệt. AI chỉ đưa ra đề xuất, không ra quyết định.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019201"/>
            <a:ext cx="3512653" cy="19973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74578" y="214322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201812" y="268069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01812" y="3038376"/>
            <a:ext cx="314396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cốt lõi chạy bằng code Python, ra PASS/FAIL rõ ràng — không phụ thuộc cảm hứng LLM.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81872"/>
            <a:ext cx="5351626" cy="17391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238022" y="430589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45819" y="4843363"/>
            <a:ext cx="498293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Redaction 4 cấp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45819" y="5201047"/>
            <a:ext cx="49829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 PII và dữ liệu tài chính trước khi đẩy lên AI Cloud.</a:t>
            </a:r>
            <a:endParaRPr lang="en-US" sz="13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8395" y="4181872"/>
            <a:ext cx="5351725" cy="17391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755042" y="430589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362739" y="4843363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362739" y="5201047"/>
            <a:ext cx="498303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tắc rà trong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checklist-rui-ro.md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Python đối chiếu, thay vì để AI đoán mò.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6220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60583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556220"/>
            <a:ext cx="1536364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605830"/>
            <a:ext cx="194751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CHAIN WORKFLOW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8737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Từ hợp đồng đến báo cáo — sáu bước</a:t>
            </a:r>
            <a:endParaRPr lang="en-US" sz="3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638498"/>
            <a:ext cx="10520595" cy="39479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36045" y="4475176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Phân tích rủi ro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36215" y="4475176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Trích &amp; Xác thực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347253" y="462802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Ẩn PII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358291" y="462802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Tải DOCX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325854" y="462802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Bắt đầu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61475" y="577244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bước là một lớp kiểm soát độc lập: dữ liệu đi qua redaction trước, sau đó mới đến AI, rồi qua harness kiểm chứng, và cuối cùng ra báo cáo để con người quyết định.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3067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78028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730673"/>
            <a:ext cx="1806530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780282"/>
            <a:ext cx="221768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HAI KẺ THÙ: VÍ DỤ THẬT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0481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Hallucination và Omission trong hợp đồng mẫu</a:t>
            </a:r>
            <a:endParaRPr lang="en-US" sz="3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12951"/>
            <a:ext cx="3512653" cy="23142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2017" y="2997299"/>
            <a:ext cx="3067767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🤥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Hallucination — AI bịa điều khoản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22017" y="3619798"/>
            <a:ext cx="3067767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tự thêm điều khoản kiểu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"phạt 5% nếu giao trễ"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dù hợp đồng không hề có. Code kiểm tra nguyên văn (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verbatim check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sẽ phát hiện và đánh dấu ngay.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812951"/>
            <a:ext cx="3512752" cy="231427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964" y="2997299"/>
            <a:ext cx="3067866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🕳️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Omission — AI bỏ sót điều khoản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99964" y="3619798"/>
            <a:ext cx="30678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đồng thiếu điều khoản chấm dứt hoặc gia hạn. AI thường không báo — với nó "không có gì để đọc" thì cũng "không có gì để nói".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812951"/>
            <a:ext cx="3512653" cy="231427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8010" y="2997299"/>
            <a:ext cx="3067767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🚩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Red Flag KB — bẫy HD05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78010" y="3361333"/>
            <a:ext cx="3067767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Mười hai tiêu chí trong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checklist-rui-ro.md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cho Python đối chiếu, bắt được bẫy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"đơn phương gia hạn HD05"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mà AI thường bỏ qua.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 qua Notebook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npx n8n và REST API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911005"/>
            <a:ext cx="873996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3960614"/>
            <a:ext cx="128514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28818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33779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2288183"/>
            <a:ext cx="224089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2337792"/>
            <a:ext cx="265205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VÌ SAO HỌC QUA NOTEBOOK?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9516" y="2973685"/>
            <a:ext cx="10620705" cy="626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Học viên không phải kéo-thả Node, cũng không cài đặt. Một lệnh 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npx n8n start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bật n8n local, notebook điều khiển qua 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REST API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61475" y="2725638"/>
            <a:ext cx="19050" cy="1122561"/>
          </a:xfrm>
          <a:prstGeom prst="roundRect">
            <a:avLst>
              <a:gd name="adj" fmla="val 49999"/>
            </a:avLst>
          </a:prstGeom>
          <a:solidFill>
            <a:srgbClr val="004AAD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4034234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Thời gian buổi học dành trọn cho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Harness, Redaction và Red Flag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đúng những chỗ quyết định agent pháp lý sống hay chết. Mỗi cell gọi một endpoint (như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/rest/login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hay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/api/v1/workflows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 Kết quả hiện ra ngay, dễ trao đổi giữa GV và HV.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71030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620639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8885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 Bước 0: khởi động n8n bằng npx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65330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Một lệnh bật n8n và nạp 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103959"/>
            <a:ext cx="10868745" cy="2182912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59907" y="3269258"/>
            <a:ext cx="10471880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test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n8n start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n8n chạy tại http://localhost:5678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auto_import_workflow() nạp 'B4 K1 - Contract Review Agent'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POST /rest/login (admin@alobase.vn)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6712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31673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267123"/>
            <a:ext cx="1514040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316732"/>
            <a:ext cx="192519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BƯỚC 2 VÀ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58462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Che PII trước, validate cấu trúc sau</a:t>
            </a:r>
            <a:endParaRPr lang="en-US" sz="3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49401"/>
            <a:ext cx="5434373" cy="6614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6769" y="3176191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Cell Step 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6769" y="3533874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Gọi API Node Redact Python, PII bị che đủ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bốn cấp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349401"/>
            <a:ext cx="5434373" cy="6614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1142" y="3176191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Cell Step 3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261142" y="3533874"/>
            <a:ext cx="5103784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extract, rồi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jsonschema.validate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 với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clause.schema.json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970139"/>
            <a:ext cx="5434373" cy="6614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6769" y="4796929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FAIL → Retry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6769" y="5154613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Nếu schema FAIL, IF node cho AI thử lại tối đa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hai lần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970139"/>
            <a:ext cx="5434373" cy="6614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61142" y="4796929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PASS → Output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261142" y="5154613"/>
            <a:ext cx="5103784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PASS: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clauses.json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với đủ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tám điều khoản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45184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994793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945184"/>
            <a:ext cx="1526541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994793"/>
            <a:ext cx="193769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BƯỚC 4 VÀ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2626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Đối chiếu Red Flag rồi xuất báo cáo Word</a:t>
            </a:r>
            <a:endParaRPr lang="en-US" sz="3250" dirty="0"/>
          </a:p>
        </p:txBody>
      </p:sp>
      <p:sp>
        <p:nvSpPr>
          <p:cNvPr id="7" name="Shape 5"/>
          <p:cNvSpPr/>
          <p:nvPr/>
        </p:nvSpPr>
        <p:spPr>
          <a:xfrm>
            <a:off x="542415" y="3027462"/>
            <a:ext cx="5470785" cy="1885255"/>
          </a:xfrm>
          <a:prstGeom prst="roundRect">
            <a:avLst>
              <a:gd name="adj" fmla="val 6316"/>
            </a:avLst>
          </a:prstGeom>
          <a:solidFill>
            <a:srgbClr val="004AAD"/>
          </a:solidFill>
          <a:ln/>
        </p:spPr>
      </p:sp>
      <p:sp>
        <p:nvSpPr>
          <p:cNvPr id="8" name="Text 6"/>
          <p:cNvSpPr/>
          <p:nvPr/>
        </p:nvSpPr>
        <p:spPr>
          <a:xfrm>
            <a:off x="707710" y="319276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Bước 4 — AI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7710" y="3616523"/>
            <a:ext cx="5140196" cy="1193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 Step 4 chạy AI Review so với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checklist-rui-ro.md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ra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risk-analyzed.json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Python kiểm tra: nếu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verbatim_quote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không có trong hợp đồng → đánh dấu hallucination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31927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Bước 5 — Báo cáo Word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3616523"/>
            <a:ext cx="5232666" cy="1238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 Step 5 chạy master pipeline tổng hợp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Xuất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kèm phân loại rủi ro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🔴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HIGH ·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🟡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MED ·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LOW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E2E Test Suite báo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8/8 PASSED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1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npx n8n start và auto-import qua API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911005"/>
            <a:ext cx="906837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3960614"/>
            <a:ext cx="131798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35547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885156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835547"/>
            <a:ext cx="1849391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885156"/>
            <a:ext cx="226054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JIT: NỀN TẢNG KỸ THUẬT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15304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npx n8n và REST API: một lệnh, không cài đặt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917825"/>
            <a:ext cx="10868745" cy="1257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chạy 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npx n8n start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npx sẽ kéo n8n về và bật lên ở 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localhost:5678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Script 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auto_import_n8n.py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 việc nạp solution workflow và đăng nhập REST API bằng tài khoản 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admin@alobase.vn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Từ đó về sau, mọi thực hành chỉ cần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gọi API để chạy từng Node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Học viên đóng vai người vận hành cuối (end-user operator), không phải người build pipeline — đây là cách tiếp cận sản phẩm thực tế.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4361061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B6D6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4600773"/>
            <a:ext cx="206667" cy="1652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98731" y="456763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cần Docker, không cần tài khoản Cloud, không cần kéo thả Node. Tất cả đã có sẵn trong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1534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36495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315343"/>
            <a:ext cx="1110726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5" name="Text 3"/>
          <p:cNvSpPr/>
          <p:nvPr/>
        </p:nvSpPr>
        <p:spPr>
          <a:xfrm>
            <a:off x="2723387" y="1364952"/>
            <a:ext cx="152187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· 15 PHÚT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6328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1: khởi động n8n và notebook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39762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Mục tiêu: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n8n local đang chạy, workflow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'B4 K1 - Contract Review Agent'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tự nạp, E2E Test Suite báo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8/8 PASSED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8482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1102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2309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Khởi động n8n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475" y="3588643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 test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rồi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npx n8n start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mở trình duyệt tại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localhost:5678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8495" y="28482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1102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8495" y="32309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Mở notebook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8495" y="3588643"/>
            <a:ext cx="535172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Mở file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04_contract_review_lab_demo.ipynb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chạy Cell Step 0 và Step 1.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4135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6754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7962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Auto-import và login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5153918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 tự nạp workflow và đăng nhập REST API.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495" y="44135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495" y="46754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2" name="Text 20"/>
          <p:cNvSpPr/>
          <p:nvPr/>
        </p:nvSpPr>
        <p:spPr>
          <a:xfrm>
            <a:off x="6178495" y="47962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Nghiệm thu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495" y="5153918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E2E Test Suite và kiểm tra đạt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8/8 PASSED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08299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157909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425799"/>
            <a:ext cx="10868745" cy="104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12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72020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1 · 12 phút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448498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đầu thực hành. GV quan sát và hỗ trợ nếu gặp lỗi cài đặt hoặc kết nối.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08770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95838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908770"/>
            <a:ext cx="1751762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958380"/>
            <a:ext cx="216291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THỰC HÀNH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2262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n8n sẵn sàng, notebook đã đăng nhập API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991048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Tại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localhost:5678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xuất hiện workflow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'B4 K1 - Contract Review Agent'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Notebook đã đăng nhập REST API thành công và sẵn sàng gọi các endpoint tiếp theo.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712666"/>
            <a:ext cx="3512653" cy="1236563"/>
          </a:xfrm>
          <a:prstGeom prst="roundRect">
            <a:avLst>
              <a:gd name="adj" fmla="val 561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3119" y="3884315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Workflow auto-import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119" y="4248348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nạp thành công, hiển thị trên giao diện n8n.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9422" y="3712666"/>
            <a:ext cx="3512752" cy="1236563"/>
          </a:xfrm>
          <a:prstGeom prst="roundRect">
            <a:avLst>
              <a:gd name="adj" fmla="val 561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1066" y="3884315"/>
            <a:ext cx="31694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E2E Test Suite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1066" y="4248348"/>
            <a:ext cx="31694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8/8 PASSED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nền tảng đã sẵn sàng cho các thực hành tiếp theo.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7468" y="3712666"/>
            <a:ext cx="3512653" cy="1236563"/>
          </a:xfrm>
          <a:prstGeom prst="roundRect">
            <a:avLst>
              <a:gd name="adj" fmla="val 561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9112" y="3884315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REST API sẵn sàng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9112" y="4248348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thực hành sau chỉ cần gọi API, không cần kéo-thả thêm Node nào.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2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Redaction 4 cấp bảo mật PII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911005"/>
            <a:ext cx="901380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3960614"/>
            <a:ext cx="131253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51694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901303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851694"/>
            <a:ext cx="2235343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901303"/>
            <a:ext cx="264649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JIT: BẢO MẬT DỮ LIỆU NGUỒN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16919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Redaction 4 cấp: che gì trước khi qua AI</a:t>
            </a:r>
            <a:endParaRPr lang="en-US" sz="3250" dirty="0"/>
          </a:p>
        </p:txBody>
      </p:sp>
      <p:sp>
        <p:nvSpPr>
          <p:cNvPr id="7" name="Shape 5"/>
          <p:cNvSpPr/>
          <p:nvPr/>
        </p:nvSpPr>
        <p:spPr>
          <a:xfrm>
            <a:off x="661475" y="1933972"/>
            <a:ext cx="1358568" cy="952897"/>
          </a:xfrm>
          <a:prstGeom prst="roundRect">
            <a:avLst>
              <a:gd name="adj" fmla="val 7290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4428" y="2294136"/>
            <a:ext cx="232563" cy="2325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85338" y="2099270"/>
            <a:ext cx="91795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Cấp 4 — Mật: DỪNG NGAY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85338" y="2456954"/>
            <a:ext cx="91795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Phát hiện từ khóa tuyệt mật (STOP_IF_SECRET) → workflow dừng, không đẩy lên AI Cloud.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02690" y="2878931"/>
            <a:ext cx="9344883" cy="9525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2" name="Shape 9"/>
          <p:cNvSpPr/>
          <p:nvPr/>
        </p:nvSpPr>
        <p:spPr>
          <a:xfrm>
            <a:off x="661475" y="2969518"/>
            <a:ext cx="2717137" cy="952897"/>
          </a:xfrm>
          <a:prstGeom prst="roundRect">
            <a:avLst>
              <a:gd name="adj" fmla="val 7290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3762" y="3329682"/>
            <a:ext cx="232563" cy="2325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3906" y="3134816"/>
            <a:ext cx="782102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Cấp 3 — Nghiệp vụ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43906" y="3492500"/>
            <a:ext cx="78210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Đối tác chiến lược, BMTT, điều khoản độc quyền được che ngưỡng (threshold).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461259" y="3914477"/>
            <a:ext cx="7986314" cy="9525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7" name="Shape 13"/>
          <p:cNvSpPr/>
          <p:nvPr/>
        </p:nvSpPr>
        <p:spPr>
          <a:xfrm>
            <a:off x="661475" y="4005064"/>
            <a:ext cx="4075705" cy="959247"/>
          </a:xfrm>
          <a:prstGeom prst="roundRect">
            <a:avLst>
              <a:gd name="adj" fmla="val 7242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82996" y="4368403"/>
            <a:ext cx="232563" cy="232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02474" y="4170363"/>
            <a:ext cx="64624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Cấp 2 — Tài chính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902474" y="4528046"/>
            <a:ext cx="6462452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Giá trị hợp đồng và mã số thuế (MST) →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[giá trị redact]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819827" y="4956373"/>
            <a:ext cx="6627746" cy="9525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22" name="Shape 17"/>
          <p:cNvSpPr/>
          <p:nvPr/>
        </p:nvSpPr>
        <p:spPr>
          <a:xfrm>
            <a:off x="661475" y="5046960"/>
            <a:ext cx="5434373" cy="959247"/>
          </a:xfrm>
          <a:prstGeom prst="roundRect">
            <a:avLst>
              <a:gd name="adj" fmla="val 7242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62330" y="5410299"/>
            <a:ext cx="232563" cy="23256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1142" y="5212259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Cấp 1 — PII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261142" y="5569942"/>
            <a:ext cx="5103784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Email, số điện thoại, tên người →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[email redact]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0xxx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12168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361777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312168"/>
            <a:ext cx="1110726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5" name="Text 3"/>
          <p:cNvSpPr/>
          <p:nvPr/>
        </p:nvSpPr>
        <p:spPr>
          <a:xfrm>
            <a:off x="2723387" y="1361777"/>
            <a:ext cx="152187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· 15 PHÚT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62966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2: redaction 4 cấp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394446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Mục tiêu: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 file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contract-redacted.md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với 100% PII, MST và giá trị tài chính đã che, cấu trúc tám điều khoản vẫn nguyên vẹn.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8514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1133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2341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Gọi API Redact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475" y="3591818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Cell Step 2 để gọi API Node Redact Python.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8495" y="28514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1133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8495" y="32341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Quan sát regex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8495" y="3591818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Xem regex che cấp 1–3 và Security Gate ở cấp 4 hoạt động thế nào.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4103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6723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7930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tra kết quả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5150743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Kiểm lại xem còn sót PII không (email, SĐT, MST).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495" y="44103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495" y="46723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2" name="Text 20"/>
          <p:cNvSpPr/>
          <p:nvPr/>
        </p:nvSpPr>
        <p:spPr>
          <a:xfrm>
            <a:off x="6178495" y="47930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Lưu file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495" y="5150743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Lưu kết quả ra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contract-redacted.md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08299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157909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425799"/>
            <a:ext cx="10868745" cy="104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12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72020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2 · 12 phút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448498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đầu thực hành. Chú ý quan sát regex patterns và cách Security Gate ở cấp 4 hoạt động khác với ba cấp trước.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45655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795264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745655"/>
            <a:ext cx="1779146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795264"/>
            <a:ext cx="219029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THỰC HÀNH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0631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PII đã che sạch, cấu trúc giữ nguyên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827933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Trong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contract-redacted.md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mọi email, SĐT, MST và giá trị tài chính đã thay bằng placeholder. Cấu trúc tám điều khoản vẫn nguyên, không xóa nhầm nội dung.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2415" y="3549551"/>
            <a:ext cx="5470785" cy="1562795"/>
          </a:xfrm>
          <a:prstGeom prst="roundRect">
            <a:avLst>
              <a:gd name="adj" fmla="val 7620"/>
            </a:avLst>
          </a:prstGeom>
          <a:solidFill>
            <a:srgbClr val="004AAD"/>
          </a:solidFill>
          <a:ln/>
        </p:spPr>
      </p:sp>
      <p:sp>
        <p:nvSpPr>
          <p:cNvPr id="9" name="Text 7"/>
          <p:cNvSpPr/>
          <p:nvPr/>
        </p:nvSpPr>
        <p:spPr>
          <a:xfrm>
            <a:off x="707710" y="3714849"/>
            <a:ext cx="51401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Đã đạt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7710" y="4144963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chỉ thấy bản đã che — đây là đầu vào cho bước 3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Cấu trúc tám điều khoản nguyên vẹn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có PII nào còn sót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3714849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Điều quan trọng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3904" y="4144963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Nếu hợp đồng kích hoạt cấp 4 (từ khóa mật), workflow dừng ngay và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không bao giờ đẩy lên AI Cloud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Đây là nguyên tắc bảo mật tuyệt đối.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3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 và Schema Validation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911005"/>
            <a:ext cx="933923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3960614"/>
            <a:ext cx="134507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85106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534716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485106"/>
            <a:ext cx="2956248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534716"/>
            <a:ext cx="336740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JIT: HARNESS SCHEMA VÀ DETERMINISM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80260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Schema là cổng "đủ chân"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567384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AI extract, nó có thể trả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thiếu trường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hoặc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sai định dạng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Code node Python dùng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jsonschema.validate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 với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clause.schema.json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chặn: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289002"/>
            <a:ext cx="10868745" cy="1236563"/>
          </a:xfrm>
          <a:prstGeom prst="roundRect">
            <a:avLst>
              <a:gd name="adj" fmla="val 561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825" y="3295352"/>
            <a:ext cx="3618616" cy="1223863"/>
          </a:xfrm>
          <a:custGeom>
            <a:avLst/>
            <a:gdLst/>
            <a:ahLst/>
            <a:cxnLst/>
            <a:rect l="l" t="t" r="r" b="b"/>
            <a:pathLst>
              <a:path w="3618616" h="1223863">
                <a:moveTo>
                  <a:pt x="57887" y="0"/>
                </a:moveTo>
                <a:lnTo>
                  <a:pt x="3618616" y="0"/>
                </a:lnTo>
                <a:lnTo>
                  <a:pt x="3618616" y="1223863"/>
                </a:lnTo>
                <a:lnTo>
                  <a:pt x="57887" y="1223863"/>
                </a:lnTo>
                <a:arcTo hR="57888" wR="57887" stAng="5400000" swAng="5400000"/>
                <a:lnTo>
                  <a:pt x="0" y="57888"/>
                </a:lnTo>
                <a:arcTo hR="57888" wR="57887" stAng="10800000" swAng="5400000"/>
                <a:close/>
              </a:path>
            </a:pathLst>
          </a:custGeom>
          <a:solidFill>
            <a:srgbClr val="CCE2FF"/>
          </a:solidFill>
          <a:ln/>
        </p:spPr>
      </p:sp>
      <p:sp>
        <p:nvSpPr>
          <p:cNvPr id="10" name="Text 8"/>
          <p:cNvSpPr/>
          <p:nvPr/>
        </p:nvSpPr>
        <p:spPr>
          <a:xfrm>
            <a:off x="833119" y="3460651"/>
            <a:ext cx="3288027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PASS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3119" y="3824684"/>
            <a:ext cx="328802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Đủ tám điều khoản, đúng định dạng → đi tiếp sang bước 4.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86440" y="3295352"/>
            <a:ext cx="3618715" cy="1223863"/>
          </a:xfrm>
          <a:prstGeom prst="rect">
            <a:avLst/>
          </a:prstGeom>
          <a:solidFill>
            <a:srgbClr val="CCE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6440" y="3295352"/>
            <a:ext cx="19050" cy="1223863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4" name="Text 12"/>
          <p:cNvSpPr/>
          <p:nvPr/>
        </p:nvSpPr>
        <p:spPr>
          <a:xfrm>
            <a:off x="4451735" y="3460651"/>
            <a:ext cx="328812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FAIL → Retry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1735" y="3824684"/>
            <a:ext cx="328812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node cho AI thử lại tối đa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hai lần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với prompt bổ sung.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05155" y="3295352"/>
            <a:ext cx="3618715" cy="1223863"/>
          </a:xfrm>
          <a:custGeom>
            <a:avLst/>
            <a:gdLst/>
            <a:ahLst/>
            <a:cxnLst/>
            <a:rect l="l" t="t" r="r" b="b"/>
            <a:pathLst>
              <a:path w="3618715" h="1223863">
                <a:moveTo>
                  <a:pt x="0" y="0"/>
                </a:moveTo>
                <a:lnTo>
                  <a:pt x="3560828" y="0"/>
                </a:lnTo>
                <a:arcTo hR="57888" wR="57887" stAng="16200000" swAng="5400000"/>
                <a:lnTo>
                  <a:pt x="3618715" y="1165975"/>
                </a:lnTo>
                <a:arcTo hR="57888" wR="57887" stAng="0" swAng="5400000"/>
                <a:lnTo>
                  <a:pt x="0" y="1223863"/>
                </a:lnTo>
                <a:lnTo>
                  <a:pt x="0" y="0"/>
                </a:lnTo>
                <a:close/>
              </a:path>
            </a:pathLst>
          </a:custGeom>
          <a:solidFill>
            <a:srgbClr val="CCE2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905155" y="3295352"/>
            <a:ext cx="19050" cy="1223863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8" name="Text 16"/>
          <p:cNvSpPr/>
          <p:nvPr/>
        </p:nvSpPr>
        <p:spPr>
          <a:xfrm>
            <a:off x="8070450" y="3460651"/>
            <a:ext cx="328812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🚫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FAIL x3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70450" y="3824684"/>
            <a:ext cx="328812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Sau ba lần vẫn FAIL → workflow báo lỗi, không cho đi tiếp.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1475" y="4711601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CCE2FF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4951313"/>
            <a:ext cx="206667" cy="16529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98731" y="491817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Đây chính là "deterministic": logic do CODE quyết định, chứ không phải LLM tự thấy "ổn".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41351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49096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441351"/>
            <a:ext cx="1110726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5" name="Text 3"/>
          <p:cNvSpPr/>
          <p:nvPr/>
        </p:nvSpPr>
        <p:spPr>
          <a:xfrm>
            <a:off x="2723387" y="1490960"/>
            <a:ext cx="152187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· 15 PHÚT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75885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3: extract và schema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523629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Mục tiêu: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clauses.json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đạt schema PASS, đủ tám điều khoản, mỗi điều khoản có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evidence.verbatim_quote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kiểm ở thực hành 4.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98063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242568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36331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Gọi API Node AI extract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475" y="3721001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Cell Step 3 để kích hoạt Node AI extract trên bản đã redact.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8495" y="298063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242568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8495" y="336331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Quan sát validate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8495" y="3721001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Xem Code node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jsonschema.validate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 với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clause.schema.json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28128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543227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66397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Cấu hình Loop-Retry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502165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 sát: nếu FAIL thì thử lại tối đa hai lần.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495" y="428128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495" y="4543227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2" name="Text 20"/>
          <p:cNvSpPr/>
          <p:nvPr/>
        </p:nvSpPr>
        <p:spPr>
          <a:xfrm>
            <a:off x="6178495" y="466397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tra và lưu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495" y="5021659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Lưu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clauses.json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đếm đủ tám điều khoản.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08299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157909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425799"/>
            <a:ext cx="10868745" cy="104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12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72020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3 · 12 phút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448498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đầu thực hành. Chú ý quan sát Loop-Retry Node và cách IF node phân nhánh kết quả PASS/FAIL.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7006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81967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770063"/>
            <a:ext cx="1778650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819672"/>
            <a:ext cx="218980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THỰC HÀNH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0875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Schema PASS, đủ tám điều khoản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852341"/>
            <a:ext cx="10868745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clauses.json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chứa tám điều khoản kèm metadata (bên A, bên B, ngày ký, giá trị đã redact). Mỗi điều khoản có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evidence.verbatim_quote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đối chiếu ở thực hành 4.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580309"/>
            <a:ext cx="3512653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3119" y="3751957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Cấu trúc tất định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119" y="4115991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có cấu trúc do code quyết định — không phụ thuộc vào cảm hứng AI.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9422" y="3580309"/>
            <a:ext cx="3512752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1066" y="3751957"/>
            <a:ext cx="31694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8 điều khoản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1066" y="4115991"/>
            <a:ext cx="31694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Đủ số lượng theo schema yêu cầu, kèm metadata đầy đủ.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7468" y="3580309"/>
            <a:ext cx="3512653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9112" y="3751957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Evidence sẵn sàng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9112" y="4115991"/>
            <a:ext cx="3169364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điều khoản có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verbatim_quote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bước tiếp theo dùng để bắt hallucination.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4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Review và Red Flag Knowledge Base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911005"/>
            <a:ext cx="900884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3960614"/>
            <a:ext cx="131203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6650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91611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866503"/>
            <a:ext cx="2589346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916112"/>
            <a:ext cx="300049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JIT: HARNESS EVIDENCE VÀ POLICY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18400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chứng AI bằng Red Flag KB</a:t>
            </a:r>
            <a:endParaRPr lang="en-US" sz="3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48781"/>
            <a:ext cx="413434" cy="413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3568898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 Flag KB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75" y="3926582"/>
            <a:ext cx="3485071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tiêu chí trong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checklist-rui-ro.md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là bộ quy tắc của doanh nghiệp, viết thành data để Python đối chiếu chuẩn xác thay vì phán đoán.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2948781"/>
            <a:ext cx="413434" cy="4134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3213" y="3568898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Review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353213" y="3926582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đối chiếu từng điều khoản với Red Flag để đưa ra cảnh báo. AI chỉ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đề xuất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không ra quyết định duyệt.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2948781"/>
            <a:ext cx="413434" cy="41344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5050" y="3568898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Evidence Check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045050" y="3926582"/>
            <a:ext cx="3485170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Python kiểm: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verbatim_quote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không có trong hợp đồng →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hallucination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; thiếu điều khoản bắt buộc →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omission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0899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35860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308993"/>
            <a:ext cx="1110726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5" name="Text 3"/>
          <p:cNvSpPr/>
          <p:nvPr/>
        </p:nvSpPr>
        <p:spPr>
          <a:xfrm>
            <a:off x="2723387" y="1358602"/>
            <a:ext cx="152187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· 15 PHÚT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62649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4: AI Review và evidence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391271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Mục tiêu: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risk-analyzed.json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bắt đúng cả hallucination lẫn omission, đặc biệt là bẫy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"đơn phương gia hạn HD05"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8482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1102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2309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Chạy AI 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475" y="3588643"/>
            <a:ext cx="535172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 Step 4 gọi API Node AI Review, nạp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checklist-rui-ro.md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làm KB.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8495" y="28482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1102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8495" y="32309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Quan sát Python checks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8495" y="3588643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Xem code Python làm verbatim check và omission check như thế nào.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4135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6754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7962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tra kết quả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5153918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Đã bắt đúng điều khoản bịa và omission HD05 chưa?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495" y="44135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495" y="46754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2" name="Text 20"/>
          <p:cNvSpPr/>
          <p:nvPr/>
        </p:nvSpPr>
        <p:spPr>
          <a:xfrm>
            <a:off x="6178495" y="47962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Lưu file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495" y="5153918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Lưu kết quả ra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risk-analyzed.json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76041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02565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293541"/>
            <a:ext cx="10868745" cy="104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12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5879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4 · 12 phút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435272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đầu thực hành. Đây là bước cốt lõi của Harness — hãy dành thời gian quan sát kỹ cách Python phân biệt hallucination với omission.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73238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822847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773238"/>
            <a:ext cx="17914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822847"/>
            <a:ext cx="22026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THỰC HÀNH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09073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Bắt được điều khoản bịa và điều khoản thiếu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855516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risk-analyzed.json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đánh dấu hallucination ở điều khoản bịa, omission ở điều khoản thiếu, và match Red Flag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"đơn phương gia hạn HD05"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577134"/>
            <a:ext cx="3512653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3119" y="3748782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🤥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Hallucination bị bắt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119" y="4112816"/>
            <a:ext cx="3169364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Điều khoản bịa bị phát hiện vì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verbatim_quote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không tìm thấy trong hợp đồng gốc.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9422" y="3577134"/>
            <a:ext cx="3512752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1066" y="3748782"/>
            <a:ext cx="31694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🕳️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Omission HD05 bị bắt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1066" y="4112816"/>
            <a:ext cx="31694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Bẫy "đơn phương gia hạn" bị phát hiện nhờ đối chiếu với 12 tiêu chí Red Flag KB.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7468" y="3577134"/>
            <a:ext cx="3512653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9112" y="3748782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📖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Knowledge Base First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9112" y="4112816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tắc hóa thay vì phán đoán cảm tính — đây là triết lý cốt lõi của agent pháp lý đáng tin.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5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Gộp Harness và xuất báo cáo Word (Capstone)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911005"/>
            <a:ext cx="933724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3960614"/>
            <a:ext cx="134487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2390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231999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182390"/>
            <a:ext cx="166732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231999"/>
            <a:ext cx="207848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JIT: MASTER PIPELINE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4998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Gộp năm bước, xuất báo cáo thẩm định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264668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Nối Step 0 đến Step 4 thành một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master pipeline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chạy end-to-end qua API. Code node Python tổng hợp điểm rủi ro, phân loại bằng emoji và xuất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2986286"/>
            <a:ext cx="5351725" cy="126196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B2C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819" y="3170634"/>
            <a:ext cx="49830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HIGH Risk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5819" y="3534668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Điều khoản có rủi ro cao, cần pháp chế xem xét ngay trước khi ký.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8495" y="2986286"/>
            <a:ext cx="5351725" cy="126196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B2C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2838" y="3170634"/>
            <a:ext cx="49830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MED Risk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62838" y="3534668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Điều khoản cần chú ý, có thể thương lượng hoặc bổ sung.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4413548"/>
            <a:ext cx="5351725" cy="126196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B2C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19" y="4597896"/>
            <a:ext cx="49830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LOW Risk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19" y="4961930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Điều khoản tiêu chuẩn, thấp rủi ro, ghi nhận để hồ sơ.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8495" y="4413548"/>
            <a:ext cx="5351725" cy="126196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B2C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2838" y="4597896"/>
            <a:ext cx="49830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HITL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2838" y="4961930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Ô "Người duyệt, ngày, quyết định" để human điền. Quyết định cuối luôn thuộc về con người.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3084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232694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183084"/>
            <a:ext cx="2002581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5" name="Text 3"/>
          <p:cNvSpPr/>
          <p:nvPr/>
        </p:nvSpPr>
        <p:spPr>
          <a:xfrm>
            <a:off x="2723387" y="1232694"/>
            <a:ext cx="241373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· 25 PHÚT (CAPSTONE)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5005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5: master pipeline và báo cáo Word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265363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Mục tiêu: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báo cáo thẩm định dạng Word, có emoji phân loại và ô HITL, chạy trên contract holdout do GV phát.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72236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2984302"/>
            <a:ext cx="3512653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105051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Nối master workflow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475" y="3462734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nối Step 0→4 thành một pipeline end-to-end qua API.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39422" y="272236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9422" y="2984302"/>
            <a:ext cx="3512752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12"/>
          <p:cNvSpPr/>
          <p:nvPr/>
        </p:nvSpPr>
        <p:spPr>
          <a:xfrm>
            <a:off x="4339422" y="3105051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Xuất report.docx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39422" y="3462734"/>
            <a:ext cx="351275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Python xuất Word với ba phần: Tóm tắt, Chi tiết, HITL.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17468" y="272236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17468" y="2984302"/>
            <a:ext cx="3512653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6"/>
          <p:cNvSpPr/>
          <p:nvPr/>
        </p:nvSpPr>
        <p:spPr>
          <a:xfrm>
            <a:off x="8017468" y="3105051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Chạy trên holdout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17468" y="3462734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GV phát contract holdout, chạy một phát end-to-end.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428128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1475" y="4543227"/>
            <a:ext cx="5351626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4663976"/>
            <a:ext cx="53516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tra báo cáo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1475" y="5021659"/>
            <a:ext cx="5351626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Mở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kiểm hallucination, omission và redline.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8395" y="428128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8395" y="4543227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6" name="Text 24"/>
          <p:cNvSpPr/>
          <p:nvPr/>
        </p:nvSpPr>
        <p:spPr>
          <a:xfrm>
            <a:off x="6178395" y="466397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Đóng vai Pháp chế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8395" y="5021659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Điền ô HITL ("duyệt" hay "yêu cầu sửa" kèm lý do) rồi nghiệm thu với GV.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76041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02565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293541"/>
            <a:ext cx="10868745" cy="104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20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5879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5 · 20 phút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435272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đầu capstone. Đây là bài tổng hợp toàn bộ kỹ năng của buổi 4 — từ redaction, schema, AI Review đến xuất báo cáo và HITL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7791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927523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877913"/>
            <a:ext cx="1778948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927523"/>
            <a:ext cx="219010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THỰC HÀNH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1954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Báo cáo thẩm định Word hoàn chỉnh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960191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gồm điểm rủi ro, emoji phân loại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🔴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🟡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và ô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"Người duyệt, ngày, quyết định"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còn trống chờ human điền.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2415" y="3417193"/>
            <a:ext cx="5470785" cy="1562795"/>
          </a:xfrm>
          <a:prstGeom prst="roundRect">
            <a:avLst>
              <a:gd name="adj" fmla="val 7620"/>
            </a:avLst>
          </a:prstGeom>
          <a:solidFill>
            <a:srgbClr val="004AAD"/>
          </a:solidFill>
          <a:ln/>
        </p:spPr>
      </p:sp>
      <p:sp>
        <p:nvSpPr>
          <p:cNvPr id="9" name="Text 7"/>
          <p:cNvSpPr/>
          <p:nvPr/>
        </p:nvSpPr>
        <p:spPr>
          <a:xfrm>
            <a:off x="707710" y="3582491"/>
            <a:ext cx="51401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Kết quả đạt được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7710" y="4012605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Word có đầy đủ ba phần: Tóm tắt, Chi tiết, HITL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Phân loại rủi ro bằng emoji rõ ràng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Hallucination và omission đều được đánh dấu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3582491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Nguyên tắc HITL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3904" y="4012605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Học viên đóng vai Pháp chế, ghi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"duyệt"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hay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"yêu cầu sửa"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kèm lý do. Workflow chỉ đề xuất —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quyết định cuối luôn thuộc về con người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475159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0691" y="524768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624171" y="475159"/>
            <a:ext cx="1375038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23387" y="524768"/>
            <a:ext cx="178619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TOÀN VÀ HITL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79265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Những nguyên tắc không thương lượng</a:t>
            </a:r>
            <a:endParaRPr lang="en-US" sz="3250" dirty="0"/>
          </a:p>
        </p:txBody>
      </p:sp>
      <p:sp>
        <p:nvSpPr>
          <p:cNvPr id="8" name="Shape 5"/>
          <p:cNvSpPr/>
          <p:nvPr/>
        </p:nvSpPr>
        <p:spPr>
          <a:xfrm>
            <a:off x="661475" y="2074168"/>
            <a:ext cx="6296860" cy="1939330"/>
          </a:xfrm>
          <a:prstGeom prst="roundRect">
            <a:avLst>
              <a:gd name="adj" fmla="val 3582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3119" y="2245816"/>
            <a:ext cx="595357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Luôn làm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3119" y="2609850"/>
            <a:ext cx="5953571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Redact bốn cấp trước khi đẩy dữ liệu qua AI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gặp cấp 4 (mật) → dùng AI local, không qua Cloud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Coi hợp đồng là DATA: bỏ qua mọi lệnh giấu trong văn bản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Quyết định duyệt luôn thuộc về con người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178796"/>
            <a:ext cx="6296860" cy="2203946"/>
          </a:xfrm>
          <a:prstGeom prst="roundRect">
            <a:avLst>
              <a:gd name="adj" fmla="val 3152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3119" y="4350445"/>
            <a:ext cx="595357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🚫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Không bao giờ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3119" y="4714478"/>
            <a:ext cx="5953571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đẩy PII thật lên AI Cloud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để workflow tự phê duyệt hợp đồng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tin "AI tự thấy ổn" — phải có code kiểm chứng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áp dụng thật ngay: chạy thử 10 hợp đồng đã duyệt để so sánh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9623"/>
            <a:ext cx="1665742" cy="222647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380" y="523577"/>
            <a:ext cx="2099515" cy="134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400438" y="479623"/>
            <a:ext cx="1895031" cy="222647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88344" y="523577"/>
            <a:ext cx="2328804" cy="134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GRADING RUBRIC · 100 ĐIỂM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754162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Tiêu chí nghiệm thu (đạt từ 70 trở lên)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29160" y="1479947"/>
            <a:ext cx="4817843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61475" y="2134096"/>
            <a:ext cx="535321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1475" y="2440880"/>
            <a:ext cx="5353214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npx n8n và auto-config thành công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44593" y="1479947"/>
            <a:ext cx="4817942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176907" y="2134096"/>
            <a:ext cx="535331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6907" y="2440880"/>
            <a:ext cx="535331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Redaction 4 cấp đúng, không sót PII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29160" y="2994720"/>
            <a:ext cx="4817843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61475" y="3648869"/>
            <a:ext cx="535321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475" y="3955653"/>
            <a:ext cx="5353214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validation — determinism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4593" y="2994720"/>
            <a:ext cx="4817942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76907" y="3648869"/>
            <a:ext cx="535331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6907" y="3955653"/>
            <a:ext cx="535331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Review và evidence check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9160" y="4509492"/>
            <a:ext cx="4817843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61475" y="5163641"/>
            <a:ext cx="535321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1475" y="5470426"/>
            <a:ext cx="5353214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 workflow và report.docx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4593" y="4509492"/>
            <a:ext cx="4817942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176907" y="5163641"/>
            <a:ext cx="535331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Safety &amp; Control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6907" y="5470426"/>
            <a:ext cx="535331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HITL, rule injection đúng chuẩn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1475" y="5837436"/>
            <a:ext cx="10868745" cy="540841"/>
          </a:xfrm>
          <a:prstGeom prst="roundRect">
            <a:avLst>
              <a:gd name="adj" fmla="val 11379"/>
            </a:avLst>
          </a:prstGeom>
          <a:solidFill>
            <a:srgbClr val="CCE2FF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918" y="6038354"/>
            <a:ext cx="183153" cy="14644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37515" y="6003826"/>
            <a:ext cx="10855847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Cần đạt tối thiểu 70/100 điểm để nghiệm thu buổi 4.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12515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962124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23001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Tổng kết buổi 4: năm sản phẩm mang về</a:t>
            </a:r>
            <a:endParaRPr lang="en-US" sz="3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4793"/>
            <a:ext cx="563648" cy="563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1790" y="1994793"/>
            <a:ext cx="17918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npx n8n và API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31790" y="2352477"/>
            <a:ext cx="179184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tự nạp, Test Suite đạt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8/8 PASSED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n8n local sẵn sàng cho mọi thực hành tiếp theo.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303" y="1994793"/>
            <a:ext cx="563648" cy="563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00618" y="1994793"/>
            <a:ext cx="179184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contract-redacted.md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200618" y="2610941"/>
            <a:ext cx="179184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PII đã che đủ bốn cấp. Tuyệt đối không còn email, SĐT, MST hay giá trị tài chính.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132" y="1994793"/>
            <a:ext cx="563648" cy="563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69447" y="1994793"/>
            <a:ext cx="17918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clauses.json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969447" y="2352477"/>
            <a:ext cx="1791846" cy="1335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PASS, đủ tám điều khoản, kèm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evidence.verbatim_quote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cho mỗi điều khoản.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960" y="1994793"/>
            <a:ext cx="563648" cy="563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38275" y="1994793"/>
            <a:ext cx="17919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risk-analyzed.json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9738275" y="2610941"/>
            <a:ext cx="179194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được hallucination và omission, match Red Flag KB đúng 12 tiêu chí.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264720"/>
            <a:ext cx="563648" cy="563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31790" y="4264720"/>
            <a:ext cx="17918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report.docx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431790" y="4622403"/>
            <a:ext cx="179184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thẩm định Word kèm emoji phân loại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🔴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🟡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ô HITL chờ pháp chế ký duyệt.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017687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0691" y="1067296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624171" y="1017687"/>
            <a:ext cx="172566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23387" y="1067296"/>
            <a:ext cx="213682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CHUẨN BỊ CHO BUỔI 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133518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Buổi 5: Workflow Bot CSKH có kiểm soát</a:t>
            </a:r>
            <a:endParaRPr lang="en-US" sz="3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37334"/>
            <a:ext cx="165294" cy="16529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1475" y="2878634"/>
            <a:ext cx="3065783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6"/>
          <p:cNvSpPr/>
          <p:nvPr/>
        </p:nvSpPr>
        <p:spPr>
          <a:xfrm>
            <a:off x="661475" y="2999383"/>
            <a:ext cx="30657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Giữ lại thành quả buổi 4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61475" y="3357066"/>
            <a:ext cx="3065783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Lưu lại n8n workflow của buổi 4 và file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tham chiếu ở buổi 5.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2552" y="2637334"/>
            <a:ext cx="165294" cy="16529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892552" y="2878634"/>
            <a:ext cx="3065783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9"/>
          <p:cNvSpPr/>
          <p:nvPr/>
        </p:nvSpPr>
        <p:spPr>
          <a:xfrm>
            <a:off x="3892552" y="2999383"/>
            <a:ext cx="30657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Chuẩn bị tài liệu CSKH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892552" y="3357066"/>
            <a:ext cx="30657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Chuẩn bị sẵn FAQ hoặc chính sách CSKH mẫu — đây sẽ là Knowledge Base cho bot.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67225"/>
            <a:ext cx="165294" cy="16529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61475" y="4708525"/>
            <a:ext cx="6296860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2"/>
          <p:cNvSpPr/>
          <p:nvPr/>
        </p:nvSpPr>
        <p:spPr>
          <a:xfrm>
            <a:off x="661475" y="4829274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Ôn lại Harness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61475" y="5186958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Ôn lại cách schema và evidence hoạt động — buổi 5 dùng cùng tư duy, áp dụng cho câu hỏi của khách hàng.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1401" y="2209800"/>
            <a:ext cx="6048819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Tin AI thì rủi ro.</a:t>
            </a:r>
            <a:endParaRPr lang="en-US" sz="3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chứng AI qua Harness</a:t>
            </a:r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thì mới đáng tin.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1961753"/>
            <a:ext cx="19050" cy="2046287"/>
          </a:xfrm>
          <a:prstGeom prst="roundRect">
            <a:avLst>
              <a:gd name="adj" fmla="val 49999"/>
            </a:avLst>
          </a:prstGeom>
          <a:solidFill>
            <a:srgbClr val="004AAD"/>
          </a:solidFill>
          <a:ln/>
        </p:spPr>
      </p:sp>
      <p:sp>
        <p:nvSpPr>
          <p:cNvPr id="5" name="Text 2"/>
          <p:cNvSpPr/>
          <p:nvPr/>
        </p:nvSpPr>
        <p:spPr>
          <a:xfrm>
            <a:off x="4928568" y="4194076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Hẹn gặp lại ở buổi 5! </a:t>
            </a:r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4644727"/>
            <a:ext cx="940570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7" name="Text 4"/>
          <p:cNvSpPr/>
          <p:nvPr/>
        </p:nvSpPr>
        <p:spPr>
          <a:xfrm>
            <a:off x="5332577" y="4694337"/>
            <a:ext cx="135172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45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2026-08-03T09:09:34Z</dcterms:created>
  <dcterms:modified xsi:type="dcterms:W3CDTF">2026-08-03T09:09:34Z</dcterms:modified>
</cp:coreProperties>
</file>