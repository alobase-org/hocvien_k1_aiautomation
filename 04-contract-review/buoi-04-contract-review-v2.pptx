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12192000"/>
  <p:embeddedFontLs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Montserrat" pitchFamily="2" charset="77"/>
      <p:regular r:id="rId52"/>
      <p:bold r:id="rId53"/>
      <p:italic r:id="rId54"/>
      <p:boldItalic r:id="rId55"/>
    </p:embeddedFont>
    <p:embeddedFont>
      <p:font typeface="Montserrat Bold" pitchFamily="2" charset="77"/>
      <p:regular r:id="rId56"/>
      <p:bold r:id="rId57"/>
      <p:italic r:id="rId58"/>
      <p:boldItalic r:id="rId59"/>
    </p:embeddedFont>
    <p:embeddedFont>
      <p:font typeface="Montserrat Light" pitchFamily="2" charset="77"/>
      <p:regular r:id="rId60"/>
      <p:italic r:id="rId6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5" Type="http://schemas.openxmlformats.org/officeDocument/2006/relationships/slide" Target="slides/slide4.xml"/><Relationship Id="rId61" Type="http://schemas.openxmlformats.org/officeDocument/2006/relationships/font" Target="fonts/font1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6940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437209"/>
            <a:ext cx="7545662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Thẩm định hợp đồng tự động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5233360" y="3718719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Contract Review Agent với n8n và Harness ·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GV: Lộc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4169370"/>
            <a:ext cx="913881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5332577" y="4218980"/>
            <a:ext cx="1325033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409601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459210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1727101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Chuẩn bị trước buổi</a:t>
            </a:r>
            <a:endParaRPr lang="en-US" sz="3250" dirty="0"/>
          </a:p>
        </p:txBody>
      </p:sp>
      <p:sp>
        <p:nvSpPr>
          <p:cNvPr id="5" name="Shape 3"/>
          <p:cNvSpPr/>
          <p:nvPr/>
        </p:nvSpPr>
        <p:spPr>
          <a:xfrm>
            <a:off x="542415" y="2491879"/>
            <a:ext cx="5470785" cy="2956421"/>
          </a:xfrm>
          <a:prstGeom prst="roundRect">
            <a:avLst>
              <a:gd name="adj" fmla="val 4028"/>
            </a:avLst>
          </a:prstGeom>
          <a:solidFill>
            <a:srgbClr val="004AAD"/>
          </a:solidFill>
          <a:ln/>
        </p:spPr>
      </p:sp>
      <p:sp>
        <p:nvSpPr>
          <p:cNvPr id="6" name="Text 4"/>
          <p:cNvSpPr/>
          <p:nvPr/>
        </p:nvSpPr>
        <p:spPr>
          <a:xfrm>
            <a:off x="707710" y="2657177"/>
            <a:ext cx="514019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Cần chuẩn bị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7710" y="3087291"/>
            <a:ext cx="5140196" cy="230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Máy đã cài Antigravity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pull student kit của Buổi 4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Kiểm tra hợp đồng mẫu </a:t>
            </a:r>
            <a:r>
              <a:rPr lang="en-US" sz="1300" dirty="0">
                <a:solidFill>
                  <a:srgbClr val="FFFFFF"/>
                </a:solidFill>
                <a:highlight>
                  <a:srgbClr val="0D57B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contract-mau-hop-dong-dich-vu.docx</a:t>
            </a: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trong thư mục templates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Kiểm tra hai file đối chiếu: </a:t>
            </a:r>
            <a:r>
              <a:rPr lang="en-US" sz="1300" dirty="0">
                <a:solidFill>
                  <a:srgbClr val="FFFFFF"/>
                </a:solidFill>
                <a:highlight>
                  <a:srgbClr val="0D57B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clause.schema.json</a:t>
            </a: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và </a:t>
            </a:r>
            <a:r>
              <a:rPr lang="en-US" sz="1300" dirty="0">
                <a:solidFill>
                  <a:srgbClr val="FFFFFF"/>
                </a:solidFill>
                <a:highlight>
                  <a:srgbClr val="0D57B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checklist-rui-ro.md</a:t>
            </a: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(12 tiêu chí Red Flag)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3904" y="2657177"/>
            <a:ext cx="523266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🚫</a:t>
            </a:r>
            <a:r>
              <a:rPr lang="en-US" sz="16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Không cần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03904" y="3087291"/>
            <a:ext cx="5232666" cy="1761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Đừng mang hợp đồng thật có thông tin cá nhân (PII) — chỉ dùng file mẫu synthetic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cần cài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Docker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lab này chạy bằng npx cho gọn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phải tự kéo-thả từng Node n8n — notebook đã nạp sẵn workflow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cần mua tài khoản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n8n Cloud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trả phí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90054"/>
            <a:ext cx="1598076" cy="213717"/>
          </a:xfrm>
          <a:prstGeom prst="roundRect">
            <a:avLst>
              <a:gd name="adj" fmla="val 22102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5809" y="632222"/>
            <a:ext cx="2038994" cy="1293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851495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Chương trình chi tiết — 120 phút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086323" y="1469926"/>
            <a:ext cx="19050" cy="4797921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6" name="Shape 4"/>
          <p:cNvSpPr/>
          <p:nvPr/>
        </p:nvSpPr>
        <p:spPr>
          <a:xfrm>
            <a:off x="5535077" y="1618555"/>
            <a:ext cx="421669" cy="19050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7" name="Shape 5"/>
          <p:cNvSpPr/>
          <p:nvPr/>
        </p:nvSpPr>
        <p:spPr>
          <a:xfrm>
            <a:off x="5937697" y="1469926"/>
            <a:ext cx="316301" cy="316309"/>
          </a:xfrm>
          <a:prstGeom prst="roundRect">
            <a:avLst>
              <a:gd name="adj" fmla="val 18667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90430" y="1496318"/>
            <a:ext cx="210835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61475" y="1518245"/>
            <a:ext cx="473152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Mở đầu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1475" y="1809452"/>
            <a:ext cx="473152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trụ tư duy</a:t>
            </a:r>
            <a:endParaRPr lang="en-US" sz="1100" dirty="0"/>
          </a:p>
          <a:p>
            <a:pPr marL="0" indent="0" algn="r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15 phút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4949" y="2419747"/>
            <a:ext cx="421669" cy="19050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7697" y="2271117"/>
            <a:ext cx="316301" cy="316309"/>
          </a:xfrm>
          <a:prstGeom prst="roundRect">
            <a:avLst>
              <a:gd name="adj" fmla="val 18667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90430" y="2297509"/>
            <a:ext cx="210835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798696" y="2319437"/>
            <a:ext cx="473152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Demo Notebook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98696" y="2610644"/>
            <a:ext cx="473152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npx n8n và REST API</a:t>
            </a:r>
            <a:endParaRPr lang="en-US" sz="11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15 phút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35077" y="3125688"/>
            <a:ext cx="421669" cy="19050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17" name="Shape 15"/>
          <p:cNvSpPr/>
          <p:nvPr/>
        </p:nvSpPr>
        <p:spPr>
          <a:xfrm>
            <a:off x="5937697" y="2977059"/>
            <a:ext cx="316301" cy="316309"/>
          </a:xfrm>
          <a:prstGeom prst="roundRect">
            <a:avLst>
              <a:gd name="adj" fmla="val 18667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0430" y="3003451"/>
            <a:ext cx="210835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61475" y="3025378"/>
            <a:ext cx="473152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1–3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1475" y="3316585"/>
            <a:ext cx="473152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Khởi động, redact, schema</a:t>
            </a:r>
            <a:endParaRPr lang="en-US" sz="1100" dirty="0"/>
          </a:p>
          <a:p>
            <a:pPr marL="0" indent="0" algn="r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45 phút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34949" y="3831630"/>
            <a:ext cx="421669" cy="19050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22" name="Shape 20"/>
          <p:cNvSpPr/>
          <p:nvPr/>
        </p:nvSpPr>
        <p:spPr>
          <a:xfrm>
            <a:off x="5937697" y="3683000"/>
            <a:ext cx="316301" cy="316309"/>
          </a:xfrm>
          <a:prstGeom prst="roundRect">
            <a:avLst>
              <a:gd name="adj" fmla="val 18667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90430" y="3709392"/>
            <a:ext cx="210835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798696" y="3731320"/>
            <a:ext cx="473152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4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798696" y="4022527"/>
            <a:ext cx="473152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Review và Red Flag KB</a:t>
            </a:r>
            <a:endParaRPr lang="en-US" sz="11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15 phút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35077" y="4537571"/>
            <a:ext cx="421669" cy="19050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27" name="Shape 25"/>
          <p:cNvSpPr/>
          <p:nvPr/>
        </p:nvSpPr>
        <p:spPr>
          <a:xfrm>
            <a:off x="5937697" y="4388941"/>
            <a:ext cx="316301" cy="316309"/>
          </a:xfrm>
          <a:prstGeom prst="roundRect">
            <a:avLst>
              <a:gd name="adj" fmla="val 18667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90430" y="4415334"/>
            <a:ext cx="210835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61475" y="4437261"/>
            <a:ext cx="473152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5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61475" y="4728468"/>
            <a:ext cx="473152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Gộp harness, xuất Word</a:t>
            </a:r>
            <a:endParaRPr lang="en-US" sz="1100" dirty="0"/>
          </a:p>
          <a:p>
            <a:pPr marL="0" indent="0" algn="r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25 phút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34949" y="5243513"/>
            <a:ext cx="421669" cy="19050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32" name="Shape 30"/>
          <p:cNvSpPr/>
          <p:nvPr/>
        </p:nvSpPr>
        <p:spPr>
          <a:xfrm>
            <a:off x="5937697" y="5094883"/>
            <a:ext cx="316301" cy="316309"/>
          </a:xfrm>
          <a:prstGeom prst="roundRect">
            <a:avLst>
              <a:gd name="adj" fmla="val 18667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90430" y="5121275"/>
            <a:ext cx="210835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6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6798696" y="5143202"/>
            <a:ext cx="473152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Tổng kết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798696" y="5434409"/>
            <a:ext cx="473152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Hỏi đáp</a:t>
            </a:r>
            <a:endParaRPr lang="en-US" sz="11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 phút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662535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Phần mở: hai kẻ thù của AI trong pháp lý</a:t>
            </a:r>
            <a:endParaRPr lang="en-US" sz="3250" dirty="0"/>
          </a:p>
        </p:txBody>
      </p:sp>
      <p:sp>
        <p:nvSpPr>
          <p:cNvPr id="4" name="Shape 1"/>
          <p:cNvSpPr/>
          <p:nvPr/>
        </p:nvSpPr>
        <p:spPr>
          <a:xfrm>
            <a:off x="5233360" y="3944045"/>
            <a:ext cx="953568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5" name="Text 2"/>
          <p:cNvSpPr/>
          <p:nvPr/>
        </p:nvSpPr>
        <p:spPr>
          <a:xfrm>
            <a:off x="5332577" y="3993654"/>
            <a:ext cx="1364720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870869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920478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870869"/>
            <a:ext cx="1052486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920478"/>
            <a:ext cx="146363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CÂU HỎI MỞ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09516" y="2556371"/>
            <a:ext cx="10620705" cy="620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có thể </a:t>
            </a:r>
            <a:r>
              <a:rPr lang="en-US" sz="1950" b="1" dirty="0">
                <a:solidFill>
                  <a:srgbClr val="E82E3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bịa ra</a:t>
            </a:r>
            <a:r>
              <a:rPr lang="en-US" sz="19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một điều khoản không hề có trong hợp đồng. Nó cũng có thể </a:t>
            </a:r>
            <a:r>
              <a:rPr lang="en-US" sz="1950" b="1" dirty="0">
                <a:solidFill>
                  <a:srgbClr val="E82E3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lướt qua</a:t>
            </a:r>
            <a:r>
              <a:rPr lang="en-US" sz="19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một điều khoản đã bị xóa mà không báo gì.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61475" y="2308324"/>
            <a:ext cx="19050" cy="1116211"/>
          </a:xfrm>
          <a:prstGeom prst="roundRect">
            <a:avLst>
              <a:gd name="adj" fmla="val 49999"/>
            </a:avLst>
          </a:prstGeom>
          <a:solidFill>
            <a:srgbClr val="004AAD"/>
          </a:solidFill>
          <a:ln/>
        </p:spPr>
      </p:sp>
      <p:sp>
        <p:nvSpPr>
          <p:cNvPr id="8" name="Text 6"/>
          <p:cNvSpPr/>
          <p:nvPr/>
        </p:nvSpPr>
        <p:spPr>
          <a:xfrm>
            <a:off x="661475" y="3610570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Câu hỏi này chạy suốt buổi 4. Câu trả lời là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Harness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một lớp kiểm thử đứng giữa AI và quyết định. Nếu để workflow tự động chạy, sẽ không ai nhận ra cho đến lúc hợp đồng đã ký.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1475" y="4325838"/>
            <a:ext cx="10868745" cy="661293"/>
          </a:xfrm>
          <a:prstGeom prst="roundRect">
            <a:avLst>
              <a:gd name="adj" fmla="val 10504"/>
            </a:avLst>
          </a:prstGeom>
          <a:solidFill>
            <a:srgbClr val="CCE2FF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565551"/>
            <a:ext cx="206667" cy="16529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98731" y="4532412"/>
            <a:ext cx="1077578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Vậy làm sao kiểm chứng AI, thay vì chỉ tin nó?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1045666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0691" y="1095276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2624171" y="1045666"/>
            <a:ext cx="2023714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23387" y="1095276"/>
            <a:ext cx="2434866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BỐI CẢNH DOANH NGHIỆP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61475" y="1363166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Vì sao hợp đồng lại khó với AI</a:t>
            </a:r>
            <a:endParaRPr lang="en-US" sz="3250" dirty="0"/>
          </a:p>
        </p:txBody>
      </p:sp>
      <p:sp>
        <p:nvSpPr>
          <p:cNvPr id="8" name="Shape 5"/>
          <p:cNvSpPr/>
          <p:nvPr/>
        </p:nvSpPr>
        <p:spPr>
          <a:xfrm>
            <a:off x="661475" y="2644676"/>
            <a:ext cx="3065783" cy="1765796"/>
          </a:xfrm>
          <a:prstGeom prst="roundRect">
            <a:avLst>
              <a:gd name="adj" fmla="val 3934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3119" y="2816324"/>
            <a:ext cx="272249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🔴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Nút thắt cổ chai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33119" y="3180358"/>
            <a:ext cx="2722494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DN 200–2.000 nhân sự rà hàng trăm hợp đồng/tháng. Đọc tay từng cái mất 2–3 giờ, Pháp chế luôn quá tải.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892552" y="2644676"/>
            <a:ext cx="3065783" cy="1765796"/>
          </a:xfrm>
          <a:prstGeom prst="roundRect">
            <a:avLst>
              <a:gd name="adj" fmla="val 3934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64196" y="2816324"/>
            <a:ext cx="272249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Hai lỗi AI hay mắc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064196" y="3180358"/>
            <a:ext cx="2722494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Hallucination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(bịa điều khoản không có) và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Omission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(bỏ sót điều khoản thiếu). Cả hai đều gây thiệt hại không lấy lại được.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61475" y="4575770"/>
            <a:ext cx="6296860" cy="1236563"/>
          </a:xfrm>
          <a:prstGeom prst="roundRect">
            <a:avLst>
              <a:gd name="adj" fmla="val 561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3119" y="4747419"/>
            <a:ext cx="5953571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🔒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Rủi ro dữ liệu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33119" y="5111452"/>
            <a:ext cx="5953571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Đẩy nguyên văn hợp đồng chứa PII lên AI Cloud là lộ thông tin đối tác. Cần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redact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trước khi AI thấy.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752005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801614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06950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Tư duy: từ Buổi 3 sang Buổi 4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2999581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Buổi 3 — Tin AI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1475" y="3423345"/>
            <a:ext cx="5232666" cy="909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Chấm chất lượng bằng rubric ở cuối pipeline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Schema và JD đóng vai trò hàng rào định nghĩa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 tự build workflow n8n qua MCP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4844" y="2834283"/>
            <a:ext cx="5470785" cy="1556445"/>
          </a:xfrm>
          <a:prstGeom prst="roundRect">
            <a:avLst>
              <a:gd name="adj" fmla="val 7651"/>
            </a:avLst>
          </a:prstGeom>
          <a:solidFill>
            <a:srgbClr val="004AAD"/>
          </a:solidFill>
          <a:ln/>
        </p:spPr>
      </p:sp>
      <p:sp>
        <p:nvSpPr>
          <p:cNvPr id="8" name="Text 6"/>
          <p:cNvSpPr/>
          <p:nvPr/>
        </p:nvSpPr>
        <p:spPr>
          <a:xfrm>
            <a:off x="6350139" y="2999581"/>
            <a:ext cx="514019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Buổi 4 — Kiểm chứng AI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50139" y="3423345"/>
            <a:ext cx="5140196" cy="909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chỉ là bên </a:t>
            </a:r>
            <a:r>
              <a:rPr lang="en-US" sz="13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đề xuất</a:t>
            </a: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không ra quyết định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Harness (schema và evidence) mới là cổng phê duyệt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Học viên tự vận hành n8n qua notebook và REST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1475" y="4576763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Sự chuyển dịch cốt lõi: từ việc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tin vào đầu ra của AI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sang việc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xây dựng lớp kiểm thử độc lập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để xác minh từng kết quả trước khi dùng.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93692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98653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936923"/>
            <a:ext cx="1129676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986532"/>
            <a:ext cx="1540829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TRỤ TƯ DUY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25442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Nền tảng cho một agent pháp lý đáng tin</a:t>
            </a:r>
            <a:endParaRPr lang="en-US" sz="3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019201"/>
            <a:ext cx="3512653" cy="199737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18585" y="2143224"/>
            <a:ext cx="198433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5819" y="2680692"/>
            <a:ext cx="314396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npx và API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5819" y="3038376"/>
            <a:ext cx="314396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Bật n8n bằng một lệnh, notebook điều khiển qua REST API — không build Node thủ công.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9422" y="2019201"/>
            <a:ext cx="3512752" cy="199737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996532" y="2143224"/>
            <a:ext cx="198433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523766" y="2680692"/>
            <a:ext cx="314406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Harness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23766" y="3038376"/>
            <a:ext cx="314406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Schema và evidence làm cổng phê duyệt. AI chỉ đưa ra đề xuất, không ra quyết định.</a:t>
            </a:r>
            <a:endParaRPr lang="en-US" sz="13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7468" y="2019201"/>
            <a:ext cx="3512653" cy="19973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674578" y="2143224"/>
            <a:ext cx="198433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201812" y="2680692"/>
            <a:ext cx="314396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Deterministic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01812" y="3038376"/>
            <a:ext cx="314396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Logic cốt lõi chạy bằng code Python, ra PASS/FAIL rõ ràng — không phụ thuộc cảm hứng LLM.</a:t>
            </a:r>
            <a:endParaRPr lang="en-US" sz="13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181872"/>
            <a:ext cx="5351626" cy="173910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238022" y="4305895"/>
            <a:ext cx="198433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1550" dirty="0"/>
          </a:p>
        </p:txBody>
      </p:sp>
      <p:sp>
        <p:nvSpPr>
          <p:cNvPr id="21" name="Text 15"/>
          <p:cNvSpPr/>
          <p:nvPr/>
        </p:nvSpPr>
        <p:spPr>
          <a:xfrm>
            <a:off x="845819" y="4843363"/>
            <a:ext cx="498293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Redaction 4 cấp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845819" y="5201047"/>
            <a:ext cx="4982939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 PII và dữ liệu tài chính trước khi đẩy lên AI Cloud.</a:t>
            </a:r>
            <a:endParaRPr lang="en-US" sz="13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8395" y="4181872"/>
            <a:ext cx="5351725" cy="173910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755042" y="4305895"/>
            <a:ext cx="198433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</a:t>
            </a:r>
            <a:endParaRPr lang="en-US" sz="1550" dirty="0"/>
          </a:p>
        </p:txBody>
      </p:sp>
      <p:sp>
        <p:nvSpPr>
          <p:cNvPr id="25" name="Text 18"/>
          <p:cNvSpPr/>
          <p:nvPr/>
        </p:nvSpPr>
        <p:spPr>
          <a:xfrm>
            <a:off x="6362739" y="4843363"/>
            <a:ext cx="498303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Knowledge Base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6362739" y="5201047"/>
            <a:ext cx="498303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Quy tắc rà trong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checklist-rui-ro.md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để Python đối chiếu, thay vì để AI đoán mò.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56220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605830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556220"/>
            <a:ext cx="1536364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605830"/>
            <a:ext cx="1947516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CHAIN WORKFLOW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87372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Từ hợp đồng đến báo cáo — sáu bước</a:t>
            </a:r>
            <a:endParaRPr lang="en-US" sz="3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00" y="1638498"/>
            <a:ext cx="10520595" cy="39479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36045" y="4475176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Phân tích rủi ro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336215" y="4475176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Trích &amp; Xác thực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347253" y="4628020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Ẩn PII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3358291" y="4628020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Tải DOCX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1325854" y="4628020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Bắt đầu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61475" y="5772448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Mỗi bước là một lớp kiểm soát độc lập: dữ liệu đi qua redaction trước, sau đó mới đến AI, rồi qua harness kiểm chứng, và cuối cùng ra báo cáo để con người quyết định.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73067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78028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730673"/>
            <a:ext cx="1806530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780282"/>
            <a:ext cx="221768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HAI KẺ THÙ: VÍ DỤ THẬT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04817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Hallucination và Omission trong hợp đồng mẫu</a:t>
            </a:r>
            <a:endParaRPr lang="en-US" sz="3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812951"/>
            <a:ext cx="3512653" cy="231427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22017" y="2997299"/>
            <a:ext cx="3067767" cy="52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🤥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Hallucination — AI bịa điều khoản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22017" y="3619798"/>
            <a:ext cx="3067767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tự thêm điều khoản kiểu </a:t>
            </a:r>
            <a:r>
              <a:rPr lang="en-US" sz="1300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"phạt 5% nếu giao trễ"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dù hợp đồng không hề có. Code kiểm tra nguyên văn (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verbatim check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sẽ phát hiện và đánh dấu ngay.</a:t>
            </a:r>
            <a:endParaRPr lang="en-US" sz="13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9422" y="2812951"/>
            <a:ext cx="3512752" cy="231427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99964" y="2997299"/>
            <a:ext cx="3067866" cy="52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🕳️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Omission — AI bỏ sót điều khoản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99964" y="3619798"/>
            <a:ext cx="3067866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Hợp đồng thiếu điều khoản chấm dứt hoặc gia hạn. AI thường không báo — với nó "không có gì để đọc" thì cũng "không có gì để nói".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7468" y="2812951"/>
            <a:ext cx="3512653" cy="231427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78010" y="2997299"/>
            <a:ext cx="3067767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🚩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Red Flag KB — bẫy HD05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278010" y="3361333"/>
            <a:ext cx="3067767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Mười hai tiêu chí trong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checklist-rui-ro.md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cho Python đối chiếu, bắt được bẫy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"đơn phương gia hạn HD05"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mà AI thường bỏ qua.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695575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Demo qua Notebook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5233360" y="3460353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npx n8n và REST API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3911005"/>
            <a:ext cx="873996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5332577" y="3960614"/>
            <a:ext cx="128514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228818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233779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2288183"/>
            <a:ext cx="224089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2337792"/>
            <a:ext cx="265205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VÌ SAO HỌC QUA NOTEBOOK?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09516" y="2973685"/>
            <a:ext cx="10620705" cy="6264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Học viên không phải kéo-thả Node, cũng không cài đặt. Một lệnh </a:t>
            </a:r>
            <a:r>
              <a:rPr lang="en-US" sz="1950" b="1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npx n8n start</a:t>
            </a:r>
            <a:r>
              <a:rPr lang="en-US" sz="19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bật n8n local, notebook điều khiển qua REST API.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61475" y="2725638"/>
            <a:ext cx="19050" cy="1122561"/>
          </a:xfrm>
          <a:prstGeom prst="roundRect">
            <a:avLst>
              <a:gd name="adj" fmla="val 49999"/>
            </a:avLst>
          </a:prstGeom>
          <a:solidFill>
            <a:srgbClr val="004AAD"/>
          </a:solidFill>
          <a:ln/>
        </p:spPr>
      </p:sp>
      <p:sp>
        <p:nvSpPr>
          <p:cNvPr id="8" name="Text 6"/>
          <p:cNvSpPr/>
          <p:nvPr/>
        </p:nvSpPr>
        <p:spPr>
          <a:xfrm>
            <a:off x="661475" y="4034234"/>
            <a:ext cx="1086874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Thời gian buổi học dành trọn cho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Harness, Redaction và Red Flag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đúng những chỗ quyết định agent pháp lý sống hay chết. Mỗi cell gọi một endpoint (như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/rest/login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hay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/api/v1/workflows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 Kết quả hiện ra ngay, dễ trao đổi giữa GV và HV.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571030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620639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188853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Demo Bước 0: khởi động n8n bằng npx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2653308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Một lệnh bật n8n và nạp workflow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1475" y="3103959"/>
            <a:ext cx="10868745" cy="2182912"/>
          </a:xfrm>
          <a:prstGeom prst="roundRect">
            <a:avLst>
              <a:gd name="adj" fmla="val 3182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859907" y="3269258"/>
            <a:ext cx="10471880" cy="1852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test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n8n start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n8n chạy tại http://localhost:5678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auto_import_workflow() nạp 'B4 K1 - Contract Review Agent'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POST /rest/login (admin@alobase.vn)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26712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31673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267123"/>
            <a:ext cx="1514040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316732"/>
            <a:ext cx="192519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 BƯỚC 2 VÀ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58462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Che PII trước, validate cấu trúc sau</a:t>
            </a:r>
            <a:endParaRPr lang="en-US" sz="3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349401"/>
            <a:ext cx="5434373" cy="6614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6769" y="3176191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Cell Step 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6769" y="3533874"/>
            <a:ext cx="510378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Gọi API Node Redact Python, PII bị che đủ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bốn cấp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2349401"/>
            <a:ext cx="5434373" cy="6614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61142" y="3176191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Cell Step 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261142" y="3533874"/>
            <a:ext cx="5103784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extract, rồi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jsonschema.validate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 với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clause.schema.json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3970139"/>
            <a:ext cx="5434373" cy="66149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6769" y="4796929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FAIL → Retry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26769" y="5154613"/>
            <a:ext cx="510378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Nếu schema FAIL, IF node cho AI thử lại tối đa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hai lần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8" y="3970139"/>
            <a:ext cx="5434373" cy="66149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261142" y="4796929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PASS → Output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261142" y="5154613"/>
            <a:ext cx="5103784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Schema PASS: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clauses.json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với đủ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tám điều khoản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945184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994793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945184"/>
            <a:ext cx="1526541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994793"/>
            <a:ext cx="1937694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 BƯỚC 4 VÀ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26268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Đối chiếu Red Flag rồi xuất báo cáo Word</a:t>
            </a:r>
            <a:endParaRPr lang="en-US" sz="3250" dirty="0"/>
          </a:p>
        </p:txBody>
      </p:sp>
      <p:sp>
        <p:nvSpPr>
          <p:cNvPr id="7" name="Shape 5"/>
          <p:cNvSpPr/>
          <p:nvPr/>
        </p:nvSpPr>
        <p:spPr>
          <a:xfrm>
            <a:off x="542415" y="3027462"/>
            <a:ext cx="5470785" cy="1885255"/>
          </a:xfrm>
          <a:prstGeom prst="roundRect">
            <a:avLst>
              <a:gd name="adj" fmla="val 6316"/>
            </a:avLst>
          </a:prstGeom>
          <a:solidFill>
            <a:srgbClr val="004AAD"/>
          </a:solidFill>
          <a:ln/>
        </p:spPr>
      </p:sp>
      <p:sp>
        <p:nvSpPr>
          <p:cNvPr id="8" name="Text 6"/>
          <p:cNvSpPr/>
          <p:nvPr/>
        </p:nvSpPr>
        <p:spPr>
          <a:xfrm>
            <a:off x="707710" y="3192760"/>
            <a:ext cx="514019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Bước 4 — AI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7710" y="3616523"/>
            <a:ext cx="5140196" cy="1193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Cell Step 4 chạy AI Review so với </a:t>
            </a:r>
            <a:r>
              <a:rPr lang="en-US" sz="1300" dirty="0">
                <a:solidFill>
                  <a:srgbClr val="FFFFFF"/>
                </a:solidFill>
                <a:highlight>
                  <a:srgbClr val="0D57B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checklist-rui-ro.md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ra </a:t>
            </a:r>
            <a:r>
              <a:rPr lang="en-US" sz="1300" dirty="0">
                <a:solidFill>
                  <a:srgbClr val="FFFFFF"/>
                </a:solidFill>
                <a:highlight>
                  <a:srgbClr val="0D57B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risk-analyzed.json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 Python kiểm tra: nếu </a:t>
            </a:r>
            <a:r>
              <a:rPr lang="en-US" sz="1300" dirty="0">
                <a:solidFill>
                  <a:srgbClr val="FFFFFF"/>
                </a:solidFill>
                <a:highlight>
                  <a:srgbClr val="0D57B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verbatim_quote</a:t>
            </a: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không có trong hợp đồng → đánh dấu hallucination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3904" y="3192760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Bước 5 — Báo cáo Word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03904" y="3616523"/>
            <a:ext cx="5232666" cy="12383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Cell Step 5 chạy master pipeline tổng hợp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Xuất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report.docx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kèm phân loại rủi ro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🔴 HIGH · 🟡 MED · 💡 LOW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E2E Test Suite báo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8/8 PASSED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695575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1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5233360" y="3460353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npx n8n start và auto-import qua API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3911005"/>
            <a:ext cx="906837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5332577" y="3960614"/>
            <a:ext cx="1317989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835547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885156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835547"/>
            <a:ext cx="1849391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885156"/>
            <a:ext cx="2260543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JIT: NỀN TẢNG KỸ THUẬT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153047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npx n8n và REST API: một lệnh, không cài đặt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917825"/>
            <a:ext cx="10868745" cy="1257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45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Khi chạy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npx n8n start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npx sẽ kéo n8n về và bật lên ở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localhost:5678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Script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auto_import_n8n.py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lo việc nạp solution workflow và đăng nhập REST API bằng tài khoản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admin@alobase.vn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Từ đó về sau, mọi thực hành chỉ cần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gọi API để chạy từng Node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Học viên đóng vai người vận hành cuối (end-user operator), không phải người build pipeline — đây là cách tiếp cận sản phẩm thực tế.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4361061"/>
            <a:ext cx="10868745" cy="661293"/>
          </a:xfrm>
          <a:prstGeom prst="roundRect">
            <a:avLst>
              <a:gd name="adj" fmla="val 10504"/>
            </a:avLst>
          </a:prstGeom>
          <a:solidFill>
            <a:srgbClr val="B6D6FC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600773"/>
            <a:ext cx="206667" cy="16529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98731" y="4567634"/>
            <a:ext cx="1077578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cần Docker, không cần tài khoản Cloud, không cần kéo thả Node. Tất cả đã có sẵn trong notebook.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31534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36495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315343"/>
            <a:ext cx="1110726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5" name="Text 3"/>
          <p:cNvSpPr/>
          <p:nvPr/>
        </p:nvSpPr>
        <p:spPr>
          <a:xfrm>
            <a:off x="2723387" y="1364952"/>
            <a:ext cx="152187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 · 15 PHÚT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63284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1: khởi động n8n và notebook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397621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Mục tiêu: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n8n local đang chạy, workflow </a:t>
            </a:r>
            <a:r>
              <a:rPr lang="en-US" sz="1300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'B4 K1 - Contract Review Agent'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tự nạp, E2E Test Suite báo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8/8 PASSED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84827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1475" y="3110210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3230959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Khởi động n8n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1475" y="3588643"/>
            <a:ext cx="5351725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Chạy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cd test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rồi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npx n8n start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mở trình duyệt tại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localhost:5678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8495" y="284827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8495" y="3110210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4" name="Text 12"/>
          <p:cNvSpPr/>
          <p:nvPr/>
        </p:nvSpPr>
        <p:spPr>
          <a:xfrm>
            <a:off x="6178495" y="3230959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Mở notebook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8495" y="3588643"/>
            <a:ext cx="535172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Mở file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04_contract_review_lab_demo.ipynb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chạy Cell Step 0 và Step 1.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1475" y="441354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1475" y="4675485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79623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Auto-import và login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475" y="5153918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0 tự nạp workflow và đăng nhập REST API.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8495" y="441354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8495" y="4675485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22" name="Text 20"/>
          <p:cNvSpPr/>
          <p:nvPr/>
        </p:nvSpPr>
        <p:spPr>
          <a:xfrm>
            <a:off x="6178495" y="479623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Nghiệm thu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78495" y="5153918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Chạy E2E Test Suite và kiểm tra đạt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8/8 PASSED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2108299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2157909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425799"/>
            <a:ext cx="10868745" cy="104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</a:t>
            </a:r>
            <a:r>
              <a:rPr lang="en-US" sz="65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12</a:t>
            </a:r>
            <a:endParaRPr lang="en-US" sz="6500" dirty="0"/>
          </a:p>
        </p:txBody>
      </p:sp>
      <p:sp>
        <p:nvSpPr>
          <p:cNvPr id="5" name="Text 3"/>
          <p:cNvSpPr/>
          <p:nvPr/>
        </p:nvSpPr>
        <p:spPr>
          <a:xfrm>
            <a:off x="661475" y="3720207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1 · 12 phút</a:t>
            </a:r>
            <a:endParaRPr lang="en-US" sz="3250" dirty="0"/>
          </a:p>
        </p:txBody>
      </p:sp>
      <p:sp>
        <p:nvSpPr>
          <p:cNvPr id="6" name="Text 4"/>
          <p:cNvSpPr/>
          <p:nvPr/>
        </p:nvSpPr>
        <p:spPr>
          <a:xfrm>
            <a:off x="661475" y="4484985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Bắt đầu thực hành. GV quan sát và hỗ trợ nếu gặp lỗi cài đặt hoặc kết nối.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908770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958380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908770"/>
            <a:ext cx="1751762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958380"/>
            <a:ext cx="2162915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HÀNH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22627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n8n sẵn sàng, notebook đã đăng nhập API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991048"/>
            <a:ext cx="1086874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Tại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localhost:5678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xuất hiện workflow </a:t>
            </a:r>
            <a:r>
              <a:rPr lang="en-US" sz="1300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'B4 K1 - Contract Review Agent'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Notebook đã đăng nhập REST API thành công và sẵn sàng gọi các endpoint tiếp theo.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3712666"/>
            <a:ext cx="3512653" cy="1236563"/>
          </a:xfrm>
          <a:prstGeom prst="roundRect">
            <a:avLst>
              <a:gd name="adj" fmla="val 561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3119" y="3884315"/>
            <a:ext cx="31693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Workflow auto-import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3119" y="4248348"/>
            <a:ext cx="316936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Workflow nạp thành công, hiển thị trên giao diện n8n.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39422" y="3712666"/>
            <a:ext cx="3512752" cy="1236563"/>
          </a:xfrm>
          <a:prstGeom prst="roundRect">
            <a:avLst>
              <a:gd name="adj" fmla="val 561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1066" y="3884315"/>
            <a:ext cx="31694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E2E Test Suite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11066" y="4248348"/>
            <a:ext cx="316946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8/8 PASSED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nền tảng đã sẵn sàng cho các thực hành tiếp theo.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7468" y="3712666"/>
            <a:ext cx="3512653" cy="1236563"/>
          </a:xfrm>
          <a:prstGeom prst="roundRect">
            <a:avLst>
              <a:gd name="adj" fmla="val 561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112" y="3884315"/>
            <a:ext cx="31693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REST API sẵn sàng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9112" y="4248348"/>
            <a:ext cx="316936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Mỗi thực hành sau chỉ cần gọi API, không cần kéo-thả thêm Node nào.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695575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2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661475" y="3460353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Redaction 4 cấp bảo mật PII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61475" y="3911005"/>
            <a:ext cx="901380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760691" y="3960614"/>
            <a:ext cx="131253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851694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901303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851694"/>
            <a:ext cx="2235343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901303"/>
            <a:ext cx="2646495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JIT: BẢO MẬT DỮ LIỆU NGUỒN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16919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Redaction 4 cấp: che gì trước khi qua AI</a:t>
            </a:r>
            <a:endParaRPr lang="en-US" sz="3250" dirty="0"/>
          </a:p>
        </p:txBody>
      </p:sp>
      <p:sp>
        <p:nvSpPr>
          <p:cNvPr id="7" name="Shape 5"/>
          <p:cNvSpPr/>
          <p:nvPr/>
        </p:nvSpPr>
        <p:spPr>
          <a:xfrm>
            <a:off x="661475" y="1933972"/>
            <a:ext cx="1358568" cy="952897"/>
          </a:xfrm>
          <a:prstGeom prst="roundRect">
            <a:avLst>
              <a:gd name="adj" fmla="val 7290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4428" y="2294136"/>
            <a:ext cx="232563" cy="2325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85338" y="2099270"/>
            <a:ext cx="917958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Cấp 4 — Mật: DỪNG NGAY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185338" y="2456954"/>
            <a:ext cx="9179588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Phát hiện từ khóa tuyệt mật (STOP_IF_SECRET) → workflow dừng, không đẩy lên AI Cloud.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102690" y="2878931"/>
            <a:ext cx="9344883" cy="9525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12" name="Shape 9"/>
          <p:cNvSpPr/>
          <p:nvPr/>
        </p:nvSpPr>
        <p:spPr>
          <a:xfrm>
            <a:off x="661475" y="2969518"/>
            <a:ext cx="2717137" cy="952897"/>
          </a:xfrm>
          <a:prstGeom prst="roundRect">
            <a:avLst>
              <a:gd name="adj" fmla="val 7290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03762" y="3329682"/>
            <a:ext cx="232563" cy="232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3906" y="3134816"/>
            <a:ext cx="782102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Cấp 3 — Nghiệp vụ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543906" y="3492500"/>
            <a:ext cx="782102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Đối tác chiến lược, BMTT, điều khoản độc quyền được che ngưỡng (threshold).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461259" y="3914477"/>
            <a:ext cx="7986314" cy="9525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17" name="Shape 13"/>
          <p:cNvSpPr/>
          <p:nvPr/>
        </p:nvSpPr>
        <p:spPr>
          <a:xfrm>
            <a:off x="661475" y="4005064"/>
            <a:ext cx="4075705" cy="959247"/>
          </a:xfrm>
          <a:prstGeom prst="roundRect">
            <a:avLst>
              <a:gd name="adj" fmla="val 7242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82996" y="4368403"/>
            <a:ext cx="232563" cy="23256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02474" y="4170363"/>
            <a:ext cx="646245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Cấp 2 — Tài chính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4902474" y="4528046"/>
            <a:ext cx="6462452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Giá trị hợp đồng và mã số thuế (MST) →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[giá trị redact]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819827" y="4956373"/>
            <a:ext cx="6627746" cy="9525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22" name="Shape 17"/>
          <p:cNvSpPr/>
          <p:nvPr/>
        </p:nvSpPr>
        <p:spPr>
          <a:xfrm>
            <a:off x="661475" y="5046960"/>
            <a:ext cx="5434373" cy="959247"/>
          </a:xfrm>
          <a:prstGeom prst="roundRect">
            <a:avLst>
              <a:gd name="adj" fmla="val 7242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2330" y="5410299"/>
            <a:ext cx="232563" cy="23256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61142" y="5212259"/>
            <a:ext cx="510378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Cấp 1 — PII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61142" y="5569942"/>
            <a:ext cx="5103784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Email, số điện thoại, tên người →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[email redact]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0xxx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312168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361777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312168"/>
            <a:ext cx="1110726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5" name="Text 3"/>
          <p:cNvSpPr/>
          <p:nvPr/>
        </p:nvSpPr>
        <p:spPr>
          <a:xfrm>
            <a:off x="2723387" y="1361777"/>
            <a:ext cx="152187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 · 15 PHÚT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62966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2: redaction 4 cấp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394446"/>
            <a:ext cx="11478330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Mục tiêu: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ra file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contract-redacted.md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với 100% PII, MST và giá trị tài chính đã che, cấu trúc tám điều khoản vẫn nguyên vẹn.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85144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1475" y="3113385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323413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Gọi API Redact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1475" y="3591818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Chạy Cell Step 2 để gọi API Node Redact Python.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8495" y="285144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8495" y="3113385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4" name="Text 12"/>
          <p:cNvSpPr/>
          <p:nvPr/>
        </p:nvSpPr>
        <p:spPr>
          <a:xfrm>
            <a:off x="6178495" y="323413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Quan sát regex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8495" y="3591818"/>
            <a:ext cx="535172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Xem regex che cấp 1–3 và Security Gate ở cấp 4 hoạt động thế nào.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1475" y="441037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1475" y="4672310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793059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Kiểm tra kết quả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475" y="5150743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Kiểm lại xem còn sót PII không (email, SĐT, MST).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8495" y="441037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8495" y="4672310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22" name="Text 20"/>
          <p:cNvSpPr/>
          <p:nvPr/>
        </p:nvSpPr>
        <p:spPr>
          <a:xfrm>
            <a:off x="6178495" y="4793059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Lưu file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78495" y="5150743"/>
            <a:ext cx="5351725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Lưu kết quả ra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contract-redacted.md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2108299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2157909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425799"/>
            <a:ext cx="10868745" cy="104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</a:t>
            </a:r>
            <a:r>
              <a:rPr lang="en-US" sz="65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12</a:t>
            </a:r>
            <a:endParaRPr lang="en-US" sz="6500" dirty="0"/>
          </a:p>
        </p:txBody>
      </p:sp>
      <p:sp>
        <p:nvSpPr>
          <p:cNvPr id="5" name="Text 3"/>
          <p:cNvSpPr/>
          <p:nvPr/>
        </p:nvSpPr>
        <p:spPr>
          <a:xfrm>
            <a:off x="661475" y="3720207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2 · 12 phút</a:t>
            </a:r>
            <a:endParaRPr lang="en-US" sz="3250" dirty="0"/>
          </a:p>
        </p:txBody>
      </p:sp>
      <p:sp>
        <p:nvSpPr>
          <p:cNvPr id="6" name="Text 4"/>
          <p:cNvSpPr/>
          <p:nvPr/>
        </p:nvSpPr>
        <p:spPr>
          <a:xfrm>
            <a:off x="661475" y="4484985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Bắt đầu thực hành. Chú ý quan sát regex patterns và cách Security Gate ở cấp 4 hoạt động khác với ba cấp trước.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745655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795264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745655"/>
            <a:ext cx="1779146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795264"/>
            <a:ext cx="219029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HÀNH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06315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PII đã che sạch, cấu trúc giữ nguyên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827933"/>
            <a:ext cx="1086874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Trong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contract-redacted.md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mọi email, SĐT, MST và giá trị tài chính đã thay bằng placeholder. Cấu trúc tám điều khoản vẫn nguyên, không xóa nhầm nội dung.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2415" y="3549551"/>
            <a:ext cx="5470785" cy="1562795"/>
          </a:xfrm>
          <a:prstGeom prst="roundRect">
            <a:avLst>
              <a:gd name="adj" fmla="val 7620"/>
            </a:avLst>
          </a:prstGeom>
          <a:solidFill>
            <a:srgbClr val="004AAD"/>
          </a:solidFill>
          <a:ln/>
        </p:spPr>
      </p:sp>
      <p:sp>
        <p:nvSpPr>
          <p:cNvPr id="9" name="Text 7"/>
          <p:cNvSpPr/>
          <p:nvPr/>
        </p:nvSpPr>
        <p:spPr>
          <a:xfrm>
            <a:off x="707710" y="3714849"/>
            <a:ext cx="514019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Đã đạt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7710" y="4144963"/>
            <a:ext cx="5140196" cy="909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chỉ thấy bản đã che — đây là đầu vào cho bước 3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Cấu trúc tám điều khoản nguyên vẹn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có PII nào còn sót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3904" y="3714849"/>
            <a:ext cx="523266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🔒</a:t>
            </a:r>
            <a:r>
              <a:rPr lang="en-US" sz="16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Điều quan trọng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3904" y="4144963"/>
            <a:ext cx="523266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Nếu hợp đồng kích hoạt cấp 4 (từ khóa mật), workflow dừng ngay và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không bao giờ đẩy lên AI Cloud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Đây là nguyên tắc bảo mật tuyệt đối.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695575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3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5233360" y="3460353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Extract và Schema Validation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3911005"/>
            <a:ext cx="933923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5332577" y="3960614"/>
            <a:ext cx="1345075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485106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534716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485106"/>
            <a:ext cx="2956248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534716"/>
            <a:ext cx="3367400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JIT: HARNESS SCHEMA VÀ DETERMINISM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802606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Schema là cổng "đủ chân"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567384"/>
            <a:ext cx="1086874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Khi AI extract, nó có thể trả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thiếu trường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hoặc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sai định dạng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Code node Python dùng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jsonschema.validate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 với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clause.schema.json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để chặn: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3289002"/>
            <a:ext cx="10868745" cy="1236563"/>
          </a:xfrm>
          <a:prstGeom prst="roundRect">
            <a:avLst>
              <a:gd name="adj" fmla="val 561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825" y="3295352"/>
            <a:ext cx="3618616" cy="1223863"/>
          </a:xfrm>
          <a:custGeom>
            <a:avLst/>
            <a:gdLst/>
            <a:ahLst/>
            <a:cxnLst/>
            <a:rect l="l" t="t" r="r" b="b"/>
            <a:pathLst>
              <a:path w="3618616" h="1223863">
                <a:moveTo>
                  <a:pt x="57887" y="0"/>
                </a:moveTo>
                <a:lnTo>
                  <a:pt x="3618616" y="0"/>
                </a:lnTo>
                <a:lnTo>
                  <a:pt x="3618616" y="1223863"/>
                </a:lnTo>
                <a:lnTo>
                  <a:pt x="57887" y="1223863"/>
                </a:lnTo>
                <a:arcTo wR="57887" hR="57888" stAng="5400000" swAng="5400000"/>
                <a:lnTo>
                  <a:pt x="0" y="57888"/>
                </a:lnTo>
                <a:arcTo wR="57887" hR="57888" stAng="10800000" swAng="5400000"/>
                <a:close/>
              </a:path>
            </a:pathLst>
          </a:custGeom>
          <a:solidFill>
            <a:srgbClr val="CCE2FF"/>
          </a:solidFill>
          <a:ln/>
        </p:spPr>
      </p:sp>
      <p:sp>
        <p:nvSpPr>
          <p:cNvPr id="10" name="Text 8"/>
          <p:cNvSpPr/>
          <p:nvPr/>
        </p:nvSpPr>
        <p:spPr>
          <a:xfrm>
            <a:off x="833119" y="3460651"/>
            <a:ext cx="3288027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PASS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3119" y="3824684"/>
            <a:ext cx="328802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Đủ tám điều khoản, đúng định dạng → đi tiếp sang bước 4.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86440" y="3295352"/>
            <a:ext cx="3618715" cy="1223863"/>
          </a:xfrm>
          <a:prstGeom prst="rect">
            <a:avLst/>
          </a:prstGeom>
          <a:solidFill>
            <a:srgbClr val="CCE2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286440" y="3295352"/>
            <a:ext cx="19050" cy="1223863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14" name="Text 12"/>
          <p:cNvSpPr/>
          <p:nvPr/>
        </p:nvSpPr>
        <p:spPr>
          <a:xfrm>
            <a:off x="4451735" y="3460651"/>
            <a:ext cx="328812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🔄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FAIL → Retry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51735" y="3824684"/>
            <a:ext cx="3288126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node cho AI thử lại tối đa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hai lần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với prompt bổ sung.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05155" y="3295352"/>
            <a:ext cx="3618715" cy="1223863"/>
          </a:xfrm>
          <a:custGeom>
            <a:avLst/>
            <a:gdLst/>
            <a:ahLst/>
            <a:cxnLst/>
            <a:rect l="l" t="t" r="r" b="b"/>
            <a:pathLst>
              <a:path w="3618715" h="1223863">
                <a:moveTo>
                  <a:pt x="0" y="0"/>
                </a:moveTo>
                <a:lnTo>
                  <a:pt x="3560828" y="0"/>
                </a:lnTo>
                <a:arcTo wR="57887" hR="57888" stAng="16200000" swAng="5400000"/>
                <a:lnTo>
                  <a:pt x="3618715" y="1165975"/>
                </a:lnTo>
                <a:arcTo wR="57887" hR="57888" stAng="0" swAng="5400000"/>
                <a:lnTo>
                  <a:pt x="0" y="1223863"/>
                </a:lnTo>
                <a:lnTo>
                  <a:pt x="0" y="0"/>
                </a:lnTo>
                <a:close/>
              </a:path>
            </a:pathLst>
          </a:custGeom>
          <a:solidFill>
            <a:srgbClr val="CCE2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905155" y="3295352"/>
            <a:ext cx="19050" cy="1223863"/>
          </a:xfrm>
          <a:prstGeom prst="roundRect">
            <a:avLst>
              <a:gd name="adj" fmla="val 49999"/>
            </a:avLst>
          </a:prstGeom>
          <a:solidFill>
            <a:srgbClr val="B2C8E5"/>
          </a:solidFill>
          <a:ln/>
        </p:spPr>
      </p:sp>
      <p:sp>
        <p:nvSpPr>
          <p:cNvPr id="18" name="Text 16"/>
          <p:cNvSpPr/>
          <p:nvPr/>
        </p:nvSpPr>
        <p:spPr>
          <a:xfrm>
            <a:off x="8070450" y="3460651"/>
            <a:ext cx="328812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🚫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FAIL x3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70450" y="3824684"/>
            <a:ext cx="3288126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Sau ba lần vẫn FAIL → workflow báo lỗi, không cho đi tiếp.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1475" y="4711601"/>
            <a:ext cx="10868745" cy="661293"/>
          </a:xfrm>
          <a:prstGeom prst="roundRect">
            <a:avLst>
              <a:gd name="adj" fmla="val 10504"/>
            </a:avLst>
          </a:prstGeom>
          <a:solidFill>
            <a:srgbClr val="CCE2FF"/>
          </a:solidFill>
          <a:ln/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951313"/>
            <a:ext cx="206667" cy="16529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198731" y="4918174"/>
            <a:ext cx="1077578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Đây chính là "deterministic": logic do CODE quyết định, chứ không phải LLM tự thấy "ổn".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441351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490960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441351"/>
            <a:ext cx="1110726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5" name="Text 3"/>
          <p:cNvSpPr/>
          <p:nvPr/>
        </p:nvSpPr>
        <p:spPr>
          <a:xfrm>
            <a:off x="2723387" y="1490960"/>
            <a:ext cx="152187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 · 15 PHÚT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758851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3: extract và schema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523629"/>
            <a:ext cx="11478330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Mục tiêu: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ra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clauses.json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đạt schema PASS, đủ tám điều khoản, mỗi điều khoản có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evidence.verbatim_quote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để kiểm ở thực hành 4.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980630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1475" y="3242568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3363317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Gọi API Node AI extract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1475" y="3721001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Chạy Cell Step 3 để kích hoạt Node AI extract trên bản đã redact.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8495" y="2980630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8495" y="3242568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4" name="Text 12"/>
          <p:cNvSpPr/>
          <p:nvPr/>
        </p:nvSpPr>
        <p:spPr>
          <a:xfrm>
            <a:off x="6178495" y="3363317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Quan sát validate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8495" y="3721001"/>
            <a:ext cx="5351725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Xem Code node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jsonschema.validate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 với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clause.schema.json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1475" y="4281289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1475" y="4543227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663976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Cấu hình Loop-Retry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475" y="5021659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 sát: nếu FAIL thì thử lại tối đa hai lần.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8495" y="4281289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8495" y="4543227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22" name="Text 20"/>
          <p:cNvSpPr/>
          <p:nvPr/>
        </p:nvSpPr>
        <p:spPr>
          <a:xfrm>
            <a:off x="6178495" y="4663976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Kiểm tra và lưu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78495" y="5021659"/>
            <a:ext cx="5351725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Lưu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clauses.json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và đếm đủ tám điều khoản.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2108299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2157909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425799"/>
            <a:ext cx="10868745" cy="104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</a:t>
            </a:r>
            <a:r>
              <a:rPr lang="en-US" sz="65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12</a:t>
            </a:r>
            <a:endParaRPr lang="en-US" sz="6500" dirty="0"/>
          </a:p>
        </p:txBody>
      </p:sp>
      <p:sp>
        <p:nvSpPr>
          <p:cNvPr id="5" name="Text 3"/>
          <p:cNvSpPr/>
          <p:nvPr/>
        </p:nvSpPr>
        <p:spPr>
          <a:xfrm>
            <a:off x="661475" y="3720207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3 · 12 phút</a:t>
            </a:r>
            <a:endParaRPr lang="en-US" sz="3250" dirty="0"/>
          </a:p>
        </p:txBody>
      </p:sp>
      <p:sp>
        <p:nvSpPr>
          <p:cNvPr id="6" name="Text 4"/>
          <p:cNvSpPr/>
          <p:nvPr/>
        </p:nvSpPr>
        <p:spPr>
          <a:xfrm>
            <a:off x="661475" y="4484985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Bắt đầu thực hành. Chú ý quan sát Loop-Retry Node và cách IF node phân nhánh kết quả PASS/FAIL.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77006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81967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770063"/>
            <a:ext cx="1778650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819672"/>
            <a:ext cx="218980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HÀNH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08756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Schema PASS, đủ tám điều khoản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852341"/>
            <a:ext cx="10868745" cy="541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clauses.json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chứa tám điều khoản kèm metadata (bên A, bên B, ngày ký, giá trị đã redact). Mỗi điều khoản có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evidence.verbatim_quote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để đối chiếu ở thực hành 4.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3580309"/>
            <a:ext cx="3512653" cy="1507530"/>
          </a:xfrm>
          <a:prstGeom prst="roundRect">
            <a:avLst>
              <a:gd name="adj" fmla="val 460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3119" y="3751957"/>
            <a:ext cx="31693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Cấu trúc tất định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3119" y="4115991"/>
            <a:ext cx="316936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có cấu trúc do code quyết định — không phụ thuộc vào cảm hứng AI.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39422" y="3580309"/>
            <a:ext cx="3512752" cy="1507530"/>
          </a:xfrm>
          <a:prstGeom prst="roundRect">
            <a:avLst>
              <a:gd name="adj" fmla="val 460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1066" y="3751957"/>
            <a:ext cx="31694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📋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8 điều khoản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11066" y="4115991"/>
            <a:ext cx="316946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Đủ số lượng theo schema yêu cầu, kèm metadata đầy đủ.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7468" y="3580309"/>
            <a:ext cx="3512653" cy="1507530"/>
          </a:xfrm>
          <a:prstGeom prst="roundRect">
            <a:avLst>
              <a:gd name="adj" fmla="val 460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112" y="3751957"/>
            <a:ext cx="31693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🔍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Evidence sẵn sàng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9112" y="4115991"/>
            <a:ext cx="3169364" cy="800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Mỗi điều khoản có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verbatim_quote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bước tiếp theo dùng để bắt hallucination.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695575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4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5233360" y="3460353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Review và Red Flag Knowledge Base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3911005"/>
            <a:ext cx="900884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5332577" y="3960614"/>
            <a:ext cx="1312036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86650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91611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866503"/>
            <a:ext cx="2589346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916112"/>
            <a:ext cx="300049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JIT: HARNESS EVIDENCE VÀ POLICY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18400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Kiểm chứng AI bằng Red Flag KB</a:t>
            </a:r>
            <a:endParaRPr lang="en-US" sz="3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948781"/>
            <a:ext cx="413434" cy="4134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1475" y="3568898"/>
            <a:ext cx="348507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Red Flag KB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61475" y="3926582"/>
            <a:ext cx="3485071" cy="1064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tiêu chí trong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checklist-rui-ro.md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là bộ quy tắc của doanh nghiệp, viết thành data để Python đối chiếu chuẩn xác thay vì phán đoán.</a:t>
            </a:r>
            <a:endParaRPr lang="en-US" sz="13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53213" y="2948781"/>
            <a:ext cx="413434" cy="41344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53213" y="3568898"/>
            <a:ext cx="348517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Review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353213" y="3926582"/>
            <a:ext cx="3485170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đối chiếu từng điều khoản với Red Flag để đưa ra cảnh báo. AI chỉ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đề xuất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không ra quyết định duyệt.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45050" y="2948781"/>
            <a:ext cx="413434" cy="41344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45050" y="3568898"/>
            <a:ext cx="348517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Evidence Check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045050" y="3926582"/>
            <a:ext cx="3485170" cy="800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 Python kiểm: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verbatim_quote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không có trong hợp đồng →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hallucination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; thiếu điều khoản bắt buộc →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omission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30899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358602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308993"/>
            <a:ext cx="1110726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5" name="Text 3"/>
          <p:cNvSpPr/>
          <p:nvPr/>
        </p:nvSpPr>
        <p:spPr>
          <a:xfrm>
            <a:off x="2723387" y="1358602"/>
            <a:ext cx="1521878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 · 15 PHÚT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62649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4: AI Review và evidence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391271"/>
            <a:ext cx="11478330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Mục tiêu: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ra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risk-analyzed.json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bắt đúng cả hallucination lẫn omission, đặc biệt là bẫy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"đơn phương gia hạn HD05"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84827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1475" y="3110210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3230959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Chạy AI Review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1475" y="3588643"/>
            <a:ext cx="535172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Cell Step 4 gọi API Node AI Review, nạp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checklist-rui-ro.md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làm KB.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8495" y="284827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8495" y="3110210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4" name="Text 12"/>
          <p:cNvSpPr/>
          <p:nvPr/>
        </p:nvSpPr>
        <p:spPr>
          <a:xfrm>
            <a:off x="6178495" y="3230959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Quan sát Python checks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8495" y="3588643"/>
            <a:ext cx="535172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Xem code Python làm verbatim check và omission check như thế nào.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1475" y="441354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1475" y="4675485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79623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Kiểm tra kết quả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475" y="5153918"/>
            <a:ext cx="535172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Đã bắt đúng điều khoản bịa và omission HD05 chưa?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8495" y="4413548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8495" y="4675485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22" name="Text 20"/>
          <p:cNvSpPr/>
          <p:nvPr/>
        </p:nvSpPr>
        <p:spPr>
          <a:xfrm>
            <a:off x="6178495" y="4796234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Lưu file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78495" y="5153918"/>
            <a:ext cx="5351725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Lưu kết quả ra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risk-analyzed.json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976041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2025650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293541"/>
            <a:ext cx="10868745" cy="104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</a:t>
            </a:r>
            <a:r>
              <a:rPr lang="en-US" sz="65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12</a:t>
            </a:r>
            <a:endParaRPr lang="en-US" sz="6500" dirty="0"/>
          </a:p>
        </p:txBody>
      </p:sp>
      <p:sp>
        <p:nvSpPr>
          <p:cNvPr id="5" name="Text 3"/>
          <p:cNvSpPr/>
          <p:nvPr/>
        </p:nvSpPr>
        <p:spPr>
          <a:xfrm>
            <a:off x="661475" y="358794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4 · 12 phút</a:t>
            </a:r>
            <a:endParaRPr lang="en-US" sz="3250" dirty="0"/>
          </a:p>
        </p:txBody>
      </p:sp>
      <p:sp>
        <p:nvSpPr>
          <p:cNvPr id="6" name="Text 4"/>
          <p:cNvSpPr/>
          <p:nvPr/>
        </p:nvSpPr>
        <p:spPr>
          <a:xfrm>
            <a:off x="661475" y="4352727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Bắt đầu thực hành. Đây là bước cốt lõi của Harness — hãy dành thời gian quan sát kỹ cách Python phân biệt hallucination với omission.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773238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822847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773238"/>
            <a:ext cx="17914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822847"/>
            <a:ext cx="22026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HÀNH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090737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Bắt được điều khoản bịa và điều khoản thiếu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855516"/>
            <a:ext cx="1086874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risk-analyzed.json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đánh dấu hallucination ở điều khoản bịa, omission ở điều khoản thiếu, và match Red Flag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"đơn phương gia hạn HD05"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3577134"/>
            <a:ext cx="3512653" cy="1507530"/>
          </a:xfrm>
          <a:prstGeom prst="roundRect">
            <a:avLst>
              <a:gd name="adj" fmla="val 460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3119" y="3748782"/>
            <a:ext cx="31693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🤥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Hallucination bị bắt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3119" y="4112816"/>
            <a:ext cx="3169364" cy="800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Điều khoản bịa bị phát hiện vì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verbatim_quote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không tìm thấy trong hợp đồng gốc.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39422" y="3577134"/>
            <a:ext cx="3512752" cy="1507530"/>
          </a:xfrm>
          <a:prstGeom prst="roundRect">
            <a:avLst>
              <a:gd name="adj" fmla="val 460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1066" y="3748782"/>
            <a:ext cx="31694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🕳️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Omission HD05 bị bắt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11066" y="4112816"/>
            <a:ext cx="316946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Bẫy "đơn phương gia hạn" bị phát hiện nhờ đối chiếu với 12 tiêu chí Red Flag KB.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7468" y="3577134"/>
            <a:ext cx="3512653" cy="1507530"/>
          </a:xfrm>
          <a:prstGeom prst="roundRect">
            <a:avLst>
              <a:gd name="adj" fmla="val 4608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112" y="3748782"/>
            <a:ext cx="3169364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📖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Knowledge Base First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9112" y="4112816"/>
            <a:ext cx="316936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Quy tắc hóa thay vì phán đoán cảm tính — đây là triết lý cốt lõi của agent pháp lý đáng tin.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695575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5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661475" y="3460353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Gộp Harness và xuất báo cáo Word (Capstone)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61475" y="3911005"/>
            <a:ext cx="933724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6" name="Text 3"/>
          <p:cNvSpPr/>
          <p:nvPr/>
        </p:nvSpPr>
        <p:spPr>
          <a:xfrm>
            <a:off x="760691" y="3960614"/>
            <a:ext cx="1344877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182390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231999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182390"/>
            <a:ext cx="166732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231999"/>
            <a:ext cx="207848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JIT: MASTER PIPELINE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49989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Gộp năm bước, xuất báo cáo thẩm định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264668"/>
            <a:ext cx="10868745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Nối Step 0 đến Step 4 thành một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master pipeline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chạy end-to-end qua API. Code node Python tổng hợp điểm rủi ro, phân loại bằng emoji và xuất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report.docx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2986286"/>
            <a:ext cx="5351725" cy="1261963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B2C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5819" y="3170634"/>
            <a:ext cx="4983038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🔴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HIGH Risk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5819" y="3534668"/>
            <a:ext cx="498303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Điều khoản có rủi ro cao, cần pháp chế xem xét ngay trước khi ký.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8495" y="2986286"/>
            <a:ext cx="5351725" cy="1261963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B2C8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2838" y="3170634"/>
            <a:ext cx="4983038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🟡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MED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62838" y="3534668"/>
            <a:ext cx="4983038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Điều khoản cần chú ý, có thể thương lượng hoặc bổ sung.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1475" y="4413548"/>
            <a:ext cx="5351725" cy="1261963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B2C8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19" y="4597896"/>
            <a:ext cx="4983038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LOW Risk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5819" y="4961930"/>
            <a:ext cx="4983038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Điều khoản tiêu chuẩn, thấp rủi ro, ghi nhận để hồ sơ.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8495" y="4413548"/>
            <a:ext cx="5351725" cy="1261963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19050">
            <a:solidFill>
              <a:srgbClr val="B2C8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2838" y="4597896"/>
            <a:ext cx="4983038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👤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HITL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62838" y="4961930"/>
            <a:ext cx="498303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Ô "Người duyệt, ngày, quyết định" để human điền. Quyết định cuối luôn thuộc về con người.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183084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232694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183084"/>
            <a:ext cx="2002581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5" name="Text 3"/>
          <p:cNvSpPr/>
          <p:nvPr/>
        </p:nvSpPr>
        <p:spPr>
          <a:xfrm>
            <a:off x="2723387" y="1232694"/>
            <a:ext cx="2413733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 · 25 PHÚT (CAPSTONE)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150058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5: master pipeline và báo cáo Word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265363"/>
            <a:ext cx="11478330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Mục tiêu: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ra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report.docx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báo cáo thẩm định dạng Word, có emoji phân loại và ô HITL, chạy trên contract holdout do GV phát.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722364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1475" y="2984302"/>
            <a:ext cx="3512653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3105051"/>
            <a:ext cx="351265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Nối master 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1475" y="3462734"/>
            <a:ext cx="351265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nối Step 0→4 thành một pipeline end-to-end qua API.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39422" y="2722364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39422" y="2984302"/>
            <a:ext cx="3512752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4" name="Text 12"/>
          <p:cNvSpPr/>
          <p:nvPr/>
        </p:nvSpPr>
        <p:spPr>
          <a:xfrm>
            <a:off x="4339422" y="3105051"/>
            <a:ext cx="351275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Xuất report.docx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39422" y="3462734"/>
            <a:ext cx="3512752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 Python xuất Word với ba phần: Tóm tắt, Chi tiết, HITL.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17468" y="2722364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17468" y="2984302"/>
            <a:ext cx="3512653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8" name="Text 16"/>
          <p:cNvSpPr/>
          <p:nvPr/>
        </p:nvSpPr>
        <p:spPr>
          <a:xfrm>
            <a:off x="8017468" y="3105051"/>
            <a:ext cx="351265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Chạy trên holdout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17468" y="3462734"/>
            <a:ext cx="351265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GV phát contract holdout, chạy một phát end-to-end.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1475" y="4281289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61475" y="4543227"/>
            <a:ext cx="5351626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22" name="Text 20"/>
          <p:cNvSpPr/>
          <p:nvPr/>
        </p:nvSpPr>
        <p:spPr>
          <a:xfrm>
            <a:off x="661475" y="4663976"/>
            <a:ext cx="535162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Kiểm tra báo cáo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1475" y="5021659"/>
            <a:ext cx="5351626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Mở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report.docx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kiểm hallucination, omission và redline.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78395" y="4281289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8395" y="4543227"/>
            <a:ext cx="5351725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26" name="Text 24"/>
          <p:cNvSpPr/>
          <p:nvPr/>
        </p:nvSpPr>
        <p:spPr>
          <a:xfrm>
            <a:off x="6178395" y="4663976"/>
            <a:ext cx="5351725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Đóng vai Pháp chế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78395" y="5021659"/>
            <a:ext cx="535172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Điền ô HITL ("duyệt" hay "yêu cầu sửa" kèm lý do) rồi nghiệm thu với GV.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976041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2025650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293541"/>
            <a:ext cx="10868745" cy="104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</a:t>
            </a:r>
            <a:r>
              <a:rPr lang="en-US" sz="65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20</a:t>
            </a:r>
            <a:endParaRPr lang="en-US" sz="6500" dirty="0"/>
          </a:p>
        </p:txBody>
      </p:sp>
      <p:sp>
        <p:nvSpPr>
          <p:cNvPr id="5" name="Text 3"/>
          <p:cNvSpPr/>
          <p:nvPr/>
        </p:nvSpPr>
        <p:spPr>
          <a:xfrm>
            <a:off x="661475" y="358794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5 · 20 phút</a:t>
            </a:r>
            <a:endParaRPr lang="en-US" sz="3250" dirty="0"/>
          </a:p>
        </p:txBody>
      </p:sp>
      <p:sp>
        <p:nvSpPr>
          <p:cNvPr id="6" name="Text 4"/>
          <p:cNvSpPr/>
          <p:nvPr/>
        </p:nvSpPr>
        <p:spPr>
          <a:xfrm>
            <a:off x="661475" y="4352727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Bắt đầu capstone. Đây là bài tổng hợp toàn bộ kỹ năng của buổi 4 — từ redaction, schema, AI Review đến xuất báo cáo và HITL decision.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877913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1927523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4171" y="1877913"/>
            <a:ext cx="1778948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23387" y="1927523"/>
            <a:ext cx="2190100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HÀNH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219541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Báo cáo thẩm định Word hoàn chỉnh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61475" y="2960191"/>
            <a:ext cx="11478330" cy="270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report.docx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gồm điểm rủi ro, emoji phân loại 🔴/🟡/💡, và ô </a:t>
            </a:r>
            <a:r>
              <a:rPr lang="en-US" sz="1300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"Người duyệt, ngày, quyết định"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còn trống chờ human điền.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2415" y="3417193"/>
            <a:ext cx="5470785" cy="1562795"/>
          </a:xfrm>
          <a:prstGeom prst="roundRect">
            <a:avLst>
              <a:gd name="adj" fmla="val 7620"/>
            </a:avLst>
          </a:prstGeom>
          <a:solidFill>
            <a:srgbClr val="004AAD"/>
          </a:solidFill>
          <a:ln/>
        </p:spPr>
      </p:sp>
      <p:sp>
        <p:nvSpPr>
          <p:cNvPr id="9" name="Text 7"/>
          <p:cNvSpPr/>
          <p:nvPr/>
        </p:nvSpPr>
        <p:spPr>
          <a:xfrm>
            <a:off x="707710" y="3582491"/>
            <a:ext cx="514019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Kết quả đạt được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7710" y="4012605"/>
            <a:ext cx="5140196" cy="909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Báo cáo Word có đầy đủ ba phần: Tóm tắt, Chi tiết, HITL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Phân loại rủi ro bằng emoji rõ ràng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Hallucination và omission đều được đánh dấu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3904" y="3582491"/>
            <a:ext cx="5232666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👤</a:t>
            </a:r>
            <a:r>
              <a:rPr lang="en-US" sz="160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Nguyên tắc HITL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3904" y="4012605"/>
            <a:ext cx="523266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Học viên đóng vai Pháp chế, ghi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"duyệt"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hay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"yêu cầu sửa"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kèm lý do. Workflow chỉ đề xuất —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quyết định cuối luôn thuộc về con người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475159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0691" y="524768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2624171" y="475159"/>
            <a:ext cx="1375038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23387" y="524768"/>
            <a:ext cx="1786190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TOÀN VÀ HITL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61475" y="792659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Những nguyên tắc không thương lượng</a:t>
            </a:r>
            <a:endParaRPr lang="en-US" sz="3250" dirty="0"/>
          </a:p>
        </p:txBody>
      </p:sp>
      <p:sp>
        <p:nvSpPr>
          <p:cNvPr id="8" name="Shape 5"/>
          <p:cNvSpPr/>
          <p:nvPr/>
        </p:nvSpPr>
        <p:spPr>
          <a:xfrm>
            <a:off x="661475" y="2074168"/>
            <a:ext cx="6296860" cy="1939330"/>
          </a:xfrm>
          <a:prstGeom prst="roundRect">
            <a:avLst>
              <a:gd name="adj" fmla="val 3582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3119" y="2245816"/>
            <a:ext cx="5953571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Luôn làm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33119" y="2609850"/>
            <a:ext cx="5953571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Redact bốn cấp trước khi đẩy dữ liệu qua AI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Khi gặp cấp 4 (mật) → dùng AI local, không qua Cloud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Coi hợp đồng là DATA: bỏ qua mọi lệnh giấu trong văn bản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Quyết định duyệt luôn thuộc về con người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1475" y="4178796"/>
            <a:ext cx="6296860" cy="2203946"/>
          </a:xfrm>
          <a:prstGeom prst="roundRect">
            <a:avLst>
              <a:gd name="adj" fmla="val 3152"/>
            </a:avLst>
          </a:prstGeom>
          <a:solidFill>
            <a:srgbClr val="CCE2FF"/>
          </a:solidFill>
          <a:ln w="6350">
            <a:solidFill>
              <a:srgbClr val="B2C8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3119" y="4350445"/>
            <a:ext cx="5953571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🚫</a:t>
            </a: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Không bao giờ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33119" y="4714478"/>
            <a:ext cx="5953571" cy="149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đẩy PII thật lên AI Cloud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để workflow tự phê duyệt hợp đồng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tin "AI tự thấy ổn" — phải có code kiểm chứng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Không áp dụng thật ngay: chạy thử 10 hợp đồng đã duyệt để so sánh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479623"/>
            <a:ext cx="1665742" cy="222647"/>
          </a:xfrm>
          <a:prstGeom prst="roundRect">
            <a:avLst>
              <a:gd name="adj" fmla="val 22112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380" y="523577"/>
            <a:ext cx="2099515" cy="134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400438" y="479623"/>
            <a:ext cx="1895031" cy="222647"/>
          </a:xfrm>
          <a:prstGeom prst="roundRect">
            <a:avLst>
              <a:gd name="adj" fmla="val 22112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88344" y="523577"/>
            <a:ext cx="2328804" cy="134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GRADING RUBRIC · 100 ĐIỂM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61475" y="754162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Tiêu chí nghiệm thu (đạt từ 70 trở lên)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29160" y="1479947"/>
            <a:ext cx="4817843" cy="483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61475" y="2134096"/>
            <a:ext cx="535321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1475" y="2440880"/>
            <a:ext cx="5353214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npx n8n và auto-config thành công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44593" y="1479947"/>
            <a:ext cx="4817942" cy="483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176907" y="2134096"/>
            <a:ext cx="5353313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6907" y="2440880"/>
            <a:ext cx="5353313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Redaction 4 cấp đúng, không sót PII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29160" y="2994720"/>
            <a:ext cx="4817843" cy="483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20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61475" y="3648869"/>
            <a:ext cx="535321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1475" y="3955653"/>
            <a:ext cx="5353214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Schema validation — determinism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44593" y="2994720"/>
            <a:ext cx="4817942" cy="483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176907" y="3648869"/>
            <a:ext cx="5353313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6907" y="3955653"/>
            <a:ext cx="5353313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Review và evidence 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9160" y="4509492"/>
            <a:ext cx="4817843" cy="483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61475" y="5163641"/>
            <a:ext cx="535321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Thực hành 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1475" y="5470426"/>
            <a:ext cx="5353214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Master workflow và report.docx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44593" y="4509492"/>
            <a:ext cx="4817942" cy="483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10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6176907" y="5163641"/>
            <a:ext cx="5353313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Safety &amp; Control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76907" y="5470426"/>
            <a:ext cx="5353313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HITL, rule injection đúng chuẩn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61475" y="5837436"/>
            <a:ext cx="10868745" cy="540841"/>
          </a:xfrm>
          <a:prstGeom prst="roundRect">
            <a:avLst>
              <a:gd name="adj" fmla="val 11379"/>
            </a:avLst>
          </a:prstGeom>
          <a:solidFill>
            <a:srgbClr val="CCE2FF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8" y="6038354"/>
            <a:ext cx="183153" cy="146447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137515" y="6003826"/>
            <a:ext cx="10855847" cy="221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Cần đạt tối thiểu 70/100 điểm để nghiệm thu buổi 4.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912515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0691" y="962124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123001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Tổng kết buổi 4: năm sản phẩm mang về</a:t>
            </a:r>
            <a:endParaRPr lang="en-US" sz="3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94793"/>
            <a:ext cx="563648" cy="5636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31790" y="1994793"/>
            <a:ext cx="179184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npx n8n và API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31790" y="2352477"/>
            <a:ext cx="1791846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Workflow tự nạp, Test Suite đạt </a:t>
            </a: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8/8 PASSED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n8n local sẵn sàng cho mọi thực hành tiếp theo.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0303" y="1994793"/>
            <a:ext cx="563648" cy="5636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00618" y="1994793"/>
            <a:ext cx="1791846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contract-redacted.md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200618" y="2610941"/>
            <a:ext cx="1791846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đã che đủ bốn cấp. Tuyệt đối không còn email, SĐT, MST hay giá trị tài chính.</a:t>
            </a:r>
            <a:endParaRPr lang="en-US" sz="13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132" y="1994793"/>
            <a:ext cx="563648" cy="5636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69447" y="1994793"/>
            <a:ext cx="179184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clauses.json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6969447" y="2352477"/>
            <a:ext cx="1791846" cy="1335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Schema PASS, đủ tám điều khoản, kèm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evidence.verbatim_quote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cho mỗi điều khoản.</a:t>
            </a:r>
            <a:endParaRPr lang="en-US" sz="13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7960" y="1994793"/>
            <a:ext cx="563648" cy="5636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738275" y="1994793"/>
            <a:ext cx="1791945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risk-analyzed.json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9738275" y="2610941"/>
            <a:ext cx="1791945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Bắt được hallucination và omission, match Red Flag KB đúng 12 tiêu chí.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475" y="4264720"/>
            <a:ext cx="563648" cy="56366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431790" y="4264720"/>
            <a:ext cx="179184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report.docx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1431790" y="4622403"/>
            <a:ext cx="1791846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Báo cáo thẩm định Word kèm emoji phân loại 🔴/🟡/💡 và ô HITL chờ pháp chế ký duyệt.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1017687"/>
            <a:ext cx="188004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0691" y="1067296"/>
            <a:ext cx="229120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AUTOMATION · BUỔI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2624171" y="1017687"/>
            <a:ext cx="1725669" cy="251420"/>
          </a:xfrm>
          <a:prstGeom prst="roundRect">
            <a:avLst>
              <a:gd name="adj" fmla="val 22103"/>
            </a:avLst>
          </a:prstGeom>
          <a:noFill/>
          <a:ln w="6350">
            <a:solidFill>
              <a:srgbClr val="004A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23387" y="1067296"/>
            <a:ext cx="2136821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CHUẨN BỊ CHO BUỔI 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61475" y="1335187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Buổi 5: Workflow Bot CSKH có kiểm soát</a:t>
            </a:r>
            <a:endParaRPr lang="en-US" sz="3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37334"/>
            <a:ext cx="165294" cy="1652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61475" y="2878634"/>
            <a:ext cx="3065783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0" name="Text 6"/>
          <p:cNvSpPr/>
          <p:nvPr/>
        </p:nvSpPr>
        <p:spPr>
          <a:xfrm>
            <a:off x="661475" y="2999383"/>
            <a:ext cx="306578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Giữ lại thành quả buổi 4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61475" y="3357066"/>
            <a:ext cx="3065783" cy="800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Lưu lại n8n workflow của buổi 4 và file </a:t>
            </a:r>
            <a:r>
              <a:rPr lang="en-US" sz="130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report.docx</a:t>
            </a: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để tham chiếu ở buổi 5.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92552" y="2637334"/>
            <a:ext cx="165294" cy="16529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892552" y="2878634"/>
            <a:ext cx="3065783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4" name="Text 9"/>
          <p:cNvSpPr/>
          <p:nvPr/>
        </p:nvSpPr>
        <p:spPr>
          <a:xfrm>
            <a:off x="3892552" y="2999383"/>
            <a:ext cx="306578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Chuẩn bị tài liệu CSKH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3892552" y="3357066"/>
            <a:ext cx="306578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Chuẩn bị sẵn FAQ hoặc chính sách CSKH mẫu — đây sẽ là Knowledge Base cho bot.</a:t>
            </a:r>
            <a:endParaRPr lang="en-US" sz="13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467225"/>
            <a:ext cx="165294" cy="16529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61475" y="4708525"/>
            <a:ext cx="6296860" cy="19050"/>
          </a:xfrm>
          <a:prstGeom prst="rect">
            <a:avLst/>
          </a:prstGeom>
          <a:solidFill>
            <a:srgbClr val="004AAD"/>
          </a:solidFill>
          <a:ln/>
        </p:spPr>
      </p:sp>
      <p:sp>
        <p:nvSpPr>
          <p:cNvPr id="18" name="Text 12"/>
          <p:cNvSpPr/>
          <p:nvPr/>
        </p:nvSpPr>
        <p:spPr>
          <a:xfrm>
            <a:off x="661475" y="4829274"/>
            <a:ext cx="6296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Ôn lại Harness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61475" y="5186958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Ôn lại cách schema và evidence hoạt động — buổi 5 dùng cùng tư duy, áp dụng cho câu hỏi của khách hàng.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1401" y="2209800"/>
            <a:ext cx="6048819" cy="1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Tin AI thì rủi ro.</a:t>
            </a:r>
            <a:endParaRPr lang="en-US" sz="32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4AAD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Kiểm chứng AI qua Harness thì mới đáng tin.</a:t>
            </a:r>
            <a:endParaRPr lang="en-US" sz="3250" dirty="0"/>
          </a:p>
        </p:txBody>
      </p:sp>
      <p:sp>
        <p:nvSpPr>
          <p:cNvPr id="4" name="Shape 1"/>
          <p:cNvSpPr/>
          <p:nvPr/>
        </p:nvSpPr>
        <p:spPr>
          <a:xfrm>
            <a:off x="5233360" y="1961753"/>
            <a:ext cx="19050" cy="2046287"/>
          </a:xfrm>
          <a:prstGeom prst="roundRect">
            <a:avLst>
              <a:gd name="adj" fmla="val 49999"/>
            </a:avLst>
          </a:prstGeom>
          <a:solidFill>
            <a:srgbClr val="004AAD"/>
          </a:solidFill>
          <a:ln/>
        </p:spPr>
      </p:sp>
      <p:sp>
        <p:nvSpPr>
          <p:cNvPr id="5" name="Text 2"/>
          <p:cNvSpPr/>
          <p:nvPr/>
        </p:nvSpPr>
        <p:spPr>
          <a:xfrm>
            <a:off x="4928568" y="4194076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Hẹn gặp lại ở buổi 5! 🚀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233360" y="4644727"/>
            <a:ext cx="940570" cy="251420"/>
          </a:xfrm>
          <a:prstGeom prst="roundRect">
            <a:avLst>
              <a:gd name="adj" fmla="val 22103"/>
            </a:avLst>
          </a:prstGeom>
          <a:solidFill>
            <a:srgbClr val="CCE2FF"/>
          </a:solidFill>
          <a:ln/>
        </p:spPr>
      </p:sp>
      <p:sp>
        <p:nvSpPr>
          <p:cNvPr id="7" name="Text 4"/>
          <p:cNvSpPr/>
          <p:nvPr/>
        </p:nvSpPr>
        <p:spPr>
          <a:xfrm>
            <a:off x="5332577" y="4694337"/>
            <a:ext cx="1351722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BUỔI 4 · 45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3827</Words>
  <Application>Microsoft Macintosh PowerPoint</Application>
  <PresentationFormat>Widescreen</PresentationFormat>
  <Paragraphs>466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Twemoji Mozilla</vt:lpstr>
      <vt:lpstr>Montserrat Bold</vt:lpstr>
      <vt:lpstr>Montserrat Light</vt:lpstr>
      <vt:lpstr>Montserrat</vt:lpstr>
      <vt:lpstr>Consolas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Lộc Đặng</cp:lastModifiedBy>
  <cp:revision>2</cp:revision>
  <dcterms:created xsi:type="dcterms:W3CDTF">2026-08-03T09:09:34Z</dcterms:created>
  <dcterms:modified xsi:type="dcterms:W3CDTF">2026-08-04T08:05:35Z</dcterms:modified>
</cp:coreProperties>
</file>