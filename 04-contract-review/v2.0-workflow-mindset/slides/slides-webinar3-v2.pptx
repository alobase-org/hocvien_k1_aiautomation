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720000"/>
            <a:ext cx="165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WEBINAR #3 · WORKFLOW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58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Calibri"/>
              </a:rPr>
              <a:t>Buổi 3: Thiết kế quy trình đáng tin cậy trước khi tự động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860000"/>
            <a:ext cx="14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DE8F0"/>
                </a:solidFill>
                <a:latin typeface="Calibri"/>
              </a:rPr>
              <a:t>Thứ 7, 11/07/2026 · 20:00  |  60 phút  |  Online qua Zoom · AI Automation 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CHƯƠNG TRÌNH CHI TIẾT BUỔI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44000" cy="3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152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15' — Lý thuyết Workflow Mindset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620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3 khó khăn + Case Tuấn Hà Vinalink + 4 trụ cột   |   GV: Cường   |   ~15 phút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04000"/>
            <a:ext cx="144000" cy="3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2304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30' — Demo 6 bài tập móc nối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772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Usecase → ESIA → Hardening → Mermaid → Ảnh → NotebookLM   |   GV: Cường   |   ~30 phút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456000"/>
            <a:ext cx="144000" cy="360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345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15' — Thực hành &amp; nộp bài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924000"/>
            <a:ext cx="16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7B8D"/>
                </a:solidFill>
                <a:latin typeface="Calibri"/>
              </a:rPr>
              <a:t>HV chạy 1 bài + form chấm + Early Bird K1   |   GV: Cường   |   ~15 phút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VÌ SAO AI AUTOMATION HAY THẤT BẠI?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Câu hỏi mở: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Doanh nghiệp apex AI vào rồi vẫn thất bại — vì sao?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Đáp án ngắn: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Họ tự động hóa quy trình đang hỏng. Tốc độ nhân sự lộn xộn lên gấp mười.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1: PHẦN 1 · WORKFLOW MINDSET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Tư duy quyết định automation thành hay bại   |   GV: Cường   ~15 phút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3 KHÓ KHĂN KHI ỨNG DỤNG AI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① Thiếu quy trình chuẩn hóa: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DN truyền thống chạy theo kinh nghiệm, linh hoạt, chủ động con người → không phân vai rõ.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② Không bao phủ hết use-case: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Quy trình mới chạy được vài case rồi sập ở case khác.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③ Không đáng tin cậy: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AI automation hiệu quả nhưng nhiều lỗ hổng bảo mật, lỗi sai, hallucination.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CASE STUDY: TUẤN HÀ — VINALINK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Việc: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Vibe code mà không thiết kế guardrail.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Hậu quả: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Lộ password trong code + mất database khách hàng.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Bài học: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Tốc độ tự động hóa không đền bù việc thiếu Workflow Mindset. Process phải đáng tin cậy trước khi chạy thật.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WORKFLOW MINDSET #1 · VALUE STREAM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10000" y="1980000"/>
            <a:ext cx="1980000" cy="108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📥
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Đầu vào đo được</a:t>
            </a:r>
          </a:p>
        </p:txBody>
      </p:sp>
      <p:sp>
        <p:nvSpPr>
          <p:cNvPr id="9" name="Rectangle 8"/>
          <p:cNvSpPr/>
          <p:nvPr/>
        </p:nvSpPr>
        <p:spPr>
          <a:xfrm>
            <a:off x="5670000" y="1980000"/>
            <a:ext cx="1980000" cy="10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⚙️
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Kiểm soát được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0000" y="1980000"/>
            <a:ext cx="1980000" cy="1080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📤
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6000" y="2340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B7B8D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Đầu ra đo được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90000" y="1980000"/>
            <a:ext cx="1980000" cy="10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00000" y="208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🔁
Lặp lại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0" y="3311999"/>
            <a:ext cx="385199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Thành chuỗi giá trị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WORKFLOW MINDSET #2 · MA TRẬN ƯU TIÊN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Trục X: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Độ phức tạp (Dễ → Khó)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Trục 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Hiệu quả (Thấp → Cao)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4 góc: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🟢 Làm ngay (quick win) · 🟡 Lên kế hoạch · ⚪ Khi rảnh · 🔴 Bỏ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463999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Quy tắc: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4463999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Quyết định automate use-case nào TRƯỚC quan trọng hơn dùng tool nào.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WORKFLOW MINDSET #3 · PROCESS ĐÁNG TIN CẬY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6 thuộc tính: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fault-tolerant (chịu lỗi) · observable (đo lường) · scalable (mở rộng) · workable (chạy được) · idempotent (chạy lại không lệch) · auditable (kiểm toán)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Cảnh báo: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Thiếu thuộc tính nào, production sẽ sập ở thuộc tính đó.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WORKFLOW MINDSET #4 · MÔ TẢ &amp; TRỰC QUAN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Diagram: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Activity diagram (luồng công việc) · Sequence diagram (tương tác role/hệ thống)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Ngôn ngữ: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Mermaidjs / PlantUML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AI: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Render diagram thành ảnh trực quan đẹp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2: PHẦN 2 · DEMO 6 BÀI TẬP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Output bài N = input bài N+1 · Use-case: tổ chức tài liệu   |   GV: Cường   ~30 phút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BT1 · USECASE DESIGN — MA TRẬN ƯU TIÊN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Folder 'Tài liệu' thành bãi rác: ~1.200 file, tên tùy tiện, version lộn xộn. Chọn use-case nên automate trước.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List 8-10 vấn đề tài liệu (đặt tên tếu, trùng, sai chỗ, tìm không ra...)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Chấm mỗi use-case: Impact (1-5) × Difficulty (1-5)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Xếp 4 góc: Làm ngay · Lên kế hoạch · Khi rảnh · Bỏ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4. Suggest top-3 nên automate TRƯỚC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BT1 — MA TRẬN USE-CASE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Mở file synthetic (10 vấn đề tài liệu)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BT1 vào Claude/Gemini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Xem ma trận AI đề xuất, điều chỉnh nếu chấm sai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Ma trận 4 góc + top-3 use-case → input BT2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5 phút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BT2 · WORKFLOW DESIGN — AS-IS → ESIA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Use-case chọn: tự động tổ chức tài liệu. Workflow đơn giản: AI chuẩn hóa tên + build plan → user review → AI Agent chạy script copy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Mô tả as-is (bảng 5 cột: Bước · Người · Input · Output · Nghẽn)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Áp ESIA: Eliminate · Simplify · Integrate · Automate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Mỗi bước A ghi nhánh: n8n / AI Agent / app vibe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4. Bước rủi ro cao → bắt buộc HITL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BT2 — ESIA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Lấy top-1 use-case từ BT1 (cùng đoạn chat)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BT2 → AI mô tả as-is + áp 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Rà soát bước Automate sai → chuyển HITL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320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4320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Ghi nhánh automation mỗi bước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328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5472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Workflow Design Doc (as-is + to-be) → input BT3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6 phút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BT3 · IMPROVE CHO PRODUCTION —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Workflow to-be mới chỉ là happy case. Production cần 4 lớp hardening.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Fallback branch: input kém chất lượng / AI lỗi → nhánh xử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Execution log: log mọi hành vi (KHÔNG lưu PII gốc)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Edge case: file rỗng, format sai, trùng tên, file đang mở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4. Human-in-the-loop: bước cần con người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BT3 —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Lấy to-be từ BT2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BT3 → AI bổ sung 4 lớp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Rà soát bước tiền bạc/PII → bắt buộc HITL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Design doc phần hardening (4 lớp) → input BT4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5 phút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BT4 · VẼ MERMAID — ACTIVITY / SEQUENCE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Workflow to-be + hardening cần visualize. Node AI xanh, node HITL đỏ, node fallback xám.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Dán prompt BT4 vào AI → nhận mã Mermaid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Mở mermaid.live, paste mã → xem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Tối đa 8 node, tối thiểu 1 HITL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760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4. 4. Chỉnh nếu syntax lỗi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BT4 — MERMAID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Lấy to-be + hardening từ BT2, BT3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BT4 → AI sinh mã Mermaid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Paste vào mermaid.live → render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1 Mermaid diagram đã render → input BT5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5 phút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BT5 · GENERATE ẢNH WORKFLOW — INFOGRAPHIC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Ảnh infographic kể chuyện cho lãnh đạo tốt hơn text. Style isometric, pastel palette, label tiếng Việt.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Dán prompt BT5 (style spec + Mermaid source) vào Codex/Nano Banana/Gemini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Xem ảnh sinh 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Chỉnh prompt nếu chữ lỗi/font sai (thêm: Vietnamese diacritics render correctly)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BT5 — ẢNH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Lấy Mermaid từ BT4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BT5 vào AI image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Xem ảnh, chỉnh prompt nếu lỗi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1 ảnh workflow infographic → input BT6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4 phút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BT6 · NOTEBOOKLM DECK — THAM MƯU LÃNH ĐẠO 30 NGÀY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BỐI CẢN: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54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Đưa toàn bộ artifact (design doc + Mermaid + ảnh) vào NotebookLM → generate deck thuyết minh ý tưởng tham mưu lãnh đạo triển khai 30 ngày. Dùng prompt CRAFT (Context/Role/Action/Format/Tone).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CHỈ DẪN: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1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1. Tạo notebook NotebookLM, add source (design doc + Mermaid)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2. Dán prompt BT6 CRAFT → generate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5112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3. Deck: vấn đề → quy trình mới → lợi ích → hardening → lộ trình 30 ngày → rủi ro → decision ask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THỰC HÀNH BT6 — NOTEBOOKLM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12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Tạo notebook, add source (design doc + Mermaid)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Dán prompt CRAFT → generate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384000"/>
            <a:ext cx="36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Bước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3384000"/>
            <a:ext cx="126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Chỉnh tiêu đề + số liệu lợi ích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92000"/>
            <a:ext cx="16200000" cy="2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4536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Calibri"/>
              </a:rPr>
              <a:t>Đầu ra: 1 deck tham mưu lãnh đạo 30 ngày — FINAL output chuỗi 6 bài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8640000"/>
            <a:ext cx="2160000" cy="126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12000" y="8748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⏱ 5 phút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🔁 WORKFLOW MỞ RỘNG — TÌM KIẾM TÀI LIỆU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Input: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Nội dung đang cần làm (vd: 'soạn đề xuất đào tạo AI cho bệnh viện')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Process: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extract keyword → search folder/Drive → candidate → AI rerank → top → đọc sâu extract điểm hữu ích → reference_map.md → copy vào folder reference/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456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3456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folder reference/ + reference_map.md (File · Vị trí · Điểm hữu ích · Trích đoạn)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7600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54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B3A6B"/>
                </a:solidFill>
                <a:latin typeface="Calibri"/>
              </a:rPr>
              <a:t>MODULE 3: PHẦN 3 · THỰC HÀNH &amp; NỘP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000"/>
            <a:ext cx="18288000" cy="16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868000"/>
            <a:ext cx="15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HV chạy 1 bài trên use-case của mình + nộp form   |   GV: Cường   ~15 phút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0"/>
            <a:ext cx="172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B3A6B"/>
                </a:solidFill>
                <a:latin typeface="Calibri"/>
              </a:rPr>
              <a:t>15' THỰC HÀNH — CHỌN BT1 HOẶC BT2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0" y="5040000"/>
            <a:ext cx="3600000" cy="21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0" y="5220000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⏱ 15
phút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SHOWCASE: VIETTEL NETWORK 5 NGÀY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Bằng chứng: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0" y="1440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Bài tập nhóm Viettel Network — redesign ESIA, hardening (fallback/log/edge/HITL), đưa lên production có retry/monitoring/rollback.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4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6B"/>
                </a:solidFill>
                <a:latin typeface="Calibri"/>
              </a:rPr>
              <a:t>Thông điệp: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2448000"/>
            <a:ext cx="11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Calibri"/>
              </a:rPr>
              <a:t>Webinar này là điểm bắt đầu. K1 đưa workflow của bạn lên cấp chạy thật trong công 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65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3A6B"/>
                </a:solidFill>
                <a:latin typeface="Calibri"/>
              </a:rPr>
              <a:t>TỔNG KẾT BUỔI 3: 4 SẢN PHẨM MANG VỀ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44000"/>
            <a:ext cx="1656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224000"/>
            <a:ext cx="720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29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22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Ma trận use-case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72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Hiệu quả × Phức tạp + top-3 nên automate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304000"/>
            <a:ext cx="720000" cy="792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237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30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Workflow Design Doc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80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As-is + to-be ESIA + hardening (fallback/log/edge/HITL)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384000"/>
            <a:ext cx="720000" cy="792000"/>
          </a:xfrm>
          <a:prstGeom prst="rect">
            <a:avLst/>
          </a:prstGeom>
          <a:solidFill>
            <a:srgbClr val="1A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345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338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Mermaid + ảnh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388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Diagram + infographic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64000"/>
            <a:ext cx="720000" cy="792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4536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4464000"/>
            <a:ext cx="154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Deck NotebookLM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4968000"/>
            <a:ext cx="15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Tham mưu lãnh đạo triển khai 30 ngày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58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3A6B"/>
                </a:solidFill>
                <a:latin typeface="Calibri"/>
              </a:rPr>
              <a:t>CHUẨN BỊ CHO BUỔI K1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24000"/>
            <a:ext cx="15840000" cy="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5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6B"/>
                </a:solidFill>
                <a:latin typeface="Calibri"/>
              </a:rPr>
              <a:t>Buổi K1: AI Automation K1 — Đưa workflow lên cấp production thật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68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7B8D"/>
                </a:solidFill>
                <a:latin typeface="Calibri"/>
              </a:rPr>
              <a:t>Khai giảng Early Bird   |   GV: Cường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880000"/>
            <a:ext cx="15840000" cy="28800"/>
          </a:xfrm>
          <a:prstGeom prst="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060000"/>
            <a:ext cx="158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Học viên cần chuẩn bị: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708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1. Nộp bài webinar (≥15/25)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356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2. Giữ chỗ Early Bird 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004000"/>
            <a:ext cx="15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Calibri"/>
              </a:rPr>
              <a:t>3. Landing: aiautomation.alobase.vn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5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600000"/>
            <a:ext cx="165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TRÂN TRỌNG 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6480000"/>
            <a:ext cx="14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DDE8F0"/>
                </a:solidFill>
                <a:latin typeface="Calibri"/>
              </a:rPr>
              <a:t>Workflow Mindset: tự động hóa những gì đã đáng tin cậy, không phải những gì đang lộn xộn. Hẹn gặp ở K1!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0" y="95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8C4EC"/>
                </a:solidFill>
                <a:latin typeface="Calibri"/>
              </a:rPr>
              <a:t>ALOBASE.VN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